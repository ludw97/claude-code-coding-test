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76"/>
  </p:notesMasterIdLst>
  <p:sldIdLst>
    <p:sldId id="267" r:id="rId3"/>
    <p:sldId id="2447" r:id="rId4"/>
    <p:sldId id="2397" r:id="rId5"/>
    <p:sldId id="2402" r:id="rId6"/>
    <p:sldId id="2524" r:id="rId7"/>
    <p:sldId id="270" r:id="rId8"/>
    <p:sldId id="271" r:id="rId9"/>
    <p:sldId id="272" r:id="rId10"/>
    <p:sldId id="273" r:id="rId11"/>
    <p:sldId id="274" r:id="rId12"/>
    <p:sldId id="2475" r:id="rId13"/>
    <p:sldId id="2477" r:id="rId14"/>
    <p:sldId id="275" r:id="rId15"/>
    <p:sldId id="276" r:id="rId16"/>
    <p:sldId id="277" r:id="rId17"/>
    <p:sldId id="278" r:id="rId18"/>
    <p:sldId id="2476" r:id="rId19"/>
    <p:sldId id="279" r:id="rId20"/>
    <p:sldId id="2451" r:id="rId21"/>
    <p:sldId id="281" r:id="rId22"/>
    <p:sldId id="282" r:id="rId23"/>
    <p:sldId id="2525" r:id="rId24"/>
    <p:sldId id="2300" r:id="rId25"/>
    <p:sldId id="2506" r:id="rId26"/>
    <p:sldId id="2507" r:id="rId27"/>
    <p:sldId id="2508" r:id="rId28"/>
    <p:sldId id="2509" r:id="rId29"/>
    <p:sldId id="2510" r:id="rId30"/>
    <p:sldId id="2511" r:id="rId31"/>
    <p:sldId id="2512" r:id="rId32"/>
    <p:sldId id="2513" r:id="rId33"/>
    <p:sldId id="2514" r:id="rId34"/>
    <p:sldId id="2515" r:id="rId35"/>
    <p:sldId id="2516" r:id="rId36"/>
    <p:sldId id="2517" r:id="rId37"/>
    <p:sldId id="2518" r:id="rId38"/>
    <p:sldId id="2519" r:id="rId39"/>
    <p:sldId id="2520" r:id="rId40"/>
    <p:sldId id="2521" r:id="rId41"/>
    <p:sldId id="2304" r:id="rId42"/>
    <p:sldId id="2305" r:id="rId43"/>
    <p:sldId id="2429" r:id="rId44"/>
    <p:sldId id="2459" r:id="rId45"/>
    <p:sldId id="2460" r:id="rId46"/>
    <p:sldId id="2461" r:id="rId47"/>
    <p:sldId id="2462" r:id="rId48"/>
    <p:sldId id="2527" r:id="rId49"/>
    <p:sldId id="2464" r:id="rId50"/>
    <p:sldId id="2526" r:id="rId51"/>
    <p:sldId id="2466" r:id="rId52"/>
    <p:sldId id="2448" r:id="rId53"/>
    <p:sldId id="2452" r:id="rId54"/>
    <p:sldId id="2522" r:id="rId55"/>
    <p:sldId id="2453" r:id="rId56"/>
    <p:sldId id="2454" r:id="rId57"/>
    <p:sldId id="2455" r:id="rId58"/>
    <p:sldId id="2523" r:id="rId59"/>
    <p:sldId id="2449" r:id="rId60"/>
    <p:sldId id="2380" r:id="rId61"/>
    <p:sldId id="2381" r:id="rId62"/>
    <p:sldId id="2382" r:id="rId63"/>
    <p:sldId id="2383" r:id="rId64"/>
    <p:sldId id="2384" r:id="rId65"/>
    <p:sldId id="2446" r:id="rId66"/>
    <p:sldId id="2428" r:id="rId67"/>
    <p:sldId id="2425" r:id="rId68"/>
    <p:sldId id="2424" r:id="rId69"/>
    <p:sldId id="2426" r:id="rId70"/>
    <p:sldId id="2427" r:id="rId71"/>
    <p:sldId id="2467" r:id="rId72"/>
    <p:sldId id="2450" r:id="rId73"/>
    <p:sldId id="2422" r:id="rId74"/>
    <p:sldId id="2396"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94" autoAdjust="0"/>
    <p:restoredTop sz="94660"/>
  </p:normalViewPr>
  <p:slideViewPr>
    <p:cSldViewPr snapToGrid="0">
      <p:cViewPr varScale="1">
        <p:scale>
          <a:sx n="47" d="100"/>
          <a:sy n="47" d="100"/>
        </p:scale>
        <p:origin x="5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User\Desktop\&#25968;&#25454;&#27169;&#29256;(1)(1)(1).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User\Desktop\&#25968;&#25454;&#27169;&#29256;(1)(1)(1).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User\Desktop\&#25968;&#25454;&#27169;&#29256;(1)(1)(1).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C:\Users\User\Desktop\&#25968;&#25454;&#27169;&#29256;(1)(1)(1).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C:\Users\User\Desktop\&#25968;&#25454;&#27169;&#29256;(1)(1)(1).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C:\Users\User\Desktop\&#25968;&#25454;&#27169;&#29256;(1)(1)(1).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User\Desktop\&#25968;&#25454;&#27169;&#29256;(1)(1)(1).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C:\Users\User\Desktop\&#25955;&#28857;&#22270;.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User\Desktop\&#25955;&#28857;&#22270;.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file:///C:\Users\User\Desktop\&#25955;&#28857;&#22270;.xlsx"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oleObject" Target="file:///C:\Users\User\Desktop\&#27178;&#21521;&#21307;&#38498;&#24213;&#31295;.xlsm" TargetMode="External"/></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oleObject" Target="file:///C:\Users\User\Desktop\&#27178;&#21521;&#21307;&#38498;&#24213;&#31295;.xlsm"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User\Desktop\&#27178;&#21521;&#21307;&#38498;&#24213;&#31295;.xlsm" TargetMode="External"/></Relationships>
</file>

<file path=ppt/charts/_rels/chart14.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oleObject" Target="file:///C:\Users\User\Desktop\&#27178;&#21521;&#21307;&#38498;&#24213;&#31295;.xlsm" TargetMode="External"/></Relationships>
</file>

<file path=ppt/charts/_rels/chart15.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16.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17.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18.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19.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20.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21.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22.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23.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s>
</file>

<file path=ppt/charts/_rels/chart24.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oleObject" Target="file:///C:\Users\User\Desktop\&#27178;&#21521;&#21307;&#38498;&#24213;&#31295;.xlsm" TargetMode="External"/></Relationships>
</file>

<file path=ppt/charts/_rels/chart25.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oleObject" Target="file:///C:\Users\User\Desktop\&#27178;&#21521;&#21307;&#38498;&#24213;&#31295;.xlsm" TargetMode="External"/></Relationships>
</file>

<file path=ppt/charts/_rels/chart26.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oleObject" Target="file:///C:\Users\User\Desktop\&#27178;&#21521;&#21307;&#38498;&#24213;&#31295;.xlsm" TargetMode="External"/></Relationships>
</file>

<file path=ppt/charts/_rels/chart27.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oleObject" Target="file:///C:\Users\User\Desktop\&#27178;&#21521;&#21307;&#38498;&#24213;&#31295;.xlsm" TargetMode="External"/></Relationships>
</file>

<file path=ppt/charts/_rels/chart28.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C:\Users\User\Desktop\4&#26376;&#20998;&#26512;&#21152;&#29677;\3&#26376;&#20998;&#26512;&#21152;&#29677;\3&#26376;&#25968;&#25454;\3&#26376;&#20998;&#26512;&#24213;&#3129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101162503091799E-3"/>
          <c:y val="1.3481627296588E-2"/>
          <c:w val="0.93888888888888899"/>
          <c:h val="0.84951837270341202"/>
        </c:manualLayout>
      </c:layout>
      <c:barChart>
        <c:barDir val="col"/>
        <c:grouping val="clustered"/>
        <c:varyColors val="0"/>
        <c:ser>
          <c:idx val="0"/>
          <c:order val="0"/>
          <c:spPr>
            <a:solidFill>
              <a:srgbClr val="EE822F"/>
            </a:solidFill>
            <a:ln>
              <a:solidFill>
                <a:srgbClr val="EE822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2FD3-42FA-989C-4A65E9272C6E}"/>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2FD3-42FA-989C-4A65E9272C6E}"/>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'[数据模版(1)(1)(1).xlsx]门诊'!$B$7:$C$7</c:f>
              <c:numCache>
                <c:formatCode>yyyy"年"m"月"</c:formatCode>
                <c:ptCount val="2"/>
                <c:pt idx="0">
                  <c:v>46143</c:v>
                </c:pt>
                <c:pt idx="1">
                  <c:v>45778</c:v>
                </c:pt>
              </c:numCache>
            </c:numRef>
          </c:cat>
          <c:val>
            <c:numRef>
              <c:f>'[数据模版(1)(1)(1).xlsx]门诊'!$B$8:$C$8</c:f>
              <c:numCache>
                <c:formatCode>0.00_ </c:formatCode>
                <c:ptCount val="2"/>
                <c:pt idx="0">
                  <c:v>45.4375</c:v>
                </c:pt>
                <c:pt idx="1">
                  <c:v>33.8994</c:v>
                </c:pt>
              </c:numCache>
            </c:numRef>
          </c:val>
          <c:extLst>
            <c:ext xmlns:c16="http://schemas.microsoft.com/office/drawing/2014/chart" uri="{C3380CC4-5D6E-409C-BE32-E72D297353CC}">
              <c16:uniqueId val="{00000004-2FD3-42FA-989C-4A65E9272C6E}"/>
            </c:ext>
          </c:extLst>
        </c:ser>
        <c:dLbls>
          <c:showLegendKey val="0"/>
          <c:showVal val="0"/>
          <c:showCatName val="0"/>
          <c:showSerName val="0"/>
          <c:showPercent val="0"/>
          <c:showBubbleSize val="0"/>
        </c:dLbls>
        <c:gapWidth val="219"/>
        <c:overlap val="-27"/>
        <c:axId val="73785375"/>
        <c:axId val="73769567"/>
      </c:barChart>
      <c:catAx>
        <c:axId val="73785375"/>
        <c:scaling>
          <c:orientation val="minMax"/>
          <c:max val="2.5"/>
          <c:min val="0.5"/>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73769567"/>
        <c:crosses val="autoZero"/>
        <c:auto val="0"/>
        <c:lblAlgn val="ctr"/>
        <c:lblOffset val="100"/>
        <c:noMultiLvlLbl val="1"/>
      </c:catAx>
      <c:valAx>
        <c:axId val="73769567"/>
        <c:scaling>
          <c:orientation val="minMax"/>
        </c:scaling>
        <c:delete val="1"/>
        <c:axPos val="r"/>
        <c:numFmt formatCode="0.00_ " sourceLinked="1"/>
        <c:majorTickMark val="none"/>
        <c:minorTickMark val="none"/>
        <c:tickLblPos val="nextTo"/>
        <c:crossAx val="73785375"/>
        <c:crosses val="max"/>
        <c:crossBetween val="between"/>
        <c:majorUnit val="50"/>
      </c:valAx>
      <c:spPr>
        <a:noFill/>
        <a:ln>
          <a:noFill/>
        </a:ln>
        <a:effectLst/>
      </c:spPr>
    </c:plotArea>
    <c:plotVisOnly val="1"/>
    <c:dispBlanksAs val="gap"/>
    <c:showDLblsOverMax val="0"/>
    <c:extLst>
      <c:ext uri="{0b15fc19-7d7d-44ad-8c2d-2c3a37ce22c3}">
        <chartProps xmlns="https://web.wps.cn/et/2018/main" chartId="{5cc592e2-688e-4b6f-a123-24903c5f3cdc}"/>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346361810597897E-3"/>
          <c:y val="8.3333333333333297E-3"/>
          <c:w val="0.93888888888888899"/>
          <c:h val="0.84951837270341202"/>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6537-486D-B823-AAFD5D370EAA}"/>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6537-486D-B823-AAFD5D370EAA}"/>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'[数据模版(1)(1)(1).xlsx]门诊'!$I$7:$J$7</c:f>
              <c:numCache>
                <c:formatCode>yyyy"年"m"月"</c:formatCode>
                <c:ptCount val="2"/>
                <c:pt idx="0">
                  <c:v>46143</c:v>
                </c:pt>
                <c:pt idx="1">
                  <c:v>45778</c:v>
                </c:pt>
              </c:numCache>
            </c:numRef>
          </c:cat>
          <c:val>
            <c:numRef>
              <c:f>'[数据模版(1)(1)(1).xlsx]门诊'!$I$8:$J$8</c:f>
              <c:numCache>
                <c:formatCode>0.00_ </c:formatCode>
                <c:ptCount val="2"/>
                <c:pt idx="0">
                  <c:v>39.018700000000003</c:v>
                </c:pt>
                <c:pt idx="1">
                  <c:v>29.401</c:v>
                </c:pt>
              </c:numCache>
            </c:numRef>
          </c:val>
          <c:extLst>
            <c:ext xmlns:c16="http://schemas.microsoft.com/office/drawing/2014/chart" uri="{C3380CC4-5D6E-409C-BE32-E72D297353CC}">
              <c16:uniqueId val="{00000004-6537-486D-B823-AAFD5D370EAA}"/>
            </c:ext>
          </c:extLst>
        </c:ser>
        <c:dLbls>
          <c:showLegendKey val="0"/>
          <c:showVal val="0"/>
          <c:showCatName val="0"/>
          <c:showSerName val="0"/>
          <c:showPercent val="0"/>
          <c:showBubbleSize val="0"/>
        </c:dLbls>
        <c:gapWidth val="219"/>
        <c:overlap val="-27"/>
        <c:axId val="73785375"/>
        <c:axId val="73769567"/>
      </c:barChart>
      <c:catAx>
        <c:axId val="73785375"/>
        <c:scaling>
          <c:orientation val="minMax"/>
          <c:max val="2.5"/>
          <c:min val="0.5"/>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73769567"/>
        <c:crosses val="autoZero"/>
        <c:auto val="0"/>
        <c:lblAlgn val="ctr"/>
        <c:lblOffset val="100"/>
        <c:noMultiLvlLbl val="1"/>
      </c:catAx>
      <c:valAx>
        <c:axId val="73769567"/>
        <c:scaling>
          <c:orientation val="minMax"/>
        </c:scaling>
        <c:delete val="1"/>
        <c:axPos val="r"/>
        <c:numFmt formatCode="0.00_ " sourceLinked="1"/>
        <c:majorTickMark val="none"/>
        <c:minorTickMark val="none"/>
        <c:tickLblPos val="nextTo"/>
        <c:crossAx val="73785375"/>
        <c:crosses val="max"/>
        <c:crossBetween val="between"/>
        <c:majorUnit val="50"/>
      </c:valAx>
      <c:spPr>
        <a:noFill/>
        <a:ln>
          <a:noFill/>
        </a:ln>
        <a:effectLst/>
      </c:spPr>
    </c:plotArea>
    <c:plotVisOnly val="1"/>
    <c:dispBlanksAs val="gap"/>
    <c:showDLblsOverMax val="0"/>
    <c:extLst>
      <c:ext uri="{0b15fc19-7d7d-44ad-8c2d-2c3a37ce22c3}">
        <chartProps xmlns="https://web.wps.cn/et/2018/main" chartId="{5cc592e2-688e-4b6f-a123-24903c5f3cdc}"/>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977011494252899E-3"/>
          <c:y val="2.7823691460055099E-2"/>
          <c:w val="0.93098039215686301"/>
          <c:h val="0.74505021583045905"/>
        </c:manualLayout>
      </c:layout>
      <c:barChart>
        <c:barDir val="col"/>
        <c:grouping val="clustered"/>
        <c:varyColors val="0"/>
        <c:ser>
          <c:idx val="0"/>
          <c:order val="0"/>
          <c:tx>
            <c:strRef>
              <c:f>'[数据模版(1)(1)(1).xlsx]门诊'!$I$44</c:f>
              <c:strCache>
                <c:ptCount val="1"/>
                <c:pt idx="0">
                  <c:v>2026年5月</c:v>
                </c:pt>
              </c:strCache>
            </c:strRef>
          </c:tx>
          <c:spPr>
            <a:solidFill>
              <a:srgbClr val="0000FF"/>
            </a:solidFill>
            <a:ln>
              <a:solidFill>
                <a:srgbClr val="0000F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'[数据模版(1)(1)(1).xlsx]门诊'!$H$45:$H$47</c:f>
              <c:strCache>
                <c:ptCount val="3"/>
                <c:pt idx="0">
                  <c:v>专家门诊</c:v>
                </c:pt>
                <c:pt idx="1">
                  <c:v>特需门诊</c:v>
                </c:pt>
                <c:pt idx="2">
                  <c:v>普通门诊</c:v>
                </c:pt>
              </c:strCache>
            </c:strRef>
          </c:cat>
          <c:val>
            <c:numRef>
              <c:f>'[数据模版(1)(1)(1).xlsx]门诊'!$I$45:$I$47</c:f>
              <c:numCache>
                <c:formatCode>0.00_ </c:formatCode>
                <c:ptCount val="3"/>
                <c:pt idx="0">
                  <c:v>10.047800000000001</c:v>
                </c:pt>
                <c:pt idx="1">
                  <c:v>3.8256000000000001</c:v>
                </c:pt>
                <c:pt idx="2">
                  <c:v>25.145299999999999</c:v>
                </c:pt>
              </c:numCache>
            </c:numRef>
          </c:val>
          <c:extLst>
            <c:ext xmlns:c16="http://schemas.microsoft.com/office/drawing/2014/chart" uri="{C3380CC4-5D6E-409C-BE32-E72D297353CC}">
              <c16:uniqueId val="{00000000-6914-4E33-A85B-F71FDF808605}"/>
            </c:ext>
          </c:extLst>
        </c:ser>
        <c:ser>
          <c:idx val="1"/>
          <c:order val="1"/>
          <c:tx>
            <c:strRef>
              <c:f>'[数据模版(1)(1)(1).xlsx]门诊'!$J$44</c:f>
              <c:strCache>
                <c:ptCount val="1"/>
                <c:pt idx="0">
                  <c:v>2025年5月</c:v>
                </c:pt>
              </c:strCache>
            </c:strRef>
          </c:tx>
          <c:spPr>
            <a:solidFill>
              <a:srgbClr val="EE822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'[数据模版(1)(1)(1).xlsx]门诊'!$H$45:$H$47</c:f>
              <c:strCache>
                <c:ptCount val="3"/>
                <c:pt idx="0">
                  <c:v>专家门诊</c:v>
                </c:pt>
                <c:pt idx="1">
                  <c:v>特需门诊</c:v>
                </c:pt>
                <c:pt idx="2">
                  <c:v>普通门诊</c:v>
                </c:pt>
              </c:strCache>
            </c:strRef>
          </c:cat>
          <c:val>
            <c:numRef>
              <c:f>'[数据模版(1)(1)(1).xlsx]门诊'!$J$45:$J$47</c:f>
              <c:numCache>
                <c:formatCode>0.00_ </c:formatCode>
                <c:ptCount val="3"/>
                <c:pt idx="0">
                  <c:v>7.3422999999999998</c:v>
                </c:pt>
                <c:pt idx="1">
                  <c:v>3.3308</c:v>
                </c:pt>
                <c:pt idx="2">
                  <c:v>18.727900000000002</c:v>
                </c:pt>
              </c:numCache>
            </c:numRef>
          </c:val>
          <c:extLst>
            <c:ext xmlns:c16="http://schemas.microsoft.com/office/drawing/2014/chart" uri="{C3380CC4-5D6E-409C-BE32-E72D297353CC}">
              <c16:uniqueId val="{00000001-6914-4E33-A85B-F71FDF808605}"/>
            </c:ext>
          </c:extLst>
        </c:ser>
        <c:dLbls>
          <c:showLegendKey val="0"/>
          <c:showVal val="0"/>
          <c:showCatName val="0"/>
          <c:showSerName val="0"/>
          <c:showPercent val="0"/>
          <c:showBubbleSize val="0"/>
        </c:dLbls>
        <c:gapWidth val="199"/>
        <c:axId val="206931967"/>
        <c:axId val="206934047"/>
      </c:barChart>
      <c:catAx>
        <c:axId val="206931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cap="none" spc="0" normalizeH="0" baseline="0">
                <a:solidFill>
                  <a:schemeClr val="tx1">
                    <a:lumMod val="65000"/>
                    <a:lumOff val="35000"/>
                  </a:schemeClr>
                </a:solidFill>
                <a:latin typeface="+mn-ea"/>
                <a:ea typeface="+mn-ea"/>
                <a:cs typeface="+mn-cs"/>
              </a:defRPr>
            </a:pPr>
            <a:endParaRPr lang="zh-CN"/>
          </a:p>
        </c:txPr>
        <c:crossAx val="206934047"/>
        <c:crosses val="autoZero"/>
        <c:auto val="1"/>
        <c:lblAlgn val="ctr"/>
        <c:lblOffset val="100"/>
        <c:noMultiLvlLbl val="0"/>
      </c:catAx>
      <c:valAx>
        <c:axId val="206934047"/>
        <c:scaling>
          <c:orientation val="minMax"/>
        </c:scaling>
        <c:delete val="1"/>
        <c:axPos val="l"/>
        <c:numFmt formatCode="0.00_ " sourceLinked="1"/>
        <c:majorTickMark val="none"/>
        <c:minorTickMark val="none"/>
        <c:tickLblPos val="nextTo"/>
        <c:crossAx val="206931967"/>
        <c:crosses val="autoZero"/>
        <c:crossBetween val="between"/>
      </c:valAx>
      <c:spPr>
        <a:noFill/>
        <a:ln>
          <a:noFill/>
        </a:ln>
        <a:effectLst/>
      </c:spPr>
    </c:plotArea>
    <c:legend>
      <c:legendPos val="t"/>
      <c:layout>
        <c:manualLayout>
          <c:xMode val="edge"/>
          <c:yMode val="edge"/>
          <c:x val="0.217415223097113"/>
          <c:y val="0.895316804407714"/>
          <c:w val="0.62783189748340296"/>
          <c:h val="9.6418732782369093E-2"/>
        </c:manualLayout>
      </c:layout>
      <c:overlay val="0"/>
      <c:spPr>
        <a:noFill/>
        <a:ln>
          <a:noFill/>
        </a:ln>
        <a:effectLst>
          <a:outerShdw blurRad="50800" dist="50800" dir="5400000" algn="ctr" rotWithShape="0">
            <a:srgbClr val="000000">
              <a:alpha val="43137"/>
            </a:srgbClr>
          </a:outerShdw>
        </a:effectLst>
      </c:spPr>
      <c:txPr>
        <a:bodyPr rot="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537deeea-f1f2-4884-974d-331eee72cdb6}"/>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'[数据模版(1)(1)(1).xlsx]门诊'!$N$8</c:f>
              <c:strCache>
                <c:ptCount val="1"/>
                <c:pt idx="0">
                  <c:v>急诊人次</c:v>
                </c:pt>
              </c:strCache>
            </c:strRef>
          </c:tx>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1D88-4103-BFA3-E95517B47BBB}"/>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1D88-4103-BFA3-E95517B47BBB}"/>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'[数据模版(1)(1)(1).xlsx]门诊'!$O$7:$P$7</c:f>
              <c:numCache>
                <c:formatCode>yyyy"年"m"月"</c:formatCode>
                <c:ptCount val="2"/>
                <c:pt idx="0">
                  <c:v>46143</c:v>
                </c:pt>
                <c:pt idx="1">
                  <c:v>45778</c:v>
                </c:pt>
              </c:numCache>
            </c:numRef>
          </c:cat>
          <c:val>
            <c:numRef>
              <c:f>'[数据模版(1)(1)(1).xlsx]门诊'!$O$8:$P$8</c:f>
              <c:numCache>
                <c:formatCode>0.00_ </c:formatCode>
                <c:ptCount val="2"/>
                <c:pt idx="0">
                  <c:v>6.4188000000000001</c:v>
                </c:pt>
                <c:pt idx="1">
                  <c:v>4.4984000000000002</c:v>
                </c:pt>
              </c:numCache>
            </c:numRef>
          </c:val>
          <c:extLst>
            <c:ext xmlns:c16="http://schemas.microsoft.com/office/drawing/2014/chart" uri="{C3380CC4-5D6E-409C-BE32-E72D297353CC}">
              <c16:uniqueId val="{00000004-1D88-4103-BFA3-E95517B47BBB}"/>
            </c:ext>
          </c:extLst>
        </c:ser>
        <c:dLbls>
          <c:showLegendKey val="0"/>
          <c:showVal val="0"/>
          <c:showCatName val="0"/>
          <c:showSerName val="0"/>
          <c:showPercent val="0"/>
          <c:showBubbleSize val="0"/>
        </c:dLbls>
        <c:gapWidth val="219"/>
        <c:overlap val="-27"/>
        <c:axId val="1252455167"/>
        <c:axId val="1252453503"/>
      </c:barChart>
      <c:catAx>
        <c:axId val="1252455167"/>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1252453503"/>
        <c:crosses val="autoZero"/>
        <c:auto val="0"/>
        <c:lblAlgn val="ctr"/>
        <c:lblOffset val="100"/>
        <c:noMultiLvlLbl val="0"/>
      </c:catAx>
      <c:valAx>
        <c:axId val="1252453503"/>
        <c:scaling>
          <c:orientation val="minMax"/>
        </c:scaling>
        <c:delete val="1"/>
        <c:axPos val="l"/>
        <c:numFmt formatCode="0.00_ " sourceLinked="1"/>
        <c:majorTickMark val="none"/>
        <c:minorTickMark val="none"/>
        <c:tickLblPos val="nextTo"/>
        <c:crossAx val="1252455167"/>
        <c:crosses val="autoZero"/>
        <c:crossBetween val="between"/>
        <c:majorUnit val="0.8"/>
      </c:valAx>
      <c:spPr>
        <a:noFill/>
        <a:ln>
          <a:noFill/>
        </a:ln>
        <a:effectLst/>
      </c:spPr>
    </c:plotArea>
    <c:plotVisOnly val="1"/>
    <c:dispBlanksAs val="gap"/>
    <c:showDLblsOverMax val="0"/>
    <c:extLst>
      <c:ext uri="{0b15fc19-7d7d-44ad-8c2d-2c3a37ce22c3}">
        <chartProps xmlns="https://web.wps.cn/et/2018/main" chartId="{b138c035-9d23-4e56-b5bf-b37c28e7270b}"/>
      </c:ext>
    </c:extLst>
  </c:chart>
  <c:spPr>
    <a:no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00FF"/>
            </a:solidFill>
            <a:ln>
              <a:solidFill>
                <a:srgbClr val="0000F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75E3-4FA2-98B1-A041ABDD0A10}"/>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75E3-4FA2-98B1-A041ABDD0A10}"/>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'[数据模版(1)(1)(1).xlsx]住院'!$C$7:$D$7</c:f>
              <c:numCache>
                <c:formatCode>yyyy"年"m"月"</c:formatCode>
                <c:ptCount val="2"/>
                <c:pt idx="0">
                  <c:v>46143</c:v>
                </c:pt>
                <c:pt idx="1">
                  <c:v>45778</c:v>
                </c:pt>
              </c:numCache>
            </c:numRef>
          </c:cat>
          <c:val>
            <c:numRef>
              <c:f>'[数据模版(1)(1)(1).xlsx]住院'!$C$8:$D$8</c:f>
              <c:numCache>
                <c:formatCode>0.00_ </c:formatCode>
                <c:ptCount val="2"/>
                <c:pt idx="0">
                  <c:v>1.5504</c:v>
                </c:pt>
                <c:pt idx="1">
                  <c:v>1.3003</c:v>
                </c:pt>
              </c:numCache>
            </c:numRef>
          </c:val>
          <c:extLst>
            <c:ext xmlns:c16="http://schemas.microsoft.com/office/drawing/2014/chart" uri="{C3380CC4-5D6E-409C-BE32-E72D297353CC}">
              <c16:uniqueId val="{00000004-75E3-4FA2-98B1-A041ABDD0A10}"/>
            </c:ext>
          </c:extLst>
        </c:ser>
        <c:dLbls>
          <c:showLegendKey val="0"/>
          <c:showVal val="0"/>
          <c:showCatName val="0"/>
          <c:showSerName val="0"/>
          <c:showPercent val="0"/>
          <c:showBubbleSize val="0"/>
        </c:dLbls>
        <c:gapWidth val="219"/>
        <c:overlap val="-27"/>
        <c:axId val="175373711"/>
        <c:axId val="175379535"/>
      </c:barChart>
      <c:catAx>
        <c:axId val="175373711"/>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75379535"/>
        <c:crosses val="autoZero"/>
        <c:auto val="0"/>
        <c:lblAlgn val="ctr"/>
        <c:lblOffset val="100"/>
        <c:noMultiLvlLbl val="1"/>
      </c:catAx>
      <c:valAx>
        <c:axId val="175379535"/>
        <c:scaling>
          <c:orientation val="minMax"/>
        </c:scaling>
        <c:delete val="1"/>
        <c:axPos val="l"/>
        <c:numFmt formatCode="0.00_ " sourceLinked="1"/>
        <c:majorTickMark val="none"/>
        <c:minorTickMark val="none"/>
        <c:tickLblPos val="nextTo"/>
        <c:crossAx val="175373711"/>
        <c:crosses val="autoZero"/>
        <c:crossBetween val="between"/>
        <c:majorUnit val="0.7"/>
        <c:minorUnit val="0.4"/>
      </c:valAx>
      <c:spPr>
        <a:noFill/>
        <a:ln>
          <a:noFill/>
        </a:ln>
        <a:effectLst/>
      </c:spPr>
    </c:plotArea>
    <c:plotVisOnly val="1"/>
    <c:dispBlanksAs val="gap"/>
    <c:showDLblsOverMax val="0"/>
    <c:extLst>
      <c:ext uri="{0b15fc19-7d7d-44ad-8c2d-2c3a37ce22c3}">
        <chartProps xmlns="https://web.wps.cn/et/2018/main" chartId="{7e668113-2d64-4f8f-a55b-70ab31ac459f}"/>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244911359159604E-3"/>
          <c:y val="7.8678206136900096E-3"/>
          <c:w val="0.92757201646090504"/>
          <c:h val="0.827581231759833"/>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D053-4F2E-8738-AE0BCDE425B6}"/>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D053-4F2E-8738-AE0BCDE425B6}"/>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'[数据模版(1)(1)(1).xlsx]住院'!$C$34:$D$34</c:f>
              <c:numCache>
                <c:formatCode>yyyy"年"m"月"</c:formatCode>
                <c:ptCount val="2"/>
                <c:pt idx="0">
                  <c:v>46143</c:v>
                </c:pt>
                <c:pt idx="1">
                  <c:v>45778</c:v>
                </c:pt>
              </c:numCache>
            </c:numRef>
          </c:cat>
          <c:val>
            <c:numRef>
              <c:f>'[数据模版(1)(1)(1).xlsx]住院'!$C$35:$D$35</c:f>
              <c:numCache>
                <c:formatCode>0.00_ </c:formatCode>
                <c:ptCount val="2"/>
                <c:pt idx="0">
                  <c:v>781</c:v>
                </c:pt>
                <c:pt idx="1">
                  <c:v>740</c:v>
                </c:pt>
              </c:numCache>
            </c:numRef>
          </c:val>
          <c:extLst>
            <c:ext xmlns:c16="http://schemas.microsoft.com/office/drawing/2014/chart" uri="{C3380CC4-5D6E-409C-BE32-E72D297353CC}">
              <c16:uniqueId val="{00000004-D053-4F2E-8738-AE0BCDE425B6}"/>
            </c:ext>
          </c:extLst>
        </c:ser>
        <c:dLbls>
          <c:showLegendKey val="0"/>
          <c:showVal val="0"/>
          <c:showCatName val="0"/>
          <c:showSerName val="0"/>
          <c:showPercent val="0"/>
          <c:showBubbleSize val="0"/>
        </c:dLbls>
        <c:gapWidth val="219"/>
        <c:overlap val="-27"/>
        <c:axId val="175388687"/>
        <c:axId val="175372879"/>
      </c:barChart>
      <c:catAx>
        <c:axId val="175388687"/>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175372879"/>
        <c:crosses val="autoZero"/>
        <c:auto val="0"/>
        <c:lblAlgn val="ctr"/>
        <c:lblOffset val="100"/>
        <c:noMultiLvlLbl val="1"/>
      </c:catAx>
      <c:valAx>
        <c:axId val="175372879"/>
        <c:scaling>
          <c:orientation val="minMax"/>
        </c:scaling>
        <c:delete val="1"/>
        <c:axPos val="l"/>
        <c:numFmt formatCode="0.00_ " sourceLinked="1"/>
        <c:majorTickMark val="none"/>
        <c:minorTickMark val="none"/>
        <c:tickLblPos val="nextTo"/>
        <c:crossAx val="175388687"/>
        <c:crosses val="autoZero"/>
        <c:crossBetween val="between"/>
        <c:majorUnit val="0.3"/>
      </c:valAx>
      <c:spPr>
        <a:noFill/>
        <a:ln>
          <a:noFill/>
        </a:ln>
        <a:effectLst/>
      </c:spPr>
    </c:plotArea>
    <c:plotVisOnly val="1"/>
    <c:dispBlanksAs val="gap"/>
    <c:showDLblsOverMax val="0"/>
    <c:extLst>
      <c:ext uri="{0b15fc19-7d7d-44ad-8c2d-2c3a37ce22c3}">
        <chartProps xmlns="https://web.wps.cn/et/2018/main" chartId="{a68614c9-fe7f-4ed2-9929-61213ede2772}"/>
      </c:ext>
    </c:extLst>
  </c:chart>
  <c:spPr>
    <a:noFill/>
    <a:ln w="9525"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502984449768401E-2"/>
          <c:y val="2.7437563296443201E-2"/>
          <c:w val="0.94795912415709904"/>
          <c:h val="0.75799358413531603"/>
        </c:manualLayout>
      </c:layout>
      <c:barChart>
        <c:barDir val="col"/>
        <c:grouping val="clustered"/>
        <c:varyColors val="0"/>
        <c:ser>
          <c:idx val="0"/>
          <c:order val="0"/>
          <c:tx>
            <c:strRef>
              <c:f>'[数据模版(1)(1)(1).xlsx]住院'!$C$40</c:f>
              <c:strCache>
                <c:ptCount val="1"/>
                <c:pt idx="0">
                  <c:v>2026年5月</c:v>
                </c:pt>
              </c:strCache>
            </c:strRef>
          </c:tx>
          <c:spPr>
            <a:solidFill>
              <a:srgbClr val="0000FF"/>
            </a:solidFill>
            <a:ln>
              <a:solidFill>
                <a:srgbClr val="0000F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01D8-4E56-BA12-48C2CDE19771}"/>
              </c:ext>
            </c:extLst>
          </c:dPt>
          <c:dPt>
            <c:idx val="1"/>
            <c:invertIfNegative val="0"/>
            <c:bubble3D val="0"/>
            <c:spPr>
              <a:solidFill>
                <a:srgbClr val="0000FF"/>
              </a:solidFill>
              <a:ln>
                <a:solidFill>
                  <a:srgbClr val="0000FF"/>
                </a:solidFill>
              </a:ln>
              <a:effectLst/>
            </c:spPr>
            <c:extLst>
              <c:ext xmlns:c16="http://schemas.microsoft.com/office/drawing/2014/chart" uri="{C3380CC4-5D6E-409C-BE32-E72D297353CC}">
                <c16:uniqueId val="{00000003-01D8-4E56-BA12-48C2CDE19771}"/>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'[数据模版(1)(1)(1).xlsx]住院'!$B$41:$B$42</c:f>
              <c:strCache>
                <c:ptCount val="2"/>
                <c:pt idx="0">
                  <c:v>四级手术</c:v>
                </c:pt>
                <c:pt idx="1">
                  <c:v>微创手术</c:v>
                </c:pt>
              </c:strCache>
            </c:strRef>
          </c:cat>
          <c:val>
            <c:numRef>
              <c:f>'[数据模版(1)(1)(1).xlsx]住院'!$C$41:$C$42</c:f>
              <c:numCache>
                <c:formatCode>0.00_);[Red]\(0.00\)</c:formatCode>
                <c:ptCount val="2"/>
                <c:pt idx="0">
                  <c:v>216</c:v>
                </c:pt>
                <c:pt idx="1">
                  <c:v>265</c:v>
                </c:pt>
              </c:numCache>
            </c:numRef>
          </c:val>
          <c:extLst>
            <c:ext xmlns:c16="http://schemas.microsoft.com/office/drawing/2014/chart" uri="{C3380CC4-5D6E-409C-BE32-E72D297353CC}">
              <c16:uniqueId val="{00000004-01D8-4E56-BA12-48C2CDE19771}"/>
            </c:ext>
          </c:extLst>
        </c:ser>
        <c:ser>
          <c:idx val="1"/>
          <c:order val="1"/>
          <c:tx>
            <c:strRef>
              <c:f>'[数据模版(1)(1)(1).xlsx]住院'!$D$40</c:f>
              <c:strCache>
                <c:ptCount val="1"/>
                <c:pt idx="0">
                  <c:v>2025年5月</c:v>
                </c:pt>
              </c:strCache>
            </c:strRef>
          </c:tx>
          <c:spPr>
            <a:solidFill>
              <a:srgbClr val="EE822F"/>
            </a:solidFill>
            <a:ln>
              <a:solidFill>
                <a:srgbClr val="EE822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'[数据模版(1)(1)(1).xlsx]住院'!$B$41:$B$42</c:f>
              <c:strCache>
                <c:ptCount val="2"/>
                <c:pt idx="0">
                  <c:v>四级手术</c:v>
                </c:pt>
                <c:pt idx="1">
                  <c:v>微创手术</c:v>
                </c:pt>
              </c:strCache>
            </c:strRef>
          </c:cat>
          <c:val>
            <c:numRef>
              <c:f>'[数据模版(1)(1)(1).xlsx]住院'!$D$41:$D$42</c:f>
              <c:numCache>
                <c:formatCode>0.00_);[Red]\(0.00\)</c:formatCode>
                <c:ptCount val="2"/>
                <c:pt idx="0">
                  <c:v>212</c:v>
                </c:pt>
                <c:pt idx="1">
                  <c:v>236</c:v>
                </c:pt>
              </c:numCache>
            </c:numRef>
          </c:val>
          <c:extLst>
            <c:ext xmlns:c16="http://schemas.microsoft.com/office/drawing/2014/chart" uri="{C3380CC4-5D6E-409C-BE32-E72D297353CC}">
              <c16:uniqueId val="{00000005-01D8-4E56-BA12-48C2CDE19771}"/>
            </c:ext>
          </c:extLst>
        </c:ser>
        <c:dLbls>
          <c:showLegendKey val="0"/>
          <c:showVal val="0"/>
          <c:showCatName val="0"/>
          <c:showSerName val="0"/>
          <c:showPercent val="0"/>
          <c:showBubbleSize val="0"/>
        </c:dLbls>
        <c:gapWidth val="199"/>
        <c:axId val="206949023"/>
        <c:axId val="206943615"/>
      </c:barChart>
      <c:dateAx>
        <c:axId val="206949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1050" b="1" i="0" u="none" strike="noStrike" kern="1200" cap="none" spc="0" normalizeH="0" baseline="0">
                <a:solidFill>
                  <a:schemeClr val="tx1">
                    <a:lumMod val="65000"/>
                    <a:lumOff val="35000"/>
                  </a:schemeClr>
                </a:solidFill>
                <a:latin typeface="+mn-lt"/>
                <a:ea typeface="+mn-ea"/>
                <a:cs typeface="+mn-cs"/>
              </a:defRPr>
            </a:pPr>
            <a:endParaRPr lang="zh-CN"/>
          </a:p>
        </c:txPr>
        <c:crossAx val="206943615"/>
        <c:crosses val="autoZero"/>
        <c:auto val="0"/>
        <c:lblOffset val="100"/>
        <c:baseTimeUnit val="days"/>
      </c:dateAx>
      <c:valAx>
        <c:axId val="206943615"/>
        <c:scaling>
          <c:orientation val="minMax"/>
        </c:scaling>
        <c:delete val="1"/>
        <c:axPos val="l"/>
        <c:numFmt formatCode="0.00_);[Red]\(0.00\)" sourceLinked="1"/>
        <c:majorTickMark val="none"/>
        <c:minorTickMark val="none"/>
        <c:tickLblPos val="nextTo"/>
        <c:crossAx val="206949023"/>
        <c:crosses val="autoZero"/>
        <c:crossBetween val="between"/>
      </c:valAx>
      <c:spPr>
        <a:noFill/>
        <a:ln>
          <a:noFill/>
        </a:ln>
        <a:effectLst/>
      </c:spPr>
    </c:plotArea>
    <c:legend>
      <c:legendPos val="t"/>
      <c:layout>
        <c:manualLayout>
          <c:xMode val="edge"/>
          <c:yMode val="edge"/>
          <c:x val="0.23716202141399001"/>
          <c:y val="0.90137186377343903"/>
          <c:w val="0.570634623053071"/>
          <c:h val="9.13021289005541E-2"/>
        </c:manualLayout>
      </c:layout>
      <c:overlay val="0"/>
      <c:spPr>
        <a:noFill/>
        <a:ln>
          <a:noFill/>
        </a:ln>
        <a:effectLst/>
      </c:spPr>
      <c:txPr>
        <a:bodyPr rot="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40f2c0f6-aef4-437e-8935-585000454e7b}"/>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7"/>
            <c:spPr>
              <a:solidFill>
                <a:schemeClr val="accent1"/>
              </a:solidFill>
              <a:ln w="9525">
                <a:noFill/>
              </a:ln>
              <a:effectLst/>
            </c:spPr>
          </c:marker>
          <c:dPt>
            <c:idx val="6"/>
            <c:marker>
              <c:symbol val="circle"/>
              <c:size val="7"/>
              <c:spPr>
                <a:solidFill>
                  <a:schemeClr val="accent2"/>
                </a:solidFill>
                <a:ln w="9525">
                  <a:noFill/>
                </a:ln>
                <a:effectLst/>
              </c:spPr>
            </c:marker>
            <c:bubble3D val="0"/>
            <c:extLst>
              <c:ext xmlns:c16="http://schemas.microsoft.com/office/drawing/2014/chart" uri="{C3380CC4-5D6E-409C-BE32-E72D297353CC}">
                <c16:uniqueId val="{00000000-4A73-45D1-8753-CB4677728E05}"/>
              </c:ext>
            </c:extLst>
          </c:dPt>
          <c:dPt>
            <c:idx val="10"/>
            <c:marker>
              <c:symbol val="circle"/>
              <c:size val="7"/>
              <c:spPr>
                <a:solidFill>
                  <a:schemeClr val="accent2"/>
                </a:solidFill>
                <a:ln w="9525">
                  <a:noFill/>
                </a:ln>
                <a:effectLst/>
              </c:spPr>
            </c:marker>
            <c:bubble3D val="0"/>
            <c:extLst>
              <c:ext xmlns:c16="http://schemas.microsoft.com/office/drawing/2014/chart" uri="{C3380CC4-5D6E-409C-BE32-E72D297353CC}">
                <c16:uniqueId val="{00000001-4A73-45D1-8753-CB4677728E05}"/>
              </c:ext>
            </c:extLst>
          </c:dPt>
          <c:dPt>
            <c:idx val="11"/>
            <c:marker>
              <c:symbol val="circle"/>
              <c:size val="7"/>
              <c:spPr>
                <a:solidFill>
                  <a:schemeClr val="accent2"/>
                </a:solidFill>
                <a:ln w="9525">
                  <a:noFill/>
                </a:ln>
                <a:effectLst/>
              </c:spPr>
            </c:marker>
            <c:bubble3D val="0"/>
            <c:extLst>
              <c:ext xmlns:c16="http://schemas.microsoft.com/office/drawing/2014/chart" uri="{C3380CC4-5D6E-409C-BE32-E72D297353CC}">
                <c16:uniqueId val="{00000002-4A73-45D1-8753-CB4677728E05}"/>
              </c:ext>
            </c:extLst>
          </c:dPt>
          <c:dPt>
            <c:idx val="12"/>
            <c:marker>
              <c:symbol val="circle"/>
              <c:size val="7"/>
              <c:spPr>
                <a:solidFill>
                  <a:schemeClr val="accent2"/>
                </a:solidFill>
                <a:ln w="9525">
                  <a:noFill/>
                </a:ln>
                <a:effectLst/>
              </c:spPr>
            </c:marker>
            <c:bubble3D val="0"/>
            <c:extLst>
              <c:ext xmlns:c16="http://schemas.microsoft.com/office/drawing/2014/chart" uri="{C3380CC4-5D6E-409C-BE32-E72D297353CC}">
                <c16:uniqueId val="{00000003-4A73-45D1-8753-CB4677728E05}"/>
              </c:ext>
            </c:extLst>
          </c:dPt>
          <c:dPt>
            <c:idx val="13"/>
            <c:marker>
              <c:symbol val="circle"/>
              <c:size val="7"/>
              <c:spPr>
                <a:solidFill>
                  <a:schemeClr val="accent2"/>
                </a:solidFill>
                <a:ln w="9525">
                  <a:noFill/>
                </a:ln>
                <a:effectLst/>
              </c:spPr>
            </c:marker>
            <c:bubble3D val="0"/>
            <c:extLst>
              <c:ext xmlns:c16="http://schemas.microsoft.com/office/drawing/2014/chart" uri="{C3380CC4-5D6E-409C-BE32-E72D297353CC}">
                <c16:uniqueId val="{00000004-4A73-45D1-8753-CB4677728E05}"/>
              </c:ext>
            </c:extLst>
          </c:dPt>
          <c:dLbls>
            <c:dLbl>
              <c:idx val="0"/>
              <c:layout>
                <c:manualLayout>
                  <c:x val="-4.3563579277865E-2"/>
                  <c:y val="2.7171152869476901E-2"/>
                </c:manualLayout>
              </c:layout>
              <c:tx>
                <c:rich>
                  <a:bodyPr/>
                  <a:lstStyle/>
                  <a:p>
                    <a:fld id="{D9C0B646-57E0-40A2-88A7-016A03D18CDA}"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4A73-45D1-8753-CB4677728E05}"/>
                </c:ext>
              </c:extLst>
            </c:dLbl>
            <c:dLbl>
              <c:idx val="1"/>
              <c:layout>
                <c:manualLayout>
                  <c:x val="-9.8879920229751506E-2"/>
                  <c:y val="-3.00196169153653E-2"/>
                </c:manualLayout>
              </c:layout>
              <c:tx>
                <c:rich>
                  <a:bodyPr/>
                  <a:lstStyle/>
                  <a:p>
                    <a:fld id="{B5A349A6-D384-4E7F-B077-1337BFFE9C24}"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layout>
                    <c:manualLayout>
                      <c:w val="0.106576977877765"/>
                      <c:h val="4.3210362324795602E-2"/>
                    </c:manualLayout>
                  </c15:layout>
                  <c15:dlblFieldTable/>
                  <c15:showDataLabelsRange val="1"/>
                </c:ext>
                <c:ext xmlns:c16="http://schemas.microsoft.com/office/drawing/2014/chart" uri="{C3380CC4-5D6E-409C-BE32-E72D297353CC}">
                  <c16:uniqueId val="{00000006-4A73-45D1-8753-CB4677728E05}"/>
                </c:ext>
              </c:extLst>
            </c:dLbl>
            <c:dLbl>
              <c:idx val="2"/>
              <c:layout>
                <c:manualLayout>
                  <c:x val="-6.2857142857142806E-2"/>
                  <c:y val="-3.3167490079351401E-2"/>
                </c:manualLayout>
              </c:layout>
              <c:tx>
                <c:rich>
                  <a:bodyPr/>
                  <a:lstStyle/>
                  <a:p>
                    <a:fld id="{2ABF1EFA-305F-434D-B184-49BAD4D038C4}"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4A73-45D1-8753-CB4677728E05}"/>
                </c:ext>
              </c:extLst>
            </c:dLbl>
            <c:dLbl>
              <c:idx val="3"/>
              <c:tx>
                <c:rich>
                  <a:bodyPr/>
                  <a:lstStyle/>
                  <a:p>
                    <a:fld id="{2FCB24AC-CA6B-4985-8EC5-02486B483C15}"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4A73-45D1-8753-CB4677728E05}"/>
                </c:ext>
              </c:extLst>
            </c:dLbl>
            <c:dLbl>
              <c:idx val="4"/>
              <c:layout>
                <c:manualLayout>
                  <c:x val="-1.5448717948718001E-2"/>
                  <c:y val="2.4201692646918099E-2"/>
                </c:manualLayout>
              </c:layout>
              <c:tx>
                <c:rich>
                  <a:bodyPr/>
                  <a:lstStyle/>
                  <a:p>
                    <a:fld id="{ED5ADA1C-1D64-4936-9465-96C50A39A746}"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4A73-45D1-8753-CB4677728E05}"/>
                </c:ext>
              </c:extLst>
            </c:dLbl>
            <c:dLbl>
              <c:idx val="5"/>
              <c:layout>
                <c:manualLayout>
                  <c:x val="2.5313971742543202E-2"/>
                  <c:y val="6.71660741493144E-2"/>
                </c:manualLayout>
              </c:layout>
              <c:tx>
                <c:rich>
                  <a:bodyPr/>
                  <a:lstStyle/>
                  <a:p>
                    <a:fld id="{F407A925-E319-4292-AFAC-48CA260A0FEC}"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4A73-45D1-8753-CB4677728E05}"/>
                </c:ext>
              </c:extLst>
            </c:dLbl>
            <c:dLbl>
              <c:idx val="6"/>
              <c:layout>
                <c:manualLayout>
                  <c:x val="-1.9047619047619401E-3"/>
                  <c:y val="-1.4859035555549399E-2"/>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27E68348-B454-41CC-9A75-C6EB8654BDA6}"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4A73-45D1-8753-CB4677728E05}"/>
                </c:ext>
              </c:extLst>
            </c:dLbl>
            <c:dLbl>
              <c:idx val="7"/>
              <c:tx>
                <c:rich>
                  <a:bodyPr/>
                  <a:lstStyle/>
                  <a:p>
                    <a:fld id="{CD842652-3B46-43C5-A1D6-BB986282BE67}"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4A73-45D1-8753-CB4677728E05}"/>
                </c:ext>
              </c:extLst>
            </c:dLbl>
            <c:dLbl>
              <c:idx val="8"/>
              <c:layout>
                <c:manualLayout>
                  <c:x val="-6.6666666666666693E-2"/>
                  <c:y val="-3.0337197592579999E-2"/>
                </c:manualLayout>
              </c:layout>
              <c:tx>
                <c:rich>
                  <a:bodyPr/>
                  <a:lstStyle/>
                  <a:p>
                    <a:fld id="{E55CF570-A1F0-4BF6-9D84-D2934B6DD90A}"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4A73-45D1-8753-CB4677728E05}"/>
                </c:ext>
              </c:extLst>
            </c:dLbl>
            <c:dLbl>
              <c:idx val="9"/>
              <c:tx>
                <c:rich>
                  <a:bodyPr/>
                  <a:lstStyle/>
                  <a:p>
                    <a:endParaRPr lang="zh-CN" altLang="en-US"/>
                  </a:p>
                </c:rich>
              </c:tx>
              <c:dLblPos val="t"/>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D-4A73-45D1-8753-CB4677728E05}"/>
                </c:ext>
              </c:extLst>
            </c:dLbl>
            <c:dLbl>
              <c:idx val="10"/>
              <c:layout>
                <c:manualLayout>
                  <c:x val="-8.8402668759811606E-2"/>
                  <c:y val="-1.8156424581005599E-2"/>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2020DC74-0549-4BD6-BFE3-F25BBF3ED608}"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4A73-45D1-8753-CB4677728E05}"/>
                </c:ext>
              </c:extLst>
            </c:dLbl>
            <c:dLbl>
              <c:idx val="11"/>
              <c:layout>
                <c:manualLayout>
                  <c:x val="-4.76190476190477E-2"/>
                  <c:y val="3.5997782566122599E-2"/>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0D492505-8AD7-4806-988B-FF9B48F816BB}"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4A73-45D1-8753-CB4677728E05}"/>
                </c:ext>
              </c:extLst>
            </c:dLbl>
            <c:dLbl>
              <c:idx val="12"/>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372BD1A6-25E5-4A81-A98A-25996C5C2DC1}"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4A73-45D1-8753-CB4677728E05}"/>
                </c:ext>
              </c:extLst>
            </c:dLbl>
            <c:dLbl>
              <c:idx val="13"/>
              <c:layout>
                <c:manualLayout>
                  <c:x val="-2.5215855572998401E-2"/>
                  <c:y val="3.5551041137633298E-3"/>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82AAA7FC-A774-495E-A272-B3FF48AA3ADF}"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4A73-45D1-8753-CB4677728E05}"/>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1"/>
                    </a:solidFill>
                    <a:latin typeface="微软雅黑" panose="020B0503020204020204" pitchFamily="34" charset="-122"/>
                    <a:ea typeface="微软雅黑" panose="020B0503020204020204" pitchFamily="34" charset="-122"/>
                    <a:cs typeface="+mn-cs"/>
                  </a:defRPr>
                </a:pPr>
                <a:endParaRPr lang="zh-CN"/>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'[散点图.xlsx]业务量散点图-儿童科'!$M$3:$M$16</c:f>
              <c:numCache>
                <c:formatCode>0.00%</c:formatCode>
                <c:ptCount val="14"/>
                <c:pt idx="0">
                  <c:v>-7.0649979814291202E-3</c:v>
                </c:pt>
                <c:pt idx="1">
                  <c:v>-0.15834266517357201</c:v>
                </c:pt>
                <c:pt idx="2">
                  <c:v>0.45681551116333702</c:v>
                </c:pt>
                <c:pt idx="3">
                  <c:v>0.23004914579920399</c:v>
                </c:pt>
                <c:pt idx="4">
                  <c:v>5.8681810359662703E-2</c:v>
                </c:pt>
                <c:pt idx="5">
                  <c:v>1.45079531550427E-2</c:v>
                </c:pt>
                <c:pt idx="6">
                  <c:v>1.24248927038627</c:v>
                </c:pt>
                <c:pt idx="7">
                  <c:v>0.223523005717397</c:v>
                </c:pt>
                <c:pt idx="8">
                  <c:v>0.90663217309501398</c:v>
                </c:pt>
                <c:pt idx="10">
                  <c:v>-3.8395415472779401E-2</c:v>
                </c:pt>
                <c:pt idx="11">
                  <c:v>0.314510833880499</c:v>
                </c:pt>
                <c:pt idx="12">
                  <c:v>0.180576864068733</c:v>
                </c:pt>
                <c:pt idx="13">
                  <c:v>-2.7417746759720901E-2</c:v>
                </c:pt>
              </c:numCache>
            </c:numRef>
          </c:xVal>
          <c:yVal>
            <c:numRef>
              <c:f>'[散点图.xlsx]业务量散点图-儿童科'!$N$3:$N$16</c:f>
              <c:numCache>
                <c:formatCode>0.00%</c:formatCode>
                <c:ptCount val="14"/>
                <c:pt idx="0">
                  <c:v>-0.119402985074627</c:v>
                </c:pt>
                <c:pt idx="1">
                  <c:v>0.20258620689655199</c:v>
                </c:pt>
                <c:pt idx="2">
                  <c:v>0.213483146067416</c:v>
                </c:pt>
                <c:pt idx="3">
                  <c:v>0.22167487684729101</c:v>
                </c:pt>
                <c:pt idx="4">
                  <c:v>-0.101449275362319</c:v>
                </c:pt>
                <c:pt idx="5">
                  <c:v>0.16269841269841301</c:v>
                </c:pt>
                <c:pt idx="6">
                  <c:v>0.27027027027027001</c:v>
                </c:pt>
                <c:pt idx="7">
                  <c:v>0.76954732510288104</c:v>
                </c:pt>
                <c:pt idx="8">
                  <c:v>0.16666666666666699</c:v>
                </c:pt>
                <c:pt idx="10">
                  <c:v>5.5118110236220402E-2</c:v>
                </c:pt>
                <c:pt idx="11">
                  <c:v>-0.19186046511627899</c:v>
                </c:pt>
                <c:pt idx="12">
                  <c:v>-6.7226890756302504E-2</c:v>
                </c:pt>
                <c:pt idx="13">
                  <c:v>0.293617021276596</c:v>
                </c:pt>
              </c:numCache>
            </c:numRef>
          </c:yVal>
          <c:smooth val="0"/>
          <c:extLst>
            <c:ext xmlns:c15="http://schemas.microsoft.com/office/drawing/2012/chart" uri="{02D57815-91ED-43cb-92C2-25804820EDAC}">
              <c15:datalabelsRange>
                <c15:f>'业务量散点图-儿童科'!$L$3:$L$16</c15:f>
                <c15:dlblRangeCache>
                  <c:ptCount val="14"/>
                  <c:pt idx="0">
                    <c:v>儿消化</c:v>
                  </c:pt>
                  <c:pt idx="1">
                    <c:v>儿呼吸 </c:v>
                  </c:pt>
                  <c:pt idx="2">
                    <c:v>儿肾脏</c:v>
                  </c:pt>
                  <c:pt idx="3">
                    <c:v>儿血液</c:v>
                  </c:pt>
                  <c:pt idx="4">
                    <c:v>儿内分泌</c:v>
                  </c:pt>
                  <c:pt idx="5">
                    <c:v>新生儿</c:v>
                  </c:pt>
                  <c:pt idx="6">
                    <c:v>儿心脏</c:v>
                  </c:pt>
                  <c:pt idx="7">
                    <c:v>儿神经内</c:v>
                  </c:pt>
                  <c:pt idx="8">
                    <c:v>儿感染</c:v>
                  </c:pt>
                  <c:pt idx="10">
                    <c:v>儿普外</c:v>
                  </c:pt>
                  <c:pt idx="11">
                    <c:v>儿泌尿</c:v>
                  </c:pt>
                  <c:pt idx="12">
                    <c:v>儿骨</c:v>
                  </c:pt>
                  <c:pt idx="13">
                    <c:v>儿神经外</c:v>
                  </c:pt>
                </c15:dlblRangeCache>
              </c15:datalabelsRange>
            </c:ext>
            <c:ext xmlns:c16="http://schemas.microsoft.com/office/drawing/2014/chart" uri="{C3380CC4-5D6E-409C-BE32-E72D297353CC}">
              <c16:uniqueId val="{0000000E-4A73-45D1-8753-CB4677728E05}"/>
            </c:ext>
          </c:extLst>
        </c:ser>
        <c:dLbls>
          <c:showLegendKey val="0"/>
          <c:showVal val="0"/>
          <c:showCatName val="0"/>
          <c:showSerName val="0"/>
          <c:showPercent val="0"/>
          <c:showBubbleSize val="0"/>
        </c:dLbls>
        <c:axId val="922786288"/>
        <c:axId val="1055129360"/>
      </c:scatterChart>
      <c:valAx>
        <c:axId val="922786288"/>
        <c:scaling>
          <c:orientation val="minMax"/>
        </c:scaling>
        <c:delete val="0"/>
        <c:axPos val="b"/>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1ddc55a6-ef11-45a6-809e-11d0bb31a4e6}"/>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2101341281669E-2"/>
          <c:y val="3.2169985021520402E-2"/>
          <c:w val="0.91968107876712302"/>
          <c:h val="0.94451450189155095"/>
        </c:manualLayout>
      </c:layout>
      <c:scatterChart>
        <c:scatterStyle val="lineMarker"/>
        <c:varyColors val="0"/>
        <c:ser>
          <c:idx val="0"/>
          <c:order val="0"/>
          <c:spPr>
            <a:ln w="25400" cap="rnd" cmpd="sng" algn="ctr">
              <a:noFill/>
              <a:prstDash val="solid"/>
              <a:round/>
            </a:ln>
            <a:effectLst/>
          </c:spPr>
          <c:marker>
            <c:symbol val="circle"/>
            <c:size val="7"/>
            <c:spPr>
              <a:solidFill>
                <a:schemeClr val="accent2"/>
              </a:solidFill>
              <a:ln w="9525" cap="flat" cmpd="sng" algn="ctr">
                <a:noFill/>
                <a:prstDash val="solid"/>
                <a:round/>
              </a:ln>
              <a:effectLst/>
            </c:spPr>
          </c:marker>
          <c:dLbls>
            <c:dLbl>
              <c:idx val="0"/>
              <c:tx>
                <c:rich>
                  <a:bodyPr/>
                  <a:lstStyle/>
                  <a:p>
                    <a:fld id="{02607A23-DA48-4D69-B150-19B647B95A50}"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4F7-4FB8-A8D2-89809C5ED291}"/>
                </c:ext>
              </c:extLst>
            </c:dLbl>
            <c:dLbl>
              <c:idx val="1"/>
              <c:tx>
                <c:rich>
                  <a:bodyPr rot="0" spcFirstLastPara="1" vertOverflow="ellipsis" vert="horz" wrap="square" lIns="38100" tIns="19050" rIns="38100" bIns="19050" anchor="ctr" anchorCtr="1">
                    <a:no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CC7C97CC-BA09-4786-9A86-242C354C3EE8}" type="CELLRANGE">
                      <a:rPr lang="zh-CN" altLang="en-US"/>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t>[CELLRANGE]</a:t>
                    </a:fld>
                    <a:endParaRPr lang="zh-CN" altLang="en-US"/>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xForSave val="1"/>
                  <c15:showDataLabelsRange val="1"/>
                </c:ext>
                <c:ext xmlns:c16="http://schemas.microsoft.com/office/drawing/2014/chart" uri="{C3380CC4-5D6E-409C-BE32-E72D297353CC}">
                  <c16:uniqueId val="{00000001-B4F7-4FB8-A8D2-89809C5ED291}"/>
                </c:ext>
              </c:extLst>
            </c:dLbl>
            <c:dLbl>
              <c:idx val="2"/>
              <c:layout>
                <c:manualLayout>
                  <c:x val="-4.5404868355688001E-2"/>
                  <c:y val="-3.2595573440643899E-2"/>
                </c:manualLayout>
              </c:layout>
              <c:tx>
                <c:rich>
                  <a:bodyPr/>
                  <a:lstStyle/>
                  <a:p>
                    <a:fld id="{13F2AAF6-B1DA-46D3-AB37-C7DD22321ABD}"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B4F7-4FB8-A8D2-89809C5ED291}"/>
                </c:ext>
              </c:extLst>
            </c:dLbl>
            <c:dLbl>
              <c:idx val="3"/>
              <c:tx>
                <c:rich>
                  <a:bodyPr/>
                  <a:lstStyle/>
                  <a:p>
                    <a:fld id="{5733ACEF-AA4C-4D19-9028-0DF9FAC9C2EC}"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B4F7-4FB8-A8D2-89809C5ED291}"/>
                </c:ext>
              </c:extLst>
            </c:dLbl>
            <c:dLbl>
              <c:idx val="4"/>
              <c:layout>
                <c:manualLayout>
                  <c:x val="-4.5504222553402897E-2"/>
                  <c:y val="-3.4473507712944301E-2"/>
                </c:manualLayout>
              </c:layout>
              <c:tx>
                <c:rich>
                  <a:bodyPr/>
                  <a:lstStyle/>
                  <a:p>
                    <a:fld id="{EC44938B-825B-431D-9DBB-AD3D2FD55B4D}"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B4F7-4FB8-A8D2-89809C5ED291}"/>
                </c:ext>
              </c:extLst>
            </c:dLbl>
            <c:dLbl>
              <c:idx val="5"/>
              <c:layout>
                <c:manualLayout>
                  <c:x val="-7.1535022354694503E-3"/>
                  <c:y val="2.2937625754527201E-2"/>
                </c:manualLayout>
              </c:layout>
              <c:tx>
                <c:rich>
                  <a:bodyPr/>
                  <a:lstStyle/>
                  <a:p>
                    <a:fld id="{1F2CECF0-2B0A-45C7-A34D-EA74D6ECF16A}"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B4F7-4FB8-A8D2-89809C5ED291}"/>
                </c:ext>
              </c:extLst>
            </c:dLbl>
            <c:dLbl>
              <c:idx val="6"/>
              <c:tx>
                <c:rich>
                  <a:bodyPr/>
                  <a:lstStyle/>
                  <a:p>
                    <a:fld id="{8D31FD70-1912-439D-9DA0-3A8AAEBE1C46}"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B4F7-4FB8-A8D2-89809C5ED291}"/>
                </c:ext>
              </c:extLst>
            </c:dLbl>
            <c:dLbl>
              <c:idx val="7"/>
              <c:tx>
                <c:rich>
                  <a:bodyPr/>
                  <a:lstStyle/>
                  <a:p>
                    <a:fld id="{795F81AE-B9F2-4AF3-8A90-B54DF87A9F4F}"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B4F7-4FB8-A8D2-89809C5ED291}"/>
                </c:ext>
              </c:extLst>
            </c:dLbl>
            <c:dLbl>
              <c:idx val="8"/>
              <c:tx>
                <c:rich>
                  <a:bodyPr/>
                  <a:lstStyle/>
                  <a:p>
                    <a:fld id="{25B9EE94-E229-454C-9075-47B9EFB4FBDE}"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B4F7-4FB8-A8D2-89809C5ED291}"/>
                </c:ext>
              </c:extLst>
            </c:dLbl>
            <c:dLbl>
              <c:idx val="9"/>
              <c:tx>
                <c:rich>
                  <a:bodyPr/>
                  <a:lstStyle/>
                  <a:p>
                    <a:fld id="{A0168EB3-A25A-4B1C-8AEB-8EF269A0D15F}"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B4F7-4FB8-A8D2-89809C5ED291}"/>
                </c:ext>
              </c:extLst>
            </c:dLbl>
            <c:dLbl>
              <c:idx val="10"/>
              <c:layout>
                <c:manualLayout>
                  <c:x val="-1.1326378539493301E-2"/>
                  <c:y val="-2.88397048960429E-2"/>
                </c:manualLayout>
              </c:layout>
              <c:tx>
                <c:rich>
                  <a:bodyPr/>
                  <a:lstStyle/>
                  <a:p>
                    <a:fld id="{5D9601AE-F91D-49C9-936B-FF9AC043ABE3}"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B4F7-4FB8-A8D2-89809C5ED291}"/>
                </c:ext>
              </c:extLst>
            </c:dLbl>
            <c:dLbl>
              <c:idx val="11"/>
              <c:tx>
                <c:rich>
                  <a:bodyPr/>
                  <a:lstStyle/>
                  <a:p>
                    <a:fld id="{EC3D0BC8-A6BB-4266-BE08-CDD3A274F243}"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B4F7-4FB8-A8D2-89809C5ED291}"/>
                </c:ext>
              </c:extLst>
            </c:dLbl>
            <c:dLbl>
              <c:idx val="12"/>
              <c:layout>
                <c:manualLayout>
                  <c:x val="-5.9711872826626898E-2"/>
                  <c:y val="-2.68276324614353E-2"/>
                </c:manualLayout>
              </c:layout>
              <c:tx>
                <c:rich>
                  <a:bodyPr/>
                  <a:lstStyle/>
                  <a:p>
                    <a:fld id="{10917DDF-BF96-40A2-AF7C-D0E3F08ED21C}"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B4F7-4FB8-A8D2-89809C5ED291}"/>
                </c:ext>
              </c:extLst>
            </c:dLbl>
            <c:dLbl>
              <c:idx val="13"/>
              <c:layout>
                <c:manualLayout>
                  <c:x val="-6.9647292598112295E-2"/>
                  <c:y val="-1.34138162307176E-2"/>
                </c:manualLayout>
              </c:layout>
              <c:tx>
                <c:rich>
                  <a:bodyPr/>
                  <a:lstStyle/>
                  <a:p>
                    <a:fld id="{4EE55155-D366-42BB-94D2-B8C1DFF69E07}"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B4F7-4FB8-A8D2-89809C5ED291}"/>
                </c:ext>
              </c:extLst>
            </c:dLbl>
            <c:dLbl>
              <c:idx val="14"/>
              <c:layout>
                <c:manualLayout>
                  <c:x val="-6.8156979632389494E-2"/>
                  <c:y val="-2.68276324614353E-2"/>
                </c:manualLayout>
              </c:layout>
              <c:tx>
                <c:rich>
                  <a:bodyPr/>
                  <a:lstStyle/>
                  <a:p>
                    <a:fld id="{0BABF09F-6AC8-4B14-8965-9EDB3BFA1589}"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B4F7-4FB8-A8D2-89809C5ED291}"/>
                </c:ext>
              </c:extLst>
            </c:dLbl>
            <c:dLbl>
              <c:idx val="15"/>
              <c:tx>
                <c:rich>
                  <a:bodyPr/>
                  <a:lstStyle/>
                  <a:p>
                    <a:endParaRPr lang="zh-CN" altLang="en-US"/>
                  </a:p>
                </c:rich>
              </c:tx>
              <c:dLblPos val="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F-B4F7-4FB8-A8D2-89809C5ED291}"/>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'[散点图.xlsx]业务量散点图-成人手术'!$M$3:$M$18</c:f>
              <c:numCache>
                <c:formatCode>0.00%</c:formatCode>
                <c:ptCount val="16"/>
                <c:pt idx="0">
                  <c:v>0.470692943420216</c:v>
                </c:pt>
                <c:pt idx="1">
                  <c:v>0.89857045609258002</c:v>
                </c:pt>
                <c:pt idx="2">
                  <c:v>0.877411575562701</c:v>
                </c:pt>
                <c:pt idx="3">
                  <c:v>0.59945504087193502</c:v>
                </c:pt>
                <c:pt idx="4">
                  <c:v>0.35900727428326901</c:v>
                </c:pt>
                <c:pt idx="5">
                  <c:v>0.38260869565217398</c:v>
                </c:pt>
                <c:pt idx="6">
                  <c:v>0.68900343642611706</c:v>
                </c:pt>
                <c:pt idx="7">
                  <c:v>0.64732965009208099</c:v>
                </c:pt>
                <c:pt idx="8">
                  <c:v>0</c:v>
                </c:pt>
                <c:pt idx="9">
                  <c:v>0.15515818431912001</c:v>
                </c:pt>
                <c:pt idx="10">
                  <c:v>0.39947089947089998</c:v>
                </c:pt>
                <c:pt idx="11">
                  <c:v>9.74325688735036E-2</c:v>
                </c:pt>
                <c:pt idx="12">
                  <c:v>0.26150107991360699</c:v>
                </c:pt>
                <c:pt idx="13">
                  <c:v>0.28086674715638299</c:v>
                </c:pt>
                <c:pt idx="14">
                  <c:v>0.37347931873479301</c:v>
                </c:pt>
              </c:numCache>
            </c:numRef>
          </c:xVal>
          <c:yVal>
            <c:numRef>
              <c:f>'[散点图.xlsx]业务量散点图-成人手术'!$N$3:$N$18</c:f>
              <c:numCache>
                <c:formatCode>0.00%</c:formatCode>
                <c:ptCount val="16"/>
                <c:pt idx="0">
                  <c:v>0.32281553398058199</c:v>
                </c:pt>
                <c:pt idx="1">
                  <c:v>0.58918918918918906</c:v>
                </c:pt>
                <c:pt idx="2">
                  <c:v>0.170563961485557</c:v>
                </c:pt>
                <c:pt idx="3">
                  <c:v>0.27094474153297698</c:v>
                </c:pt>
                <c:pt idx="4">
                  <c:v>0.154340836012862</c:v>
                </c:pt>
                <c:pt idx="5">
                  <c:v>8.6956521739130405E-2</c:v>
                </c:pt>
                <c:pt idx="6">
                  <c:v>-0.465890183028286</c:v>
                </c:pt>
                <c:pt idx="7">
                  <c:v>1.2007722007721999</c:v>
                </c:pt>
                <c:pt idx="8">
                  <c:v>-0.13793103448275901</c:v>
                </c:pt>
                <c:pt idx="9">
                  <c:v>-0.421768707482993</c:v>
                </c:pt>
                <c:pt idx="10">
                  <c:v>0.123505976095617</c:v>
                </c:pt>
                <c:pt idx="11">
                  <c:v>8.6956521739130405E-2</c:v>
                </c:pt>
                <c:pt idx="12">
                  <c:v>0.27196652719665299</c:v>
                </c:pt>
                <c:pt idx="13">
                  <c:v>9.0047393364928799E-2</c:v>
                </c:pt>
                <c:pt idx="14">
                  <c:v>0.45714285714285702</c:v>
                </c:pt>
              </c:numCache>
            </c:numRef>
          </c:yVal>
          <c:smooth val="0"/>
          <c:extLst>
            <c:ext xmlns:c15="http://schemas.microsoft.com/office/drawing/2012/chart" uri="{02D57815-91ED-43cb-92C2-25804820EDAC}">
              <c15:datalabelsRange>
                <c15:f>'业务量散点图-成人手术'!$L$3:$L$18</c15:f>
                <c15:dlblRangeCache>
                  <c:ptCount val="16"/>
                  <c:pt idx="0">
                    <c:v>普外</c:v>
                  </c:pt>
                  <c:pt idx="1">
                    <c:v>神经外</c:v>
                  </c:pt>
                  <c:pt idx="2">
                    <c:v>骨科</c:v>
                  </c:pt>
                  <c:pt idx="3">
                    <c:v>泌尿</c:v>
                  </c:pt>
                  <c:pt idx="4">
                    <c:v>心胸</c:v>
                  </c:pt>
                  <c:pt idx="5">
                    <c:v>整形</c:v>
                  </c:pt>
                  <c:pt idx="6">
                    <c:v>肛肠</c:v>
                  </c:pt>
                  <c:pt idx="7">
                    <c:v>脊柱</c:v>
                  </c:pt>
                  <c:pt idx="8">
                    <c:v>移植</c:v>
                  </c:pt>
                  <c:pt idx="9">
                    <c:v>乳腺</c:v>
                  </c:pt>
                  <c:pt idx="10">
                    <c:v>介入</c:v>
                  </c:pt>
                  <c:pt idx="11">
                    <c:v>妇产科</c:v>
                  </c:pt>
                  <c:pt idx="12">
                    <c:v>眼科</c:v>
                  </c:pt>
                  <c:pt idx="13">
                    <c:v>五官</c:v>
                  </c:pt>
                  <c:pt idx="14">
                    <c:v>疼痛</c:v>
                  </c:pt>
                </c15:dlblRangeCache>
              </c15:datalabelsRange>
            </c:ext>
            <c:ext xmlns:c16="http://schemas.microsoft.com/office/drawing/2014/chart" uri="{C3380CC4-5D6E-409C-BE32-E72D297353CC}">
              <c16:uniqueId val="{00000010-B4F7-4FB8-A8D2-89809C5ED291}"/>
            </c:ext>
          </c:extLst>
        </c:ser>
        <c:dLbls>
          <c:showLegendKey val="0"/>
          <c:showVal val="0"/>
          <c:showCatName val="0"/>
          <c:showSerName val="0"/>
          <c:showPercent val="0"/>
          <c:showBubbleSize val="0"/>
        </c:dLbls>
        <c:axId val="922786288"/>
        <c:axId val="1055129360"/>
      </c:scatterChart>
      <c:valAx>
        <c:axId val="922786288"/>
        <c:scaling>
          <c:orientation val="minMax"/>
        </c:scaling>
        <c:delete val="0"/>
        <c:axPos val="b"/>
        <c:numFmt formatCode="0%" sourceLinked="0"/>
        <c:majorTickMark val="none"/>
        <c:minorTickMark val="none"/>
        <c:tickLblPos val="nextTo"/>
        <c:spPr>
          <a:noFill/>
          <a:ln w="9525" cap="flat"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4f28bfdf-8773-427a-8dbe-f189063bab8a}"/>
      </c:ext>
    </c:extLst>
  </c:chart>
  <c:spPr>
    <a:solidFill>
      <a:schemeClr val="bg1"/>
    </a:solidFill>
    <a:ln w="9525" cap="flat" cmpd="sng" algn="ctr">
      <a:noFill/>
      <a:prstDash val="solid"/>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01266825019801E-2"/>
          <c:y val="4.25891917779452E-2"/>
          <c:w val="0.91302310184199997"/>
          <c:h val="0.94506866416978796"/>
        </c:manualLayout>
      </c:layout>
      <c:scatterChart>
        <c:scatterStyle val="lineMarker"/>
        <c:varyColors val="0"/>
        <c:ser>
          <c:idx val="0"/>
          <c:order val="0"/>
          <c:spPr>
            <a:ln w="25400" cap="rnd">
              <a:noFill/>
              <a:round/>
            </a:ln>
            <a:effectLst/>
          </c:spPr>
          <c:marker>
            <c:symbol val="circle"/>
            <c:size val="7"/>
            <c:spPr>
              <a:solidFill>
                <a:schemeClr val="accent1"/>
              </a:solidFill>
              <a:ln w="9525">
                <a:noFill/>
              </a:ln>
              <a:effectLst/>
            </c:spPr>
          </c:marker>
          <c:dPt>
            <c:idx val="6"/>
            <c:marker>
              <c:symbol val="circle"/>
              <c:size val="7"/>
              <c:spPr>
                <a:solidFill>
                  <a:schemeClr val="accent1"/>
                </a:solidFill>
                <a:ln w="9525">
                  <a:noFill/>
                </a:ln>
                <a:effectLst/>
              </c:spPr>
            </c:marker>
            <c:bubble3D val="0"/>
            <c:extLst>
              <c:ext xmlns:c16="http://schemas.microsoft.com/office/drawing/2014/chart" uri="{C3380CC4-5D6E-409C-BE32-E72D297353CC}">
                <c16:uniqueId val="{00000000-DB24-4598-A71B-8BEDE34D794B}"/>
              </c:ext>
            </c:extLst>
          </c:dPt>
          <c:dPt>
            <c:idx val="10"/>
            <c:marker>
              <c:symbol val="circle"/>
              <c:size val="7"/>
              <c:spPr>
                <a:solidFill>
                  <a:schemeClr val="accent1"/>
                </a:solidFill>
                <a:ln w="9525">
                  <a:noFill/>
                </a:ln>
                <a:effectLst/>
              </c:spPr>
            </c:marker>
            <c:bubble3D val="0"/>
            <c:extLst>
              <c:ext xmlns:c16="http://schemas.microsoft.com/office/drawing/2014/chart" uri="{C3380CC4-5D6E-409C-BE32-E72D297353CC}">
                <c16:uniqueId val="{00000001-DB24-4598-A71B-8BEDE34D794B}"/>
              </c:ext>
            </c:extLst>
          </c:dPt>
          <c:dPt>
            <c:idx val="11"/>
            <c:marker>
              <c:symbol val="circle"/>
              <c:size val="7"/>
              <c:spPr>
                <a:solidFill>
                  <a:schemeClr val="accent1"/>
                </a:solidFill>
                <a:ln w="9525">
                  <a:noFill/>
                </a:ln>
                <a:effectLst/>
              </c:spPr>
            </c:marker>
            <c:bubble3D val="0"/>
            <c:extLst>
              <c:ext xmlns:c16="http://schemas.microsoft.com/office/drawing/2014/chart" uri="{C3380CC4-5D6E-409C-BE32-E72D297353CC}">
                <c16:uniqueId val="{00000002-DB24-4598-A71B-8BEDE34D794B}"/>
              </c:ext>
            </c:extLst>
          </c:dPt>
          <c:dPt>
            <c:idx val="12"/>
            <c:marker>
              <c:symbol val="circle"/>
              <c:size val="7"/>
              <c:spPr>
                <a:solidFill>
                  <a:schemeClr val="accent1"/>
                </a:solidFill>
                <a:ln w="9525">
                  <a:noFill/>
                </a:ln>
                <a:effectLst/>
              </c:spPr>
            </c:marker>
            <c:bubble3D val="0"/>
            <c:extLst>
              <c:ext xmlns:c16="http://schemas.microsoft.com/office/drawing/2014/chart" uri="{C3380CC4-5D6E-409C-BE32-E72D297353CC}">
                <c16:uniqueId val="{00000003-DB24-4598-A71B-8BEDE34D794B}"/>
              </c:ext>
            </c:extLst>
          </c:dPt>
          <c:dPt>
            <c:idx val="13"/>
            <c:marker>
              <c:symbol val="circle"/>
              <c:size val="7"/>
              <c:spPr>
                <a:solidFill>
                  <a:schemeClr val="accent1"/>
                </a:solidFill>
                <a:ln w="9525">
                  <a:noFill/>
                </a:ln>
                <a:effectLst/>
              </c:spPr>
            </c:marker>
            <c:bubble3D val="0"/>
            <c:extLst>
              <c:ext xmlns:c16="http://schemas.microsoft.com/office/drawing/2014/chart" uri="{C3380CC4-5D6E-409C-BE32-E72D297353CC}">
                <c16:uniqueId val="{00000004-DB24-4598-A71B-8BEDE34D794B}"/>
              </c:ext>
            </c:extLst>
          </c:dPt>
          <c:dLbls>
            <c:dLbl>
              <c:idx val="0"/>
              <c:layout>
                <c:manualLayout>
                  <c:x val="-1.35589865399842E-2"/>
                  <c:y val="4.1937229437229396E-3"/>
                </c:manualLayout>
              </c:layout>
              <c:tx>
                <c:rich>
                  <a:bodyPr/>
                  <a:lstStyle/>
                  <a:p>
                    <a:fld id="{2A725C41-6796-4F0E-A26F-15D9FAA9AEA0}"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DB24-4598-A71B-8BEDE34D794B}"/>
                </c:ext>
              </c:extLst>
            </c:dLbl>
            <c:dLbl>
              <c:idx val="1"/>
              <c:layout>
                <c:manualLayout>
                  <c:x val="-1.3068585496337101E-2"/>
                  <c:y val="2.30784333085047E-2"/>
                </c:manualLayout>
              </c:layout>
              <c:tx>
                <c:rich>
                  <a:bodyPr/>
                  <a:lstStyle/>
                  <a:p>
                    <a:fld id="{4413C22C-3916-4207-B132-7AD34B4D72C9}"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layout>
                    <c:manualLayout>
                      <c:w val="6.2767484436179993E-2"/>
                      <c:h val="4.3210310486233201E-2"/>
                    </c:manualLayout>
                  </c15:layout>
                  <c15:dlblFieldTable/>
                  <c15:showDataLabelsRange val="1"/>
                </c:ext>
                <c:ext xmlns:c16="http://schemas.microsoft.com/office/drawing/2014/chart" uri="{C3380CC4-5D6E-409C-BE32-E72D297353CC}">
                  <c16:uniqueId val="{00000006-DB24-4598-A71B-8BEDE34D794B}"/>
                </c:ext>
              </c:extLst>
            </c:dLbl>
            <c:dLbl>
              <c:idx val="2"/>
              <c:layout>
                <c:manualLayout>
                  <c:x val="-2.7117973079968299E-2"/>
                  <c:y val="1.0416666666666701E-2"/>
                </c:manualLayout>
              </c:layout>
              <c:tx>
                <c:rich>
                  <a:bodyPr/>
                  <a:lstStyle/>
                  <a:p>
                    <a:fld id="{BA893844-CEF5-46CF-A6BB-05DF7318A68F}"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DB24-4598-A71B-8BEDE34D794B}"/>
                </c:ext>
              </c:extLst>
            </c:dLbl>
            <c:dLbl>
              <c:idx val="3"/>
              <c:layout>
                <c:manualLayout>
                  <c:x val="-1.90204498291461E-3"/>
                  <c:y val="-8.7170474516695996E-3"/>
                </c:manualLayout>
              </c:layout>
              <c:tx>
                <c:rich>
                  <a:bodyPr/>
                  <a:lstStyle/>
                  <a:p>
                    <a:fld id="{966C8265-3E82-4E4C-9351-167D8941E5AE}"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DB24-4598-A71B-8BEDE34D794B}"/>
                </c:ext>
              </c:extLst>
            </c:dLbl>
            <c:dLbl>
              <c:idx val="4"/>
              <c:layout>
                <c:manualLayout>
                  <c:x val="-6.7522596893466305E-2"/>
                  <c:y val="1.1598023064250401E-2"/>
                </c:manualLayout>
              </c:layout>
              <c:tx>
                <c:rich>
                  <a:bodyPr/>
                  <a:lstStyle/>
                  <a:p>
                    <a:fld id="{191B2C45-4E16-4506-8094-C1281CAE936D}"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DB24-4598-A71B-8BEDE34D794B}"/>
                </c:ext>
              </c:extLst>
            </c:dLbl>
            <c:dLbl>
              <c:idx val="5"/>
              <c:layout>
                <c:manualLayout>
                  <c:x val="2.11797307996833E-2"/>
                  <c:y val="6.8181818181818205E-2"/>
                </c:manualLayout>
              </c:layout>
              <c:tx>
                <c:rich>
                  <a:bodyPr/>
                  <a:lstStyle/>
                  <a:p>
                    <a:fld id="{11C8DE8B-32D8-4D64-900E-227E528C3985}"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DB24-4598-A71B-8BEDE34D794B}"/>
                </c:ext>
              </c:extLst>
            </c:dLbl>
            <c:dLbl>
              <c:idx val="6"/>
              <c:layout>
                <c:manualLayout>
                  <c:x val="-2.5633412509897101E-2"/>
                  <c:y val="7.0211038961039002E-2"/>
                </c:manualLayout>
              </c:layout>
              <c:tx>
                <c:rich>
                  <a:bodyPr/>
                  <a:lstStyle/>
                  <a:p>
                    <a:fld id="{BFFC967F-B422-477F-A406-F09963BB1B19}"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DB24-4598-A71B-8BEDE34D794B}"/>
                </c:ext>
              </c:extLst>
            </c:dLbl>
            <c:dLbl>
              <c:idx val="7"/>
              <c:layout>
                <c:manualLayout>
                  <c:x val="5.29493269992082E-2"/>
                  <c:y val="-3.5173160173160203E-2"/>
                </c:manualLayout>
              </c:layout>
              <c:tx>
                <c:rich>
                  <a:bodyPr/>
                  <a:lstStyle/>
                  <a:p>
                    <a:fld id="{FE98FEF8-AFD8-4759-AF1F-50D7218E358C}" type="CELLRANGE">
                      <a:rPr lang="en-US" altLang="zh-CN"/>
                      <a:pPr/>
                      <a:t>[CELLRANGE]</a:t>
                    </a:fld>
                    <a:endParaRPr lang="zh-CN" altLang="en-US"/>
                  </a:p>
                </c:rich>
              </c:tx>
              <c:dLblPos val="l"/>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DB24-4598-A71B-8BEDE34D794B}"/>
                </c:ext>
              </c:extLst>
            </c:dLbl>
            <c:dLbl>
              <c:idx val="8"/>
              <c:layout>
                <c:manualLayout>
                  <c:x val="-3.6223277909738699E-2"/>
                  <c:y val="3.09794372294372E-2"/>
                </c:manualLayout>
              </c:layout>
              <c:tx>
                <c:rich>
                  <a:bodyPr/>
                  <a:lstStyle/>
                  <a:p>
                    <a:fld id="{A94C6ECD-6D1B-4A4B-AEF3-94505462546A}"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DB24-4598-A71B-8BEDE34D794B}"/>
                </c:ext>
              </c:extLst>
            </c:dLbl>
            <c:dLbl>
              <c:idx val="9"/>
              <c:tx>
                <c:rich>
                  <a:bodyPr/>
                  <a:lstStyle/>
                  <a:p>
                    <a:fld id="{CCB8BB00-180B-4C28-8182-1C9C45B406CA}"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DB24-4598-A71B-8BEDE34D794B}"/>
                </c:ext>
              </c:extLst>
            </c:dLbl>
            <c:dLbl>
              <c:idx val="10"/>
              <c:layout>
                <c:manualLayout>
                  <c:x val="4.6490011456310201E-3"/>
                  <c:y val="2.9836829836829802E-3"/>
                </c:manualLayout>
              </c:layout>
              <c:tx>
                <c:rich>
                  <a:bodyPr/>
                  <a:lstStyle/>
                  <a:p>
                    <a:fld id="{19C786CD-CD7F-4AD2-BD31-FD072AAE43AF}"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DB24-4598-A71B-8BEDE34D794B}"/>
                </c:ext>
              </c:extLst>
            </c:dLbl>
            <c:dLbl>
              <c:idx val="11"/>
              <c:tx>
                <c:rich>
                  <a:bodyPr/>
                  <a:lstStyle/>
                  <a:p>
                    <a:fld id="{B5D780DB-F106-45F0-8269-0C3BB14FF6F1}"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DB24-4598-A71B-8BEDE34D794B}"/>
                </c:ext>
              </c:extLst>
            </c:dLbl>
            <c:dLbl>
              <c:idx val="12"/>
              <c:layout>
                <c:manualLayout>
                  <c:x val="-2.12071742153165E-2"/>
                  <c:y val="-3.1406470473407798E-2"/>
                </c:manualLayout>
              </c:layout>
              <c:tx>
                <c:rich>
                  <a:bodyPr/>
                  <a:lstStyle/>
                  <a:p>
                    <a:fld id="{1E234A9E-5BC7-47E0-8FF7-05717AE790C0}"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DB24-4598-A71B-8BEDE34D794B}"/>
                </c:ext>
              </c:extLst>
            </c:dLbl>
            <c:dLbl>
              <c:idx val="13"/>
              <c:tx>
                <c:rich>
                  <a:bodyPr/>
                  <a:lstStyle/>
                  <a:p>
                    <a:fld id="{804AD9CC-2314-4057-9BEF-0B3E61EB063D}"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DB24-4598-A71B-8BEDE34D794B}"/>
                </c:ext>
              </c:extLst>
            </c:dLbl>
            <c:dLbl>
              <c:idx val="14"/>
              <c:tx>
                <c:rich>
                  <a:bodyPr/>
                  <a:lstStyle/>
                  <a:p>
                    <a:fld id="{1D3C3CA6-1FFE-4BBD-8460-B4E344756D0F}"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DB24-4598-A71B-8BEDE34D794B}"/>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1"/>
                    </a:solidFill>
                    <a:latin typeface="微软雅黑" panose="020B0503020204020204" pitchFamily="34" charset="-122"/>
                    <a:ea typeface="微软雅黑" panose="020B0503020204020204" pitchFamily="34" charset="-122"/>
                    <a:cs typeface="+mn-cs"/>
                  </a:defRPr>
                </a:pPr>
                <a:endParaRPr lang="zh-CN"/>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'[散点图.xlsx]业务量散点图-成人非手术'!$M$3:$M$17</c:f>
              <c:numCache>
                <c:formatCode>0.00%</c:formatCode>
                <c:ptCount val="15"/>
                <c:pt idx="0">
                  <c:v>0.39763508868417402</c:v>
                </c:pt>
                <c:pt idx="1">
                  <c:v>0.51834073649519996</c:v>
                </c:pt>
                <c:pt idx="2">
                  <c:v>0.314639961850262</c:v>
                </c:pt>
                <c:pt idx="3">
                  <c:v>0.54737893635239299</c:v>
                </c:pt>
                <c:pt idx="4">
                  <c:v>0.20818815331010401</c:v>
                </c:pt>
                <c:pt idx="5">
                  <c:v>0.43752231345947901</c:v>
                </c:pt>
                <c:pt idx="6">
                  <c:v>0.38668047478690298</c:v>
                </c:pt>
                <c:pt idx="7">
                  <c:v>1.55466399197592E-2</c:v>
                </c:pt>
                <c:pt idx="8">
                  <c:v>0.31568391496189302</c:v>
                </c:pt>
                <c:pt idx="9">
                  <c:v>0.25892598668339301</c:v>
                </c:pt>
                <c:pt idx="10">
                  <c:v>0.57728417678039801</c:v>
                </c:pt>
                <c:pt idx="11">
                  <c:v>0.48652165830079902</c:v>
                </c:pt>
                <c:pt idx="12">
                  <c:v>0.42347417840375601</c:v>
                </c:pt>
                <c:pt idx="13">
                  <c:v>5.2066625539790398E-2</c:v>
                </c:pt>
                <c:pt idx="14">
                  <c:v>-0.14122681883024199</c:v>
                </c:pt>
              </c:numCache>
            </c:numRef>
          </c:xVal>
          <c:yVal>
            <c:numRef>
              <c:f>'[散点图.xlsx]业务量散点图-成人非手术'!$N$3:$N$17</c:f>
              <c:numCache>
                <c:formatCode>0.00%</c:formatCode>
                <c:ptCount val="15"/>
                <c:pt idx="0">
                  <c:v>0.40598290598290598</c:v>
                </c:pt>
                <c:pt idx="1">
                  <c:v>0.45325203252032498</c:v>
                </c:pt>
                <c:pt idx="2">
                  <c:v>0.38709677419354799</c:v>
                </c:pt>
                <c:pt idx="3">
                  <c:v>0.63812154696132595</c:v>
                </c:pt>
                <c:pt idx="4">
                  <c:v>0.14621409921671</c:v>
                </c:pt>
                <c:pt idx="5">
                  <c:v>0.4</c:v>
                </c:pt>
                <c:pt idx="6">
                  <c:v>-1.94174757281553E-2</c:v>
                </c:pt>
                <c:pt idx="7">
                  <c:v>0.26984126984126999</c:v>
                </c:pt>
                <c:pt idx="8">
                  <c:v>0.34939759036144602</c:v>
                </c:pt>
                <c:pt idx="9">
                  <c:v>1.6528925619834701E-2</c:v>
                </c:pt>
                <c:pt idx="10">
                  <c:v>-0.124879923150817</c:v>
                </c:pt>
                <c:pt idx="11">
                  <c:v>-0.16969696969697001</c:v>
                </c:pt>
                <c:pt idx="12">
                  <c:v>0</c:v>
                </c:pt>
                <c:pt idx="13">
                  <c:v>-9.0909090909090898E-2</c:v>
                </c:pt>
                <c:pt idx="14">
                  <c:v>0.4</c:v>
                </c:pt>
              </c:numCache>
            </c:numRef>
          </c:yVal>
          <c:smooth val="0"/>
          <c:extLst>
            <c:ext xmlns:c15="http://schemas.microsoft.com/office/drawing/2012/chart" uri="{02D57815-91ED-43cb-92C2-25804820EDAC}">
              <c15:datalabelsRange>
                <c15:f>'业务量散点图-成人非手术'!$L$3:$L$17</c15:f>
                <c15:dlblRangeCache>
                  <c:ptCount val="15"/>
                  <c:pt idx="0">
                    <c:v>呼吸</c:v>
                  </c:pt>
                  <c:pt idx="1">
                    <c:v>消化</c:v>
                  </c:pt>
                  <c:pt idx="2">
                    <c:v>神经内</c:v>
                  </c:pt>
                  <c:pt idx="3">
                    <c:v>心血管</c:v>
                  </c:pt>
                  <c:pt idx="4">
                    <c:v>血液</c:v>
                  </c:pt>
                  <c:pt idx="5">
                    <c:v>肾脏</c:v>
                  </c:pt>
                  <c:pt idx="6">
                    <c:v>内分泌</c:v>
                  </c:pt>
                  <c:pt idx="7">
                    <c:v>老年</c:v>
                  </c:pt>
                  <c:pt idx="8">
                    <c:v>全科</c:v>
                  </c:pt>
                  <c:pt idx="9">
                    <c:v>皮肤</c:v>
                  </c:pt>
                  <c:pt idx="10">
                    <c:v>肿瘤</c:v>
                  </c:pt>
                  <c:pt idx="11">
                    <c:v>急诊</c:v>
                  </c:pt>
                  <c:pt idx="12">
                    <c:v>康复</c:v>
                  </c:pt>
                  <c:pt idx="13">
                    <c:v>中医</c:v>
                  </c:pt>
                  <c:pt idx="14">
                    <c:v>感染</c:v>
                  </c:pt>
                </c15:dlblRangeCache>
              </c15:datalabelsRange>
            </c:ext>
            <c:ext xmlns:c16="http://schemas.microsoft.com/office/drawing/2014/chart" uri="{C3380CC4-5D6E-409C-BE32-E72D297353CC}">
              <c16:uniqueId val="{0000000F-DB24-4598-A71B-8BEDE34D794B}"/>
            </c:ext>
          </c:extLst>
        </c:ser>
        <c:dLbls>
          <c:showLegendKey val="0"/>
          <c:showVal val="0"/>
          <c:showCatName val="0"/>
          <c:showSerName val="0"/>
          <c:showPercent val="0"/>
          <c:showBubbleSize val="0"/>
        </c:dLbls>
        <c:axId val="922786288"/>
        <c:axId val="1055129360"/>
      </c:scatterChart>
      <c:valAx>
        <c:axId val="922786288"/>
        <c:scaling>
          <c:orientation val="minMax"/>
          <c:min val="-0.3"/>
        </c:scaling>
        <c:delete val="0"/>
        <c:axPos val="b"/>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48da1e25-76fb-4152-8b3a-0f7446d38c2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556030687963801E-2"/>
          <c:y val="4.8008171603677201E-2"/>
          <c:w val="0.94466104892466396"/>
          <c:h val="0.66169560776302305"/>
        </c:manualLayout>
      </c:layout>
      <c:barChart>
        <c:barDir val="col"/>
        <c:grouping val="clustered"/>
        <c:varyColors val="0"/>
        <c:ser>
          <c:idx val="0"/>
          <c:order val="0"/>
          <c:tx>
            <c:strRef>
              <c:f>[横向医院底稿.xlsm]门急诊量价横向!$C$2</c:f>
              <c:strCache>
                <c:ptCount val="1"/>
                <c:pt idx="0">
                  <c:v>门急诊人次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1E04-443B-BBDC-2FD1DE106E33}"/>
              </c:ext>
            </c:extLst>
          </c:dPt>
          <c:dPt>
            <c:idx val="1"/>
            <c:invertIfNegative val="0"/>
            <c:bubble3D val="0"/>
            <c:spPr>
              <a:solidFill>
                <a:srgbClr val="002060"/>
              </a:solidFill>
              <a:ln>
                <a:noFill/>
              </a:ln>
              <a:effectLst/>
            </c:spPr>
            <c:extLst>
              <c:ext xmlns:c16="http://schemas.microsoft.com/office/drawing/2014/chart" uri="{C3380CC4-5D6E-409C-BE32-E72D297353CC}">
                <c16:uniqueId val="{00000003-1E04-443B-BBDC-2FD1DE106E33}"/>
              </c:ext>
            </c:extLst>
          </c:dPt>
          <c:dPt>
            <c:idx val="2"/>
            <c:invertIfNegative val="0"/>
            <c:bubble3D val="0"/>
            <c:spPr>
              <a:solidFill>
                <a:srgbClr val="002060"/>
              </a:solidFill>
              <a:ln>
                <a:noFill/>
              </a:ln>
              <a:effectLst/>
            </c:spPr>
            <c:extLst>
              <c:ext xmlns:c16="http://schemas.microsoft.com/office/drawing/2014/chart" uri="{C3380CC4-5D6E-409C-BE32-E72D297353CC}">
                <c16:uniqueId val="{00000005-1E04-443B-BBDC-2FD1DE106E33}"/>
              </c:ext>
            </c:extLst>
          </c:dPt>
          <c:dPt>
            <c:idx val="3"/>
            <c:invertIfNegative val="0"/>
            <c:bubble3D val="0"/>
            <c:spPr>
              <a:solidFill>
                <a:srgbClr val="002060"/>
              </a:solidFill>
              <a:ln>
                <a:noFill/>
              </a:ln>
              <a:effectLst/>
            </c:spPr>
            <c:extLst>
              <c:ext xmlns:c16="http://schemas.microsoft.com/office/drawing/2014/chart" uri="{C3380CC4-5D6E-409C-BE32-E72D297353CC}">
                <c16:uniqueId val="{00000007-1E04-443B-BBDC-2FD1DE106E33}"/>
              </c:ext>
            </c:extLst>
          </c:dPt>
          <c:dPt>
            <c:idx val="4"/>
            <c:invertIfNegative val="0"/>
            <c:bubble3D val="0"/>
            <c:spPr>
              <a:solidFill>
                <a:srgbClr val="002060"/>
              </a:solidFill>
              <a:ln>
                <a:noFill/>
              </a:ln>
              <a:effectLst/>
            </c:spPr>
            <c:extLst>
              <c:ext xmlns:c16="http://schemas.microsoft.com/office/drawing/2014/chart" uri="{C3380CC4-5D6E-409C-BE32-E72D297353CC}">
                <c16:uniqueId val="{00000009-1E04-443B-BBDC-2FD1DE106E33}"/>
              </c:ext>
            </c:extLst>
          </c:dPt>
          <c:dPt>
            <c:idx val="6"/>
            <c:invertIfNegative val="0"/>
            <c:bubble3D val="0"/>
            <c:spPr>
              <a:solidFill>
                <a:srgbClr val="002060"/>
              </a:solidFill>
              <a:ln>
                <a:noFill/>
              </a:ln>
              <a:effectLst/>
            </c:spPr>
            <c:extLst>
              <c:ext xmlns:c16="http://schemas.microsoft.com/office/drawing/2014/chart" uri="{C3380CC4-5D6E-409C-BE32-E72D297353CC}">
                <c16:uniqueId val="{0000000B-1E04-443B-BBDC-2FD1DE106E33}"/>
              </c:ext>
            </c:extLst>
          </c:dPt>
          <c:dPt>
            <c:idx val="7"/>
            <c:invertIfNegative val="0"/>
            <c:bubble3D val="0"/>
            <c:spPr>
              <a:solidFill>
                <a:srgbClr val="002060"/>
              </a:solidFill>
              <a:ln>
                <a:noFill/>
              </a:ln>
              <a:effectLst/>
            </c:spPr>
            <c:extLst>
              <c:ext xmlns:c16="http://schemas.microsoft.com/office/drawing/2014/chart" uri="{C3380CC4-5D6E-409C-BE32-E72D297353CC}">
                <c16:uniqueId val="{0000000D-1E04-443B-BBDC-2FD1DE106E33}"/>
              </c:ext>
            </c:extLst>
          </c:dPt>
          <c:dPt>
            <c:idx val="10"/>
            <c:invertIfNegative val="0"/>
            <c:bubble3D val="0"/>
            <c:spPr>
              <a:solidFill>
                <a:srgbClr val="002060"/>
              </a:solidFill>
              <a:ln>
                <a:noFill/>
              </a:ln>
              <a:effectLst/>
            </c:spPr>
            <c:extLst>
              <c:ext xmlns:c16="http://schemas.microsoft.com/office/drawing/2014/chart" uri="{C3380CC4-5D6E-409C-BE32-E72D297353CC}">
                <c16:uniqueId val="{0000000F-1E04-443B-BBDC-2FD1DE106E33}"/>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[横向医院底稿.xlsm]门急诊量价横向!$A$3:$B$13</c:f>
              <c:multiLvlStrCache>
                <c:ptCount val="11"/>
                <c:lvl>
                  <c:pt idx="0">
                    <c:v>新华</c:v>
                  </c:pt>
                  <c:pt idx="1">
                    <c:v>一院</c:v>
                  </c:pt>
                  <c:pt idx="2">
                    <c:v>仁济</c:v>
                  </c:pt>
                  <c:pt idx="3">
                    <c:v>同济</c:v>
                  </c:pt>
                  <c:pt idx="4">
                    <c:v>十院</c:v>
                  </c:pt>
                  <c:pt idx="5">
                    <c:v>六院</c:v>
                  </c:pt>
                  <c:pt idx="6">
                    <c:v>华东</c:v>
                  </c:pt>
                  <c:pt idx="7">
                    <c:v>中山</c:v>
                  </c:pt>
                  <c:pt idx="8">
                    <c:v>瑞金</c:v>
                  </c:pt>
                  <c:pt idx="9">
                    <c:v>九院</c:v>
                  </c:pt>
                  <c:pt idx="10">
                    <c:v>华山</c:v>
                  </c:pt>
                </c:lvl>
                <c:lvl>
                  <c:pt idx="0">
                    <c:v>2026年5月</c:v>
                  </c:pt>
                </c:lvl>
              </c:multiLvlStrCache>
            </c:multiLvlStrRef>
          </c:cat>
          <c:val>
            <c:numRef>
              <c:f>[横向医院底稿.xlsm]门急诊量价横向!$C$3:$C$13</c:f>
              <c:numCache>
                <c:formatCode>#,##0.00_ </c:formatCode>
                <c:ptCount val="11"/>
                <c:pt idx="0">
                  <c:v>45.4375</c:v>
                </c:pt>
                <c:pt idx="1">
                  <c:v>41.707599999999999</c:v>
                </c:pt>
                <c:pt idx="2">
                  <c:v>67.196299999999994</c:v>
                </c:pt>
                <c:pt idx="3">
                  <c:v>18.6172</c:v>
                </c:pt>
                <c:pt idx="4">
                  <c:v>26.870100000000001</c:v>
                </c:pt>
                <c:pt idx="5">
                  <c:v>51.0291</c:v>
                </c:pt>
                <c:pt idx="6">
                  <c:v>13.981999999999999</c:v>
                </c:pt>
                <c:pt idx="7">
                  <c:v>52.641199999999998</c:v>
                </c:pt>
                <c:pt idx="8">
                  <c:v>55.985999999999997</c:v>
                </c:pt>
                <c:pt idx="9">
                  <c:v>40.012099999999997</c:v>
                </c:pt>
                <c:pt idx="10">
                  <c:v>56.926600000000001</c:v>
                </c:pt>
              </c:numCache>
            </c:numRef>
          </c:val>
          <c:extLst>
            <c:ext xmlns:c16="http://schemas.microsoft.com/office/drawing/2014/chart" uri="{C3380CC4-5D6E-409C-BE32-E72D297353CC}">
              <c16:uniqueId val="{00000010-1E04-443B-BBDC-2FD1DE106E33}"/>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[横向医院底稿.xlsm]门急诊量价横向!$D$2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[横向医院底稿.xlsm]门急诊量价横向!$A$3:$B$13</c:f>
              <c:multiLvlStrCache>
                <c:ptCount val="11"/>
                <c:lvl>
                  <c:pt idx="0">
                    <c:v>新华</c:v>
                  </c:pt>
                  <c:pt idx="1">
                    <c:v>一院</c:v>
                  </c:pt>
                  <c:pt idx="2">
                    <c:v>仁济</c:v>
                  </c:pt>
                  <c:pt idx="3">
                    <c:v>同济</c:v>
                  </c:pt>
                  <c:pt idx="4">
                    <c:v>十院</c:v>
                  </c:pt>
                  <c:pt idx="5">
                    <c:v>六院</c:v>
                  </c:pt>
                  <c:pt idx="6">
                    <c:v>华东</c:v>
                  </c:pt>
                  <c:pt idx="7">
                    <c:v>中山</c:v>
                  </c:pt>
                  <c:pt idx="8">
                    <c:v>瑞金</c:v>
                  </c:pt>
                  <c:pt idx="9">
                    <c:v>九院</c:v>
                  </c:pt>
                  <c:pt idx="10">
                    <c:v>华山</c:v>
                  </c:pt>
                </c:lvl>
                <c:lvl>
                  <c:pt idx="0">
                    <c:v>2026年5月</c:v>
                  </c:pt>
                </c:lvl>
              </c:multiLvlStrCache>
            </c:multiLvlStrRef>
          </c:cat>
          <c:val>
            <c:numRef>
              <c:f>[横向医院底稿.xlsm]门急诊量价横向!$D$3:$D$13</c:f>
              <c:numCache>
                <c:formatCode>0.0%</c:formatCode>
                <c:ptCount val="11"/>
                <c:pt idx="0">
                  <c:v>0.34036295627651197</c:v>
                </c:pt>
                <c:pt idx="1">
                  <c:v>0.13300463170476601</c:v>
                </c:pt>
                <c:pt idx="2">
                  <c:v>0.112431276270633</c:v>
                </c:pt>
                <c:pt idx="3">
                  <c:v>0.10534409157567901</c:v>
                </c:pt>
                <c:pt idx="4">
                  <c:v>9.9732741790916402E-2</c:v>
                </c:pt>
                <c:pt idx="5">
                  <c:v>7.3733979450772105E-2</c:v>
                </c:pt>
                <c:pt idx="6">
                  <c:v>6.3706769319720594E-2</c:v>
                </c:pt>
                <c:pt idx="7">
                  <c:v>5.4547130010436998E-2</c:v>
                </c:pt>
                <c:pt idx="8">
                  <c:v>4.3086519579530899E-2</c:v>
                </c:pt>
                <c:pt idx="9">
                  <c:v>3.1415137626503303E-2</c:v>
                </c:pt>
                <c:pt idx="10">
                  <c:v>2.9442028264781199E-2</c:v>
                </c:pt>
              </c:numCache>
            </c:numRef>
          </c:val>
          <c:smooth val="0"/>
          <c:extLst>
            <c:ext xmlns:c16="http://schemas.microsoft.com/office/drawing/2014/chart" uri="{C3380CC4-5D6E-409C-BE32-E72D297353CC}">
              <c16:uniqueId val="{00000011-1E04-443B-BBDC-2FD1DE106E33}"/>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49686427-ee3d-4c3f-adaf-7e444ccfb8cd}"/>
      </c:ext>
    </c:extLst>
  </c:chart>
  <c:spPr>
    <a:no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[横向医院底稿.xlsm]住院量价横向!$C$2</c:f>
              <c:strCache>
                <c:ptCount val="1"/>
                <c:pt idx="0">
                  <c:v>住院人次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E3EF-4D85-B2D7-7FE4FD9F51D2}"/>
              </c:ext>
            </c:extLst>
          </c:dPt>
          <c:dPt>
            <c:idx val="2"/>
            <c:invertIfNegative val="0"/>
            <c:bubble3D val="0"/>
            <c:spPr>
              <a:solidFill>
                <a:srgbClr val="002060"/>
              </a:solidFill>
              <a:ln>
                <a:noFill/>
              </a:ln>
              <a:effectLst/>
            </c:spPr>
            <c:extLst>
              <c:ext xmlns:c16="http://schemas.microsoft.com/office/drawing/2014/chart" uri="{C3380CC4-5D6E-409C-BE32-E72D297353CC}">
                <c16:uniqueId val="{00000003-E3EF-4D85-B2D7-7FE4FD9F51D2}"/>
              </c:ext>
            </c:extLst>
          </c:dPt>
          <c:dPt>
            <c:idx val="3"/>
            <c:invertIfNegative val="0"/>
            <c:bubble3D val="0"/>
            <c:spPr>
              <a:solidFill>
                <a:srgbClr val="002060"/>
              </a:solidFill>
              <a:ln>
                <a:noFill/>
              </a:ln>
              <a:effectLst/>
            </c:spPr>
            <c:extLst>
              <c:ext xmlns:c16="http://schemas.microsoft.com/office/drawing/2014/chart" uri="{C3380CC4-5D6E-409C-BE32-E72D297353CC}">
                <c16:uniqueId val="{00000005-E3EF-4D85-B2D7-7FE4FD9F51D2}"/>
              </c:ext>
            </c:extLst>
          </c:dPt>
          <c:dPt>
            <c:idx val="4"/>
            <c:invertIfNegative val="0"/>
            <c:bubble3D val="0"/>
            <c:spPr>
              <a:solidFill>
                <a:srgbClr val="002060"/>
              </a:solidFill>
              <a:ln>
                <a:noFill/>
              </a:ln>
              <a:effectLst/>
            </c:spPr>
            <c:extLst>
              <c:ext xmlns:c16="http://schemas.microsoft.com/office/drawing/2014/chart" uri="{C3380CC4-5D6E-409C-BE32-E72D297353CC}">
                <c16:uniqueId val="{00000007-E3EF-4D85-B2D7-7FE4FD9F51D2}"/>
              </c:ext>
            </c:extLst>
          </c:dPt>
          <c:dPt>
            <c:idx val="5"/>
            <c:invertIfNegative val="0"/>
            <c:bubble3D val="0"/>
            <c:spPr>
              <a:solidFill>
                <a:srgbClr val="002060"/>
              </a:solidFill>
              <a:ln>
                <a:noFill/>
              </a:ln>
              <a:effectLst/>
            </c:spPr>
            <c:extLst>
              <c:ext xmlns:c16="http://schemas.microsoft.com/office/drawing/2014/chart" uri="{C3380CC4-5D6E-409C-BE32-E72D297353CC}">
                <c16:uniqueId val="{00000009-E3EF-4D85-B2D7-7FE4FD9F51D2}"/>
              </c:ext>
            </c:extLst>
          </c:dPt>
          <c:dPt>
            <c:idx val="6"/>
            <c:invertIfNegative val="0"/>
            <c:bubble3D val="0"/>
            <c:spPr>
              <a:solidFill>
                <a:srgbClr val="002060"/>
              </a:solidFill>
              <a:ln>
                <a:noFill/>
              </a:ln>
              <a:effectLst/>
            </c:spPr>
            <c:extLst>
              <c:ext xmlns:c16="http://schemas.microsoft.com/office/drawing/2014/chart" uri="{C3380CC4-5D6E-409C-BE32-E72D297353CC}">
                <c16:uniqueId val="{0000000B-E3EF-4D85-B2D7-7FE4FD9F51D2}"/>
              </c:ext>
            </c:extLst>
          </c:dPt>
          <c:dPt>
            <c:idx val="7"/>
            <c:invertIfNegative val="0"/>
            <c:bubble3D val="0"/>
            <c:spPr>
              <a:solidFill>
                <a:srgbClr val="002060"/>
              </a:solidFill>
              <a:ln>
                <a:noFill/>
              </a:ln>
              <a:effectLst/>
            </c:spPr>
            <c:extLst>
              <c:ext xmlns:c16="http://schemas.microsoft.com/office/drawing/2014/chart" uri="{C3380CC4-5D6E-409C-BE32-E72D297353CC}">
                <c16:uniqueId val="{0000000D-E3EF-4D85-B2D7-7FE4FD9F51D2}"/>
              </c:ext>
            </c:extLst>
          </c:dPt>
          <c:dPt>
            <c:idx val="10"/>
            <c:invertIfNegative val="0"/>
            <c:bubble3D val="0"/>
            <c:spPr>
              <a:solidFill>
                <a:srgbClr val="002060"/>
              </a:solidFill>
              <a:ln>
                <a:noFill/>
              </a:ln>
              <a:effectLst/>
            </c:spPr>
            <c:extLst>
              <c:ext xmlns:c16="http://schemas.microsoft.com/office/drawing/2014/chart" uri="{C3380CC4-5D6E-409C-BE32-E72D297353CC}">
                <c16:uniqueId val="{0000000F-E3EF-4D85-B2D7-7FE4FD9F51D2}"/>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[横向医院底稿.xlsm]住院量价横向!$A$3:$B$13</c:f>
              <c:multiLvlStrCache>
                <c:ptCount val="11"/>
                <c:lvl>
                  <c:pt idx="0">
                    <c:v>新华</c:v>
                  </c:pt>
                  <c:pt idx="1">
                    <c:v>华东</c:v>
                  </c:pt>
                  <c:pt idx="2">
                    <c:v>瑞金</c:v>
                  </c:pt>
                  <c:pt idx="3">
                    <c:v>一院</c:v>
                  </c:pt>
                  <c:pt idx="4">
                    <c:v>十院</c:v>
                  </c:pt>
                  <c:pt idx="5">
                    <c:v>仁济</c:v>
                  </c:pt>
                  <c:pt idx="6">
                    <c:v>六院</c:v>
                  </c:pt>
                  <c:pt idx="7">
                    <c:v>同济</c:v>
                  </c:pt>
                  <c:pt idx="8">
                    <c:v>中山</c:v>
                  </c:pt>
                  <c:pt idx="9">
                    <c:v>华山</c:v>
                  </c:pt>
                  <c:pt idx="10">
                    <c:v>九院</c:v>
                  </c:pt>
                </c:lvl>
                <c:lvl>
                  <c:pt idx="0">
                    <c:v>2026年5月</c:v>
                  </c:pt>
                </c:lvl>
              </c:multiLvlStrCache>
            </c:multiLvlStrRef>
          </c:cat>
          <c:val>
            <c:numRef>
              <c:f>[横向医院底稿.xlsm]住院量价横向!$C$3:$C$13</c:f>
              <c:numCache>
                <c:formatCode>#,##0.00_ </c:formatCode>
                <c:ptCount val="11"/>
                <c:pt idx="0">
                  <c:v>1.5504</c:v>
                </c:pt>
                <c:pt idx="1">
                  <c:v>0.73360000000000003</c:v>
                </c:pt>
                <c:pt idx="2">
                  <c:v>2.1446000000000001</c:v>
                </c:pt>
                <c:pt idx="3">
                  <c:v>1.4018999999999999</c:v>
                </c:pt>
                <c:pt idx="4">
                  <c:v>1.2562</c:v>
                </c:pt>
                <c:pt idx="5">
                  <c:v>2.3637000000000001</c:v>
                </c:pt>
                <c:pt idx="6">
                  <c:v>1.7813000000000001</c:v>
                </c:pt>
                <c:pt idx="7">
                  <c:v>0.79039999999999999</c:v>
                </c:pt>
                <c:pt idx="8">
                  <c:v>2.4470999999999998</c:v>
                </c:pt>
                <c:pt idx="9">
                  <c:v>1.5705</c:v>
                </c:pt>
                <c:pt idx="10">
                  <c:v>1.3317000000000001</c:v>
                </c:pt>
              </c:numCache>
            </c:numRef>
          </c:val>
          <c:extLst>
            <c:ext xmlns:c16="http://schemas.microsoft.com/office/drawing/2014/chart" uri="{C3380CC4-5D6E-409C-BE32-E72D297353CC}">
              <c16:uniqueId val="{00000010-E3EF-4D85-B2D7-7FE4FD9F51D2}"/>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[横向医院底稿.xlsm]住院量价横向!$D$2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[横向医院底稿.xlsm]住院量价横向!$A$3:$B$13</c:f>
              <c:multiLvlStrCache>
                <c:ptCount val="11"/>
                <c:lvl>
                  <c:pt idx="0">
                    <c:v>新华</c:v>
                  </c:pt>
                  <c:pt idx="1">
                    <c:v>华东</c:v>
                  </c:pt>
                  <c:pt idx="2">
                    <c:v>瑞金</c:v>
                  </c:pt>
                  <c:pt idx="3">
                    <c:v>一院</c:v>
                  </c:pt>
                  <c:pt idx="4">
                    <c:v>十院</c:v>
                  </c:pt>
                  <c:pt idx="5">
                    <c:v>仁济</c:v>
                  </c:pt>
                  <c:pt idx="6">
                    <c:v>六院</c:v>
                  </c:pt>
                  <c:pt idx="7">
                    <c:v>同济</c:v>
                  </c:pt>
                  <c:pt idx="8">
                    <c:v>中山</c:v>
                  </c:pt>
                  <c:pt idx="9">
                    <c:v>华山</c:v>
                  </c:pt>
                  <c:pt idx="10">
                    <c:v>九院</c:v>
                  </c:pt>
                </c:lvl>
                <c:lvl>
                  <c:pt idx="0">
                    <c:v>2026年5月</c:v>
                  </c:pt>
                </c:lvl>
              </c:multiLvlStrCache>
            </c:multiLvlStrRef>
          </c:cat>
          <c:val>
            <c:numRef>
              <c:f>[横向医院底稿.xlsm]住院量价横向!$D$3:$D$13</c:f>
              <c:numCache>
                <c:formatCode>0.0%</c:formatCode>
                <c:ptCount val="11"/>
                <c:pt idx="0">
                  <c:v>0.19234022917788199</c:v>
                </c:pt>
                <c:pt idx="1">
                  <c:v>0.136835580350225</c:v>
                </c:pt>
                <c:pt idx="2">
                  <c:v>0.11136446079701499</c:v>
                </c:pt>
                <c:pt idx="3">
                  <c:v>8.0545706798211603E-2</c:v>
                </c:pt>
                <c:pt idx="4">
                  <c:v>7.9766202509884906E-2</c:v>
                </c:pt>
                <c:pt idx="5">
                  <c:v>7.0322405361347595E-2</c:v>
                </c:pt>
                <c:pt idx="6">
                  <c:v>6.5689500448698798E-2</c:v>
                </c:pt>
                <c:pt idx="7">
                  <c:v>5.7391304347826001E-2</c:v>
                </c:pt>
                <c:pt idx="8">
                  <c:v>2.1071517983810399E-2</c:v>
                </c:pt>
                <c:pt idx="9">
                  <c:v>-1.22020252846091E-2</c:v>
                </c:pt>
                <c:pt idx="10">
                  <c:v>-2.4395604395604301E-2</c:v>
                </c:pt>
              </c:numCache>
            </c:numRef>
          </c:val>
          <c:smooth val="0"/>
          <c:extLst>
            <c:ext xmlns:c16="http://schemas.microsoft.com/office/drawing/2014/chart" uri="{C3380CC4-5D6E-409C-BE32-E72D297353CC}">
              <c16:uniqueId val="{00000011-E3EF-4D85-B2D7-7FE4FD9F51D2}"/>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67c18cae-4e55-4e49-aa42-9d2cfc703a50}"/>
      </c:ext>
    </c:extLst>
  </c:chart>
  <c:spPr>
    <a:no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[横向医院底稿.xlsm]儿科横向本期!$C$70</c:f>
              <c:strCache>
                <c:ptCount val="1"/>
                <c:pt idx="0">
                  <c:v>门急诊人次</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97E5-4FD3-B6FC-F1B38DAF3E86}"/>
              </c:ext>
            </c:extLst>
          </c:dPt>
          <c:dPt>
            <c:idx val="1"/>
            <c:invertIfNegative val="0"/>
            <c:bubble3D val="0"/>
            <c:extLst>
              <c:ext xmlns:c16="http://schemas.microsoft.com/office/drawing/2014/chart" uri="{C3380CC4-5D6E-409C-BE32-E72D297353CC}">
                <c16:uniqueId val="{00000002-97E5-4FD3-B6FC-F1B38DAF3E86}"/>
              </c:ext>
            </c:extLst>
          </c:dPt>
          <c:dPt>
            <c:idx val="3"/>
            <c:invertIfNegative val="0"/>
            <c:bubble3D val="0"/>
            <c:extLst>
              <c:ext xmlns:c16="http://schemas.microsoft.com/office/drawing/2014/chart" uri="{C3380CC4-5D6E-409C-BE32-E72D297353CC}">
                <c16:uniqueId val="{00000003-97E5-4FD3-B6FC-F1B38DAF3E86}"/>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multiLvlStrRef>
              <c:f>[横向医院底稿.xlsm]儿科横向本期!$A$71:$B$74</c:f>
              <c:multiLvlStrCache>
                <c:ptCount val="4"/>
                <c:lvl>
                  <c:pt idx="0">
                    <c:v>新华儿科</c:v>
                  </c:pt>
                  <c:pt idx="1">
                    <c:v>儿中心</c:v>
                  </c:pt>
                  <c:pt idx="2">
                    <c:v>儿科</c:v>
                  </c:pt>
                  <c:pt idx="3">
                    <c:v>儿童</c:v>
                  </c:pt>
                </c:lvl>
                <c:lvl>
                  <c:pt idx="0">
                    <c:v>2026年5月</c:v>
                  </c:pt>
                </c:lvl>
              </c:multiLvlStrCache>
            </c:multiLvlStrRef>
          </c:cat>
          <c:val>
            <c:numRef>
              <c:f>[横向医院底稿.xlsm]儿科横向本期!$C$71:$C$74</c:f>
              <c:numCache>
                <c:formatCode>#,##0.0_ </c:formatCode>
                <c:ptCount val="4"/>
                <c:pt idx="0">
                  <c:v>9.2949999999999999</c:v>
                </c:pt>
                <c:pt idx="1">
                  <c:v>18.776599999999998</c:v>
                </c:pt>
                <c:pt idx="2">
                  <c:v>20.730899999999998</c:v>
                </c:pt>
                <c:pt idx="3">
                  <c:v>20.2197</c:v>
                </c:pt>
              </c:numCache>
            </c:numRef>
          </c:val>
          <c:extLst>
            <c:ext xmlns:c16="http://schemas.microsoft.com/office/drawing/2014/chart" uri="{C3380CC4-5D6E-409C-BE32-E72D297353CC}">
              <c16:uniqueId val="{00000004-97E5-4FD3-B6FC-F1B38DAF3E86}"/>
            </c:ext>
          </c:extLst>
        </c:ser>
        <c:dLbls>
          <c:showLegendKey val="0"/>
          <c:showVal val="0"/>
          <c:showCatName val="0"/>
          <c:showSerName val="0"/>
          <c:showPercent val="0"/>
          <c:showBubbleSize val="0"/>
        </c:dLbls>
        <c:gapWidth val="80"/>
        <c:overlap val="-27"/>
        <c:axId val="450579392"/>
        <c:axId val="450578560"/>
      </c:barChart>
      <c:lineChart>
        <c:grouping val="standard"/>
        <c:varyColors val="0"/>
        <c:ser>
          <c:idx val="1"/>
          <c:order val="1"/>
          <c:tx>
            <c:strRef>
              <c:f>[横向医院底稿.xlsm]儿科横向本期!$D$70</c:f>
              <c:strCache>
                <c:ptCount val="1"/>
                <c:pt idx="0">
                  <c:v>增幅</c:v>
                </c:pt>
              </c:strCache>
            </c:strRef>
          </c:tx>
          <c:spPr>
            <a:ln w="28575" cap="rnd" cmpd="sng" algn="ctr">
              <a:solidFill>
                <a:schemeClr val="accent2"/>
              </a:solidFill>
              <a:prstDash val="solid"/>
              <a:round/>
            </a:ln>
            <a:effectLst/>
          </c:spPr>
          <c:marker>
            <c:symbol val="circle"/>
            <c:size val="7"/>
            <c:spPr>
              <a:solidFill>
                <a:schemeClr val="accent2"/>
              </a:solidFill>
              <a:ln w="9525" cap="flat" cmpd="sng" algn="ctr">
                <a:solidFill>
                  <a:schemeClr val="accent2"/>
                </a:solidFill>
                <a:prstDash val="solid"/>
                <a:round/>
              </a:ln>
              <a:effectLst/>
            </c:spPr>
          </c:marker>
          <c:dLbls>
            <c:dLbl>
              <c:idx val="0"/>
              <c:layout>
                <c:manualLayout>
                  <c:x val="-6.5077663518224402E-2"/>
                  <c:y val="-0.14406351149569199"/>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97E5-4FD3-B6FC-F1B38DAF3E86}"/>
                </c:ext>
              </c:extLst>
            </c:dLbl>
            <c:dLbl>
              <c:idx val="1"/>
              <c:layout>
                <c:manualLayout>
                  <c:x val="-6.7790096082779E-2"/>
                  <c:y val="-0.219446314793690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7E5-4FD3-B6FC-F1B38DAF3E86}"/>
                </c:ext>
              </c:extLst>
            </c:dLbl>
            <c:dLbl>
              <c:idx val="3"/>
              <c:layout>
                <c:manualLayout>
                  <c:x val="-7.6903236319406904E-2"/>
                  <c:y val="-0.3466547953590610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7E5-4FD3-B6FC-F1B38DAF3E86}"/>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[横向医院底稿.xlsm]儿科横向本期!$A$71:$B$74</c:f>
              <c:multiLvlStrCache>
                <c:ptCount val="4"/>
                <c:lvl>
                  <c:pt idx="0">
                    <c:v>新华儿科</c:v>
                  </c:pt>
                  <c:pt idx="1">
                    <c:v>儿中心</c:v>
                  </c:pt>
                  <c:pt idx="2">
                    <c:v>儿科</c:v>
                  </c:pt>
                  <c:pt idx="3">
                    <c:v>儿童</c:v>
                  </c:pt>
                </c:lvl>
                <c:lvl>
                  <c:pt idx="0">
                    <c:v>2026年5月</c:v>
                  </c:pt>
                </c:lvl>
              </c:multiLvlStrCache>
            </c:multiLvlStrRef>
          </c:cat>
          <c:val>
            <c:numRef>
              <c:f>[横向医院底稿.xlsm]儿科横向本期!$D$71:$D$74</c:f>
              <c:numCache>
                <c:formatCode>0.0%</c:formatCode>
                <c:ptCount val="4"/>
                <c:pt idx="0">
                  <c:v>0.18916636814901999</c:v>
                </c:pt>
                <c:pt idx="1">
                  <c:v>0.12022193717746001</c:v>
                </c:pt>
                <c:pt idx="2">
                  <c:v>7.4774737409661493E-2</c:v>
                </c:pt>
                <c:pt idx="3">
                  <c:v>4.7555150296863399E-2</c:v>
                </c:pt>
              </c:numCache>
            </c:numRef>
          </c:val>
          <c:smooth val="0"/>
          <c:extLst>
            <c:ext xmlns:c16="http://schemas.microsoft.com/office/drawing/2014/chart" uri="{C3380CC4-5D6E-409C-BE32-E72D297353CC}">
              <c16:uniqueId val="{00000008-97E5-4FD3-B6FC-F1B38DAF3E86}"/>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_ "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00c94b81-f35f-4a7d-89d1-17f33abebf0c}"/>
      </c:ext>
    </c:extLst>
  </c:chart>
  <c:spPr>
    <a:solidFill>
      <a:schemeClr val="bg1"/>
    </a:solidFill>
    <a:ln w="9525" cap="flat" cmpd="sng" algn="ctr">
      <a:noFill/>
      <a:prstDash val="solid"/>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[横向医院底稿.xlsm]儿科横向本期!$C$92</c:f>
              <c:strCache>
                <c:ptCount val="1"/>
                <c:pt idx="0">
                  <c:v>住院人次</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AB6C-450A-96CA-442EA5463484}"/>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AB6C-450A-96CA-442EA5463484}"/>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AB6C-450A-96CA-442EA5463484}"/>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[横向医院底稿.xlsm]儿科横向本期!$A$93:$B$96</c:f>
              <c:multiLvlStrCache>
                <c:ptCount val="4"/>
                <c:lvl>
                  <c:pt idx="0">
                    <c:v>新华儿科</c:v>
                  </c:pt>
                  <c:pt idx="1">
                    <c:v>儿中心</c:v>
                  </c:pt>
                  <c:pt idx="2">
                    <c:v>儿童</c:v>
                  </c:pt>
                  <c:pt idx="3">
                    <c:v>儿科</c:v>
                  </c:pt>
                </c:lvl>
                <c:lvl>
                  <c:pt idx="0">
                    <c:v>2026年5月</c:v>
                  </c:pt>
                </c:lvl>
              </c:multiLvlStrCache>
            </c:multiLvlStrRef>
          </c:cat>
          <c:val>
            <c:numRef>
              <c:f>[横向医院底稿.xlsm]儿科横向本期!$C$93:$C$96</c:f>
              <c:numCache>
                <c:formatCode>#,##0_ </c:formatCode>
                <c:ptCount val="4"/>
                <c:pt idx="0">
                  <c:v>2951</c:v>
                </c:pt>
                <c:pt idx="1">
                  <c:v>5578</c:v>
                </c:pt>
                <c:pt idx="2">
                  <c:v>3861</c:v>
                </c:pt>
                <c:pt idx="3">
                  <c:v>5137</c:v>
                </c:pt>
              </c:numCache>
            </c:numRef>
          </c:val>
          <c:extLst>
            <c:ext xmlns:c16="http://schemas.microsoft.com/office/drawing/2014/chart" uri="{C3380CC4-5D6E-409C-BE32-E72D297353CC}">
              <c16:uniqueId val="{00000006-AB6C-450A-96CA-442EA5463484}"/>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[横向医院底稿.xlsm]儿科横向本期!$D$92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B6C-450A-96CA-442EA5463484}"/>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[横向医院底稿.xlsm]儿科横向本期!$A$93:$B$96</c:f>
              <c:multiLvlStrCache>
                <c:ptCount val="4"/>
                <c:lvl>
                  <c:pt idx="0">
                    <c:v>新华儿科</c:v>
                  </c:pt>
                  <c:pt idx="1">
                    <c:v>儿中心</c:v>
                  </c:pt>
                  <c:pt idx="2">
                    <c:v>儿童</c:v>
                  </c:pt>
                  <c:pt idx="3">
                    <c:v>儿科</c:v>
                  </c:pt>
                </c:lvl>
                <c:lvl>
                  <c:pt idx="0">
                    <c:v>2026年5月</c:v>
                  </c:pt>
                </c:lvl>
              </c:multiLvlStrCache>
            </c:multiLvlStrRef>
          </c:cat>
          <c:val>
            <c:numRef>
              <c:f>[横向医院底稿.xlsm]儿科横向本期!$D$93:$D$96</c:f>
              <c:numCache>
                <c:formatCode>0.0%</c:formatCode>
                <c:ptCount val="4"/>
                <c:pt idx="0">
                  <c:v>0.18466479325572099</c:v>
                </c:pt>
                <c:pt idx="1">
                  <c:v>5.9046895766090998E-2</c:v>
                </c:pt>
                <c:pt idx="2">
                  <c:v>5.2330335241210099E-2</c:v>
                </c:pt>
                <c:pt idx="3">
                  <c:v>2.2695600238901201E-2</c:v>
                </c:pt>
              </c:numCache>
            </c:numRef>
          </c:val>
          <c:smooth val="0"/>
          <c:extLst>
            <c:ext xmlns:c16="http://schemas.microsoft.com/office/drawing/2014/chart" uri="{C3380CC4-5D6E-409C-BE32-E72D297353CC}">
              <c16:uniqueId val="{00000008-AB6C-450A-96CA-442EA5463484}"/>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solidFill>
      <a:schemeClr val="bg1"/>
    </a:solid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'[新华医院2026年4月经济运行情况-收入+卫生材料-分析底稿.xlsx]门急诊收入'!$A$32</c:f>
              <c:strCache>
                <c:ptCount val="1"/>
                <c:pt idx="0">
                  <c:v>门急诊收入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8E2B-4FE3-B366-4D50C29EA1E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8E2B-4FE3-B366-4D50C29EA1E6}"/>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'[新华医院2026年4月经济运行情况-收入+卫生材料-分析底稿.xlsx]门急诊收入'!$B$31:$C$31</c:f>
              <c:strCache>
                <c:ptCount val="2"/>
                <c:pt idx="0">
                  <c:v>2026年5月</c:v>
                </c:pt>
                <c:pt idx="1">
                  <c:v>2025年5月</c:v>
                </c:pt>
              </c:strCache>
            </c:strRef>
          </c:cat>
          <c:val>
            <c:numRef>
              <c:f>'[新华医院2026年4月经济运行情况-收入+卫生材料-分析底稿.xlsx]门急诊收入'!$B$32:$C$32</c:f>
              <c:numCache>
                <c:formatCode>0.00_ </c:formatCode>
                <c:ptCount val="2"/>
                <c:pt idx="0">
                  <c:v>2.3200360937000002</c:v>
                </c:pt>
                <c:pt idx="1">
                  <c:v>1.7090790364999999</c:v>
                </c:pt>
              </c:numCache>
            </c:numRef>
          </c:val>
          <c:extLst>
            <c:ext xmlns:c16="http://schemas.microsoft.com/office/drawing/2014/chart" uri="{C3380CC4-5D6E-409C-BE32-E72D297353CC}">
              <c16:uniqueId val="{00000004-8E2B-4FE3-B366-4D50C29EA1E6}"/>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'[新华医院2026年4月经济运行情况-收入+卫生材料-分析底稿.xlsx]门诊收入+急诊收入'!$J$32</c:f>
              <c:strCache>
                <c:ptCount val="1"/>
                <c:pt idx="0">
                  <c:v>门诊收入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7FAD-484E-9B74-21A213FBD445}"/>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7FAD-484E-9B74-21A213FBD445}"/>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'[新华医院2026年4月经济运行情况-收入+卫生材料-分析底稿.xlsx]门诊收入+急诊收入'!$K$31:$L$31</c:f>
              <c:strCache>
                <c:ptCount val="2"/>
                <c:pt idx="0">
                  <c:v>2026年5月</c:v>
                </c:pt>
                <c:pt idx="1">
                  <c:v>2025年5月</c:v>
                </c:pt>
              </c:strCache>
            </c:strRef>
          </c:cat>
          <c:val>
            <c:numRef>
              <c:f>'[新华医院2026年4月经济运行情况-收入+卫生材料-分析底稿.xlsx]门诊收入+急诊收入'!$K$32:$L$32</c:f>
              <c:numCache>
                <c:formatCode>0.00_ </c:formatCode>
                <c:ptCount val="2"/>
                <c:pt idx="0">
                  <c:v>2.0150821580999998</c:v>
                </c:pt>
                <c:pt idx="1">
                  <c:v>1.4934239719</c:v>
                </c:pt>
              </c:numCache>
            </c:numRef>
          </c:val>
          <c:extLst>
            <c:ext xmlns:c16="http://schemas.microsoft.com/office/drawing/2014/chart" uri="{C3380CC4-5D6E-409C-BE32-E72D297353CC}">
              <c16:uniqueId val="{00000004-7FAD-484E-9B74-21A213FBD445}"/>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'[新华医院2026年4月经济运行情况-收入+卫生材料-分析底稿.xlsx]门诊收入+急诊收入'!$A$32</c:f>
              <c:strCache>
                <c:ptCount val="1"/>
                <c:pt idx="0">
                  <c:v>急诊收入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B7CD-4CD0-A44C-55E741E5E4F2}"/>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B7CD-4CD0-A44C-55E741E5E4F2}"/>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'[新华医院2026年4月经济运行情况-收入+卫生材料-分析底稿.xlsx]门诊收入+急诊收入'!$B$31:$C$31</c:f>
              <c:strCache>
                <c:ptCount val="2"/>
                <c:pt idx="0">
                  <c:v>2026年5月</c:v>
                </c:pt>
                <c:pt idx="1">
                  <c:v>2025年5月</c:v>
                </c:pt>
              </c:strCache>
            </c:strRef>
          </c:cat>
          <c:val>
            <c:numRef>
              <c:f>'[新华医院2026年4月经济运行情况-收入+卫生材料-分析底稿.xlsx]门诊收入+急诊收入'!$B$32:$C$32</c:f>
              <c:numCache>
                <c:formatCode>0.00_ </c:formatCode>
                <c:ptCount val="2"/>
                <c:pt idx="0">
                  <c:v>0.3049539356</c:v>
                </c:pt>
                <c:pt idx="1">
                  <c:v>0.2156550646</c:v>
                </c:pt>
              </c:numCache>
            </c:numRef>
          </c:val>
          <c:extLst>
            <c:ext xmlns:c16="http://schemas.microsoft.com/office/drawing/2014/chart" uri="{C3380CC4-5D6E-409C-BE32-E72D297353CC}">
              <c16:uniqueId val="{00000004-B7CD-4CD0-A44C-55E741E5E4F2}"/>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'[新华医院2026年4月经济运行情况-收入+卫生材料-分析底稿.xlsx]住院收入'!$A$32</c:f>
              <c:strCache>
                <c:ptCount val="1"/>
                <c:pt idx="0">
                  <c:v>住院收入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3129-4C00-A208-86201134910E}"/>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3129-4C00-A208-86201134910E}"/>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'[新华医院2026年4月经济运行情况-收入+卫生材料-分析底稿.xlsx]住院收入'!$B$31:$C$31</c:f>
              <c:strCache>
                <c:ptCount val="2"/>
                <c:pt idx="0">
                  <c:v>2026年5月</c:v>
                </c:pt>
                <c:pt idx="1">
                  <c:v>2025年5月</c:v>
                </c:pt>
              </c:strCache>
            </c:strRef>
          </c:cat>
          <c:val>
            <c:numRef>
              <c:f>'[新华医院2026年4月经济运行情况-收入+卫生材料-分析底稿.xlsx]住院收入'!$B$32:$C$32</c:f>
              <c:numCache>
                <c:formatCode>0.00_ </c:formatCode>
                <c:ptCount val="2"/>
                <c:pt idx="0" formatCode="0.00">
                  <c:v>4.0328662392299996</c:v>
                </c:pt>
                <c:pt idx="1">
                  <c:v>3.0921712653000002</c:v>
                </c:pt>
              </c:numCache>
            </c:numRef>
          </c:val>
          <c:extLst>
            <c:ext xmlns:c16="http://schemas.microsoft.com/office/drawing/2014/chart" uri="{C3380CC4-5D6E-409C-BE32-E72D297353CC}">
              <c16:uniqueId val="{00000004-3129-4C00-A208-86201134910E}"/>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01d00d09-c6f2-4872-9d55-63ee91b09d1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'[新华医院2026年4月经济运行情况-收入+卫生材料-分析底稿.xlsx]医疗收入情况'!$B$63</c:f>
              <c:strCache>
                <c:ptCount val="1"/>
                <c:pt idx="0">
                  <c:v>医疗收入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81F8-4039-90E5-F3DDE77B53CD}"/>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81F8-4039-90E5-F3DDE77B53CD}"/>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'[新华医院2026年4月经济运行情况-收入+卫生材料-分析底稿.xlsx]医疗收入情况'!$C$62:$D$62</c:f>
              <c:strCache>
                <c:ptCount val="2"/>
                <c:pt idx="0">
                  <c:v>2026年5月</c:v>
                </c:pt>
                <c:pt idx="1">
                  <c:v>2025年5月</c:v>
                </c:pt>
              </c:strCache>
            </c:strRef>
          </c:cat>
          <c:val>
            <c:numRef>
              <c:f>'[新华医院2026年4月经济运行情况-收入+卫生材料-分析底稿.xlsx]医疗收入情况'!$C$63:$D$63</c:f>
              <c:numCache>
                <c:formatCode>_(* #,##0.00_);_(* \(#,##0.00\);_(* "-"??_);_(@_)</c:formatCode>
                <c:ptCount val="2"/>
                <c:pt idx="0">
                  <c:v>6.3529023329300003</c:v>
                </c:pt>
                <c:pt idx="1">
                  <c:v>4.8012503017999997</c:v>
                </c:pt>
              </c:numCache>
            </c:numRef>
          </c:val>
          <c:extLst>
            <c:ext xmlns:c16="http://schemas.microsoft.com/office/drawing/2014/chart" uri="{C3380CC4-5D6E-409C-BE32-E72D297353CC}">
              <c16:uniqueId val="{00000004-81F8-4039-90E5-F3DDE77B53CD}"/>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_(* #,##0.00_);_(* \(#,##0.00\);_(* &quot;-&quot;??_);_(@_)"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01d00d09-c6f2-4872-9d55-63ee91b09d1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'[新华医院2026年4月经济运行情况-收入+卫生材料-分析底稿.xlsx]医疗收入情况'!$B$54</c:f>
              <c:strCache>
                <c:ptCount val="1"/>
                <c:pt idx="0">
                  <c:v>药占比</c:v>
                </c:pt>
              </c:strCache>
            </c:strRef>
          </c:tx>
          <c:spPr>
            <a:solidFill>
              <a:srgbClr val="7030A0"/>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'[新华医院2026年4月经济运行情况-收入+卫生材料-分析底稿.xlsx]医疗收入情况'!$C$54:$D$54</c:f>
              <c:numCache>
                <c:formatCode>0.0%</c:formatCode>
                <c:ptCount val="2"/>
                <c:pt idx="0">
                  <c:v>0.23969700356272999</c:v>
                </c:pt>
                <c:pt idx="1">
                  <c:v>0.26143347001288803</c:v>
                </c:pt>
              </c:numCache>
            </c:numRef>
          </c:val>
          <c:extLst>
            <c:ext xmlns:c16="http://schemas.microsoft.com/office/drawing/2014/chart" uri="{C3380CC4-5D6E-409C-BE32-E72D297353CC}">
              <c16:uniqueId val="{00000000-C418-42D3-808F-0D85A757A5DC}"/>
            </c:ext>
          </c:extLst>
        </c:ser>
        <c:ser>
          <c:idx val="1"/>
          <c:order val="1"/>
          <c:tx>
            <c:strRef>
              <c:f>'[新华医院2026年4月经济运行情况-收入+卫生材料-分析底稿.xlsx]医疗收入情况'!$B$55</c:f>
              <c:strCache>
                <c:ptCount val="1"/>
                <c:pt idx="0">
                  <c:v>耗占比</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'[新华医院2026年4月经济运行情况-收入+卫生材料-分析底稿.xlsx]医疗收入情况'!$C$55:$D$55</c:f>
              <c:numCache>
                <c:formatCode>0.0%</c:formatCode>
                <c:ptCount val="2"/>
                <c:pt idx="0">
                  <c:v>0.28058092625798298</c:v>
                </c:pt>
                <c:pt idx="1">
                  <c:v>0.26502137599928099</c:v>
                </c:pt>
              </c:numCache>
            </c:numRef>
          </c:val>
          <c:extLst>
            <c:ext xmlns:c16="http://schemas.microsoft.com/office/drawing/2014/chart" uri="{C3380CC4-5D6E-409C-BE32-E72D297353CC}">
              <c16:uniqueId val="{00000001-C418-42D3-808F-0D85A757A5DC}"/>
            </c:ext>
          </c:extLst>
        </c:ser>
        <c:ser>
          <c:idx val="2"/>
          <c:order val="2"/>
          <c:tx>
            <c:strRef>
              <c:f>'[新华医院2026年4月经济运行情况-收入+卫生材料-分析底稿.xlsx]医疗收入情况'!$B$56</c:f>
              <c:strCache>
                <c:ptCount val="1"/>
                <c:pt idx="0">
                  <c:v>检查化验占比</c:v>
                </c:pt>
              </c:strCache>
            </c:strRef>
          </c:tx>
          <c:spPr>
            <a:solidFill>
              <a:srgbClr val="C00000"/>
            </a:solidFill>
            <a:ln>
              <a:solidFill>
                <a:srgbClr val="C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'[新华医院2026年4月经济运行情况-收入+卫生材料-分析底稿.xlsx]医疗收入情况'!$C$56:$D$56</c:f>
              <c:numCache>
                <c:formatCode>0.0%</c:formatCode>
                <c:ptCount val="2"/>
                <c:pt idx="0">
                  <c:v>0.230193335401952</c:v>
                </c:pt>
                <c:pt idx="1">
                  <c:v>0.224168906294366</c:v>
                </c:pt>
              </c:numCache>
            </c:numRef>
          </c:val>
          <c:extLst>
            <c:ext xmlns:c16="http://schemas.microsoft.com/office/drawing/2014/chart" uri="{C3380CC4-5D6E-409C-BE32-E72D297353CC}">
              <c16:uniqueId val="{00000002-C418-42D3-808F-0D85A757A5DC}"/>
            </c:ext>
          </c:extLst>
        </c:ser>
        <c:ser>
          <c:idx val="3"/>
          <c:order val="3"/>
          <c:tx>
            <c:strRef>
              <c:f>'[新华医院2026年4月经济运行情况-收入+卫生材料-分析底稿.xlsx]医疗收入情况'!$B$57</c:f>
              <c:strCache>
                <c:ptCount val="1"/>
                <c:pt idx="0">
                  <c:v>劳务占比</c:v>
                </c:pt>
              </c:strCache>
            </c:strRef>
          </c:tx>
          <c:spPr>
            <a:solidFill>
              <a:srgbClr val="009999"/>
            </a:solidFill>
            <a:ln>
              <a:solidFill>
                <a:srgbClr val="009999"/>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'[新华医院2026年4月经济运行情况-收入+卫生材料-分析底稿.xlsx]医疗收入情况'!$C$57:$D$57</c:f>
              <c:numCache>
                <c:formatCode>0.0%</c:formatCode>
                <c:ptCount val="2"/>
                <c:pt idx="0">
                  <c:v>0.249528734777335</c:v>
                </c:pt>
                <c:pt idx="1">
                  <c:v>0.249376247693465</c:v>
                </c:pt>
              </c:numCache>
            </c:numRef>
          </c:val>
          <c:extLst>
            <c:ext xmlns:c16="http://schemas.microsoft.com/office/drawing/2014/chart" uri="{C3380CC4-5D6E-409C-BE32-E72D297353CC}">
              <c16:uniqueId val="{00000003-C418-42D3-808F-0D85A757A5DC}"/>
            </c:ext>
          </c:extLst>
        </c:ser>
        <c:dLbls>
          <c:showLegendKey val="0"/>
          <c:showVal val="1"/>
          <c:showCatName val="0"/>
          <c:showSerName val="0"/>
          <c:showPercent val="0"/>
          <c:showBubbleSize val="0"/>
        </c:dLbls>
        <c:gapWidth val="150"/>
        <c:overlap val="100"/>
        <c:axId val="485331696"/>
        <c:axId val="485330448"/>
      </c:barChart>
      <c:catAx>
        <c:axId val="48533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0448"/>
        <c:crosses val="autoZero"/>
        <c:auto val="1"/>
        <c:lblAlgn val="ctr"/>
        <c:lblOffset val="100"/>
        <c:noMultiLvlLbl val="0"/>
      </c:catAx>
      <c:valAx>
        <c:axId val="485330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1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495a3b0-3f18-4717-b977-c16a6632b1f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'[新华医院2026年4月经济运行情况-收入+卫生材料-分析底稿.xlsx]医疗收入情况'!$B$47</c:f>
              <c:strCache>
                <c:ptCount val="1"/>
                <c:pt idx="0">
                  <c:v>药占比</c:v>
                </c:pt>
              </c:strCache>
            </c:strRef>
          </c:tx>
          <c:spPr>
            <a:solidFill>
              <a:srgbClr val="7030A0"/>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'[新华医院2026年4月经济运行情况-收入+卫生材料-分析底稿.xlsx]医疗收入情况'!$C$47:$D$47</c:f>
              <c:numCache>
                <c:formatCode>0.0%</c:formatCode>
                <c:ptCount val="2"/>
                <c:pt idx="0">
                  <c:v>0.255886000458866</c:v>
                </c:pt>
                <c:pt idx="1">
                  <c:v>0.183779115007313</c:v>
                </c:pt>
              </c:numCache>
            </c:numRef>
          </c:val>
          <c:extLst>
            <c:ext xmlns:c16="http://schemas.microsoft.com/office/drawing/2014/chart" uri="{C3380CC4-5D6E-409C-BE32-E72D297353CC}">
              <c16:uniqueId val="{00000000-A676-4E93-901E-CB143F8FF867}"/>
            </c:ext>
          </c:extLst>
        </c:ser>
        <c:ser>
          <c:idx val="1"/>
          <c:order val="1"/>
          <c:tx>
            <c:strRef>
              <c:f>'[新华医院2026年4月经济运行情况-收入+卫生材料-分析底稿.xlsx]医疗收入情况'!$B$48</c:f>
              <c:strCache>
                <c:ptCount val="1"/>
                <c:pt idx="0">
                  <c:v>耗占比</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'[新华医院2026年4月经济运行情况-收入+卫生材料-分析底稿.xlsx]医疗收入情况'!$C$48:$D$48</c:f>
              <c:numCache>
                <c:formatCode>0.0%</c:formatCode>
                <c:ptCount val="2"/>
                <c:pt idx="0">
                  <c:v>0.25266943435790601</c:v>
                </c:pt>
                <c:pt idx="1">
                  <c:v>0.37698910420114501</c:v>
                </c:pt>
              </c:numCache>
            </c:numRef>
          </c:val>
          <c:extLst>
            <c:ext xmlns:c16="http://schemas.microsoft.com/office/drawing/2014/chart" uri="{C3380CC4-5D6E-409C-BE32-E72D297353CC}">
              <c16:uniqueId val="{00000001-A676-4E93-901E-CB143F8FF867}"/>
            </c:ext>
          </c:extLst>
        </c:ser>
        <c:ser>
          <c:idx val="2"/>
          <c:order val="2"/>
          <c:tx>
            <c:strRef>
              <c:f>'[新华医院2026年4月经济运行情况-收入+卫生材料-分析底稿.xlsx]医疗收入情况'!$B$49</c:f>
              <c:strCache>
                <c:ptCount val="1"/>
                <c:pt idx="0">
                  <c:v>检查化验占比</c:v>
                </c:pt>
              </c:strCache>
            </c:strRef>
          </c:tx>
          <c:spPr>
            <a:solidFill>
              <a:srgbClr val="C00000"/>
            </a:solidFill>
            <a:ln>
              <a:solidFill>
                <a:srgbClr val="C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'[新华医院2026年4月经济运行情况-收入+卫生材料-分析底稿.xlsx]医疗收入情况'!$C$49:$D$49</c:f>
              <c:numCache>
                <c:formatCode>0.0%</c:formatCode>
                <c:ptCount val="2"/>
                <c:pt idx="0">
                  <c:v>0.23267340003280201</c:v>
                </c:pt>
                <c:pt idx="1">
                  <c:v>0.22162702468314599</c:v>
                </c:pt>
              </c:numCache>
            </c:numRef>
          </c:val>
          <c:extLst>
            <c:ext xmlns:c16="http://schemas.microsoft.com/office/drawing/2014/chart" uri="{C3380CC4-5D6E-409C-BE32-E72D297353CC}">
              <c16:uniqueId val="{00000002-A676-4E93-901E-CB143F8FF867}"/>
            </c:ext>
          </c:extLst>
        </c:ser>
        <c:ser>
          <c:idx val="3"/>
          <c:order val="3"/>
          <c:tx>
            <c:strRef>
              <c:f>'[新华医院2026年4月经济运行情况-收入+卫生材料-分析底稿.xlsx]医疗收入情况'!$B$50</c:f>
              <c:strCache>
                <c:ptCount val="1"/>
                <c:pt idx="0">
                  <c:v>劳务占比</c:v>
                </c:pt>
              </c:strCache>
            </c:strRef>
          </c:tx>
          <c:spPr>
            <a:solidFill>
              <a:srgbClr val="009999"/>
            </a:solidFill>
            <a:ln>
              <a:solidFill>
                <a:srgbClr val="009999"/>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'[新华医院2026年4月经济运行情况-收入+卫生材料-分析底稿.xlsx]医疗收入情况'!$C$50:$D$50</c:f>
              <c:numCache>
                <c:formatCode>0.0%</c:formatCode>
                <c:ptCount val="2"/>
                <c:pt idx="0">
                  <c:v>0.25877116515042597</c:v>
                </c:pt>
                <c:pt idx="1">
                  <c:v>0.217604756108396</c:v>
                </c:pt>
              </c:numCache>
            </c:numRef>
          </c:val>
          <c:extLst>
            <c:ext xmlns:c16="http://schemas.microsoft.com/office/drawing/2014/chart" uri="{C3380CC4-5D6E-409C-BE32-E72D297353CC}">
              <c16:uniqueId val="{00000003-A676-4E93-901E-CB143F8FF867}"/>
            </c:ext>
          </c:extLst>
        </c:ser>
        <c:dLbls>
          <c:showLegendKey val="0"/>
          <c:showVal val="1"/>
          <c:showCatName val="0"/>
          <c:showSerName val="0"/>
          <c:showPercent val="0"/>
          <c:showBubbleSize val="0"/>
        </c:dLbls>
        <c:gapWidth val="150"/>
        <c:overlap val="100"/>
        <c:axId val="485331696"/>
        <c:axId val="485330448"/>
      </c:barChart>
      <c:catAx>
        <c:axId val="48533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0448"/>
        <c:crosses val="autoZero"/>
        <c:auto val="1"/>
        <c:lblAlgn val="ctr"/>
        <c:lblOffset val="100"/>
        <c:noMultiLvlLbl val="0"/>
      </c:catAx>
      <c:valAx>
        <c:axId val="485330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1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495a3b0-3f18-4717-b977-c16a6632b1f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'[新华医院2026年4月经济运行情况-收入+卫生材料-分析底稿.xlsx]门急诊收入均次'!$B$29</c:f>
              <c:strCache>
                <c:ptCount val="1"/>
                <c:pt idx="0">
                  <c:v>门急诊收入均次</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BB48-42D7-868D-1ECEEF52B0FF}"/>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BB48-42D7-868D-1ECEEF52B0FF}"/>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'[新华医院2026年4月经济运行情况-收入+卫生材料-分析底稿.xlsx]门急诊收入均次'!$C$28:$D$28</c:f>
              <c:strCache>
                <c:ptCount val="2"/>
                <c:pt idx="0">
                  <c:v>2026年5月</c:v>
                </c:pt>
                <c:pt idx="1">
                  <c:v>2025年5月</c:v>
                </c:pt>
              </c:strCache>
            </c:strRef>
          </c:cat>
          <c:val>
            <c:numRef>
              <c:f>'[新华医院2026年4月经济运行情况-收入+卫生材料-分析底稿.xlsx]门急诊收入均次'!$C$29:$D$29</c:f>
              <c:numCache>
                <c:formatCode>0.00_ </c:formatCode>
                <c:ptCount val="2"/>
                <c:pt idx="0">
                  <c:v>510.59941539477302</c:v>
                </c:pt>
                <c:pt idx="1">
                  <c:v>504.16203133388802</c:v>
                </c:pt>
              </c:numCache>
            </c:numRef>
          </c:val>
          <c:extLst>
            <c:ext xmlns:c16="http://schemas.microsoft.com/office/drawing/2014/chart" uri="{C3380CC4-5D6E-409C-BE32-E72D297353CC}">
              <c16:uniqueId val="{00000004-BB48-42D7-868D-1ECEEF52B0FF}"/>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'[新华医院2026年4月经济运行情况-收入+卫生材料-分析底稿.xlsx]住院收入均次'!$B$25</c:f>
              <c:strCache>
                <c:ptCount val="1"/>
                <c:pt idx="0">
                  <c:v>住院收入均次</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24FB-40B0-AD61-95745C9C99AC}"/>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24FB-40B0-AD61-95745C9C99AC}"/>
              </c:ext>
            </c:extLst>
          </c:dPt>
          <c:dLbls>
            <c:dLbl>
              <c:idx val="0"/>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extLst>
                <c:ext xmlns:c16="http://schemas.microsoft.com/office/drawing/2014/chart" uri="{C3380CC4-5D6E-409C-BE32-E72D297353CC}">
                  <c16:uniqueId val="{00000001-24FB-40B0-AD61-95745C9C99AC}"/>
                </c:ext>
              </c:extLst>
            </c:dLbl>
            <c:dLbl>
              <c:idx val="1"/>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extLst>
                <c:ext xmlns:c16="http://schemas.microsoft.com/office/drawing/2014/chart" uri="{C3380CC4-5D6E-409C-BE32-E72D297353CC}">
                  <c16:uniqueId val="{00000003-24FB-40B0-AD61-95745C9C99AC}"/>
                </c:ext>
              </c:extLst>
            </c:dLbl>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'[新华医院2026年4月经济运行情况-收入+卫生材料-分析底稿.xlsx]住院收入均次'!$C$24:$D$24</c:f>
              <c:strCache>
                <c:ptCount val="2"/>
                <c:pt idx="0">
                  <c:v>2026年5月</c:v>
                </c:pt>
                <c:pt idx="1">
                  <c:v>2025年5月</c:v>
                </c:pt>
              </c:strCache>
            </c:strRef>
          </c:cat>
          <c:val>
            <c:numRef>
              <c:f>'[新华医院2026年4月经济运行情况-收入+卫生材料-分析底稿.xlsx]住院收入均次'!$C$25:$D$25</c:f>
              <c:numCache>
                <c:formatCode>_(* #,##0.00_);_(* \(#,##0.00\);_(* "-"??_);_(@_)</c:formatCode>
                <c:ptCount val="2"/>
                <c:pt idx="0">
                  <c:v>26011.779148800299</c:v>
                </c:pt>
                <c:pt idx="1">
                  <c:v>23780.445014996501</c:v>
                </c:pt>
              </c:numCache>
            </c:numRef>
          </c:val>
          <c:extLst>
            <c:ext xmlns:c16="http://schemas.microsoft.com/office/drawing/2014/chart" uri="{C3380CC4-5D6E-409C-BE32-E72D297353CC}">
              <c16:uniqueId val="{00000004-24FB-40B0-AD61-95745C9C99AC}"/>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_(* #,##0.00_);_(* \(#,##0.00\);_(* &quot;-&quot;??_);_(@_)"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0730973860744806E-2"/>
          <c:y val="4.1988239617787602E-2"/>
          <c:w val="0.82500578302104999"/>
          <c:h val="0.85859977949283395"/>
        </c:manualLayout>
      </c:layout>
      <c:barChart>
        <c:barDir val="col"/>
        <c:grouping val="clustered"/>
        <c:varyColors val="0"/>
        <c:ser>
          <c:idx val="0"/>
          <c:order val="0"/>
          <c:tx>
            <c:strRef>
              <c:f>[横向医院底稿.xlsm]门急诊均次!$C$2</c:f>
              <c:strCache>
                <c:ptCount val="1"/>
                <c:pt idx="0">
                  <c:v>门急诊均次</c:v>
                </c:pt>
              </c:strCache>
            </c:strRef>
          </c:tx>
          <c:spPr>
            <a:solidFill>
              <a:srgbClr val="002060"/>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4824-46F7-AA21-E743D531BCD5}"/>
              </c:ext>
            </c:extLst>
          </c:dPt>
          <c:dPt>
            <c:idx val="1"/>
            <c:invertIfNegative val="0"/>
            <c:bubble3D val="0"/>
            <c:spPr>
              <a:solidFill>
                <a:srgbClr val="002060"/>
              </a:solidFill>
              <a:ln>
                <a:noFill/>
              </a:ln>
              <a:effectLst/>
            </c:spPr>
            <c:extLst>
              <c:ext xmlns:c16="http://schemas.microsoft.com/office/drawing/2014/chart" uri="{C3380CC4-5D6E-409C-BE32-E72D297353CC}">
                <c16:uniqueId val="{00000003-4824-46F7-AA21-E743D531BCD5}"/>
              </c:ext>
            </c:extLst>
          </c:dPt>
          <c:dPt>
            <c:idx val="2"/>
            <c:invertIfNegative val="0"/>
            <c:bubble3D val="0"/>
            <c:spPr>
              <a:solidFill>
                <a:srgbClr val="002060"/>
              </a:solidFill>
              <a:ln>
                <a:noFill/>
              </a:ln>
              <a:effectLst/>
            </c:spPr>
            <c:extLst>
              <c:ext xmlns:c16="http://schemas.microsoft.com/office/drawing/2014/chart" uri="{C3380CC4-5D6E-409C-BE32-E72D297353CC}">
                <c16:uniqueId val="{00000005-4824-46F7-AA21-E743D531BCD5}"/>
              </c:ext>
            </c:extLst>
          </c:dPt>
          <c:dPt>
            <c:idx val="3"/>
            <c:invertIfNegative val="0"/>
            <c:bubble3D val="0"/>
            <c:spPr>
              <a:solidFill>
                <a:srgbClr val="C00000"/>
              </a:solidFill>
              <a:ln>
                <a:noFill/>
              </a:ln>
              <a:effectLst/>
            </c:spPr>
            <c:extLst>
              <c:ext xmlns:c16="http://schemas.microsoft.com/office/drawing/2014/chart" uri="{C3380CC4-5D6E-409C-BE32-E72D297353CC}">
                <c16:uniqueId val="{00000007-4824-46F7-AA21-E743D531BCD5}"/>
              </c:ext>
            </c:extLst>
          </c:dPt>
          <c:dPt>
            <c:idx val="4"/>
            <c:invertIfNegative val="0"/>
            <c:bubble3D val="0"/>
            <c:spPr>
              <a:solidFill>
                <a:srgbClr val="002060"/>
              </a:solidFill>
              <a:ln>
                <a:noFill/>
              </a:ln>
              <a:effectLst/>
            </c:spPr>
            <c:extLst>
              <c:ext xmlns:c16="http://schemas.microsoft.com/office/drawing/2014/chart" uri="{C3380CC4-5D6E-409C-BE32-E72D297353CC}">
                <c16:uniqueId val="{00000009-4824-46F7-AA21-E743D531BCD5}"/>
              </c:ext>
            </c:extLst>
          </c:dPt>
          <c:dPt>
            <c:idx val="6"/>
            <c:invertIfNegative val="0"/>
            <c:bubble3D val="0"/>
            <c:spPr>
              <a:solidFill>
                <a:srgbClr val="002060"/>
              </a:solidFill>
              <a:ln>
                <a:noFill/>
              </a:ln>
              <a:effectLst/>
            </c:spPr>
            <c:extLst>
              <c:ext xmlns:c16="http://schemas.microsoft.com/office/drawing/2014/chart" uri="{C3380CC4-5D6E-409C-BE32-E72D297353CC}">
                <c16:uniqueId val="{0000000B-4824-46F7-AA21-E743D531BCD5}"/>
              </c:ext>
            </c:extLst>
          </c:dPt>
          <c:dPt>
            <c:idx val="7"/>
            <c:invertIfNegative val="0"/>
            <c:bubble3D val="0"/>
            <c:spPr>
              <a:solidFill>
                <a:srgbClr val="002060"/>
              </a:solidFill>
              <a:ln>
                <a:noFill/>
              </a:ln>
              <a:effectLst/>
            </c:spPr>
            <c:extLst>
              <c:ext xmlns:c16="http://schemas.microsoft.com/office/drawing/2014/chart" uri="{C3380CC4-5D6E-409C-BE32-E72D297353CC}">
                <c16:uniqueId val="{0000000D-4824-46F7-AA21-E743D531BCD5}"/>
              </c:ext>
            </c:extLst>
          </c:dPt>
          <c:dPt>
            <c:idx val="10"/>
            <c:invertIfNegative val="0"/>
            <c:bubble3D val="0"/>
            <c:spPr>
              <a:solidFill>
                <a:srgbClr val="002060"/>
              </a:solidFill>
              <a:ln>
                <a:noFill/>
              </a:ln>
              <a:effectLst/>
            </c:spPr>
            <c:extLst>
              <c:ext xmlns:c16="http://schemas.microsoft.com/office/drawing/2014/chart" uri="{C3380CC4-5D6E-409C-BE32-E72D297353CC}">
                <c16:uniqueId val="{0000000F-4824-46F7-AA21-E743D531BCD5}"/>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[横向医院底稿.xlsm]门急诊均次!$B$3:$B$13</c:f>
              <c:strCache>
                <c:ptCount val="11"/>
                <c:pt idx="0">
                  <c:v>瑞金</c:v>
                </c:pt>
                <c:pt idx="1">
                  <c:v>华山</c:v>
                </c:pt>
                <c:pt idx="2">
                  <c:v>六院</c:v>
                </c:pt>
                <c:pt idx="3">
                  <c:v>新华</c:v>
                </c:pt>
                <c:pt idx="4">
                  <c:v>一院</c:v>
                </c:pt>
                <c:pt idx="5">
                  <c:v>华东</c:v>
                </c:pt>
                <c:pt idx="6">
                  <c:v>十院</c:v>
                </c:pt>
                <c:pt idx="7">
                  <c:v>中山</c:v>
                </c:pt>
                <c:pt idx="8">
                  <c:v>九院</c:v>
                </c:pt>
                <c:pt idx="9">
                  <c:v>仁济</c:v>
                </c:pt>
                <c:pt idx="10">
                  <c:v>同济</c:v>
                </c:pt>
              </c:strCache>
            </c:strRef>
          </c:cat>
          <c:val>
            <c:numRef>
              <c:f>[横向医院底稿.xlsm]门急诊均次!$C$3:$C$13</c:f>
              <c:numCache>
                <c:formatCode>#,##0_ </c:formatCode>
                <c:ptCount val="11"/>
                <c:pt idx="0">
                  <c:v>702.40348939020498</c:v>
                </c:pt>
                <c:pt idx="1">
                  <c:v>562.54908021908898</c:v>
                </c:pt>
                <c:pt idx="2">
                  <c:v>516.96805940139996</c:v>
                </c:pt>
                <c:pt idx="3">
                  <c:v>510.59941539477302</c:v>
                </c:pt>
                <c:pt idx="4">
                  <c:v>562.11848461671298</c:v>
                </c:pt>
                <c:pt idx="5">
                  <c:v>480.31129645258198</c:v>
                </c:pt>
                <c:pt idx="6">
                  <c:v>502.39697582070801</c:v>
                </c:pt>
                <c:pt idx="7">
                  <c:v>698.47403055021596</c:v>
                </c:pt>
                <c:pt idx="8">
                  <c:v>803.98362310401103</c:v>
                </c:pt>
                <c:pt idx="9">
                  <c:v>635.399598221926</c:v>
                </c:pt>
                <c:pt idx="10">
                  <c:v>418.88026733343401</c:v>
                </c:pt>
              </c:numCache>
            </c:numRef>
          </c:val>
          <c:extLst>
            <c:ext xmlns:c16="http://schemas.microsoft.com/office/drawing/2014/chart" uri="{C3380CC4-5D6E-409C-BE32-E72D297353CC}">
              <c16:uniqueId val="{00000010-4824-46F7-AA21-E743D531BCD5}"/>
            </c:ext>
          </c:extLst>
        </c:ser>
        <c:dLbls>
          <c:showLegendKey val="0"/>
          <c:showVal val="1"/>
          <c:showCatName val="0"/>
          <c:showSerName val="0"/>
          <c:showPercent val="0"/>
          <c:showBubbleSize val="0"/>
        </c:dLbls>
        <c:gapWidth val="30"/>
        <c:overlap val="-27"/>
        <c:axId val="450579392"/>
        <c:axId val="450578560"/>
      </c:barChart>
      <c:lineChart>
        <c:grouping val="standard"/>
        <c:varyColors val="0"/>
        <c:ser>
          <c:idx val="1"/>
          <c:order val="1"/>
          <c:tx>
            <c:strRef>
              <c:f>[横向医院底稿.xlsm]门急诊均次!$D$2</c:f>
              <c:strCache>
                <c:ptCount val="1"/>
                <c:pt idx="0">
                  <c:v>增幅</c:v>
                </c:pt>
              </c:strCache>
            </c:strRef>
          </c:tx>
          <c:spPr>
            <a:ln w="28575" cap="rnd" cmpd="sng">
              <a:solidFill>
                <a:schemeClr val="accent2"/>
              </a:solidFill>
              <a:prstDash val="solid"/>
              <a:round/>
            </a:ln>
            <a:effectLst/>
          </c:spPr>
          <c:marker>
            <c:symbol val="circle"/>
            <c:size val="6"/>
            <c:spPr>
              <a:solidFill>
                <a:schemeClr val="accent2"/>
              </a:solidFill>
              <a:ln w="12700" cmpd="sng">
                <a:noFill/>
                <a:prstDash val="solid"/>
              </a:ln>
              <a:effectLst/>
            </c:spPr>
          </c:marker>
          <c:dLbls>
            <c:dLbl>
              <c:idx val="0"/>
              <c:layout>
                <c:manualLayout>
                  <c:x val="-4.8577376821651599E-2"/>
                  <c:y val="5.78831312017641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824-46F7-AA21-E743D531BCD5}"/>
                </c:ext>
              </c:extLst>
            </c:dLbl>
            <c:dLbl>
              <c:idx val="1"/>
              <c:layout>
                <c:manualLayout>
                  <c:x val="-5.03122831367106E-2"/>
                  <c:y val="5.78831312017641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824-46F7-AA21-E743D531BCD5}"/>
                </c:ext>
              </c:extLst>
            </c:dLbl>
            <c:dLbl>
              <c:idx val="2"/>
              <c:layout>
                <c:manualLayout>
                  <c:x val="-4.8577376821651599E-2"/>
                  <c:y val="6.0639470782800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824-46F7-AA21-E743D531BCD5}"/>
                </c:ext>
              </c:extLst>
            </c:dLbl>
            <c:dLbl>
              <c:idx val="3"/>
              <c:layout>
                <c:manualLayout>
                  <c:x val="-5.03122831367106E-2"/>
                  <c:y val="4.96141124586549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824-46F7-AA21-E743D531BCD5}"/>
                </c:ext>
              </c:extLst>
            </c:dLbl>
            <c:dLbl>
              <c:idx val="4"/>
              <c:layout>
                <c:manualLayout>
                  <c:x val="-5.03122831367106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4824-46F7-AA21-E743D531BCD5}"/>
                </c:ext>
              </c:extLst>
            </c:dLbl>
            <c:dLbl>
              <c:idx val="5"/>
              <c:layout>
                <c:manualLayout>
                  <c:x val="-4.8577376821651599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4824-46F7-AA21-E743D531BCD5}"/>
                </c:ext>
              </c:extLst>
            </c:dLbl>
            <c:dLbl>
              <c:idx val="6"/>
              <c:layout>
                <c:manualLayout>
                  <c:x val="-5.03122831367106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4824-46F7-AA21-E743D531BCD5}"/>
                </c:ext>
              </c:extLst>
            </c:dLbl>
            <c:dLbl>
              <c:idx val="7"/>
              <c:layout>
                <c:manualLayout>
                  <c:x val="-5.3782095766828603E-2"/>
                  <c:y val="5.23704520396912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4824-46F7-AA21-E743D531BCD5}"/>
                </c:ext>
              </c:extLst>
            </c:dLbl>
            <c:dLbl>
              <c:idx val="8"/>
              <c:layout>
                <c:manualLayout>
                  <c:x val="-6.0721721027064503E-2"/>
                  <c:y val="-6.33958103638368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4824-46F7-AA21-E743D531BCD5}"/>
                </c:ext>
              </c:extLst>
            </c:dLbl>
            <c:dLbl>
              <c:idx val="9"/>
              <c:layout>
                <c:manualLayout>
                  <c:x val="-5.03122831367106E-2"/>
                  <c:y val="-6.0639470782800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4824-46F7-AA21-E743D531BCD5}"/>
                </c:ext>
              </c:extLst>
            </c:dLbl>
            <c:dLbl>
              <c:idx val="10"/>
              <c:layout>
                <c:manualLayout>
                  <c:x val="-4.5107564191533701E-2"/>
                  <c:y val="-8.54465270121279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4824-46F7-AA21-E743D531BCD5}"/>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cap="none" spc="0" normalizeH="0" baseline="0">
                    <a:solidFill>
                      <a:schemeClr val="accent2"/>
                    </a:solidFill>
                    <a:uFill>
                      <a:solidFill>
                        <a:schemeClr val="tx1">
                          <a:lumMod val="75000"/>
                          <a:lumOff val="25000"/>
                        </a:schemeClr>
                      </a:solidFill>
                    </a:u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[横向医院底稿.xlsm]门急诊均次!$B$3:$B$13</c:f>
              <c:strCache>
                <c:ptCount val="11"/>
                <c:pt idx="0">
                  <c:v>瑞金</c:v>
                </c:pt>
                <c:pt idx="1">
                  <c:v>华山</c:v>
                </c:pt>
                <c:pt idx="2">
                  <c:v>六院</c:v>
                </c:pt>
                <c:pt idx="3">
                  <c:v>新华</c:v>
                </c:pt>
                <c:pt idx="4">
                  <c:v>一院</c:v>
                </c:pt>
                <c:pt idx="5">
                  <c:v>华东</c:v>
                </c:pt>
                <c:pt idx="6">
                  <c:v>十院</c:v>
                </c:pt>
                <c:pt idx="7">
                  <c:v>中山</c:v>
                </c:pt>
                <c:pt idx="8">
                  <c:v>九院</c:v>
                </c:pt>
                <c:pt idx="9">
                  <c:v>仁济</c:v>
                </c:pt>
                <c:pt idx="10">
                  <c:v>同济</c:v>
                </c:pt>
              </c:strCache>
            </c:strRef>
          </c:cat>
          <c:val>
            <c:numRef>
              <c:f>[横向医院底稿.xlsm]门急诊均次!$D$3:$D$13</c:f>
              <c:numCache>
                <c:formatCode>0.0%</c:formatCode>
                <c:ptCount val="11"/>
                <c:pt idx="0">
                  <c:v>6.7600239435474899E-2</c:v>
                </c:pt>
                <c:pt idx="1">
                  <c:v>3.4114153579709601E-2</c:v>
                </c:pt>
                <c:pt idx="2">
                  <c:v>1.93647022009109E-2</c:v>
                </c:pt>
                <c:pt idx="3">
                  <c:v>1.27684824734886E-2</c:v>
                </c:pt>
                <c:pt idx="4">
                  <c:v>2.15575234541632E-3</c:v>
                </c:pt>
                <c:pt idx="5">
                  <c:v>-1.64873528363807E-4</c:v>
                </c:pt>
                <c:pt idx="6">
                  <c:v>-2.64688228798707E-2</c:v>
                </c:pt>
                <c:pt idx="7">
                  <c:v>-3.2473880011950999E-2</c:v>
                </c:pt>
                <c:pt idx="8">
                  <c:v>-4.43567832760157E-2</c:v>
                </c:pt>
                <c:pt idx="9">
                  <c:v>-6.9097510957600097E-2</c:v>
                </c:pt>
                <c:pt idx="10">
                  <c:v>-0.114948008930849</c:v>
                </c:pt>
              </c:numCache>
            </c:numRef>
          </c:val>
          <c:smooth val="0"/>
          <c:extLst>
            <c:ext xmlns:c16="http://schemas.microsoft.com/office/drawing/2014/chart" uri="{C3380CC4-5D6E-409C-BE32-E72D297353CC}">
              <c16:uniqueId val="{0000001C-4824-46F7-AA21-E743D531BCD5}"/>
            </c:ext>
          </c:extLst>
        </c:ser>
        <c:dLbls>
          <c:showLegendKey val="0"/>
          <c:showVal val="1"/>
          <c:showCatName val="0"/>
          <c:showSerName val="0"/>
          <c:showPercent val="0"/>
          <c:showBubbleSize val="0"/>
        </c:dLbls>
        <c:marker val="1"/>
        <c:smooth val="0"/>
        <c:axId val="524320348"/>
        <c:axId val="338517435"/>
      </c:lineChart>
      <c:catAx>
        <c:axId val="4505793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524320348"/>
        <c:scaling>
          <c:orientation val="minMax"/>
        </c:scaling>
        <c:delete val="1"/>
        <c:axPos val="b"/>
        <c:numFmt formatCode="General" sourceLinked="1"/>
        <c:majorTickMark val="none"/>
        <c:minorTickMark val="none"/>
        <c:tickLblPos val="nextTo"/>
        <c:crossAx val="338517435"/>
        <c:crosses val="autoZero"/>
        <c:auto val="1"/>
        <c:lblAlgn val="ctr"/>
        <c:lblOffset val="100"/>
        <c:noMultiLvlLbl val="0"/>
      </c:catAx>
      <c:valAx>
        <c:axId val="338517435"/>
        <c:scaling>
          <c:orientation val="minMax"/>
        </c:scaling>
        <c:delete val="0"/>
        <c:axPos val="r"/>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524320348"/>
        <c:crosses val="max"/>
        <c:crossBetween val="between"/>
      </c:valAx>
      <c:spPr>
        <a:noFill/>
        <a:ln>
          <a:noFill/>
        </a:ln>
        <a:effectLst/>
      </c:spPr>
    </c:plotArea>
    <c:plotVisOnly val="1"/>
    <c:dispBlanksAs val="gap"/>
    <c:showDLblsOverMax val="0"/>
    <c:extLst>
      <c:ext uri="{0b15fc19-7d7d-44ad-8c2d-2c3a37ce22c3}">
        <chartProps xmlns="https://web.wps.cn/et/2018/main" chartId="{22f0a48d-477d-49f3-ad1c-661246b4d91a}"/>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[横向医院底稿.xlsm]住院均次!$C$2</c:f>
              <c:strCache>
                <c:ptCount val="1"/>
                <c:pt idx="0">
                  <c:v>住院均次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370A-4821-AC86-D6DD7A41BD3C}"/>
              </c:ext>
            </c:extLst>
          </c:dPt>
          <c:dPt>
            <c:idx val="1"/>
            <c:invertIfNegative val="0"/>
            <c:bubble3D val="0"/>
            <c:spPr>
              <a:solidFill>
                <a:srgbClr val="002060"/>
              </a:solidFill>
              <a:ln>
                <a:noFill/>
              </a:ln>
              <a:effectLst/>
            </c:spPr>
            <c:extLst>
              <c:ext xmlns:c16="http://schemas.microsoft.com/office/drawing/2014/chart" uri="{C3380CC4-5D6E-409C-BE32-E72D297353CC}">
                <c16:uniqueId val="{00000003-370A-4821-AC86-D6DD7A41BD3C}"/>
              </c:ext>
            </c:extLst>
          </c:dPt>
          <c:dPt>
            <c:idx val="2"/>
            <c:invertIfNegative val="0"/>
            <c:bubble3D val="0"/>
            <c:spPr>
              <a:solidFill>
                <a:srgbClr val="002060"/>
              </a:solidFill>
              <a:ln>
                <a:noFill/>
              </a:ln>
              <a:effectLst/>
            </c:spPr>
            <c:extLst>
              <c:ext xmlns:c16="http://schemas.microsoft.com/office/drawing/2014/chart" uri="{C3380CC4-5D6E-409C-BE32-E72D297353CC}">
                <c16:uniqueId val="{00000005-370A-4821-AC86-D6DD7A41BD3C}"/>
              </c:ext>
            </c:extLst>
          </c:dPt>
          <c:dPt>
            <c:idx val="3"/>
            <c:invertIfNegative val="0"/>
            <c:bubble3D val="0"/>
            <c:spPr>
              <a:solidFill>
                <a:srgbClr val="002060"/>
              </a:solidFill>
              <a:ln>
                <a:noFill/>
              </a:ln>
              <a:effectLst/>
            </c:spPr>
            <c:extLst>
              <c:ext xmlns:c16="http://schemas.microsoft.com/office/drawing/2014/chart" uri="{C3380CC4-5D6E-409C-BE32-E72D297353CC}">
                <c16:uniqueId val="{00000007-370A-4821-AC86-D6DD7A41BD3C}"/>
              </c:ext>
            </c:extLst>
          </c:dPt>
          <c:dPt>
            <c:idx val="4"/>
            <c:invertIfNegative val="0"/>
            <c:bubble3D val="0"/>
            <c:spPr>
              <a:solidFill>
                <a:srgbClr val="002060"/>
              </a:solidFill>
              <a:ln>
                <a:noFill/>
              </a:ln>
              <a:effectLst/>
            </c:spPr>
            <c:extLst>
              <c:ext xmlns:c16="http://schemas.microsoft.com/office/drawing/2014/chart" uri="{C3380CC4-5D6E-409C-BE32-E72D297353CC}">
                <c16:uniqueId val="{00000009-370A-4821-AC86-D6DD7A41BD3C}"/>
              </c:ext>
            </c:extLst>
          </c:dPt>
          <c:dPt>
            <c:idx val="6"/>
            <c:invertIfNegative val="0"/>
            <c:bubble3D val="0"/>
            <c:spPr>
              <a:solidFill>
                <a:srgbClr val="002060"/>
              </a:solidFill>
              <a:ln>
                <a:noFill/>
              </a:ln>
              <a:effectLst/>
            </c:spPr>
            <c:extLst>
              <c:ext xmlns:c16="http://schemas.microsoft.com/office/drawing/2014/chart" uri="{C3380CC4-5D6E-409C-BE32-E72D297353CC}">
                <c16:uniqueId val="{0000000B-370A-4821-AC86-D6DD7A41BD3C}"/>
              </c:ext>
            </c:extLst>
          </c:dPt>
          <c:dPt>
            <c:idx val="7"/>
            <c:invertIfNegative val="0"/>
            <c:bubble3D val="0"/>
            <c:spPr>
              <a:solidFill>
                <a:srgbClr val="002060"/>
              </a:solidFill>
              <a:ln>
                <a:noFill/>
              </a:ln>
              <a:effectLst/>
            </c:spPr>
            <c:extLst>
              <c:ext xmlns:c16="http://schemas.microsoft.com/office/drawing/2014/chart" uri="{C3380CC4-5D6E-409C-BE32-E72D297353CC}">
                <c16:uniqueId val="{0000000D-370A-4821-AC86-D6DD7A41BD3C}"/>
              </c:ext>
            </c:extLst>
          </c:dPt>
          <c:dPt>
            <c:idx val="10"/>
            <c:invertIfNegative val="0"/>
            <c:bubble3D val="0"/>
            <c:spPr>
              <a:solidFill>
                <a:srgbClr val="002060"/>
              </a:solidFill>
              <a:ln>
                <a:noFill/>
              </a:ln>
              <a:effectLst/>
            </c:spPr>
            <c:extLst>
              <c:ext xmlns:c16="http://schemas.microsoft.com/office/drawing/2014/chart" uri="{C3380CC4-5D6E-409C-BE32-E72D297353CC}">
                <c16:uniqueId val="{0000000F-370A-4821-AC86-D6DD7A41BD3C}"/>
              </c:ext>
            </c:extLst>
          </c:dPt>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[横向医院底稿.xlsm]住院均次!$B$3:$B$13</c:f>
              <c:strCache>
                <c:ptCount val="11"/>
                <c:pt idx="0">
                  <c:v>新华</c:v>
                </c:pt>
                <c:pt idx="1">
                  <c:v>十院</c:v>
                </c:pt>
                <c:pt idx="2">
                  <c:v>瑞金</c:v>
                </c:pt>
                <c:pt idx="3">
                  <c:v>一院</c:v>
                </c:pt>
                <c:pt idx="4">
                  <c:v>同济</c:v>
                </c:pt>
                <c:pt idx="5">
                  <c:v>仁济</c:v>
                </c:pt>
                <c:pt idx="6">
                  <c:v>华东</c:v>
                </c:pt>
                <c:pt idx="7">
                  <c:v>九院</c:v>
                </c:pt>
                <c:pt idx="8">
                  <c:v>华山</c:v>
                </c:pt>
                <c:pt idx="9">
                  <c:v>六院</c:v>
                </c:pt>
                <c:pt idx="10">
                  <c:v>中山</c:v>
                </c:pt>
              </c:strCache>
            </c:strRef>
          </c:cat>
          <c:val>
            <c:numRef>
              <c:f>[横向医院底稿.xlsm]住院均次!$C$3:$C$13</c:f>
              <c:numCache>
                <c:formatCode>#,##0_ </c:formatCode>
                <c:ptCount val="11"/>
                <c:pt idx="0">
                  <c:v>26011.779148800299</c:v>
                </c:pt>
                <c:pt idx="1">
                  <c:v>23214.284786658201</c:v>
                </c:pt>
                <c:pt idx="2">
                  <c:v>33784.906875874301</c:v>
                </c:pt>
                <c:pt idx="3">
                  <c:v>27592.506403452498</c:v>
                </c:pt>
                <c:pt idx="4">
                  <c:v>20886.945380819801</c:v>
                </c:pt>
                <c:pt idx="5">
                  <c:v>25539.556587130399</c:v>
                </c:pt>
                <c:pt idx="6">
                  <c:v>20669.595779716499</c:v>
                </c:pt>
                <c:pt idx="7">
                  <c:v>24451.4575782834</c:v>
                </c:pt>
                <c:pt idx="8">
                  <c:v>30848.753053167798</c:v>
                </c:pt>
                <c:pt idx="9">
                  <c:v>31100.788843541199</c:v>
                </c:pt>
                <c:pt idx="10">
                  <c:v>30534.804210289702</c:v>
                </c:pt>
              </c:numCache>
            </c:numRef>
          </c:val>
          <c:extLst>
            <c:ext xmlns:c16="http://schemas.microsoft.com/office/drawing/2014/chart" uri="{C3380CC4-5D6E-409C-BE32-E72D297353CC}">
              <c16:uniqueId val="{00000010-370A-4821-AC86-D6DD7A41BD3C}"/>
            </c:ext>
          </c:extLst>
        </c:ser>
        <c:dLbls>
          <c:showLegendKey val="0"/>
          <c:showVal val="1"/>
          <c:showCatName val="0"/>
          <c:showSerName val="0"/>
          <c:showPercent val="0"/>
          <c:showBubbleSize val="0"/>
        </c:dLbls>
        <c:gapWidth val="30"/>
        <c:overlap val="-27"/>
        <c:axId val="450579392"/>
        <c:axId val="450578560"/>
      </c:barChart>
      <c:lineChart>
        <c:grouping val="standard"/>
        <c:varyColors val="0"/>
        <c:ser>
          <c:idx val="1"/>
          <c:order val="1"/>
          <c:tx>
            <c:strRef>
              <c:f>[横向医院底稿.xlsm]住院均次!$D$2</c:f>
              <c:strCache>
                <c:ptCount val="1"/>
                <c:pt idx="0">
                  <c:v>增幅</c:v>
                </c:pt>
              </c:strCache>
            </c:strRef>
          </c:tx>
          <c:spPr>
            <a:ln w="28575" cap="rnd">
              <a:solidFill>
                <a:schemeClr val="accent2"/>
              </a:solidFill>
              <a:round/>
            </a:ln>
            <a:effectLst/>
          </c:spPr>
          <c:marker>
            <c:symbol val="circle"/>
            <c:size val="6"/>
            <c:spPr>
              <a:solidFill>
                <a:schemeClr val="accent2"/>
              </a:solidFill>
              <a:ln w="9525">
                <a:solidFill>
                  <a:schemeClr val="accent2"/>
                </a:solidFill>
              </a:ln>
              <a:effectLst/>
            </c:spPr>
          </c:marker>
          <c:dLbls>
            <c:dLbl>
              <c:idx val="0"/>
              <c:layout>
                <c:manualLayout>
                  <c:x val="-4.7955021497078601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70A-4821-AC86-D6DD7A41BD3C}"/>
                </c:ext>
              </c:extLst>
            </c:dLbl>
            <c:dLbl>
              <c:idx val="1"/>
              <c:layout>
                <c:manualLayout>
                  <c:x val="-4.6301400066144902E-2"/>
                  <c:y val="7.44211686879824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370A-4821-AC86-D6DD7A41BD3C}"/>
                </c:ext>
              </c:extLst>
            </c:dLbl>
            <c:dLbl>
              <c:idx val="2"/>
              <c:layout>
                <c:manualLayout>
                  <c:x val="-4.2994157204277399E-2"/>
                  <c:y val="7.71775082690187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370A-4821-AC86-D6DD7A41BD3C}"/>
                </c:ext>
              </c:extLst>
            </c:dLbl>
            <c:dLbl>
              <c:idx val="3"/>
              <c:layout>
                <c:manualLayout>
                  <c:x val="-4.6301400066144902E-2"/>
                  <c:y val="8.8202866593164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370A-4821-AC86-D6DD7A41BD3C}"/>
                </c:ext>
              </c:extLst>
            </c:dLbl>
            <c:dLbl>
              <c:idx val="4"/>
              <c:layout>
                <c:manualLayout>
                  <c:x val="-4.1340535773343602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70A-4821-AC86-D6DD7A41BD3C}"/>
                </c:ext>
              </c:extLst>
            </c:dLbl>
            <c:dLbl>
              <c:idx val="5"/>
              <c:layout>
                <c:manualLayout>
                  <c:x val="-4.7955021497078601E-2"/>
                  <c:y val="8.54465270121279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370A-4821-AC86-D6DD7A41BD3C}"/>
                </c:ext>
              </c:extLst>
            </c:dLbl>
            <c:dLbl>
              <c:idx val="6"/>
              <c:layout>
                <c:manualLayout>
                  <c:x val="-4.6301400066144902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370A-4821-AC86-D6DD7A41BD3C}"/>
                </c:ext>
              </c:extLst>
            </c:dLbl>
            <c:dLbl>
              <c:idx val="7"/>
              <c:layout>
                <c:manualLayout>
                  <c:x val="-4.7955021497078601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370A-4821-AC86-D6DD7A41BD3C}"/>
                </c:ext>
              </c:extLst>
            </c:dLbl>
            <c:dLbl>
              <c:idx val="8"/>
              <c:layout>
                <c:manualLayout>
                  <c:x val="-4.7955021497078601E-2"/>
                  <c:y val="-9.09592061742006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370A-4821-AC86-D6DD7A41BD3C}"/>
                </c:ext>
              </c:extLst>
            </c:dLbl>
            <c:dLbl>
              <c:idx val="9"/>
              <c:layout>
                <c:manualLayout>
                  <c:x val="-4.7955021497078601E-2"/>
                  <c:y val="-9.64718853362734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370A-4821-AC86-D6DD7A41BD3C}"/>
                </c:ext>
              </c:extLst>
            </c:dLbl>
            <c:dLbl>
              <c:idx val="10"/>
              <c:layout>
                <c:manualLayout>
                  <c:x val="-4.7955021497078601E-2"/>
                  <c:y val="-4.68577728776184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370A-4821-AC86-D6DD7A41BD3C}"/>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cap="none" spc="0" normalizeH="0" baseline="0">
                    <a:solidFill>
                      <a:schemeClr val="accent2"/>
                    </a:solidFill>
                    <a:uFill>
                      <a:solidFill>
                        <a:schemeClr val="tx1">
                          <a:lumMod val="75000"/>
                          <a:lumOff val="25000"/>
                        </a:schemeClr>
                      </a:solidFill>
                    </a:u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[横向医院底稿.xlsm]住院均次!$B$3:$B$13</c:f>
              <c:strCache>
                <c:ptCount val="11"/>
                <c:pt idx="0">
                  <c:v>新华</c:v>
                </c:pt>
                <c:pt idx="1">
                  <c:v>十院</c:v>
                </c:pt>
                <c:pt idx="2">
                  <c:v>瑞金</c:v>
                </c:pt>
                <c:pt idx="3">
                  <c:v>一院</c:v>
                </c:pt>
                <c:pt idx="4">
                  <c:v>同济</c:v>
                </c:pt>
                <c:pt idx="5">
                  <c:v>仁济</c:v>
                </c:pt>
                <c:pt idx="6">
                  <c:v>华东</c:v>
                </c:pt>
                <c:pt idx="7">
                  <c:v>九院</c:v>
                </c:pt>
                <c:pt idx="8">
                  <c:v>华山</c:v>
                </c:pt>
                <c:pt idx="9">
                  <c:v>六院</c:v>
                </c:pt>
                <c:pt idx="10">
                  <c:v>中山</c:v>
                </c:pt>
              </c:strCache>
            </c:strRef>
          </c:cat>
          <c:val>
            <c:numRef>
              <c:f>[横向医院底稿.xlsm]住院均次!$D$3:$D$13</c:f>
              <c:numCache>
                <c:formatCode>0.0%</c:formatCode>
                <c:ptCount val="11"/>
                <c:pt idx="0">
                  <c:v>9.3830629847197602E-2</c:v>
                </c:pt>
                <c:pt idx="1">
                  <c:v>3.6053698873782299E-2</c:v>
                </c:pt>
                <c:pt idx="2">
                  <c:v>3.58472443383102E-2</c:v>
                </c:pt>
                <c:pt idx="3">
                  <c:v>3.1786487257546202E-2</c:v>
                </c:pt>
                <c:pt idx="4">
                  <c:v>2.1398324776769499E-2</c:v>
                </c:pt>
                <c:pt idx="5">
                  <c:v>7.15475142219102E-3</c:v>
                </c:pt>
                <c:pt idx="6">
                  <c:v>-2.7509654438657698E-2</c:v>
                </c:pt>
                <c:pt idx="7">
                  <c:v>-2.7612305715761301E-2</c:v>
                </c:pt>
                <c:pt idx="8">
                  <c:v>-3.4518270961354701E-2</c:v>
                </c:pt>
                <c:pt idx="9">
                  <c:v>-4.9437556698900299E-2</c:v>
                </c:pt>
                <c:pt idx="10">
                  <c:v>-7.2908979753915498E-2</c:v>
                </c:pt>
              </c:numCache>
            </c:numRef>
          </c:val>
          <c:smooth val="0"/>
          <c:extLst>
            <c:ext xmlns:c16="http://schemas.microsoft.com/office/drawing/2014/chart" uri="{C3380CC4-5D6E-409C-BE32-E72D297353CC}">
              <c16:uniqueId val="{0000001C-370A-4821-AC86-D6DD7A41BD3C}"/>
            </c:ext>
          </c:extLst>
        </c:ser>
        <c:dLbls>
          <c:showLegendKey val="0"/>
          <c:showVal val="1"/>
          <c:showCatName val="0"/>
          <c:showSerName val="0"/>
          <c:showPercent val="0"/>
          <c:showBubbleSize val="0"/>
        </c:dLbls>
        <c:marker val="1"/>
        <c:smooth val="0"/>
        <c:axId val="204748680"/>
        <c:axId val="315939152"/>
      </c:lineChart>
      <c:catAx>
        <c:axId val="4505793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204748680"/>
        <c:scaling>
          <c:orientation val="minMax"/>
        </c:scaling>
        <c:delete val="1"/>
        <c:axPos val="b"/>
        <c:numFmt formatCode="General" sourceLinked="1"/>
        <c:majorTickMark val="none"/>
        <c:minorTickMark val="none"/>
        <c:tickLblPos val="nextTo"/>
        <c:crossAx val="315939152"/>
        <c:crosses val="autoZero"/>
        <c:auto val="1"/>
        <c:lblAlgn val="ctr"/>
        <c:lblOffset val="100"/>
        <c:noMultiLvlLbl val="0"/>
      </c:catAx>
      <c:valAx>
        <c:axId val="315939152"/>
        <c:scaling>
          <c:orientation val="minMax"/>
        </c:scaling>
        <c:delete val="0"/>
        <c:axPos val="r"/>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04748680"/>
        <c:crosses val="max"/>
        <c:crossBetween val="between"/>
      </c:valAx>
      <c:spPr>
        <a:noFill/>
        <a:ln>
          <a:noFill/>
        </a:ln>
        <a:effectLst/>
      </c:spPr>
    </c:plotArea>
    <c:plotVisOnly val="1"/>
    <c:dispBlanksAs val="gap"/>
    <c:showDLblsOverMax val="0"/>
    <c:extLst>
      <c:ext uri="{0b15fc19-7d7d-44ad-8c2d-2c3a37ce22c3}">
        <chartProps xmlns="https://web.wps.cn/et/2018/main" chartId="{fab1aae5-3edb-4ba4-8c72-acd5810df30c}"/>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418731840711002E-2"/>
          <c:y val="6.7824199674443794E-2"/>
          <c:w val="0.92479917962741398"/>
          <c:h val="0.55073250135648399"/>
        </c:manualLayout>
      </c:layout>
      <c:barChart>
        <c:barDir val="col"/>
        <c:grouping val="clustered"/>
        <c:varyColors val="0"/>
        <c:ser>
          <c:idx val="0"/>
          <c:order val="0"/>
          <c:tx>
            <c:strRef>
              <c:f>[横向医院底稿.xlsm]儿科横向本期!$J$100</c:f>
              <c:strCache>
                <c:ptCount val="1"/>
                <c:pt idx="0">
                  <c:v>门急诊均次费用</c:v>
                </c:pt>
              </c:strCache>
            </c:strRef>
          </c:tx>
          <c:spPr>
            <a:solidFill>
              <a:srgbClr val="002060"/>
            </a:solidFill>
            <a:ln>
              <a:solidFill>
                <a:srgbClr val="002060"/>
              </a:solidFill>
            </a:ln>
            <a:effectLst/>
          </c:spPr>
          <c:invertIfNegative val="0"/>
          <c:dPt>
            <c:idx val="0"/>
            <c:invertIfNegative val="0"/>
            <c:bubble3D val="0"/>
            <c:spPr>
              <a:solidFill>
                <a:srgbClr val="002060"/>
              </a:solidFill>
              <a:ln>
                <a:solidFill>
                  <a:srgbClr val="002060"/>
                </a:solidFill>
              </a:ln>
              <a:effectLst/>
            </c:spPr>
            <c:extLst>
              <c:ext xmlns:c16="http://schemas.microsoft.com/office/drawing/2014/chart" uri="{C3380CC4-5D6E-409C-BE32-E72D297353CC}">
                <c16:uniqueId val="{00000001-29F8-45E4-AC07-4DAA201497AD}"/>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29F8-45E4-AC07-4DAA201497AD}"/>
              </c:ext>
            </c:extLst>
          </c:dPt>
          <c:dPt>
            <c:idx val="3"/>
            <c:invertIfNegative val="0"/>
            <c:bubble3D val="0"/>
            <c:spPr>
              <a:solidFill>
                <a:srgbClr val="C00000"/>
              </a:solidFill>
              <a:ln>
                <a:solidFill>
                  <a:srgbClr val="C00000"/>
                </a:solidFill>
              </a:ln>
              <a:effectLst/>
            </c:spPr>
            <c:extLst>
              <c:ext xmlns:c16="http://schemas.microsoft.com/office/drawing/2014/chart" uri="{C3380CC4-5D6E-409C-BE32-E72D297353CC}">
                <c16:uniqueId val="{00000005-29F8-45E4-AC07-4DAA201497AD}"/>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[横向医院底稿.xlsm]儿科横向本期!$H$101:$I$104</c:f>
              <c:multiLvlStrCache>
                <c:ptCount val="4"/>
                <c:lvl>
                  <c:pt idx="0">
                    <c:v>儿童</c:v>
                  </c:pt>
                  <c:pt idx="1">
                    <c:v>儿中心</c:v>
                  </c:pt>
                  <c:pt idx="2">
                    <c:v>儿科</c:v>
                  </c:pt>
                  <c:pt idx="3">
                    <c:v>新华儿科</c:v>
                  </c:pt>
                </c:lvl>
                <c:lvl>
                  <c:pt idx="0">
                    <c:v>2026年5月</c:v>
                  </c:pt>
                </c:lvl>
              </c:multiLvlStrCache>
            </c:multiLvlStrRef>
          </c:cat>
          <c:val>
            <c:numRef>
              <c:f>[横向医院底稿.xlsm]儿科横向本期!$J$101:$J$104</c:f>
              <c:numCache>
                <c:formatCode>#,##0_ </c:formatCode>
                <c:ptCount val="4"/>
                <c:pt idx="0">
                  <c:v>400.87101455511203</c:v>
                </c:pt>
                <c:pt idx="1">
                  <c:v>396.63909770672001</c:v>
                </c:pt>
                <c:pt idx="2">
                  <c:v>426.12265864000102</c:v>
                </c:pt>
                <c:pt idx="3">
                  <c:v>474.348159548144</c:v>
                </c:pt>
              </c:numCache>
            </c:numRef>
          </c:val>
          <c:extLst>
            <c:ext xmlns:c16="http://schemas.microsoft.com/office/drawing/2014/chart" uri="{C3380CC4-5D6E-409C-BE32-E72D297353CC}">
              <c16:uniqueId val="{00000006-29F8-45E4-AC07-4DAA201497AD}"/>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[横向医院底稿.xlsm]儿科横向本期!$K$100</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9F8-45E4-AC07-4DAA201497AD}"/>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[横向医院底稿.xlsm]儿科横向本期!$H$101:$I$104</c:f>
              <c:multiLvlStrCache>
                <c:ptCount val="4"/>
                <c:lvl>
                  <c:pt idx="0">
                    <c:v>儿童</c:v>
                  </c:pt>
                  <c:pt idx="1">
                    <c:v>儿中心</c:v>
                  </c:pt>
                  <c:pt idx="2">
                    <c:v>儿科</c:v>
                  </c:pt>
                  <c:pt idx="3">
                    <c:v>新华儿科</c:v>
                  </c:pt>
                </c:lvl>
                <c:lvl>
                  <c:pt idx="0">
                    <c:v>2026年5月</c:v>
                  </c:pt>
                </c:lvl>
              </c:multiLvlStrCache>
            </c:multiLvlStrRef>
          </c:cat>
          <c:val>
            <c:numRef>
              <c:f>[横向医院底稿.xlsm]儿科横向本期!$K$101:$K$104</c:f>
              <c:numCache>
                <c:formatCode>0.00%</c:formatCode>
                <c:ptCount val="4"/>
                <c:pt idx="0">
                  <c:v>7.02898676474253E-2</c:v>
                </c:pt>
                <c:pt idx="1">
                  <c:v>5.8878546217096199E-2</c:v>
                </c:pt>
                <c:pt idx="2">
                  <c:v>2.6853413030401702E-2</c:v>
                </c:pt>
                <c:pt idx="3">
                  <c:v>-8.4831512000366205E-3</c:v>
                </c:pt>
              </c:numCache>
            </c:numRef>
          </c:val>
          <c:smooth val="0"/>
          <c:extLst>
            <c:ext xmlns:c16="http://schemas.microsoft.com/office/drawing/2014/chart" uri="{C3380CC4-5D6E-409C-BE32-E72D297353CC}">
              <c16:uniqueId val="{00000008-29F8-45E4-AC07-4DAA201497AD}"/>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no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[横向医院底稿.xlsm]儿科横向本期!$J$108</c:f>
              <c:strCache>
                <c:ptCount val="1"/>
                <c:pt idx="0">
                  <c:v>住院均次费用</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9721-49CE-8E4A-FCFBED8BC68F}"/>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9721-49CE-8E4A-FCFBED8BC68F}"/>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9721-49CE-8E4A-FCFBED8BC68F}"/>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[横向医院底稿.xlsm]儿科横向本期!$H$109:$I$112</c:f>
              <c:multiLvlStrCache>
                <c:ptCount val="4"/>
                <c:lvl>
                  <c:pt idx="0">
                    <c:v>新华儿科</c:v>
                  </c:pt>
                  <c:pt idx="1">
                    <c:v>儿童</c:v>
                  </c:pt>
                  <c:pt idx="2">
                    <c:v>儿中心</c:v>
                  </c:pt>
                  <c:pt idx="3">
                    <c:v>儿科</c:v>
                  </c:pt>
                </c:lvl>
                <c:lvl>
                  <c:pt idx="0">
                    <c:v>2026年5月</c:v>
                  </c:pt>
                </c:lvl>
              </c:multiLvlStrCache>
            </c:multiLvlStrRef>
          </c:cat>
          <c:val>
            <c:numRef>
              <c:f>[横向医院底稿.xlsm]儿科横向本期!$J$109:$J$112</c:f>
              <c:numCache>
                <c:formatCode>#,##0_ </c:formatCode>
                <c:ptCount val="4"/>
                <c:pt idx="0">
                  <c:v>21130.8212717723</c:v>
                </c:pt>
                <c:pt idx="1">
                  <c:v>17991.300005180001</c:v>
                </c:pt>
                <c:pt idx="2">
                  <c:v>23862.623192900701</c:v>
                </c:pt>
                <c:pt idx="3">
                  <c:v>18653.628228538098</c:v>
                </c:pt>
              </c:numCache>
            </c:numRef>
          </c:val>
          <c:extLst>
            <c:ext xmlns:c16="http://schemas.microsoft.com/office/drawing/2014/chart" uri="{C3380CC4-5D6E-409C-BE32-E72D297353CC}">
              <c16:uniqueId val="{00000006-9721-49CE-8E4A-FCFBED8BC68F}"/>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[横向医院底稿.xlsm]儿科横向本期!$K$108</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721-49CE-8E4A-FCFBED8BC68F}"/>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[横向医院底稿.xlsm]儿科横向本期!$H$109:$I$112</c:f>
              <c:multiLvlStrCache>
                <c:ptCount val="4"/>
                <c:lvl>
                  <c:pt idx="0">
                    <c:v>新华儿科</c:v>
                  </c:pt>
                  <c:pt idx="1">
                    <c:v>儿童</c:v>
                  </c:pt>
                  <c:pt idx="2">
                    <c:v>儿中心</c:v>
                  </c:pt>
                  <c:pt idx="3">
                    <c:v>儿科</c:v>
                  </c:pt>
                </c:lvl>
                <c:lvl>
                  <c:pt idx="0">
                    <c:v>2026年5月</c:v>
                  </c:pt>
                </c:lvl>
              </c:multiLvlStrCache>
            </c:multiLvlStrRef>
          </c:cat>
          <c:val>
            <c:numRef>
              <c:f>[横向医院底稿.xlsm]儿科横向本期!$K$109:$K$112</c:f>
              <c:numCache>
                <c:formatCode>0.00%</c:formatCode>
                <c:ptCount val="4"/>
                <c:pt idx="0">
                  <c:v>0.12600546431478099</c:v>
                </c:pt>
                <c:pt idx="1">
                  <c:v>0.1062038941781</c:v>
                </c:pt>
                <c:pt idx="2">
                  <c:v>7.5590205734203705E-2</c:v>
                </c:pt>
                <c:pt idx="3">
                  <c:v>4.6567182679752198E-2</c:v>
                </c:pt>
              </c:numCache>
            </c:numRef>
          </c:val>
          <c:smooth val="0"/>
          <c:extLst>
            <c:ext xmlns:c16="http://schemas.microsoft.com/office/drawing/2014/chart" uri="{C3380CC4-5D6E-409C-BE32-E72D297353CC}">
              <c16:uniqueId val="{00000008-9721-49CE-8E4A-FCFBED8BC68F}"/>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no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floor>
    <c:sideWall>
      <c:thickness val="0"/>
    </c:sideWall>
    <c:backWall>
      <c:thickness val="0"/>
    </c:backWall>
    <c:plotArea>
      <c:layout/>
      <c:pie3DChart>
        <c:varyColors val="1"/>
        <c:ser>
          <c:idx val="0"/>
          <c:order val="0"/>
          <c:explosion val="25"/>
          <c:dLbls>
            <c:dLbl>
              <c:idx val="0"/>
              <c:layout>
                <c:manualLayout>
                  <c:x val="-9.0045960658145574E-2"/>
                  <c:y val="3.9802163535725597E-2"/>
                </c:manualLayout>
              </c:layout>
              <c:tx>
                <c:rich>
                  <a:bodyPr/>
                  <a:lstStyle/>
                  <a:p>
                    <a:r>
                      <a:rPr lang="zh-CN" altLang="en-US"/>
                      <a:t>人员经费</a:t>
                    </a:r>
                  </a:p>
                  <a:p>
                    <a:r>
                      <a:rPr lang="en-US" altLang="zh-CN"/>
                      <a:t>-2.9%</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13A-4244-A68B-51E1177755C5}"/>
                </c:ext>
              </c:extLst>
            </c:dLbl>
            <c:dLbl>
              <c:idx val="1"/>
              <c:tx>
                <c:rich>
                  <a:bodyPr/>
                  <a:lstStyle/>
                  <a:p>
                    <a:r>
                      <a:rPr lang="zh-CN" altLang="en-US"/>
                      <a:t>药品费</a:t>
                    </a:r>
                  </a:p>
                  <a:p>
                    <a:r>
                      <a:rPr lang="en-US" altLang="zh-CN"/>
                      <a:t>+0.2%</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13A-4244-A68B-51E1177755C5}"/>
                </c:ext>
              </c:extLst>
            </c:dLbl>
            <c:dLbl>
              <c:idx val="2"/>
              <c:tx>
                <c:rich>
                  <a:bodyPr/>
                  <a:lstStyle/>
                  <a:p>
                    <a:r>
                      <a:rPr lang="zh-CN" altLang="en-US"/>
                      <a:t>耗材费</a:t>
                    </a:r>
                  </a:p>
                  <a:p>
                    <a:r>
                      <a:rPr lang="en-US" altLang="zh-CN"/>
                      <a:t>+2.4%</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13A-4244-A68B-51E1177755C5}"/>
                </c:ext>
              </c:extLst>
            </c:dLbl>
            <c:dLbl>
              <c:idx val="3"/>
              <c:layout>
                <c:manualLayout>
                  <c:x val="1.1288057742782152E-2"/>
                  <c:y val="5.6712962962962965E-2"/>
                </c:manualLayout>
              </c:layout>
              <c:tx>
                <c:rich>
                  <a:bodyPr/>
                  <a:lstStyle/>
                  <a:p>
                    <a:r>
                      <a:rPr lang="zh-CN" altLang="en-US"/>
                      <a:t>折旧</a:t>
                    </a:r>
                    <a:r>
                      <a:rPr lang="en-US" altLang="zh-CN"/>
                      <a:t>/</a:t>
                    </a:r>
                    <a:r>
                      <a:rPr lang="zh-CN" altLang="en-US"/>
                      <a:t>摊销</a:t>
                    </a:r>
                  </a:p>
                  <a:p>
                    <a:r>
                      <a:rPr lang="en-US" altLang="zh-CN"/>
                      <a:t>-0.3%</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13A-4244-A68B-51E1177755C5}"/>
                </c:ext>
              </c:extLst>
            </c:dLbl>
            <c:dLbl>
              <c:idx val="4"/>
              <c:layout>
                <c:manualLayout>
                  <c:x val="0.1034363517060367"/>
                  <c:y val="2.8935185185185185E-2"/>
                </c:manualLayout>
              </c:layout>
              <c:tx>
                <c:rich>
                  <a:bodyPr/>
                  <a:lstStyle/>
                  <a:p>
                    <a:r>
                      <a:rPr lang="zh-CN" altLang="en-US"/>
                      <a:t>其他费用</a:t>
                    </a:r>
                  </a:p>
                  <a:p>
                    <a:r>
                      <a:rPr lang="en-US" altLang="zh-CN"/>
                      <a:t>+0.5%</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13A-4244-A68B-51E1177755C5}"/>
                </c:ext>
              </c:extLst>
            </c:dLbl>
            <c:spPr>
              <a:noFill/>
              <a:ln>
                <a:noFill/>
              </a:ln>
              <a:effectLst/>
            </c:spPr>
            <c:txPr>
              <a:bodyPr wrap="square" lIns="38100" tIns="19050" rIns="38100" bIns="19050" anchor="ctr">
                <a:spAutoFit/>
              </a:bodyPr>
              <a:lstStyle/>
              <a:p>
                <a:pPr>
                  <a:defRPr sz="1200" b="1">
                    <a:solidFill>
                      <a:schemeClr val="bg1"/>
                    </a:solidFill>
                    <a:latin typeface="黑体" panose="02010609060101010101" pitchFamily="49" charset="-122"/>
                    <a:ea typeface="黑体" panose="02010609060101010101" pitchFamily="49" charset="-122"/>
                  </a:defRPr>
                </a:pPr>
                <a:endParaRPr lang="zh-CN"/>
              </a:p>
            </c:txPr>
            <c:dLblPos val="bestFit"/>
            <c:showLegendKey val="0"/>
            <c:showVal val="1"/>
            <c:showCatName val="0"/>
            <c:showSerName val="0"/>
            <c:showPercent val="0"/>
            <c:showBubbleSize val="0"/>
            <c:showLeaderLines val="1"/>
            <c:extLst>
              <c:ext xmlns:c15="http://schemas.microsoft.com/office/drawing/2012/chart" uri="{CE6537A1-D6FC-4f65-9D91-7224C49458BB}"/>
            </c:extLst>
          </c:dLbls>
          <c:cat>
            <c:strRef>
              <c:f>'C:\Users\ludw\Desktop\3月分析加班\[卢大伟-2602.xlsx]医疗成本结构分析'!$K$14:$K$18</c:f>
              <c:strCache>
                <c:ptCount val="5"/>
                <c:pt idx="0">
                  <c:v>人员经费</c:v>
                </c:pt>
                <c:pt idx="1">
                  <c:v>药品费</c:v>
                </c:pt>
                <c:pt idx="2">
                  <c:v>耗材费</c:v>
                </c:pt>
                <c:pt idx="3">
                  <c:v>折旧/摊销</c:v>
                </c:pt>
                <c:pt idx="4">
                  <c:v>其他费用</c:v>
                </c:pt>
              </c:strCache>
            </c:strRef>
          </c:cat>
          <c:val>
            <c:numRef>
              <c:f>'C:\Users\ludw\Desktop\3月分析加班\[卢大伟-2602.xlsx]医疗成本结构分析'!$L$14:$L$18</c:f>
              <c:numCache>
                <c:formatCode>General</c:formatCode>
                <c:ptCount val="5"/>
                <c:pt idx="0">
                  <c:v>0.28926025661333754</c:v>
                </c:pt>
                <c:pt idx="1">
                  <c:v>0.25303342309520038</c:v>
                </c:pt>
                <c:pt idx="2">
                  <c:v>0.35097418026294946</c:v>
                </c:pt>
                <c:pt idx="3">
                  <c:v>1.7487723744653887E-2</c:v>
                </c:pt>
                <c:pt idx="4">
                  <c:v>8.7660383335973383E-2</c:v>
                </c:pt>
              </c:numCache>
            </c:numRef>
          </c:val>
          <c:extLst>
            <c:ext xmlns:c16="http://schemas.microsoft.com/office/drawing/2014/chart" uri="{C3380CC4-5D6E-409C-BE32-E72D297353CC}">
              <c16:uniqueId val="{00000005-413A-4244-A68B-51E1177755C5}"/>
            </c:ext>
          </c:extLst>
        </c:ser>
        <c:dLbls>
          <c:dLblPos val="bestFit"/>
          <c:showLegendKey val="0"/>
          <c:showVal val="1"/>
          <c:showCatName val="0"/>
          <c:showSerName val="0"/>
          <c:showPercent val="0"/>
          <c:showBubbleSize val="0"/>
          <c:showLeaderLines val="1"/>
        </c:dLbls>
      </c:pie3DChart>
    </c:plotArea>
    <c:plotVisOnly val="1"/>
    <c:dispBlanksAs val="zero"/>
    <c:showDLblsOverMax val="0"/>
  </c:chart>
  <c:spPr>
    <a:solidFill>
      <a:srgbClr val="5B9BD5"/>
    </a:solidFill>
  </c:spPr>
  <c:txPr>
    <a:bodyPr/>
    <a:lstStyle/>
    <a:p>
      <a:pPr>
        <a:defRPr lang="zh-CN"/>
      </a:pPr>
      <a:endParaRPr lang="zh-CN"/>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1B49E5-29C3-49CA-94AB-7F4A2BA00F45}" type="datetimeFigureOut">
              <a:rPr lang="zh-CN" altLang="en-US" smtClean="0"/>
              <a:t>2026/6/8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63838C-FAF3-45C8-A47F-E8BF4A36855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DC8DE67-E51C-4CBB-95F3-F52F34E5EAE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2026/6/8</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37124DB-37A8-4BF8-B7F4-AC3A66B8067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0" name="Title 1"/>
          <p:cNvSpPr>
            <a:spLocks noGrp="1"/>
          </p:cNvSpPr>
          <p:nvPr>
            <p:ph type="title" hasCustomPrompt="1"/>
          </p:nvPr>
        </p:nvSpPr>
        <p:spPr>
          <a:xfrm>
            <a:off x="1648702" y="376464"/>
            <a:ext cx="8971715" cy="127415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13" name="矩形 12"/>
          <p:cNvSpPr/>
          <p:nvPr/>
        </p:nvSpPr>
        <p:spPr>
          <a:xfrm>
            <a:off x="0" y="5533958"/>
            <a:ext cx="1324044" cy="518502"/>
          </a:xfrm>
          <a:prstGeom prst="rect">
            <a:avLst/>
          </a:prstGeom>
          <a:gradFill flip="none" rotWithShape="1">
            <a:gsLst>
              <a:gs pos="87000">
                <a:schemeClr val="bg1">
                  <a:alpha val="25000"/>
                </a:schemeClr>
              </a:gs>
              <a:gs pos="0">
                <a:schemeClr val="bg1"/>
              </a:gs>
              <a:gs pos="57000">
                <a:schemeClr val="bg1">
                  <a:alpha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Content Placeholder 2"/>
          <p:cNvSpPr>
            <a:spLocks noGrp="1"/>
          </p:cNvSpPr>
          <p:nvPr>
            <p:ph idx="1"/>
          </p:nvPr>
        </p:nvSpPr>
        <p:spPr>
          <a:xfrm>
            <a:off x="1648702" y="2040711"/>
            <a:ext cx="8612899" cy="66360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12" name="Content Placeholder 2"/>
          <p:cNvSpPr>
            <a:spLocks noGrp="1"/>
          </p:cNvSpPr>
          <p:nvPr>
            <p:ph idx="13"/>
          </p:nvPr>
        </p:nvSpPr>
        <p:spPr>
          <a:xfrm>
            <a:off x="1648702" y="2955222"/>
            <a:ext cx="8612899" cy="29956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11080" y="125562"/>
            <a:ext cx="4142240" cy="682753"/>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srcRect t="4028" b="8676"/>
          <a:stretch>
            <a:fillRect/>
          </a:stretch>
        </p:blipFill>
        <p:spPr>
          <a:xfrm>
            <a:off x="0" y="1749540"/>
            <a:ext cx="3018971" cy="3294376"/>
          </a:xfrm>
          <a:prstGeom prst="rect">
            <a:avLst/>
          </a:prstGeom>
        </p:spPr>
      </p:pic>
      <p:sp>
        <p:nvSpPr>
          <p:cNvPr id="4" name="日期占位符 3"/>
          <p:cNvSpPr>
            <a:spLocks noGrp="1"/>
          </p:cNvSpPr>
          <p:nvPr>
            <p:ph type="dt" sz="half" idx="10"/>
          </p:nvPr>
        </p:nvSpPr>
        <p:spPr/>
        <p:txBody>
          <a:bodyPr/>
          <a:lstStyle/>
          <a:p>
            <a:fld id="{7DC8DE67-E51C-4CBB-95F3-F52F34E5EAEE}"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7124DB-37A8-4BF8-B7F4-AC3A66B8067C}" type="slidenum">
              <a:rPr lang="zh-CN" altLang="en-US" smtClean="0"/>
              <a:t>‹#›</a:t>
            </a:fld>
            <a:endParaRPr lang="zh-CN" altLang="en-US"/>
          </a:p>
        </p:txBody>
      </p:sp>
      <p:sp>
        <p:nvSpPr>
          <p:cNvPr id="11" name="矩形 10"/>
          <p:cNvSpPr/>
          <p:nvPr/>
        </p:nvSpPr>
        <p:spPr>
          <a:xfrm>
            <a:off x="0" y="1422405"/>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0" y="5199401"/>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1080" y="266691"/>
            <a:ext cx="4142240" cy="682753"/>
          </a:xfrm>
          <a:prstGeom prst="rect">
            <a:avLst/>
          </a:prstGeom>
        </p:spPr>
      </p:pic>
      <p:sp>
        <p:nvSpPr>
          <p:cNvPr id="15" name="矩形 14"/>
          <p:cNvSpPr/>
          <p:nvPr/>
        </p:nvSpPr>
        <p:spPr>
          <a:xfrm>
            <a:off x="3454400" y="1752990"/>
            <a:ext cx="928914" cy="3294376"/>
          </a:xfrm>
          <a:prstGeom prst="rect">
            <a:avLst/>
          </a:prstGeom>
          <a:gradFill>
            <a:gsLst>
              <a:gs pos="65127">
                <a:schemeClr val="bg1">
                  <a:alpha val="60000"/>
                </a:schemeClr>
              </a:gs>
              <a:gs pos="100000">
                <a:schemeClr val="bg1">
                  <a:alpha val="0"/>
                </a:schemeClr>
              </a:gs>
              <a:gs pos="0">
                <a:schemeClr val="bg1"/>
              </a:gs>
            </a:gsLst>
            <a:lin ang="10800000" scaled="1"/>
          </a:gra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8" name="矩形 7"/>
          <p:cNvSpPr/>
          <p:nvPr/>
        </p:nvSpPr>
        <p:spPr>
          <a:xfrm>
            <a:off x="0" y="1749540"/>
            <a:ext cx="3018971" cy="3294376"/>
          </a:xfrm>
          <a:prstGeom prst="rect">
            <a:avLst/>
          </a:prstGeom>
          <a:gradFill>
            <a:gsLst>
              <a:gs pos="44000">
                <a:schemeClr val="bg1">
                  <a:alpha val="48000"/>
                </a:schemeClr>
              </a:gs>
              <a:gs pos="0">
                <a:schemeClr val="bg1"/>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162630" y="1749540"/>
            <a:ext cx="10029371" cy="3297824"/>
          </a:xfrm>
          <a:prstGeom prst="rect">
            <a:avLst/>
          </a:prstGeom>
          <a:gradFill flip="none" rotWithShape="1">
            <a:gsLst>
              <a:gs pos="89000">
                <a:srgbClr val="7BA7D2">
                  <a:alpha val="20000"/>
                </a:srgbClr>
              </a:gs>
              <a:gs pos="0">
                <a:srgbClr val="0155A7"/>
              </a:gs>
              <a:gs pos="57000">
                <a:srgbClr val="0058AF">
                  <a:alpha val="55000"/>
                </a:srgbClr>
              </a:gs>
              <a:gs pos="100000">
                <a:srgbClr val="0057AD">
                  <a:alpha val="0"/>
                </a:srgbClr>
              </a:gs>
            </a:gsLst>
            <a:lin ang="108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DC8DE67-E51C-4CBB-95F3-F52F34E5EAE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2026/6/8</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37124DB-37A8-4BF8-B7F4-AC3A66B8067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0" name="Title 1"/>
          <p:cNvSpPr>
            <a:spLocks noGrp="1"/>
          </p:cNvSpPr>
          <p:nvPr>
            <p:ph type="title" hasCustomPrompt="1"/>
          </p:nvPr>
        </p:nvSpPr>
        <p:spPr>
          <a:xfrm>
            <a:off x="1648702" y="376464"/>
            <a:ext cx="8971715" cy="127415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13" name="矩形 12"/>
          <p:cNvSpPr/>
          <p:nvPr userDrawn="1"/>
        </p:nvSpPr>
        <p:spPr>
          <a:xfrm>
            <a:off x="0" y="5533958"/>
            <a:ext cx="1324044" cy="518502"/>
          </a:xfrm>
          <a:prstGeom prst="rect">
            <a:avLst/>
          </a:prstGeom>
          <a:gradFill flip="none" rotWithShape="1">
            <a:gsLst>
              <a:gs pos="87000">
                <a:schemeClr val="bg1">
                  <a:alpha val="25000"/>
                </a:schemeClr>
              </a:gs>
              <a:gs pos="0">
                <a:schemeClr val="bg1"/>
              </a:gs>
              <a:gs pos="57000">
                <a:schemeClr val="bg1">
                  <a:alpha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Content Placeholder 2"/>
          <p:cNvSpPr>
            <a:spLocks noGrp="1"/>
          </p:cNvSpPr>
          <p:nvPr>
            <p:ph idx="1"/>
          </p:nvPr>
        </p:nvSpPr>
        <p:spPr>
          <a:xfrm>
            <a:off x="1648702" y="2040711"/>
            <a:ext cx="8612899" cy="66360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12" name="Content Placeholder 2"/>
          <p:cNvSpPr>
            <a:spLocks noGrp="1"/>
          </p:cNvSpPr>
          <p:nvPr>
            <p:ph idx="13"/>
          </p:nvPr>
        </p:nvSpPr>
        <p:spPr>
          <a:xfrm>
            <a:off x="1648702" y="2955222"/>
            <a:ext cx="8612899" cy="29956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11080" y="125562"/>
            <a:ext cx="4142240" cy="682753"/>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t="4028" b="8676"/>
          <a:stretch>
            <a:fillRect/>
          </a:stretch>
        </p:blipFill>
        <p:spPr>
          <a:xfrm>
            <a:off x="0" y="1749540"/>
            <a:ext cx="3018971" cy="3294376"/>
          </a:xfrm>
          <a:prstGeom prst="rect">
            <a:avLst/>
          </a:prstGeom>
        </p:spPr>
      </p:pic>
      <p:sp>
        <p:nvSpPr>
          <p:cNvPr id="4" name="日期占位符 3"/>
          <p:cNvSpPr>
            <a:spLocks noGrp="1"/>
          </p:cNvSpPr>
          <p:nvPr>
            <p:ph type="dt" sz="half" idx="10"/>
          </p:nvPr>
        </p:nvSpPr>
        <p:spPr/>
        <p:txBody>
          <a:bodyPr/>
          <a:lstStyle/>
          <a:p>
            <a:fld id="{7DC8DE67-E51C-4CBB-95F3-F52F34E5EAEE}"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7124DB-37A8-4BF8-B7F4-AC3A66B8067C}" type="slidenum">
              <a:rPr lang="zh-CN" altLang="en-US" smtClean="0"/>
              <a:t>‹#›</a:t>
            </a:fld>
            <a:endParaRPr lang="zh-CN" altLang="en-US"/>
          </a:p>
        </p:txBody>
      </p:sp>
      <p:sp>
        <p:nvSpPr>
          <p:cNvPr id="11" name="矩形 10"/>
          <p:cNvSpPr/>
          <p:nvPr userDrawn="1"/>
        </p:nvSpPr>
        <p:spPr>
          <a:xfrm>
            <a:off x="0" y="1422405"/>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0" y="5199401"/>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11080" y="266691"/>
            <a:ext cx="4142240" cy="682753"/>
          </a:xfrm>
          <a:prstGeom prst="rect">
            <a:avLst/>
          </a:prstGeom>
        </p:spPr>
      </p:pic>
      <p:sp>
        <p:nvSpPr>
          <p:cNvPr id="15" name="矩形 14"/>
          <p:cNvSpPr/>
          <p:nvPr userDrawn="1"/>
        </p:nvSpPr>
        <p:spPr>
          <a:xfrm>
            <a:off x="3454400" y="1752990"/>
            <a:ext cx="928914" cy="3294376"/>
          </a:xfrm>
          <a:prstGeom prst="rect">
            <a:avLst/>
          </a:prstGeom>
          <a:gradFill>
            <a:gsLst>
              <a:gs pos="65127">
                <a:schemeClr val="bg1">
                  <a:alpha val="60000"/>
                </a:schemeClr>
              </a:gs>
              <a:gs pos="100000">
                <a:schemeClr val="bg1">
                  <a:alpha val="0"/>
                </a:schemeClr>
              </a:gs>
              <a:gs pos="0">
                <a:schemeClr val="bg1"/>
              </a:gs>
            </a:gsLst>
            <a:lin ang="10800000" scaled="1"/>
          </a:gra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8" name="矩形 7"/>
          <p:cNvSpPr/>
          <p:nvPr userDrawn="1"/>
        </p:nvSpPr>
        <p:spPr>
          <a:xfrm>
            <a:off x="0" y="1749540"/>
            <a:ext cx="3018971" cy="3294376"/>
          </a:xfrm>
          <a:prstGeom prst="rect">
            <a:avLst/>
          </a:prstGeom>
          <a:gradFill>
            <a:gsLst>
              <a:gs pos="44000">
                <a:schemeClr val="bg1">
                  <a:alpha val="48000"/>
                </a:schemeClr>
              </a:gs>
              <a:gs pos="0">
                <a:schemeClr val="bg1"/>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162630" y="1749540"/>
            <a:ext cx="10029371" cy="3297824"/>
          </a:xfrm>
          <a:prstGeom prst="rect">
            <a:avLst/>
          </a:prstGeom>
          <a:gradFill flip="none" rotWithShape="1">
            <a:gsLst>
              <a:gs pos="89000">
                <a:srgbClr val="7BA7D2">
                  <a:alpha val="20000"/>
                </a:srgbClr>
              </a:gs>
              <a:gs pos="0">
                <a:srgbClr val="0155A7"/>
              </a:gs>
              <a:gs pos="57000">
                <a:srgbClr val="0058AF">
                  <a:alpha val="55000"/>
                </a:srgbClr>
              </a:gs>
              <a:gs pos="100000">
                <a:srgbClr val="0057AD">
                  <a:alpha val="0"/>
                </a:srgbClr>
              </a:gs>
            </a:gsLst>
            <a:lin ang="108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A5D045-7837-4394-9E05-F728532F20A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62B3D9-A23E-4CE0-B9F9-C27610EE0DC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tags" Target="../tags/tag19.xml"/><Relationship Id="rId20" Type="http://schemas.openxmlformats.org/officeDocument/2006/relationships/tags" Target="../tags/tag20.xml"/><Relationship Id="rId21" Type="http://schemas.openxmlformats.org/officeDocument/2006/relationships/slideLayout" Target="../slideLayouts/slideLayout12.xml"/><Relationship Id="rId22" Type="http://schemas.openxmlformats.org/officeDocument/2006/relationships/notesSlide" Target="../notesSlides/notesSlide2.xml"/><Relationship Id="rId2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 Id="rId10" Type="http://schemas.openxmlformats.org/officeDocument/2006/relationships/tags" Target="../tags/tag30.xml"/><Relationship Id="rId11" Type="http://schemas.openxmlformats.org/officeDocument/2006/relationships/tags" Target="../tags/tag31.xml"/><Relationship Id="rId12" Type="http://schemas.openxmlformats.org/officeDocument/2006/relationships/tags" Target="../tags/tag32.xml"/><Relationship Id="rId13" Type="http://schemas.openxmlformats.org/officeDocument/2006/relationships/tags" Target="../tags/tag33.xml"/><Relationship Id="rId14" Type="http://schemas.openxmlformats.org/officeDocument/2006/relationships/tags" Target="../tags/tag34.xml"/><Relationship Id="rId15" Type="http://schemas.openxmlformats.org/officeDocument/2006/relationships/tags" Target="../tags/tag35.xml"/><Relationship Id="rId16" Type="http://schemas.openxmlformats.org/officeDocument/2006/relationships/tags" Target="../tags/tag36.xml"/><Relationship Id="rId17" Type="http://schemas.openxmlformats.org/officeDocument/2006/relationships/tags" Target="../tags/tag37.xml"/><Relationship Id="rId18" Type="http://schemas.openxmlformats.org/officeDocument/2006/relationships/tags" Target="../tags/tag38.xml"/><Relationship Id="rId19" Type="http://schemas.openxmlformats.org/officeDocument/2006/relationships/tags" Target="../tags/tag39.xml"/><Relationship Id="rId20" Type="http://schemas.openxmlformats.org/officeDocument/2006/relationships/tags" Target="../tags/tag40.xml"/><Relationship Id="rId21" Type="http://schemas.openxmlformats.org/officeDocument/2006/relationships/slideLayout" Target="../slideLayouts/slideLayout12.xml"/><Relationship Id="rId22" Type="http://schemas.openxmlformats.org/officeDocument/2006/relationships/notesSlide" Target="../notesSlides/notesSlide4.xml"/><Relationship Id="rId2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tags" Target="../tags/tag46.xml"/><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9" Type="http://schemas.openxmlformats.org/officeDocument/2006/relationships/tags" Target="../tags/tag53.xml"/><Relationship Id="rId10" Type="http://schemas.openxmlformats.org/officeDocument/2006/relationships/tags" Target="../tags/tag54.xml"/><Relationship Id="rId11" Type="http://schemas.openxmlformats.org/officeDocument/2006/relationships/tags" Target="../tags/tag55.xml"/><Relationship Id="rId12" Type="http://schemas.openxmlformats.org/officeDocument/2006/relationships/tags" Target="../tags/tag56.xml"/><Relationship Id="rId13" Type="http://schemas.openxmlformats.org/officeDocument/2006/relationships/tags" Target="../tags/tag57.xml"/><Relationship Id="rId14" Type="http://schemas.openxmlformats.org/officeDocument/2006/relationships/tags" Target="../tags/tag58.xml"/><Relationship Id="rId15" Type="http://schemas.openxmlformats.org/officeDocument/2006/relationships/tags" Target="../tags/tag59.xml"/><Relationship Id="rId16" Type="http://schemas.openxmlformats.org/officeDocument/2006/relationships/tags" Target="../tags/tag60.xml"/><Relationship Id="rId17" Type="http://schemas.openxmlformats.org/officeDocument/2006/relationships/tags" Target="../tags/tag61.xml"/><Relationship Id="rId18" Type="http://schemas.openxmlformats.org/officeDocument/2006/relationships/tags" Target="../tags/tag62.xml"/><Relationship Id="rId19" Type="http://schemas.openxmlformats.org/officeDocument/2006/relationships/tags" Target="../tags/tag63.xml"/><Relationship Id="rId20" Type="http://schemas.openxmlformats.org/officeDocument/2006/relationships/tags" Target="../tags/tag64.xml"/><Relationship Id="rId21" Type="http://schemas.openxmlformats.org/officeDocument/2006/relationships/slideLayout" Target="../slideLayouts/slideLayout12.xml"/><Relationship Id="rId22" Type="http://schemas.openxmlformats.org/officeDocument/2006/relationships/notesSlide" Target="../notesSlides/notesSlide6.xml"/><Relationship Id="rId23"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tags" Target="../tags/tag66.xml"/><Relationship Id="rId3" Type="http://schemas.openxmlformats.org/officeDocument/2006/relationships/tags" Target="../tags/tag67.xml"/><Relationship Id="rId4" Type="http://schemas.openxmlformats.org/officeDocument/2006/relationships/tags" Target="../tags/tag68.xml"/><Relationship Id="rId5" Type="http://schemas.openxmlformats.org/officeDocument/2006/relationships/tags" Target="../tags/tag69.xml"/><Relationship Id="rId6" Type="http://schemas.openxmlformats.org/officeDocument/2006/relationships/tags" Target="../tags/tag70.xml"/><Relationship Id="rId7" Type="http://schemas.openxmlformats.org/officeDocument/2006/relationships/tags" Target="../tags/tag71.xml"/><Relationship Id="rId8" Type="http://schemas.openxmlformats.org/officeDocument/2006/relationships/tags" Target="../tags/tag72.xml"/><Relationship Id="rId9" Type="http://schemas.openxmlformats.org/officeDocument/2006/relationships/tags" Target="../tags/tag73.xml"/><Relationship Id="rId10" Type="http://schemas.openxmlformats.org/officeDocument/2006/relationships/tags" Target="../tags/tag74.xml"/><Relationship Id="rId11" Type="http://schemas.openxmlformats.org/officeDocument/2006/relationships/tags" Target="../tags/tag75.xml"/><Relationship Id="rId12" Type="http://schemas.openxmlformats.org/officeDocument/2006/relationships/tags" Target="../tags/tag76.xml"/><Relationship Id="rId13" Type="http://schemas.openxmlformats.org/officeDocument/2006/relationships/tags" Target="../tags/tag77.xml"/><Relationship Id="rId14" Type="http://schemas.openxmlformats.org/officeDocument/2006/relationships/tags" Target="../tags/tag78.xml"/><Relationship Id="rId15" Type="http://schemas.openxmlformats.org/officeDocument/2006/relationships/tags" Target="../tags/tag79.xml"/><Relationship Id="rId16" Type="http://schemas.openxmlformats.org/officeDocument/2006/relationships/tags" Target="../tags/tag80.xml"/><Relationship Id="rId17" Type="http://schemas.openxmlformats.org/officeDocument/2006/relationships/tags" Target="../tags/tag81.xml"/><Relationship Id="rId18" Type="http://schemas.openxmlformats.org/officeDocument/2006/relationships/slideLayout" Target="../slideLayouts/slideLayout12.xml"/><Relationship Id="rId19" Type="http://schemas.openxmlformats.org/officeDocument/2006/relationships/chart" Target="../charts/chart6.xml"/><Relationship Id="rId20" Type="http://schemas.openxmlformats.org/officeDocument/2006/relationships/chart" Target="../charts/char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hart" Target="../charts/chart8.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chart" Target="../charts/chart11.xml"/><Relationship Id="rId4"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chart" Target="../charts/chart13.xml"/><Relationship Id="rId4" Type="http://schemas.openxmlformats.org/officeDocument/2006/relationships/chart" Target="../charts/char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tags" Target="../tags/tag83.xml"/><Relationship Id="rId3" Type="http://schemas.openxmlformats.org/officeDocument/2006/relationships/tags" Target="../tags/tag84.xml"/><Relationship Id="rId4" Type="http://schemas.openxmlformats.org/officeDocument/2006/relationships/tags" Target="../tags/tag85.xml"/><Relationship Id="rId5" Type="http://schemas.openxmlformats.org/officeDocument/2006/relationships/tags" Target="../tags/tag86.xml"/><Relationship Id="rId6" Type="http://schemas.openxmlformats.org/officeDocument/2006/relationships/tags" Target="../tags/tag87.xml"/><Relationship Id="rId7" Type="http://schemas.openxmlformats.org/officeDocument/2006/relationships/tags" Target="../tags/tag88.xml"/><Relationship Id="rId8" Type="http://schemas.openxmlformats.org/officeDocument/2006/relationships/tags" Target="../tags/tag89.xml"/><Relationship Id="rId9" Type="http://schemas.openxmlformats.org/officeDocument/2006/relationships/tags" Target="../tags/tag90.xml"/><Relationship Id="rId10" Type="http://schemas.openxmlformats.org/officeDocument/2006/relationships/tags" Target="../tags/tag91.xml"/><Relationship Id="rId11" Type="http://schemas.openxmlformats.org/officeDocument/2006/relationships/tags" Target="../tags/tag92.xml"/><Relationship Id="rId12" Type="http://schemas.openxmlformats.org/officeDocument/2006/relationships/tags" Target="../tags/tag93.xml"/><Relationship Id="rId13" Type="http://schemas.openxmlformats.org/officeDocument/2006/relationships/tags" Target="../tags/tag94.xml"/><Relationship Id="rId14" Type="http://schemas.openxmlformats.org/officeDocument/2006/relationships/tags" Target="../tags/tag95.xml"/><Relationship Id="rId15" Type="http://schemas.openxmlformats.org/officeDocument/2006/relationships/tags" Target="../tags/tag96.xml"/><Relationship Id="rId16" Type="http://schemas.openxmlformats.org/officeDocument/2006/relationships/tags" Target="../tags/tag97.xml"/><Relationship Id="rId17" Type="http://schemas.openxmlformats.org/officeDocument/2006/relationships/tags" Target="../tags/tag98.xml"/><Relationship Id="rId18" Type="http://schemas.openxmlformats.org/officeDocument/2006/relationships/tags" Target="../tags/tag99.xml"/><Relationship Id="rId19" Type="http://schemas.openxmlformats.org/officeDocument/2006/relationships/tags" Target="../tags/tag100.xml"/><Relationship Id="rId20" Type="http://schemas.openxmlformats.org/officeDocument/2006/relationships/tags" Target="../tags/tag101.xml"/><Relationship Id="rId21" Type="http://schemas.openxmlformats.org/officeDocument/2006/relationships/slideLayout" Target="../slideLayouts/slideLayout12.xml"/><Relationship Id="rId22" Type="http://schemas.openxmlformats.org/officeDocument/2006/relationships/chart" Target="../charts/chart15.xml"/></Relationships>
</file>

<file path=ppt/slides/_rels/slide26.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tags" Target="../tags/tag103.xml"/><Relationship Id="rId3" Type="http://schemas.openxmlformats.org/officeDocument/2006/relationships/tags" Target="../tags/tag104.xml"/><Relationship Id="rId4" Type="http://schemas.openxmlformats.org/officeDocument/2006/relationships/tags" Target="../tags/tag105.xml"/><Relationship Id="rId5" Type="http://schemas.openxmlformats.org/officeDocument/2006/relationships/tags" Target="../tags/tag106.xml"/><Relationship Id="rId6" Type="http://schemas.openxmlformats.org/officeDocument/2006/relationships/tags" Target="../tags/tag107.xml"/><Relationship Id="rId7" Type="http://schemas.openxmlformats.org/officeDocument/2006/relationships/tags" Target="../tags/tag108.xml"/><Relationship Id="rId8" Type="http://schemas.openxmlformats.org/officeDocument/2006/relationships/tags" Target="../tags/tag109.xml"/><Relationship Id="rId9" Type="http://schemas.openxmlformats.org/officeDocument/2006/relationships/tags" Target="../tags/tag110.xml"/><Relationship Id="rId10" Type="http://schemas.openxmlformats.org/officeDocument/2006/relationships/tags" Target="../tags/tag111.xml"/><Relationship Id="rId11" Type="http://schemas.openxmlformats.org/officeDocument/2006/relationships/tags" Target="../tags/tag112.xml"/><Relationship Id="rId12" Type="http://schemas.openxmlformats.org/officeDocument/2006/relationships/tags" Target="../tags/tag113.xml"/><Relationship Id="rId13" Type="http://schemas.openxmlformats.org/officeDocument/2006/relationships/tags" Target="../tags/tag114.xml"/><Relationship Id="rId14" Type="http://schemas.openxmlformats.org/officeDocument/2006/relationships/tags" Target="../tags/tag115.xml"/><Relationship Id="rId15" Type="http://schemas.openxmlformats.org/officeDocument/2006/relationships/tags" Target="../tags/tag116.xml"/><Relationship Id="rId16" Type="http://schemas.openxmlformats.org/officeDocument/2006/relationships/tags" Target="../tags/tag117.xml"/><Relationship Id="rId17" Type="http://schemas.openxmlformats.org/officeDocument/2006/relationships/tags" Target="../tags/tag118.xml"/><Relationship Id="rId18" Type="http://schemas.openxmlformats.org/officeDocument/2006/relationships/tags" Target="../tags/tag119.xml"/><Relationship Id="rId19" Type="http://schemas.openxmlformats.org/officeDocument/2006/relationships/tags" Target="../tags/tag120.xml"/><Relationship Id="rId20" Type="http://schemas.openxmlformats.org/officeDocument/2006/relationships/tags" Target="../tags/tag121.xml"/><Relationship Id="rId21" Type="http://schemas.openxmlformats.org/officeDocument/2006/relationships/slideLayout" Target="../slideLayouts/slideLayout12.xml"/><Relationship Id="rId22" Type="http://schemas.openxmlformats.org/officeDocument/2006/relationships/chart" Target="../charts/chart16.xml"/></Relationships>
</file>

<file path=ppt/slides/_rels/slide27.xml.rels><?xml version='1.0' encoding='UTF-8' standalone='yes'?>
<Relationships xmlns="http://schemas.openxmlformats.org/package/2006/relationships"><Relationship Id="rId1" Type="http://schemas.openxmlformats.org/officeDocument/2006/relationships/tags" Target="../tags/tag122.xml"/><Relationship Id="rId2" Type="http://schemas.openxmlformats.org/officeDocument/2006/relationships/tags" Target="../tags/tag123.xml"/><Relationship Id="rId3" Type="http://schemas.openxmlformats.org/officeDocument/2006/relationships/tags" Target="../tags/tag124.xml"/><Relationship Id="rId4" Type="http://schemas.openxmlformats.org/officeDocument/2006/relationships/tags" Target="../tags/tag125.xml"/><Relationship Id="rId5" Type="http://schemas.openxmlformats.org/officeDocument/2006/relationships/tags" Target="../tags/tag126.xml"/><Relationship Id="rId6" Type="http://schemas.openxmlformats.org/officeDocument/2006/relationships/tags" Target="../tags/tag127.xml"/><Relationship Id="rId7" Type="http://schemas.openxmlformats.org/officeDocument/2006/relationships/tags" Target="../tags/tag128.xml"/><Relationship Id="rId8" Type="http://schemas.openxmlformats.org/officeDocument/2006/relationships/tags" Target="../tags/tag129.xml"/><Relationship Id="rId9" Type="http://schemas.openxmlformats.org/officeDocument/2006/relationships/tags" Target="../tags/tag130.xml"/><Relationship Id="rId10" Type="http://schemas.openxmlformats.org/officeDocument/2006/relationships/tags" Target="../tags/tag131.xml"/><Relationship Id="rId11" Type="http://schemas.openxmlformats.org/officeDocument/2006/relationships/tags" Target="../tags/tag132.xml"/><Relationship Id="rId12" Type="http://schemas.openxmlformats.org/officeDocument/2006/relationships/tags" Target="../tags/tag133.xml"/><Relationship Id="rId13" Type="http://schemas.openxmlformats.org/officeDocument/2006/relationships/tags" Target="../tags/tag134.xml"/><Relationship Id="rId14" Type="http://schemas.openxmlformats.org/officeDocument/2006/relationships/tags" Target="../tags/tag135.xml"/><Relationship Id="rId15" Type="http://schemas.openxmlformats.org/officeDocument/2006/relationships/tags" Target="../tags/tag136.xml"/><Relationship Id="rId16" Type="http://schemas.openxmlformats.org/officeDocument/2006/relationships/tags" Target="../tags/tag137.xml"/><Relationship Id="rId17" Type="http://schemas.openxmlformats.org/officeDocument/2006/relationships/tags" Target="../tags/tag138.xml"/><Relationship Id="rId18" Type="http://schemas.openxmlformats.org/officeDocument/2006/relationships/tags" Target="../tags/tag139.xml"/><Relationship Id="rId19" Type="http://schemas.openxmlformats.org/officeDocument/2006/relationships/tags" Target="../tags/tag140.xml"/><Relationship Id="rId20" Type="http://schemas.openxmlformats.org/officeDocument/2006/relationships/tags" Target="../tags/tag141.xml"/><Relationship Id="rId21" Type="http://schemas.openxmlformats.org/officeDocument/2006/relationships/slideLayout" Target="../slideLayouts/slideLayout12.xml"/><Relationship Id="rId22" Type="http://schemas.openxmlformats.org/officeDocument/2006/relationships/chart" Target="../charts/char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chart" Target="../charts/chart19.xml"/></Relationships>
</file>

<file path=ppt/slides/_rels/slide30.xml.rels><?xml version='1.0' encoding='UTF-8' standalone='yes'?>
<Relationships xmlns="http://schemas.openxmlformats.org/package/2006/relationships"><Relationship Id="rId1" Type="http://schemas.openxmlformats.org/officeDocument/2006/relationships/tags" Target="../tags/tag142.xml"/><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tags" Target="../tags/tag143.xml"/><Relationship Id="rId2" Type="http://schemas.openxmlformats.org/officeDocument/2006/relationships/tags" Target="../tags/tag144.xml"/><Relationship Id="rId3" Type="http://schemas.openxmlformats.org/officeDocument/2006/relationships/tags" Target="../tags/tag145.xml"/><Relationship Id="rId4" Type="http://schemas.openxmlformats.org/officeDocument/2006/relationships/tags" Target="../tags/tag146.xml"/><Relationship Id="rId5" Type="http://schemas.openxmlformats.org/officeDocument/2006/relationships/tags" Target="../tags/tag147.xml"/><Relationship Id="rId6" Type="http://schemas.openxmlformats.org/officeDocument/2006/relationships/tags" Target="../tags/tag148.xml"/><Relationship Id="rId7" Type="http://schemas.openxmlformats.org/officeDocument/2006/relationships/tags" Target="../tags/tag149.xml"/><Relationship Id="rId8" Type="http://schemas.openxmlformats.org/officeDocument/2006/relationships/tags" Target="../tags/tag150.xml"/><Relationship Id="rId9" Type="http://schemas.openxmlformats.org/officeDocument/2006/relationships/tags" Target="../tags/tag151.xml"/><Relationship Id="rId10" Type="http://schemas.openxmlformats.org/officeDocument/2006/relationships/tags" Target="../tags/tag152.xml"/><Relationship Id="rId11" Type="http://schemas.openxmlformats.org/officeDocument/2006/relationships/tags" Target="../tags/tag153.xml"/><Relationship Id="rId12" Type="http://schemas.openxmlformats.org/officeDocument/2006/relationships/tags" Target="../tags/tag154.xml"/><Relationship Id="rId13" Type="http://schemas.openxmlformats.org/officeDocument/2006/relationships/tags" Target="../tags/tag155.xml"/><Relationship Id="rId14" Type="http://schemas.openxmlformats.org/officeDocument/2006/relationships/tags" Target="../tags/tag156.xml"/><Relationship Id="rId15" Type="http://schemas.openxmlformats.org/officeDocument/2006/relationships/tags" Target="../tags/tag157.xml"/><Relationship Id="rId16" Type="http://schemas.openxmlformats.org/officeDocument/2006/relationships/tags" Target="../tags/tag158.xml"/><Relationship Id="rId17" Type="http://schemas.openxmlformats.org/officeDocument/2006/relationships/tags" Target="../tags/tag159.xml"/><Relationship Id="rId18" Type="http://schemas.openxmlformats.org/officeDocument/2006/relationships/tags" Target="../tags/tag160.xml"/><Relationship Id="rId19" Type="http://schemas.openxmlformats.org/officeDocument/2006/relationships/slideLayout" Target="../slideLayouts/slideLayout12.xml"/><Relationship Id="rId20" Type="http://schemas.openxmlformats.org/officeDocument/2006/relationships/notesSlide" Target="../notesSlides/notesSlide12.xml"/><Relationship Id="rId21" Type="http://schemas.openxmlformats.org/officeDocument/2006/relationships/chart" Target="../charts/chart20.xml"/><Relationship Id="rId22" Type="http://schemas.openxmlformats.org/officeDocument/2006/relationships/chart" Target="../charts/chart21.xml"/></Relationships>
</file>

<file path=ppt/slides/_rels/slide32.xml.rels><?xml version='1.0' encoding='UTF-8' standalone='yes'?>
<Relationships xmlns="http://schemas.openxmlformats.org/package/2006/relationships"><Relationship Id="rId1" Type="http://schemas.openxmlformats.org/officeDocument/2006/relationships/tags" Target="../tags/tag161.xml"/><Relationship Id="rId2" Type="http://schemas.openxmlformats.org/officeDocument/2006/relationships/slideLayout" Target="../slideLayouts/slideLayout12.xml"/><Relationship Id="rId3"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tags" Target="../tags/tag162.xml"/><Relationship Id="rId2"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tags" Target="../tags/tag163.xml"/><Relationship Id="rId2" Type="http://schemas.openxmlformats.org/officeDocument/2006/relationships/tags" Target="../tags/tag164.xml"/><Relationship Id="rId3" Type="http://schemas.openxmlformats.org/officeDocument/2006/relationships/tags" Target="../tags/tag165.xml"/><Relationship Id="rId4" Type="http://schemas.openxmlformats.org/officeDocument/2006/relationships/tags" Target="../tags/tag166.xml"/><Relationship Id="rId5" Type="http://schemas.openxmlformats.org/officeDocument/2006/relationships/tags" Target="../tags/tag167.xml"/><Relationship Id="rId6" Type="http://schemas.openxmlformats.org/officeDocument/2006/relationships/tags" Target="../tags/tag168.xml"/><Relationship Id="rId7" Type="http://schemas.openxmlformats.org/officeDocument/2006/relationships/tags" Target="../tags/tag169.xml"/><Relationship Id="rId8" Type="http://schemas.openxmlformats.org/officeDocument/2006/relationships/tags" Target="../tags/tag170.xml"/><Relationship Id="rId9" Type="http://schemas.openxmlformats.org/officeDocument/2006/relationships/tags" Target="../tags/tag171.xml"/><Relationship Id="rId10" Type="http://schemas.openxmlformats.org/officeDocument/2006/relationships/tags" Target="../tags/tag172.xml"/><Relationship Id="rId11" Type="http://schemas.openxmlformats.org/officeDocument/2006/relationships/tags" Target="../tags/tag173.xml"/><Relationship Id="rId12" Type="http://schemas.openxmlformats.org/officeDocument/2006/relationships/tags" Target="../tags/tag174.xml"/><Relationship Id="rId13" Type="http://schemas.openxmlformats.org/officeDocument/2006/relationships/tags" Target="../tags/tag175.xml"/><Relationship Id="rId14" Type="http://schemas.openxmlformats.org/officeDocument/2006/relationships/tags" Target="../tags/tag176.xml"/><Relationship Id="rId15" Type="http://schemas.openxmlformats.org/officeDocument/2006/relationships/tags" Target="../tags/tag177.xml"/><Relationship Id="rId16" Type="http://schemas.openxmlformats.org/officeDocument/2006/relationships/tags" Target="../tags/tag178.xml"/><Relationship Id="rId17" Type="http://schemas.openxmlformats.org/officeDocument/2006/relationships/tags" Target="../tags/tag179.xml"/><Relationship Id="rId18" Type="http://schemas.openxmlformats.org/officeDocument/2006/relationships/tags" Target="../tags/tag180.xml"/><Relationship Id="rId19" Type="http://schemas.openxmlformats.org/officeDocument/2006/relationships/tags" Target="../tags/tag181.xml"/><Relationship Id="rId20" Type="http://schemas.openxmlformats.org/officeDocument/2006/relationships/tags" Target="../tags/tag182.xml"/><Relationship Id="rId21" Type="http://schemas.openxmlformats.org/officeDocument/2006/relationships/slideLayout" Target="../slideLayouts/slideLayout12.xml"/><Relationship Id="rId22" Type="http://schemas.openxmlformats.org/officeDocument/2006/relationships/notesSlide" Target="../notesSlides/notesSlide15.xml"/><Relationship Id="rId23" Type="http://schemas.openxmlformats.org/officeDocument/2006/relationships/chart" Target="../charts/chart22.xml"/></Relationships>
</file>

<file path=ppt/slides/_rels/slide39.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tags" Target="../tags/tag184.xml"/><Relationship Id="rId3" Type="http://schemas.openxmlformats.org/officeDocument/2006/relationships/tags" Target="../tags/tag185.xml"/><Relationship Id="rId4" Type="http://schemas.openxmlformats.org/officeDocument/2006/relationships/tags" Target="../tags/tag186.xml"/><Relationship Id="rId5" Type="http://schemas.openxmlformats.org/officeDocument/2006/relationships/tags" Target="../tags/tag187.xml"/><Relationship Id="rId6" Type="http://schemas.openxmlformats.org/officeDocument/2006/relationships/tags" Target="../tags/tag188.xml"/><Relationship Id="rId7" Type="http://schemas.openxmlformats.org/officeDocument/2006/relationships/tags" Target="../tags/tag189.xml"/><Relationship Id="rId8" Type="http://schemas.openxmlformats.org/officeDocument/2006/relationships/tags" Target="../tags/tag190.xml"/><Relationship Id="rId9" Type="http://schemas.openxmlformats.org/officeDocument/2006/relationships/tags" Target="../tags/tag191.xml"/><Relationship Id="rId10" Type="http://schemas.openxmlformats.org/officeDocument/2006/relationships/tags" Target="../tags/tag192.xml"/><Relationship Id="rId11" Type="http://schemas.openxmlformats.org/officeDocument/2006/relationships/tags" Target="../tags/tag193.xml"/><Relationship Id="rId12" Type="http://schemas.openxmlformats.org/officeDocument/2006/relationships/tags" Target="../tags/tag194.xml"/><Relationship Id="rId13" Type="http://schemas.openxmlformats.org/officeDocument/2006/relationships/tags" Target="../tags/tag195.xml"/><Relationship Id="rId14" Type="http://schemas.openxmlformats.org/officeDocument/2006/relationships/tags" Target="../tags/tag196.xml"/><Relationship Id="rId15" Type="http://schemas.openxmlformats.org/officeDocument/2006/relationships/tags" Target="../tags/tag197.xml"/><Relationship Id="rId16" Type="http://schemas.openxmlformats.org/officeDocument/2006/relationships/tags" Target="../tags/tag198.xml"/><Relationship Id="rId17" Type="http://schemas.openxmlformats.org/officeDocument/2006/relationships/tags" Target="../tags/tag199.xml"/><Relationship Id="rId18" Type="http://schemas.openxmlformats.org/officeDocument/2006/relationships/tags" Target="../tags/tag200.xml"/><Relationship Id="rId19" Type="http://schemas.openxmlformats.org/officeDocument/2006/relationships/tags" Target="../tags/tag201.xml"/><Relationship Id="rId20" Type="http://schemas.openxmlformats.org/officeDocument/2006/relationships/tags" Target="../tags/tag202.xml"/><Relationship Id="rId21" Type="http://schemas.openxmlformats.org/officeDocument/2006/relationships/slideLayout" Target="../slideLayouts/slideLayout12.xml"/><Relationship Id="rId22" Type="http://schemas.openxmlformats.org/officeDocument/2006/relationships/chart" Target="../charts/chart23.xml"/></Relationships>
</file>

<file path=ppt/slides/_rels/slide40.xml.rels><?xml version='1.0' encoding='UTF-8' standalone='yes'?>
<Relationships xmlns="http://schemas.openxmlformats.org/package/2006/relationships"><Relationship Id="rId1" Type="http://schemas.openxmlformats.org/officeDocument/2006/relationships/tags" Target="../tags/tag203.xml"/><Relationship Id="rId2" Type="http://schemas.openxmlformats.org/officeDocument/2006/relationships/tags" Target="../tags/tag204.xml"/><Relationship Id="rId3" Type="http://schemas.openxmlformats.org/officeDocument/2006/relationships/tags" Target="../tags/tag205.xml"/><Relationship Id="rId4" Type="http://schemas.openxmlformats.org/officeDocument/2006/relationships/tags" Target="../tags/tag206.xml"/><Relationship Id="rId5" Type="http://schemas.openxmlformats.org/officeDocument/2006/relationships/tags" Target="../tags/tag207.xml"/><Relationship Id="rId6" Type="http://schemas.openxmlformats.org/officeDocument/2006/relationships/tags" Target="../tags/tag208.xml"/><Relationship Id="rId7" Type="http://schemas.openxmlformats.org/officeDocument/2006/relationships/slideLayout" Target="../slideLayouts/slideLayout12.xml"/><Relationship Id="rId8" Type="http://schemas.openxmlformats.org/officeDocument/2006/relationships/chart" Target="../charts/chart24.xml"/><Relationship Id="rId9" Type="http://schemas.openxmlformats.org/officeDocument/2006/relationships/chart" Target="../charts/chart25.xml"/></Relationships>
</file>

<file path=ppt/slides/_rels/slide41.xml.rels><?xml version='1.0' encoding='UTF-8' standalone='yes'?>
<Relationships xmlns="http://schemas.openxmlformats.org/package/2006/relationships"><Relationship Id="rId1" Type="http://schemas.openxmlformats.org/officeDocument/2006/relationships/tags" Target="../tags/tag209.xml"/><Relationship Id="rId2" Type="http://schemas.openxmlformats.org/officeDocument/2006/relationships/tags" Target="../tags/tag210.xml"/><Relationship Id="rId3" Type="http://schemas.openxmlformats.org/officeDocument/2006/relationships/tags" Target="../tags/tag211.xml"/><Relationship Id="rId4" Type="http://schemas.openxmlformats.org/officeDocument/2006/relationships/tags" Target="../tags/tag212.xml"/><Relationship Id="rId5" Type="http://schemas.openxmlformats.org/officeDocument/2006/relationships/tags" Target="../tags/tag213.xml"/><Relationship Id="rId6" Type="http://schemas.openxmlformats.org/officeDocument/2006/relationships/tags" Target="../tags/tag214.xml"/><Relationship Id="rId7" Type="http://schemas.openxmlformats.org/officeDocument/2006/relationships/tags" Target="../tags/tag215.xml"/><Relationship Id="rId8" Type="http://schemas.openxmlformats.org/officeDocument/2006/relationships/tags" Target="../tags/tag216.xml"/><Relationship Id="rId9" Type="http://schemas.openxmlformats.org/officeDocument/2006/relationships/slideLayout" Target="../slideLayouts/slideLayout12.xml"/><Relationship Id="rId10" Type="http://schemas.openxmlformats.org/officeDocument/2006/relationships/chart" Target="../charts/chart26.xml"/><Relationship Id="rId11" Type="http://schemas.openxmlformats.org/officeDocument/2006/relationships/chart" Target="../charts/chart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chart" Target="../charts/chart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tags" Target="../tags/tag217.xml"/><Relationship Id="rId2"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tags" Target="../tags/tag218.xml"/><Relationship Id="rId2"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3316778" y="2385974"/>
            <a:ext cx="10246822" cy="1830245"/>
          </a:xfrm>
          <a:prstGeom prst="rect">
            <a:avLst/>
          </a:prstGeom>
          <a:noFill/>
          <a:ln w="9525">
            <a:noFill/>
            <a:miter lim="800000"/>
          </a:ln>
        </p:spPr>
        <p:txBody>
          <a:bodyPr wrap="square">
            <a:spAutoFit/>
            <a:scene3d>
              <a:camera prst="orthographicFront"/>
              <a:lightRig rig="threePt" dir="t"/>
            </a:scene3d>
            <a:sp3d extrusionH="57150">
              <a:bevelT h="25400" prst="softRound"/>
            </a:sp3d>
          </a:bodyPr>
          <a:lstStyle/>
          <a:p>
            <a:pPr algn="ctr">
              <a:lnSpc>
                <a:spcPct val="150000"/>
              </a:lnSpc>
              <a:buFontTx/>
              <a:buNone/>
            </a:pP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新华医院</a:t>
            </a:r>
            <a:r>
              <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2026</a:t>
            </a: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年</a:t>
            </a:r>
            <a:r>
              <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5</a:t>
            </a: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月</a:t>
            </a:r>
            <a:endPar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endParaRPr>
          </a:p>
          <a:p>
            <a:pPr algn="ctr">
              <a:lnSpc>
                <a:spcPct val="150000"/>
              </a:lnSpc>
              <a:buFontTx/>
              <a:buNone/>
            </a:pP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运营分析</a:t>
            </a:r>
          </a:p>
        </p:txBody>
      </p:sp>
      <p:sp>
        <p:nvSpPr>
          <p:cNvPr id="6" name="TextBox 3"/>
          <p:cNvSpPr txBox="1"/>
          <p:nvPr/>
        </p:nvSpPr>
        <p:spPr>
          <a:xfrm>
            <a:off x="6431128" y="5663313"/>
            <a:ext cx="5500035" cy="523220"/>
          </a:xfrm>
          <a:prstGeom prst="rect">
            <a:avLst/>
          </a:prstGeom>
          <a:noFill/>
        </p:spPr>
        <p:txBody>
          <a:bodyPr wrap="square">
            <a:spAutoFit/>
          </a:bodyPr>
          <a:lstStyle/>
          <a:p>
            <a:pPr algn="ctr" fontAlgn="auto">
              <a:spcBef>
                <a:spcPts val="0"/>
              </a:spcBef>
              <a:spcAft>
                <a:spcPts val="0"/>
              </a:spcAft>
              <a:defRPr/>
            </a:pPr>
            <a:r>
              <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2026</a:t>
            </a:r>
            <a:r>
              <a:rPr lang="zh-CN" altLang="en-US"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年</a:t>
            </a:r>
            <a:r>
              <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6</a:t>
            </a:r>
            <a:r>
              <a:rPr lang="zh-CN" altLang="en-US"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月</a:t>
            </a:r>
            <a:endPar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5</a:t>
              </a:r>
              <a:r>
                <a:rPr lang="zh-CN" altLang="en-US" sz="2400" b="1" dirty="0">
                  <a:ln w="0"/>
                  <a:solidFill>
                    <a:srgbClr val="0070C0"/>
                  </a:soli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1-5</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一、收支结余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3511427" y="701809"/>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月收支结余完成情况</a:t>
            </a:r>
          </a:p>
        </p:txBody>
      </p:sp>
      <p:sp>
        <p:nvSpPr>
          <p:cNvPr id="7" name="TextBox 1"/>
          <p:cNvSpPr txBox="1"/>
          <p:nvPr/>
        </p:nvSpPr>
        <p:spPr>
          <a:xfrm>
            <a:off x="9929224" y="986502"/>
            <a:ext cx="1340430"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收支结余</a:t>
            </a:r>
          </a:p>
        </p:txBody>
      </p:sp>
      <p:sp>
        <p:nvSpPr>
          <p:cNvPr id="9" name="矩形 8"/>
          <p:cNvSpPr/>
          <p:nvPr/>
        </p:nvSpPr>
        <p:spPr>
          <a:xfrm>
            <a:off x="614933" y="5634137"/>
            <a:ext cx="10962134" cy="874322"/>
          </a:xfrm>
          <a:prstGeom prst="rect">
            <a:avLst/>
          </a:prstGeom>
          <a:solidFill>
            <a:srgbClr val="31B6FD">
              <a:lumMod val="20000"/>
              <a:lumOff val="80000"/>
            </a:srgbClr>
          </a:solidFill>
        </p:spPr>
        <p:txBody>
          <a:bodyPr wrap="square" lIns="91349" tIns="45678" rIns="91349" bIns="45678">
            <a:spAutoFit/>
          </a:bodyPr>
          <a:lstStyle/>
          <a:p>
            <a:pPr marL="285750" indent="-285750" defTabSz="913765">
              <a:lnSpc>
                <a:spcPct val="150000"/>
              </a:lnSpc>
              <a:buFont typeface="Wingdings" panose="05000000000000000000" pitchFamily="2" charset="2"/>
              <a:buChar char="p"/>
              <a:defRPr/>
            </a:pPr>
            <a:r>
              <a:t>2026年5月，医院收支结余为3,259万元，其中杨浦院区为4,736万元，奉贤院区为-1,477万元。
2026年1-5月，医院收支结余为-17,848万元，其中杨浦院区为-971万元，奉贤院区为-16,877万元。</a:t>
            </a:r>
            <a:endParaRPr lang="en-US" altLang="zh-CN" b="1" dirty="0">
              <a:solidFill>
                <a:srgbClr val="002060"/>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770573502"/>
              </p:ext>
            </p:extLst>
          </p:nvPr>
        </p:nvGraphicFramePr>
        <p:xfrm>
          <a:off x="1052945" y="1478329"/>
          <a:ext cx="9993746" cy="3471697"/>
        </p:xfrm>
        <a:graphic>
          <a:graphicData uri="http://schemas.openxmlformats.org/drawingml/2006/table">
            <a:tbl>
              <a:tblPr/>
              <a:tblGrid>
                <a:gridCol w="2495474">
                  <a:extLst>
                    <a:ext uri="{9D8B030D-6E8A-4147-A177-3AD203B41FA5}">
                      <a16:colId xmlns:a16="http://schemas.microsoft.com/office/drawing/2014/main" val="20000"/>
                    </a:ext>
                  </a:extLst>
                </a:gridCol>
                <a:gridCol w="1830014">
                  <a:extLst>
                    <a:ext uri="{9D8B030D-6E8A-4147-A177-3AD203B41FA5}">
                      <a16:colId xmlns:a16="http://schemas.microsoft.com/office/drawing/2014/main" val="20001"/>
                    </a:ext>
                  </a:extLst>
                </a:gridCol>
                <a:gridCol w="1372511">
                  <a:extLst>
                    <a:ext uri="{9D8B030D-6E8A-4147-A177-3AD203B41FA5}">
                      <a16:colId xmlns:a16="http://schemas.microsoft.com/office/drawing/2014/main" val="20002"/>
                    </a:ext>
                  </a:extLst>
                </a:gridCol>
                <a:gridCol w="1775587">
                  <a:extLst>
                    <a:ext uri="{9D8B030D-6E8A-4147-A177-3AD203B41FA5}">
                      <a16:colId xmlns:a16="http://schemas.microsoft.com/office/drawing/2014/main" val="20003"/>
                    </a:ext>
                  </a:extLst>
                </a:gridCol>
                <a:gridCol w="1248434">
                  <a:extLst>
                    <a:ext uri="{9D8B030D-6E8A-4147-A177-3AD203B41FA5}">
                      <a16:colId xmlns:a16="http://schemas.microsoft.com/office/drawing/2014/main" val="20004"/>
                    </a:ext>
                  </a:extLst>
                </a:gridCol>
                <a:gridCol w="1271726">
                  <a:extLst>
                    <a:ext uri="{9D8B030D-6E8A-4147-A177-3AD203B41FA5}">
                      <a16:colId xmlns:a16="http://schemas.microsoft.com/office/drawing/2014/main" val="20005"/>
                    </a:ext>
                  </a:extLst>
                </a:gridCol>
              </a:tblGrid>
              <a:tr h="726805">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extLst>
                  <a:ext uri="{0D108BD9-81ED-4DB2-BD59-A6C34878D82A}">
                    <a16:rowId xmlns:a16="http://schemas.microsoft.com/office/drawing/2014/main" val="10000"/>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医疗收入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63,529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14,263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48,013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15,517</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32.3%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extLst>
                  <a:ext uri="{0D108BD9-81ED-4DB2-BD59-A6C34878D82A}">
                    <a16:rowId xmlns:a16="http://schemas.microsoft.com/office/drawing/2014/main" val="10001"/>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加：财政基本拨款收入</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2,502</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2,411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91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3.77%</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减：医疗成本</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62,931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15,707</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51,914</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11,017</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21.2%</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医疗服务盈余</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3,100</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-1,444</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-1,490</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4,590</a:t>
                      </a:r>
                    </a:p>
                  </a:txBody>
                  <a:tcPr marL="9525" marR="9525" marT="9525" marB="0" anchor="ctr">
                    <a:lnL>
                      <a:noFill/>
                    </a:lnL>
                    <a:lnR>
                      <a:noFill/>
                    </a:lnR>
                    <a:lnT>
                      <a:noFill/>
                    </a:lnT>
                    <a:lnB>
                      <a:noFill/>
                    </a:lnB>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其他盈余</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69</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54</a:t>
                      </a:r>
                    </a:p>
                  </a:txBody>
                  <a:tcPr marL="9525" marR="9525" marT="9525" marB="0" anchor="ctr">
                    <a:lnL>
                      <a:noFill/>
                    </a:lnL>
                    <a:lnR>
                      <a:noFill/>
                    </a:lnR>
                    <a:lnT>
                      <a:noFill/>
                    </a:lnT>
                    <a:lnB>
                      <a:noFill/>
                    </a:lnB>
                  </a:tcPr>
                </a:tc>
                <a:tc>
                  <a:txBody>
                    <a:bodyPr/>
                    <a:lstStyle/>
                    <a:p>
                      <a:pPr algn="ctr" rtl="0" fontAlgn="ctr"/>
                      <a:r>
                        <a:rPr lang="en-US" altLang="zh-CN" sz="1400" b="1" i="0" u="none" strike="noStrike">
                          <a:solidFill>
                            <a:srgbClr val="000066"/>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457482">
                <a:tc>
                  <a:txBody>
                    <a:bodyPr/>
                    <a:lstStyle/>
                    <a:p>
                      <a:pPr algn="ctr" rtl="0" fontAlgn="ctr">
                        <a:buNone/>
                      </a:pPr>
                      <a:r>
                        <a:rPr lang="zh-CN" altLang="en-US" sz="1400" b="1" i="0" u="none" strike="noStrike">
                          <a:solidFill>
                            <a:srgbClr val="C00000"/>
                          </a:solidFill>
                          <a:effectLst/>
                          <a:latin typeface="微软雅黑" panose="020B0503020204020204" pitchFamily="34" charset="-122"/>
                          <a:ea typeface="微软雅黑" panose="020B0503020204020204" pitchFamily="34" charset="-122"/>
                        </a:rPr>
                        <a:t>收支结余</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3,259</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-1,477</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-1,505</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4,764</a:t>
                      </a:r>
                    </a:p>
                  </a:txBody>
                  <a:tcPr marL="9525" marR="9525" marT="9525" marB="0" anchor="ctr">
                    <a:lnL>
                      <a:noFill/>
                    </a:lnL>
                    <a:lnR>
                      <a:noFill/>
                    </a:lnR>
                    <a:lnT>
                      <a:noFill/>
                    </a:lnT>
                    <a:lnB>
                      <a:noFill/>
                    </a:lnB>
                  </a:tcPr>
                </a:tc>
                <a:tc>
                  <a:txBody>
                    <a:bodyPr/>
                    <a:lstStyle/>
                    <a:p>
                      <a:pPr algn="ctr" rtl="0" fontAlgn="ctr"/>
                      <a:r>
                        <a:rPr lang="en-US" altLang="zh-CN" sz="1400" b="1" i="0" u="none" strike="noStrike" dirty="0">
                          <a:solidFill>
                            <a:srgbClr val="C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二、业务量分析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1082164"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门急诊人次</a:t>
            </a:r>
          </a:p>
        </p:txBody>
      </p:sp>
      <p:sp>
        <p:nvSpPr>
          <p:cNvPr id="52" name="矩形 51"/>
          <p:cNvSpPr/>
          <p:nvPr/>
        </p:nvSpPr>
        <p:spPr>
          <a:xfrm>
            <a:off x="391950" y="5151803"/>
            <a:ext cx="11454992"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45.44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11.54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36.14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38.6%</a:t>
            </a:r>
            <a:r>
              <a:rPr kumimoji="0" lang="zh-CN" altLang="en-US" sz="1600" b="1" i="0" u="none" strike="noStrike" kern="0" cap="none" spc="0" normalizeH="0" baseline="0" noProof="0" dirty="0">
                <a:ln>
                  <a:noFill/>
                </a:ln>
                <a:solidFill>
                  <a:schemeClr val="accent5">
                    <a:lumMod val="50000"/>
                  </a:schemeClr>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a:t>
            </a:r>
            <a:r>
              <a:rPr lang="zh-CN" altLang="en-US" sz="1600" b="1" kern="0" dirty="0">
                <a:solidFill>
                  <a:srgbClr val="002060"/>
                </a:solidFill>
                <a:latin typeface="微软雅黑" panose="020B0503020204020204" pitchFamily="34" charset="-122"/>
                <a:ea typeface="微软雅黑" panose="020B0503020204020204" pitchFamily="34" charset="-122"/>
              </a:rPr>
              <a:t>同比增幅</a:t>
            </a:r>
            <a:r>
              <a:rPr lang="en-US" altLang="zh-CN" sz="1600" b="1" kern="0" dirty="0">
                <a:solidFill>
                  <a:srgbClr val="C00000"/>
                </a:solidFill>
                <a:latin typeface="微软雅黑" panose="020B0503020204020204" pitchFamily="34" charset="-122"/>
                <a:ea typeface="微软雅黑" panose="020B0503020204020204" pitchFamily="34" charset="-122"/>
              </a:rPr>
              <a:t>18.9%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月，奉贤院区门急诊人次为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9.51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400" b="0"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门急诊人次</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45.44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33.90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34.0%</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35.93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33.90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6.0%</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9.51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chemeClr val="accent5">
                              <a:lumMod val="50000"/>
                            </a:schemeClr>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818765" y="2033905"/>
            <a:ext cx="125793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+34%</a:t>
            </a:r>
          </a:p>
        </p:txBody>
      </p:sp>
      <p:graphicFrame>
        <p:nvGraphicFramePr>
          <p:cNvPr id="8" name="图表 7"/>
          <p:cNvGraphicFramePr/>
          <p:nvPr/>
        </p:nvGraphicFramePr>
        <p:xfrm>
          <a:off x="955675" y="2142490"/>
          <a:ext cx="5134610" cy="228600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500063" y="4545275"/>
            <a:ext cx="11132731" cy="1936750"/>
          </a:xfrm>
          <a:prstGeom prst="rect">
            <a:avLst/>
          </a:prstGeom>
          <a:solidFill>
            <a:srgbClr val="31B6FD">
              <a:lumMod val="20000"/>
              <a:lumOff val="80000"/>
            </a:srgbClr>
          </a:solidFill>
        </p:spPr>
        <p:txBody>
          <a:bodyPr wrap="square" lIns="91349" tIns="45678" rIns="91349" bIns="45678">
            <a:spAutoFit/>
          </a:bodyPr>
          <a:lstStyle/>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月，全院门诊人次占门急诊总人次 </a:t>
            </a:r>
            <a:r>
              <a:rPr lang="en-US" altLang="zh-CN" sz="1600" b="1" kern="0" dirty="0">
                <a:solidFill>
                  <a:srgbClr val="C00000"/>
                </a:solidFill>
                <a:latin typeface="微软雅黑" panose="020B0503020204020204" pitchFamily="34" charset="-122"/>
                <a:ea typeface="微软雅黑" panose="020B0503020204020204" pitchFamily="34" charset="-122"/>
              </a:rPr>
              <a:t>85.9%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a:t>
            </a:r>
            <a:r>
              <a:rPr lang="zh-CN" altLang="en-US" sz="1600" b="1" kern="0" dirty="0">
                <a:solidFill>
                  <a:srgbClr val="002060"/>
                </a:solidFill>
                <a:latin typeface="微软雅黑" panose="020B0503020204020204" pitchFamily="34" charset="-122"/>
                <a:ea typeface="微软雅黑" panose="020B0503020204020204" pitchFamily="34" charset="-122"/>
              </a:rPr>
              <a:t>人次占</a:t>
            </a:r>
            <a:r>
              <a:rPr lang="en-US" altLang="zh-CN" sz="1600" b="1" kern="0" dirty="0">
                <a:solidFill>
                  <a:srgbClr val="C00000"/>
                </a:solidFill>
                <a:latin typeface="微软雅黑" panose="020B0503020204020204" pitchFamily="34" charset="-122"/>
                <a:ea typeface="微软雅黑" panose="020B0503020204020204" pitchFamily="34" charset="-122"/>
              </a:rPr>
              <a:t>14.1%</a:t>
            </a:r>
            <a:r>
              <a:rPr lang="zh-CN" altLang="en-US" sz="1600" b="1" kern="0" dirty="0">
                <a:solidFill>
                  <a:srgbClr val="002060"/>
                </a:solidFill>
                <a:latin typeface="微软雅黑" panose="020B0503020204020204" pitchFamily="34" charset="-122"/>
                <a:ea typeface="微软雅黑" panose="020B0503020204020204" pitchFamily="34" charset="-122"/>
              </a:rPr>
              <a:t>。其中，门诊人次占比同比下降</a:t>
            </a:r>
            <a:r>
              <a:rPr lang="en-US" altLang="zh-CN" sz="1600" b="1" kern="0" dirty="0">
                <a:solidFill>
                  <a:schemeClr val="accent6"/>
                </a:solidFill>
                <a:latin typeface="微软雅黑" panose="020B0503020204020204" pitchFamily="34" charset="-122"/>
                <a:ea typeface="微软雅黑" panose="020B0503020204020204" pitchFamily="34" charset="-122"/>
              </a:rPr>
              <a:t>0.9</a:t>
            </a:r>
            <a:r>
              <a:rPr lang="zh-CN" altLang="en-US" sz="1600" b="1" kern="0" dirty="0">
                <a:solidFill>
                  <a:srgbClr val="002060"/>
                </a:solidFill>
                <a:latin typeface="微软雅黑" panose="020B0503020204020204" pitchFamily="34" charset="-122"/>
                <a:ea typeface="微软雅黑" panose="020B0503020204020204" pitchFamily="34" charset="-122"/>
              </a:rPr>
              <a:t>个百分点，急诊人次与之相反。</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月，杨浦院区门诊人次占该院区门急诊总人次</a:t>
            </a:r>
            <a:r>
              <a:rPr lang="en-US" altLang="zh-CN" sz="1600" b="1" kern="0" dirty="0">
                <a:solidFill>
                  <a:srgbClr val="C00000"/>
                </a:solidFill>
                <a:latin typeface="微软雅黑" panose="020B0503020204020204" pitchFamily="34" charset="-122"/>
                <a:ea typeface="微软雅黑" panose="020B0503020204020204" pitchFamily="34" charset="-122"/>
              </a:rPr>
              <a:t>87.7%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，急诊人次占 </a:t>
            </a:r>
            <a:r>
              <a:rPr lang="en-US" altLang="zh-CN" sz="1600" b="1" kern="0" dirty="0">
                <a:solidFill>
                  <a:srgbClr val="C00000"/>
                </a:solidFill>
                <a:latin typeface="微软雅黑" panose="020B0503020204020204" pitchFamily="34" charset="-122"/>
                <a:ea typeface="微软雅黑" panose="020B0503020204020204" pitchFamily="34" charset="-122"/>
              </a:rPr>
              <a:t>12.3%</a:t>
            </a:r>
            <a:r>
              <a:rPr lang="zh-CN" altLang="en-US" sz="1600" b="1" kern="0" dirty="0">
                <a:solidFill>
                  <a:srgbClr val="002060"/>
                </a:solidFill>
                <a:latin typeface="微软雅黑" panose="020B0503020204020204" pitchFamily="34" charset="-122"/>
                <a:ea typeface="微软雅黑" panose="020B0503020204020204" pitchFamily="34" charset="-122"/>
              </a:rPr>
              <a:t>。其中，门诊人次</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占比同比增长</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个百分点，急诊人次与之相反</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5</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奉贤院区门诊人次占该院区门急诊总人次</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79.1%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，急诊人次</a:t>
            </a:r>
            <a:r>
              <a:rPr lang="zh-CN" altLang="en-US" sz="1600" b="1" kern="0" dirty="0">
                <a:solidFill>
                  <a:srgbClr val="002060"/>
                </a:solidFill>
                <a:latin typeface="微软雅黑" panose="020B0503020204020204" pitchFamily="34" charset="-122"/>
                <a:ea typeface="微软雅黑" panose="020B0503020204020204" pitchFamily="34" charset="-122"/>
              </a:rPr>
              <a:t>占</a:t>
            </a:r>
            <a:r>
              <a:rPr lang="zh-CN" altLang="en-US" sz="1600" b="1" kern="0" dirty="0">
                <a:solidFill>
                  <a:srgbClr val="C00000"/>
                </a:solidFill>
                <a:latin typeface="微软雅黑" panose="020B0503020204020204" pitchFamily="34" charset="-122"/>
                <a:ea typeface="微软雅黑" panose="020B0503020204020204" pitchFamily="34" charset="-122"/>
              </a:rPr>
              <a:t> </a:t>
            </a:r>
            <a:r>
              <a:rPr lang="en-US" altLang="zh-CN" sz="1600" b="1" kern="0" dirty="0">
                <a:solidFill>
                  <a:srgbClr val="C00000"/>
                </a:solidFill>
                <a:latin typeface="微软雅黑" panose="020B0503020204020204" pitchFamily="34" charset="-122"/>
                <a:ea typeface="微软雅黑" panose="020B0503020204020204" pitchFamily="34" charset="-122"/>
              </a:rPr>
              <a:t>20.9%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3467394"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门急诊业务量构成</a:t>
            </a:r>
          </a:p>
        </p:txBody>
      </p:sp>
      <p:graphicFrame>
        <p:nvGraphicFramePr>
          <p:cNvPr id="5" name="表格 4"/>
          <p:cNvGraphicFramePr>
            <a:graphicFrameLocks noGrp="1"/>
          </p:cNvGraphicFramePr>
          <p:nvPr/>
        </p:nvGraphicFramePr>
        <p:xfrm>
          <a:off x="500063" y="1249851"/>
          <a:ext cx="11335546" cy="2839791"/>
        </p:xfrm>
        <a:graphic>
          <a:graphicData uri="http://schemas.openxmlformats.org/drawingml/2006/table">
            <a:tbl>
              <a:tblPr>
                <a:tableStyleId>{5C22544A-7EE6-4342-B048-85BDC9FD1C3A}</a:tableStyleId>
              </a:tblPr>
              <a:tblGrid>
                <a:gridCol w="1374004">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860404">
                  <a:extLst>
                    <a:ext uri="{9D8B030D-6E8A-4147-A177-3AD203B41FA5}">
                      <a16:colId xmlns:a16="http://schemas.microsoft.com/office/drawing/2014/main" val="20002"/>
                    </a:ext>
                  </a:extLst>
                </a:gridCol>
                <a:gridCol w="1284605">
                  <a:extLst>
                    <a:ext uri="{9D8B030D-6E8A-4147-A177-3AD203B41FA5}">
                      <a16:colId xmlns:a16="http://schemas.microsoft.com/office/drawing/2014/main" val="20003"/>
                    </a:ext>
                  </a:extLst>
                </a:gridCol>
                <a:gridCol w="1062886">
                  <a:extLst>
                    <a:ext uri="{9D8B030D-6E8A-4147-A177-3AD203B41FA5}">
                      <a16:colId xmlns:a16="http://schemas.microsoft.com/office/drawing/2014/main" val="20004"/>
                    </a:ext>
                  </a:extLst>
                </a:gridCol>
                <a:gridCol w="1351861">
                  <a:extLst>
                    <a:ext uri="{9D8B030D-6E8A-4147-A177-3AD203B41FA5}">
                      <a16:colId xmlns:a16="http://schemas.microsoft.com/office/drawing/2014/main" val="20005"/>
                    </a:ext>
                  </a:extLst>
                </a:gridCol>
                <a:gridCol w="1342728">
                  <a:extLst>
                    <a:ext uri="{9D8B030D-6E8A-4147-A177-3AD203B41FA5}">
                      <a16:colId xmlns:a16="http://schemas.microsoft.com/office/drawing/2014/main" val="20006"/>
                    </a:ext>
                  </a:extLst>
                </a:gridCol>
                <a:gridCol w="1388398">
                  <a:extLst>
                    <a:ext uri="{9D8B030D-6E8A-4147-A177-3AD203B41FA5}">
                      <a16:colId xmlns:a16="http://schemas.microsoft.com/office/drawing/2014/main" val="20007"/>
                    </a:ext>
                  </a:extLst>
                </a:gridCol>
                <a:gridCol w="1324460">
                  <a:extLst>
                    <a:ext uri="{9D8B030D-6E8A-4147-A177-3AD203B41FA5}">
                      <a16:colId xmlns:a16="http://schemas.microsoft.com/office/drawing/2014/main" val="20008"/>
                    </a:ext>
                  </a:extLst>
                </a:gridCol>
              </a:tblGrid>
              <a:tr h="569890">
                <a:tc rowSpan="2">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项目</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门急诊人次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gridSpan="3">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门诊人次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gridSpan="3">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急诊人次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60231">
                <a:tc vMerge="1">
                  <a:txBody>
                    <a:bodyPr/>
                    <a:lstStyle/>
                    <a:p>
                      <a:endParaRPr lang="zh-CN"/>
                    </a:p>
                  </a:txBody>
                  <a:tcPr/>
                </a:tc>
                <a:tc>
                  <a:txBody>
                    <a:bodyPr/>
                    <a:lstStyle/>
                    <a:p>
                      <a:pPr algn="ctr" fontAlgn="ctr">
                        <a:buNone/>
                      </a:pPr>
                      <a:r>
                        <a:rPr lang="en-US" altLang="zh-CN" sz="1600" b="0" u="none" strike="noStrike" dirty="0">
                          <a:effectLst/>
                          <a:latin typeface="微软雅黑" panose="020B0503020204020204" pitchFamily="34" charset="-122"/>
                          <a:ea typeface="微软雅黑" panose="020B0503020204020204" pitchFamily="34" charset="-122"/>
                        </a:rPr>
                        <a:t>2026</a:t>
                      </a:r>
                      <a:r>
                        <a:rPr lang="zh-CN" altLang="en-US" sz="1600" b="0" u="none" strike="noStrike" dirty="0">
                          <a:effectLst/>
                          <a:latin typeface="微软雅黑" panose="020B0503020204020204" pitchFamily="34" charset="-122"/>
                          <a:ea typeface="微软雅黑" panose="020B0503020204020204" pitchFamily="34" charset="-122"/>
                        </a:rPr>
                        <a:t>年</a:t>
                      </a:r>
                      <a:r>
                        <a:rPr lang="en-US" altLang="zh-CN" sz="1600" b="0" u="none" strike="noStrike" dirty="0">
                          <a:effectLst/>
                          <a:latin typeface="微软雅黑" panose="020B0503020204020204" pitchFamily="34" charset="-122"/>
                          <a:ea typeface="微软雅黑" panose="020B0503020204020204" pitchFamily="34" charset="-122"/>
                        </a:rPr>
                        <a:t>5</a:t>
                      </a:r>
                      <a:r>
                        <a:rPr lang="zh-CN" altLang="en-US" sz="1600" b="0" u="none" strike="noStrike" dirty="0">
                          <a:effectLst/>
                          <a:latin typeface="微软雅黑" panose="020B0503020204020204" pitchFamily="34" charset="-122"/>
                          <a:ea typeface="微软雅黑" panose="020B0503020204020204" pitchFamily="34" charset="-122"/>
                        </a:rPr>
                        <a:t>月</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b="0" u="none" strike="noStrike" dirty="0">
                          <a:effectLst/>
                          <a:latin typeface="微软雅黑" panose="020B0503020204020204" pitchFamily="34" charset="-122"/>
                          <a:ea typeface="微软雅黑" panose="020B0503020204020204" pitchFamily="34" charset="-122"/>
                        </a:rPr>
                        <a:t>2026</a:t>
                      </a:r>
                      <a:r>
                        <a:rPr lang="zh-CN" altLang="en-US" sz="1600" b="0" u="none" strike="noStrike" dirty="0">
                          <a:effectLst/>
                          <a:latin typeface="微软雅黑" panose="020B0503020204020204" pitchFamily="34" charset="-122"/>
                          <a:ea typeface="微软雅黑" panose="020B0503020204020204" pitchFamily="34" charset="-122"/>
                        </a:rPr>
                        <a:t>年</a:t>
                      </a:r>
                      <a:r>
                        <a:rPr lang="en-US" altLang="zh-CN" sz="1600" b="0" u="none" strike="noStrike" dirty="0">
                          <a:effectLst/>
                          <a:latin typeface="微软雅黑" panose="020B0503020204020204" pitchFamily="34" charset="-122"/>
                          <a:ea typeface="微软雅黑" panose="020B0503020204020204" pitchFamily="34" charset="-122"/>
                        </a:rPr>
                        <a:t>5</a:t>
                      </a:r>
                      <a:r>
                        <a:rPr lang="zh-CN" altLang="en-US" sz="1600" b="0" u="none" strike="noStrike" dirty="0">
                          <a:effectLst/>
                          <a:latin typeface="微软雅黑" panose="020B0503020204020204" pitchFamily="34" charset="-122"/>
                          <a:ea typeface="微软雅黑" panose="020B0503020204020204" pitchFamily="34" charset="-122"/>
                        </a:rPr>
                        <a:t>月</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占比增减额</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b="0" u="none" strike="noStrike" dirty="0">
                          <a:effectLst/>
                          <a:latin typeface="微软雅黑" panose="020B0503020204020204" pitchFamily="34" charset="-122"/>
                          <a:ea typeface="微软雅黑" panose="020B0503020204020204" pitchFamily="34" charset="-122"/>
                        </a:rPr>
                        <a:t>2026</a:t>
                      </a:r>
                      <a:r>
                        <a:rPr lang="zh-CN" altLang="en-US" sz="1600" b="0" u="none" strike="noStrike" dirty="0">
                          <a:effectLst/>
                          <a:latin typeface="微软雅黑" panose="020B0503020204020204" pitchFamily="34" charset="-122"/>
                          <a:ea typeface="微软雅黑" panose="020B0503020204020204" pitchFamily="34" charset="-122"/>
                        </a:rPr>
                        <a:t>年</a:t>
                      </a:r>
                      <a:r>
                        <a:rPr lang="en-US" altLang="zh-CN" sz="1600" b="0" u="none" strike="noStrike" dirty="0">
                          <a:effectLst/>
                          <a:latin typeface="微软雅黑" panose="020B0503020204020204" pitchFamily="34" charset="-122"/>
                          <a:ea typeface="微软雅黑" panose="020B0503020204020204" pitchFamily="34" charset="-122"/>
                        </a:rPr>
                        <a:t>5</a:t>
                      </a:r>
                      <a:r>
                        <a:rPr lang="zh-CN" altLang="en-US" sz="1600" b="0" u="none" strike="noStrike" dirty="0">
                          <a:effectLst/>
                          <a:latin typeface="微软雅黑" panose="020B0503020204020204" pitchFamily="34" charset="-122"/>
                          <a:ea typeface="微软雅黑" panose="020B0503020204020204" pitchFamily="34" charset="-122"/>
                        </a:rPr>
                        <a:t>月</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占比增减额</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0231">
                <a:tc>
                  <a:txBody>
                    <a:bodyPr/>
                    <a:lstStyle/>
                    <a:p>
                      <a:pPr algn="ctr" fontAlgn="ctr">
                        <a:buNone/>
                      </a:pPr>
                      <a:r>
                        <a:rPr lang="zh-CN" altLang="en-US" sz="1600" u="none" strike="noStrike" dirty="0">
                          <a:effectLst/>
                          <a:latin typeface="微软雅黑" panose="020B0503020204020204" pitchFamily="34" charset="-122"/>
                          <a:ea typeface="微软雅黑" panose="020B0503020204020204" pitchFamily="34" charset="-122"/>
                        </a:rPr>
                        <a:t>合计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45.44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100%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39.02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85.9%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accent6"/>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6.42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14.1%</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rgbClr val="C00000"/>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0231">
                <a:tc>
                  <a:txBody>
                    <a:bodyPr/>
                    <a:lstStyle/>
                    <a:p>
                      <a:pPr algn="ctr" fontAlgn="ctr">
                        <a:buNone/>
                      </a:pPr>
                      <a:r>
                        <a:rPr lang="zh-CN" altLang="en-US" sz="1600" u="none" strike="noStrike">
                          <a:effectLst/>
                          <a:latin typeface="微软雅黑" panose="020B0503020204020204" pitchFamily="34" charset="-122"/>
                          <a:ea typeface="微软雅黑" panose="020B0503020204020204" pitchFamily="34" charset="-122"/>
                        </a:rPr>
                        <a:t> 其中：杨浦</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35.93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100%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31.50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87.7%</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rgbClr val="C00000"/>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4.43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12.3%</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accent6"/>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89208">
                <a:tc>
                  <a:txBody>
                    <a:bodyPr/>
                    <a:lstStyle/>
                    <a:p>
                      <a:pPr algn="ctr" fontAlgn="ctr">
                        <a:buNone/>
                      </a:pPr>
                      <a:r>
                        <a:rPr lang="zh-CN" altLang="en-US" sz="1600" u="none" strike="noStrike">
                          <a:effectLst/>
                          <a:latin typeface="微软雅黑" panose="020B0503020204020204" pitchFamily="34" charset="-122"/>
                          <a:ea typeface="微软雅黑" panose="020B0503020204020204" pitchFamily="34" charset="-122"/>
                        </a:rPr>
                        <a:t>           奉贤</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9.51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100%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7.52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79.1%</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微软雅黑" panose="020B0503020204020204" pitchFamily="34" charset="-122"/>
                          <a:ea typeface="微软雅黑" panose="020B0503020204020204" pitchFamily="34" charset="-122"/>
                        </a:rPr>
                        <a:t>/</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1.99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20.9%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微软雅黑" panose="020B0503020204020204" pitchFamily="34" charset="-122"/>
                          <a:ea typeface="微软雅黑" panose="020B0503020204020204" pitchFamily="34" charset="-122"/>
                        </a:rPr>
                        <a:t>/</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p>
        </p:txBody>
      </p:sp>
      <p:sp>
        <p:nvSpPr>
          <p:cNvPr id="52" name="矩形 51"/>
          <p:cNvSpPr/>
          <p:nvPr/>
        </p:nvSpPr>
        <p:spPr>
          <a:xfrm>
            <a:off x="607028" y="5201063"/>
            <a:ext cx="11227006" cy="119761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39.02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9.62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32.7%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31.82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13.5%</a:t>
            </a:r>
            <a:r>
              <a:rPr kumimoji="0" lang="en-US" altLang="zh-CN" sz="1600" b="1" i="0" u="none" strike="noStrike" kern="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月，奉贤院区门诊人次为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7.52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0" i="0" u="none" strike="noStrike" kern="120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0" i="0" u="none" strike="noStrike" kern="1200">
                          <a:solidFill>
                            <a:srgbClr val="000000"/>
                          </a:solidFill>
                          <a:effectLst/>
                          <a:latin typeface="微软雅黑" panose="020B0503020204020204" pitchFamily="34" charset="-122"/>
                          <a:ea typeface="微软雅黑" panose="020B0503020204020204" pitchFamily="34" charset="-122"/>
                          <a:cs typeface="+mn-cs"/>
                        </a:rPr>
                        <a:t>5</a:t>
                      </a: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门诊人次</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39.02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29.40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32.7%</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31.50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29.40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7.1%</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7.52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chemeClr val="tx1"/>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713355" y="2010410"/>
            <a:ext cx="116395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+32.7%</a:t>
            </a:r>
          </a:p>
        </p:txBody>
      </p:sp>
      <p:graphicFrame>
        <p:nvGraphicFramePr>
          <p:cNvPr id="6" name="图表 5"/>
          <p:cNvGraphicFramePr/>
          <p:nvPr/>
        </p:nvGraphicFramePr>
        <p:xfrm>
          <a:off x="1406208" y="2109470"/>
          <a:ext cx="4110355" cy="228600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门诊业务量</a:t>
            </a:r>
            <a:r>
              <a:rPr lang="en-US" altLang="zh-CN" sz="3200" b="1" kern="0" dirty="0">
                <a:solidFill>
                  <a:srgbClr val="071F65"/>
                </a:solidFill>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杨浦院区同比下降前十科室</a:t>
            </a:r>
          </a:p>
        </p:txBody>
      </p:sp>
      <p:graphicFrame>
        <p:nvGraphicFramePr>
          <p:cNvPr id="6" name="表格 5"/>
          <p:cNvGraphicFramePr/>
          <p:nvPr>
            <p:custDataLst>
              <p:tags r:id="rId1"/>
            </p:custDataLst>
          </p:nvPr>
        </p:nvGraphicFramePr>
        <p:xfrm>
          <a:off x="1312545" y="2400300"/>
          <a:ext cx="9595485" cy="1339850"/>
        </p:xfrm>
        <a:graphic>
          <a:graphicData uri="http://schemas.openxmlformats.org/drawingml/2006/table">
            <a:tbl>
              <a:tblPr/>
              <a:tblGrid>
                <a:gridCol w="2052955">
                  <a:extLst>
                    <a:ext uri="{9D8B030D-6E8A-4147-A177-3AD203B41FA5}">
                      <a16:colId xmlns:a16="http://schemas.microsoft.com/office/drawing/2014/main" val="20000"/>
                    </a:ext>
                  </a:extLst>
                </a:gridCol>
                <a:gridCol w="1569720">
                  <a:extLst>
                    <a:ext uri="{9D8B030D-6E8A-4147-A177-3AD203B41FA5}">
                      <a16:colId xmlns:a16="http://schemas.microsoft.com/office/drawing/2014/main" val="20001"/>
                    </a:ext>
                  </a:extLst>
                </a:gridCol>
                <a:gridCol w="1570990">
                  <a:extLst>
                    <a:ext uri="{9D8B030D-6E8A-4147-A177-3AD203B41FA5}">
                      <a16:colId xmlns:a16="http://schemas.microsoft.com/office/drawing/2014/main" val="20002"/>
                    </a:ext>
                  </a:extLst>
                </a:gridCol>
                <a:gridCol w="1589405">
                  <a:extLst>
                    <a:ext uri="{9D8B030D-6E8A-4147-A177-3AD203B41FA5}">
                      <a16:colId xmlns:a16="http://schemas.microsoft.com/office/drawing/2014/main" val="20003"/>
                    </a:ext>
                  </a:extLst>
                </a:gridCol>
                <a:gridCol w="1570355">
                  <a:extLst>
                    <a:ext uri="{9D8B030D-6E8A-4147-A177-3AD203B41FA5}">
                      <a16:colId xmlns:a16="http://schemas.microsoft.com/office/drawing/2014/main" val="20004"/>
                    </a:ext>
                  </a:extLst>
                </a:gridCol>
                <a:gridCol w="1242060">
                  <a:extLst>
                    <a:ext uri="{9D8B030D-6E8A-4147-A177-3AD203B41FA5}">
                      <a16:colId xmlns:a16="http://schemas.microsoft.com/office/drawing/2014/main" val="20005"/>
                    </a:ext>
                  </a:extLst>
                </a:gridCol>
              </a:tblGrid>
              <a:tr h="310515">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科室名称</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同比增减率</a:t>
                      </a:r>
                    </a:p>
                  </a:txBody>
                  <a:tcPr marL="25400" marR="25400" marT="6350" marB="635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环比增减率</a:t>
                      </a:r>
                    </a:p>
                  </a:txBody>
                  <a:tcPr marL="25400" marR="25400" marT="6350" marB="635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2647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中医科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6,888.00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8,105.00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-15.02%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7,410.00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-7.0%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12,328.00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12,929.00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-4.65%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12,793.00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362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1,583.00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1,644.00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-3.71%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1,751.00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-9.6%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乳腺外科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3,534.00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3,635.00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-2.78%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3,935.00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bl>
          </a:graphicData>
        </a:graphic>
      </p:graphicFrame>
      <p:sp>
        <p:nvSpPr>
          <p:cNvPr id="12" name="矩形 11"/>
          <p:cNvSpPr/>
          <p:nvPr/>
        </p:nvSpPr>
        <p:spPr>
          <a:xfrm>
            <a:off x="782955" y="4761865"/>
            <a:ext cx="10704195" cy="1073150"/>
          </a:xfrm>
          <a:prstGeom prst="rect">
            <a:avLst/>
          </a:prstGeom>
          <a:solidFill>
            <a:srgbClr val="31B6FD">
              <a:lumMod val="20000"/>
              <a:lumOff val="80000"/>
            </a:srgbClr>
          </a:solidFill>
        </p:spPr>
        <p:txBody>
          <a:bodyPr wrap="square" lIns="91349" tIns="45678" rIns="91349" bIns="45678">
            <a:no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，杨浦院区的成人科室中，门诊业务量同比下降只有四个科室：</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中医、五官、</a:t>
            </a:r>
            <a:r>
              <a:rPr kumimoji="0" lang="zh-CN" altLang="en-US" sz="1600" b="1" i="0" u="none" strike="noStrike" kern="0" cap="none" spc="0" normalizeH="0" baseline="0" noProof="0" dirty="0">
                <a:ln>
                  <a:noFill/>
                </a:ln>
                <a:solidFill>
                  <a:srgbClr val="339933"/>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疼痛、乳腺外科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5</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个科室环比</a:t>
            </a: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月业务量都</a:t>
            </a:r>
            <a:r>
              <a:rPr lang="zh-CN" altLang="en-US" sz="1600" b="1" kern="0" dirty="0">
                <a:solidFill>
                  <a:schemeClr val="accent6"/>
                </a:solidFill>
                <a:latin typeface="微软雅黑" panose="020B0503020204020204" pitchFamily="34" charset="-122"/>
                <a:ea typeface="微软雅黑" panose="020B0503020204020204" pitchFamily="34" charset="-122"/>
              </a:rPr>
              <a:t>下降</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28" name="组合 27"/>
          <p:cNvGrpSpPr/>
          <p:nvPr/>
        </p:nvGrpSpPr>
        <p:grpSpPr>
          <a:xfrm>
            <a:off x="3641415" y="987945"/>
            <a:ext cx="4733841" cy="390680"/>
            <a:chOff x="3641415" y="987945"/>
            <a:chExt cx="4733841" cy="390680"/>
          </a:xfrm>
        </p:grpSpPr>
        <p:grpSp>
          <p:nvGrpSpPr>
            <p:cNvPr id="2" name="组合 1"/>
            <p:cNvGrpSpPr/>
            <p:nvPr/>
          </p:nvGrpSpPr>
          <p:grpSpPr>
            <a:xfrm>
              <a:off x="3641415" y="987945"/>
              <a:ext cx="4733841" cy="390680"/>
              <a:chOff x="2790266" y="142563"/>
              <a:chExt cx="3584682" cy="390680"/>
            </a:xfrm>
          </p:grpSpPr>
          <p:sp>
            <p:nvSpPr>
              <p:cNvPr id="5"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9" name="组合 18"/>
              <p:cNvGrpSpPr/>
              <p:nvPr/>
            </p:nvGrpSpPr>
            <p:grpSpPr>
              <a:xfrm>
                <a:off x="5921798" y="256915"/>
                <a:ext cx="453150" cy="161976"/>
                <a:chOff x="264939" y="188640"/>
                <a:chExt cx="604358" cy="216024"/>
              </a:xfrm>
            </p:grpSpPr>
            <p:sp>
              <p:nvSpPr>
                <p:cNvPr id="24"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0" name="组合 19"/>
              <p:cNvGrpSpPr/>
              <p:nvPr/>
            </p:nvGrpSpPr>
            <p:grpSpPr>
              <a:xfrm rot="10800000">
                <a:off x="2790266" y="256915"/>
                <a:ext cx="453150" cy="161976"/>
                <a:chOff x="264939" y="188640"/>
                <a:chExt cx="604358" cy="216024"/>
              </a:xfrm>
            </p:grpSpPr>
            <p:sp>
              <p:nvSpPr>
                <p:cNvPr id="2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7" name="矩形 26"/>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成人科</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门诊业务量</a:t>
            </a:r>
            <a:r>
              <a:rPr lang="en-US" altLang="zh-CN" sz="3200" b="1" kern="0" dirty="0">
                <a:solidFill>
                  <a:srgbClr val="071F65"/>
                </a:solidFill>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杨浦院区同比下降前十科室</a:t>
            </a:r>
          </a:p>
        </p:txBody>
      </p:sp>
      <p:graphicFrame>
        <p:nvGraphicFramePr>
          <p:cNvPr id="6" name="表格 5"/>
          <p:cNvGraphicFramePr/>
          <p:nvPr>
            <p:custDataLst>
              <p:tags r:id="rId1"/>
            </p:custDataLst>
          </p:nvPr>
        </p:nvGraphicFramePr>
        <p:xfrm>
          <a:off x="782955" y="1572260"/>
          <a:ext cx="10908665" cy="316230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5,036.00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8,113.00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-37.93%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5388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2,206.00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3,032.00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-27.24%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1906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15.7%</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2,170.00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2,793.00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-22.31%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2545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-14.7%</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3,656.00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4,672.00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-21.75%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2986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22.4%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儿普外科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1,563.00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1,858.00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-15.88%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1527</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2,862.00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2,992.00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-4.34%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2855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0.2%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发育行为儿童保健科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9,076.00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9,263.00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-2.02%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10169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3,614.00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3,676.00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-1.69%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3429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bl>
          </a:graphicData>
        </a:graphic>
      </p:graphicFrame>
      <p:sp>
        <p:nvSpPr>
          <p:cNvPr id="12" name="矩形 11"/>
          <p:cNvSpPr/>
          <p:nvPr/>
        </p:nvSpPr>
        <p:spPr>
          <a:xfrm>
            <a:off x="573772" y="520144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，杨浦院区的儿科科室中，门诊业务量同比下降有八个科室：</a:t>
            </a:r>
            <a:r>
              <a:rPr kumimoji="0" lang="zh-CN" altLang="en-US" sz="1600" b="1" i="0" u="none" strike="noStrike" kern="0" cap="none" spc="0" normalizeH="0" baseline="0" noProof="0" dirty="0">
                <a:ln>
                  <a:noFill/>
                </a:ln>
                <a:solidFill>
                  <a:srgbClr val="339933"/>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儿呼吸、儿急危、</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儿神外、新生儿、儿普外、儿神内、儿保和儿消化科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月，除</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儿呼吸、儿神外、儿保科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儿科</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12750" y="224155"/>
            <a:ext cx="7533640"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20204" pitchFamily="34" charset="0"/>
                <a:ea typeface="微软雅黑" panose="020B0503020204020204" pitchFamily="34" charset="-122"/>
                <a:sym typeface="Calibri" panose="020F0502020204030204" pitchFamily="34" charset="0"/>
              </a:rPr>
              <a:t>杨浦院区门诊业务量前十科室增减幅度</a:t>
            </a:r>
          </a:p>
        </p:txBody>
      </p:sp>
      <p:graphicFrame>
        <p:nvGraphicFramePr>
          <p:cNvPr id="2" name="表格 1"/>
          <p:cNvGraphicFramePr/>
          <p:nvPr>
            <p:custDataLst>
              <p:tags r:id="rId1"/>
            </p:custDataLst>
          </p:nvPr>
        </p:nvGraphicFramePr>
        <p:xfrm>
          <a:off x="782955" y="1572260"/>
          <a:ext cx="10908665" cy="379476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41,046.00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37,432.00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9.65%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39,466.00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4.0%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25,985.00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21,022.00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23.61%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29,307.00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-11.3%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17,751.00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16,817.00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5.55%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18,386.00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消化内科（内窥镜诊治部）</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14,520.00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13,958.00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4.03%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15,894.00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-8.6%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内分泌科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14,361.00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12,553.00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14.40%</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15,213.00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-5.6%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12,328.00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12,929.00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-4.65%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12,793.00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-3.6%</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11,085.00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10,485.00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5.72%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12,417.00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11,017.00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10,478.00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5.14%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11,774.00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口腔科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9,704.00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9,121.00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6.39%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10,466.00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-7.3%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9,151.00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7,952.00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15.08%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9,131.00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0.2%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6" name="矩形 25"/>
          <p:cNvSpPr/>
          <p:nvPr/>
        </p:nvSpPr>
        <p:spPr>
          <a:xfrm>
            <a:off x="573772" y="5584351"/>
            <a:ext cx="11275327" cy="828675"/>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，杨浦院区门诊业务量前十科室中，除</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五官科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月，杨浦院区门诊业务量前十科室中</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只有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皮肤科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和</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骨科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业务量上升</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月业务量都</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下降</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成人科</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12750" y="224155"/>
            <a:ext cx="7533640"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20204" pitchFamily="34" charset="0"/>
                <a:ea typeface="微软雅黑" panose="020B0503020204020204" pitchFamily="34" charset="-122"/>
                <a:sym typeface="Calibri" panose="020F0502020204030204" pitchFamily="34" charset="0"/>
              </a:rPr>
              <a:t>杨浦院区门诊业务量前十科室增减幅度</a:t>
            </a:r>
          </a:p>
        </p:txBody>
      </p:sp>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儿科</a:t>
            </a:r>
          </a:p>
        </p:txBody>
      </p:sp>
      <p:graphicFrame>
        <p:nvGraphicFramePr>
          <p:cNvPr id="19" name="表格 18"/>
          <p:cNvGraphicFramePr/>
          <p:nvPr>
            <p:custDataLst>
              <p:tags r:id="rId1"/>
            </p:custDataLst>
          </p:nvPr>
        </p:nvGraphicFramePr>
        <p:xfrm>
          <a:off x="782955" y="1572260"/>
          <a:ext cx="10908665" cy="379476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9,539.00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5,873.00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62.42%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9748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发育行为儿童保健科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9,076.00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9,263.00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-2.02%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10169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-10.7%</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儿内分泌遗传科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5,430.00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5,306.00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2.34%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6088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5,036.00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8,113.00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-37.93%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5388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儿血液肿瘤科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3,917.00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3,334.00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17.49%</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3100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26.4%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儿感染科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3,876.00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3,638.00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6.54%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3828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3,656.00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4,672.00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-21.75%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2986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22.4%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儿肾脏内科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3,648.00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2,668.00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36.73%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4961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-26.5%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3,614.00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3,676.00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-1.69%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3429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3,497.00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3,312.00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5.59%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3752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26" name="矩形 25"/>
          <p:cNvSpPr/>
          <p:nvPr/>
        </p:nvSpPr>
        <p:spPr>
          <a:xfrm>
            <a:off x="573772" y="544655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，杨浦院区门诊业务量前十科室中，</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儿保</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儿呼吸</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新生儿、儿消化科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月，杨浦院区门诊业务量前十科室中，除</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a:t>
            </a:r>
            <a:r>
              <a:rPr kumimoji="0" 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内科、儿保、儿内分泌、儿呼吸、儿肾脏、儿骨科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249237" y="5498407"/>
            <a:ext cx="11656436"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月，专家门诊同比增幅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36.8%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普通门诊同比增幅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34.3</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特需门诊同比增幅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14.9</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其中专家门诊成人科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8.23</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45.8%</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1.82</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增</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幅</a:t>
            </a:r>
            <a:r>
              <a:rPr lang="en-US" altLang="zh-CN" sz="1600" b="1" kern="0" dirty="0">
                <a:solidFill>
                  <a:srgbClr val="C00000"/>
                </a:solidFill>
                <a:highlight>
                  <a:srgbClr val="000000">
                    <a:alpha val="0"/>
                  </a:srgbClr>
                </a:highlight>
                <a:latin typeface="微软雅黑" panose="020B0503020204020204" pitchFamily="34" charset="-122"/>
                <a:ea typeface="微软雅黑" panose="020B0503020204020204" pitchFamily="34" charset="-122"/>
              </a:rPr>
              <a:t>7.1%</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；特需门诊</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2.38</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19.6%</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1.45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7.8%</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门诊业务结构</a:t>
            </a:r>
          </a:p>
        </p:txBody>
      </p:sp>
      <p:graphicFrame>
        <p:nvGraphicFramePr>
          <p:cNvPr id="11" name="表格 10"/>
          <p:cNvGraphicFramePr>
            <a:graphicFrameLocks noGrp="1"/>
          </p:cNvGraphicFramePr>
          <p:nvPr/>
        </p:nvGraphicFramePr>
        <p:xfrm>
          <a:off x="6921254" y="1403236"/>
          <a:ext cx="4500000" cy="1620001"/>
        </p:xfrm>
        <a:graphic>
          <a:graphicData uri="http://schemas.openxmlformats.org/drawingml/2006/table">
            <a:tbl>
              <a:tblPr firstRow="1" bandRow="1">
                <a:tableStyleId>{22838BEF-8BB2-4498-84A7-C5851F593DF1}</a:tableStyleId>
              </a:tblPr>
              <a:tblGrid>
                <a:gridCol w="1125000">
                  <a:extLst>
                    <a:ext uri="{9D8B030D-6E8A-4147-A177-3AD203B41FA5}">
                      <a16:colId xmlns:a16="http://schemas.microsoft.com/office/drawing/2014/main" val="20000"/>
                    </a:ext>
                  </a:extLst>
                </a:gridCol>
                <a:gridCol w="1125000">
                  <a:extLst>
                    <a:ext uri="{9D8B030D-6E8A-4147-A177-3AD203B41FA5}">
                      <a16:colId xmlns:a16="http://schemas.microsoft.com/office/drawing/2014/main" val="20001"/>
                    </a:ext>
                  </a:extLst>
                </a:gridCol>
                <a:gridCol w="1125000">
                  <a:extLst>
                    <a:ext uri="{9D8B030D-6E8A-4147-A177-3AD203B41FA5}">
                      <a16:colId xmlns:a16="http://schemas.microsoft.com/office/drawing/2014/main" val="20002"/>
                    </a:ext>
                  </a:extLst>
                </a:gridCol>
                <a:gridCol w="1125000">
                  <a:extLst>
                    <a:ext uri="{9D8B030D-6E8A-4147-A177-3AD203B41FA5}">
                      <a16:colId xmlns:a16="http://schemas.microsoft.com/office/drawing/2014/main" val="20003"/>
                    </a:ext>
                  </a:extLst>
                </a:gridCol>
              </a:tblGrid>
              <a:tr h="465394">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384869">
                <a:tc>
                  <a:txBody>
                    <a:bodyPr/>
                    <a:lstStyle/>
                    <a:p>
                      <a:pPr marL="0" algn="ctr" defTabSz="914400" rtl="0" eaLnBrk="1" fontAlgn="ctr" latinLnBrk="0" hangingPunct="1">
                        <a:buClrTx/>
                        <a:buSzTx/>
                        <a:buFontTx/>
                        <a:buNone/>
                      </a:pPr>
                      <a:r>
                        <a:rPr lang="zh-CN" altLang="en-US" sz="1200" b="1" i="0" kern="1200">
                          <a:solidFill>
                            <a:srgbClr val="000000"/>
                          </a:solidFill>
                          <a:effectLst/>
                          <a:latin typeface="微软雅黑" panose="020B0503020204020204" pitchFamily="34" charset="-122"/>
                          <a:ea typeface="微软雅黑" panose="020B0503020204020204" pitchFamily="34" charset="-122"/>
                          <a:cs typeface="+mn-cs"/>
                        </a:rPr>
                        <a:t>专家门诊</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10.05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7.34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36.8%</a:t>
                      </a:r>
                    </a:p>
                  </a:txBody>
                  <a:tcPr marL="9842" marR="9842" marT="9842" marB="0" anchor="ctr"/>
                </a:tc>
                <a:extLst>
                  <a:ext uri="{0D108BD9-81ED-4DB2-BD59-A6C34878D82A}">
                    <a16:rowId xmlns:a16="http://schemas.microsoft.com/office/drawing/2014/main" val="10001"/>
                  </a:ext>
                </a:extLst>
              </a:tr>
              <a:tr h="384869">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7.55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7.34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2.9%</a:t>
                      </a:r>
                    </a:p>
                  </a:txBody>
                  <a:tcPr marL="9842" marR="9842" marT="9842" marB="0" anchor="ctr"/>
                </a:tc>
                <a:extLst>
                  <a:ext uri="{0D108BD9-81ED-4DB2-BD59-A6C34878D82A}">
                    <a16:rowId xmlns:a16="http://schemas.microsoft.com/office/drawing/2014/main" val="10002"/>
                  </a:ext>
                </a:extLst>
              </a:tr>
              <a:tr h="384869">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2.49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grpSp>
        <p:nvGrpSpPr>
          <p:cNvPr id="2" name="组合 1"/>
          <p:cNvGrpSpPr/>
          <p:nvPr/>
        </p:nvGrpSpPr>
        <p:grpSpPr>
          <a:xfrm>
            <a:off x="7688361" y="874501"/>
            <a:ext cx="2736102" cy="390680"/>
            <a:chOff x="7627406" y="1009668"/>
            <a:chExt cx="2736102" cy="390680"/>
          </a:xfrm>
        </p:grpSpPr>
        <p:grpSp>
          <p:nvGrpSpPr>
            <p:cNvPr id="24" name="组合 23"/>
            <p:cNvGrpSpPr/>
            <p:nvPr/>
          </p:nvGrpSpPr>
          <p:grpSpPr>
            <a:xfrm>
              <a:off x="7627406" y="1009668"/>
              <a:ext cx="2736102" cy="390680"/>
              <a:chOff x="2790266" y="142563"/>
              <a:chExt cx="3584682" cy="390680"/>
            </a:xfrm>
          </p:grpSpPr>
          <p:sp>
            <p:nvSpPr>
              <p:cNvPr id="25" name="圆角矩形 24"/>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6" name="组合 25"/>
              <p:cNvGrpSpPr/>
              <p:nvPr/>
            </p:nvGrpSpPr>
            <p:grpSpPr>
              <a:xfrm>
                <a:off x="5921798" y="256915"/>
                <a:ext cx="453150" cy="161976"/>
                <a:chOff x="264939" y="188640"/>
                <a:chExt cx="604358" cy="216024"/>
              </a:xfrm>
            </p:grpSpPr>
            <p:sp>
              <p:nvSpPr>
                <p:cNvPr id="31" name="燕尾形 3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3" name="燕尾形 32"/>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7" name="组合 26"/>
              <p:cNvGrpSpPr/>
              <p:nvPr/>
            </p:nvGrpSpPr>
            <p:grpSpPr>
              <a:xfrm rot="10800000">
                <a:off x="2790266" y="256915"/>
                <a:ext cx="453150" cy="161976"/>
                <a:chOff x="264939" y="188640"/>
                <a:chExt cx="604358" cy="216024"/>
              </a:xfrm>
            </p:grpSpPr>
            <p:sp>
              <p:nvSpPr>
                <p:cNvPr id="28" name="燕尾形 2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9" name="燕尾形 2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0" name="燕尾形 2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35" name="矩形 34"/>
            <p:cNvSpPr/>
            <p:nvPr/>
          </p:nvSpPr>
          <p:spPr>
            <a:xfrm>
              <a:off x="8406743" y="106091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专家门诊来源</a:t>
              </a:r>
            </a:p>
          </p:txBody>
        </p:sp>
      </p:grpSp>
      <p:sp>
        <p:nvSpPr>
          <p:cNvPr id="36" name="文本框 35"/>
          <p:cNvSpPr txBox="1"/>
          <p:nvPr/>
        </p:nvSpPr>
        <p:spPr>
          <a:xfrm>
            <a:off x="10523078" y="975191"/>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pSp>
        <p:nvGrpSpPr>
          <p:cNvPr id="5" name="组合 4"/>
          <p:cNvGrpSpPr/>
          <p:nvPr/>
        </p:nvGrpSpPr>
        <p:grpSpPr>
          <a:xfrm>
            <a:off x="1753274" y="1079589"/>
            <a:ext cx="2736102" cy="390680"/>
            <a:chOff x="1753274" y="1049753"/>
            <a:chExt cx="2736102" cy="390680"/>
          </a:xfrm>
        </p:grpSpPr>
        <p:grpSp>
          <p:nvGrpSpPr>
            <p:cNvPr id="38" name="组合 37"/>
            <p:cNvGrpSpPr/>
            <p:nvPr/>
          </p:nvGrpSpPr>
          <p:grpSpPr>
            <a:xfrm>
              <a:off x="1753274" y="1049753"/>
              <a:ext cx="2736102" cy="390680"/>
              <a:chOff x="2790266" y="142563"/>
              <a:chExt cx="3584682" cy="390680"/>
            </a:xfrm>
          </p:grpSpPr>
          <p:sp>
            <p:nvSpPr>
              <p:cNvPr id="39" name="圆角矩形 38"/>
              <p:cNvSpPr/>
              <p:nvPr/>
            </p:nvSpPr>
            <p:spPr>
              <a:xfrm>
                <a:off x="3492161" y="142563"/>
                <a:ext cx="2159679"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3622" y="1091247"/>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门诊业务结构</a:t>
              </a:r>
            </a:p>
          </p:txBody>
        </p:sp>
      </p:grpSp>
      <p:sp>
        <p:nvSpPr>
          <p:cNvPr id="54" name="文本框 53"/>
          <p:cNvSpPr txBox="1"/>
          <p:nvPr/>
        </p:nvSpPr>
        <p:spPr>
          <a:xfrm>
            <a:off x="4267129" y="160687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aphicFrame>
        <p:nvGraphicFramePr>
          <p:cNvPr id="56" name="表格 55"/>
          <p:cNvGraphicFramePr>
            <a:graphicFrameLocks noGrp="1"/>
          </p:cNvGraphicFramePr>
          <p:nvPr/>
        </p:nvGraphicFramePr>
        <p:xfrm>
          <a:off x="6921254" y="3764602"/>
          <a:ext cx="4500000" cy="1619999"/>
        </p:xfrm>
        <a:graphic>
          <a:graphicData uri="http://schemas.openxmlformats.org/drawingml/2006/table">
            <a:tbl>
              <a:tblPr firstRow="1" bandRow="1">
                <a:tableStyleId>{22838BEF-8BB2-4498-84A7-C5851F593DF1}</a:tableStyleId>
              </a:tblPr>
              <a:tblGrid>
                <a:gridCol w="1125000">
                  <a:extLst>
                    <a:ext uri="{9D8B030D-6E8A-4147-A177-3AD203B41FA5}">
                      <a16:colId xmlns:a16="http://schemas.microsoft.com/office/drawing/2014/main" val="20000"/>
                    </a:ext>
                  </a:extLst>
                </a:gridCol>
                <a:gridCol w="1125000">
                  <a:extLst>
                    <a:ext uri="{9D8B030D-6E8A-4147-A177-3AD203B41FA5}">
                      <a16:colId xmlns:a16="http://schemas.microsoft.com/office/drawing/2014/main" val="20001"/>
                    </a:ext>
                  </a:extLst>
                </a:gridCol>
                <a:gridCol w="1125000">
                  <a:extLst>
                    <a:ext uri="{9D8B030D-6E8A-4147-A177-3AD203B41FA5}">
                      <a16:colId xmlns:a16="http://schemas.microsoft.com/office/drawing/2014/main" val="20002"/>
                    </a:ext>
                  </a:extLst>
                </a:gridCol>
                <a:gridCol w="1125000">
                  <a:extLst>
                    <a:ext uri="{9D8B030D-6E8A-4147-A177-3AD203B41FA5}">
                      <a16:colId xmlns:a16="http://schemas.microsoft.com/office/drawing/2014/main" val="20003"/>
                    </a:ext>
                  </a:extLst>
                </a:gridCol>
              </a:tblGrid>
              <a:tr h="526260">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329556">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特需门诊</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3.83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14.9%</a:t>
                      </a:r>
                    </a:p>
                  </a:txBody>
                  <a:tcPr marL="9842" marR="9842" marT="9842" marB="0" anchor="ctr"/>
                </a:tc>
                <a:extLst>
                  <a:ext uri="{0D108BD9-81ED-4DB2-BD59-A6C34878D82A}">
                    <a16:rowId xmlns:a16="http://schemas.microsoft.com/office/drawing/2014/main" val="10001"/>
                  </a:ext>
                </a:extLst>
              </a:tr>
              <a:tr h="434627">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3.57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7.3%</a:t>
                      </a:r>
                    </a:p>
                  </a:txBody>
                  <a:tcPr marL="9842" marR="9842" marT="9842" marB="0" anchor="ctr"/>
                </a:tc>
                <a:extLst>
                  <a:ext uri="{0D108BD9-81ED-4DB2-BD59-A6C34878D82A}">
                    <a16:rowId xmlns:a16="http://schemas.microsoft.com/office/drawing/2014/main" val="10002"/>
                  </a:ext>
                </a:extLst>
              </a:tr>
              <a:tr h="32955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0.25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grpSp>
        <p:nvGrpSpPr>
          <p:cNvPr id="57" name="组合 56"/>
          <p:cNvGrpSpPr/>
          <p:nvPr/>
        </p:nvGrpSpPr>
        <p:grpSpPr>
          <a:xfrm>
            <a:off x="7688361" y="3222403"/>
            <a:ext cx="2736102" cy="390680"/>
            <a:chOff x="7627406" y="1009668"/>
            <a:chExt cx="2736102" cy="390680"/>
          </a:xfrm>
        </p:grpSpPr>
        <p:grpSp>
          <p:nvGrpSpPr>
            <p:cNvPr id="58" name="组合 57"/>
            <p:cNvGrpSpPr/>
            <p:nvPr/>
          </p:nvGrpSpPr>
          <p:grpSpPr>
            <a:xfrm>
              <a:off x="7627406" y="1009668"/>
              <a:ext cx="2736102" cy="390680"/>
              <a:chOff x="2790266" y="142563"/>
              <a:chExt cx="3584682" cy="390680"/>
            </a:xfrm>
          </p:grpSpPr>
          <p:sp>
            <p:nvSpPr>
              <p:cNvPr id="60" name="圆角矩形 59"/>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61" name="组合 60"/>
              <p:cNvGrpSpPr/>
              <p:nvPr/>
            </p:nvGrpSpPr>
            <p:grpSpPr>
              <a:xfrm>
                <a:off x="5921798" y="256915"/>
                <a:ext cx="453150" cy="161976"/>
                <a:chOff x="264939" y="188640"/>
                <a:chExt cx="604358" cy="216024"/>
              </a:xfrm>
            </p:grpSpPr>
            <p:sp>
              <p:nvSpPr>
                <p:cNvPr id="66" name="燕尾形 6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7" name="燕尾形 6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8" name="燕尾形 6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62" name="组合 61"/>
              <p:cNvGrpSpPr/>
              <p:nvPr/>
            </p:nvGrpSpPr>
            <p:grpSpPr>
              <a:xfrm rot="10800000">
                <a:off x="2790266" y="256915"/>
                <a:ext cx="453150" cy="161976"/>
                <a:chOff x="264939" y="188640"/>
                <a:chExt cx="604358" cy="216024"/>
              </a:xfrm>
            </p:grpSpPr>
            <p:sp>
              <p:nvSpPr>
                <p:cNvPr id="63" name="燕尾形 6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4" name="燕尾形 6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5" name="燕尾形 6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59" name="矩形 58"/>
            <p:cNvSpPr/>
            <p:nvPr/>
          </p:nvSpPr>
          <p:spPr>
            <a:xfrm>
              <a:off x="8364607" y="1048887"/>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特需门诊来源</a:t>
              </a:r>
            </a:p>
          </p:txBody>
        </p:sp>
      </p:grpSp>
      <p:sp>
        <p:nvSpPr>
          <p:cNvPr id="69" name="文本框 68"/>
          <p:cNvSpPr txBox="1"/>
          <p:nvPr/>
        </p:nvSpPr>
        <p:spPr>
          <a:xfrm>
            <a:off x="10544395" y="3320889"/>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pSp>
        <p:nvGrpSpPr>
          <p:cNvPr id="10" name="组合 9"/>
          <p:cNvGrpSpPr/>
          <p:nvPr/>
        </p:nvGrpSpPr>
        <p:grpSpPr>
          <a:xfrm>
            <a:off x="1282911" y="2015860"/>
            <a:ext cx="3926501" cy="1285875"/>
            <a:chOff x="2553" y="3835"/>
            <a:chExt cx="5725" cy="2025"/>
          </a:xfrm>
        </p:grpSpPr>
        <p:sp>
          <p:nvSpPr>
            <p:cNvPr id="12" name="文本框 11"/>
            <p:cNvSpPr txBox="1"/>
            <p:nvPr/>
          </p:nvSpPr>
          <p:spPr>
            <a:xfrm>
              <a:off x="4701" y="5353"/>
              <a:ext cx="1224"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+14.9%</a:t>
              </a:r>
            </a:p>
          </p:txBody>
        </p:sp>
        <p:sp>
          <p:nvSpPr>
            <p:cNvPr id="13" name="文本框 12"/>
            <p:cNvSpPr txBox="1"/>
            <p:nvPr/>
          </p:nvSpPr>
          <p:spPr>
            <a:xfrm>
              <a:off x="6786" y="3835"/>
              <a:ext cx="1492"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+34.3%</a:t>
              </a:r>
            </a:p>
          </p:txBody>
        </p:sp>
        <p:sp>
          <p:nvSpPr>
            <p:cNvPr id="14" name="文本框 13"/>
            <p:cNvSpPr txBox="1"/>
            <p:nvPr/>
          </p:nvSpPr>
          <p:spPr>
            <a:xfrm>
              <a:off x="2553" y="5347"/>
              <a:ext cx="1567"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+36.8%</a:t>
              </a:r>
            </a:p>
          </p:txBody>
        </p:sp>
      </p:grpSp>
      <p:graphicFrame>
        <p:nvGraphicFramePr>
          <p:cNvPr id="9" name="图表 8"/>
          <p:cNvGraphicFramePr/>
          <p:nvPr/>
        </p:nvGraphicFramePr>
        <p:xfrm>
          <a:off x="1282383" y="2176780"/>
          <a:ext cx="4143375" cy="23050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急诊人次</a:t>
            </a:r>
          </a:p>
        </p:txBody>
      </p:sp>
      <p:sp>
        <p:nvSpPr>
          <p:cNvPr id="52" name="矩形 51"/>
          <p:cNvSpPr/>
          <p:nvPr/>
        </p:nvSpPr>
        <p:spPr>
          <a:xfrm>
            <a:off x="474669" y="5159614"/>
            <a:ext cx="11650844" cy="119761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6.42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42.7%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4.33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43%</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lang="en-US" altLang="zh-CN" sz="1600" b="1" kern="0" dirty="0">
                <a:solidFill>
                  <a:srgbClr val="C00000"/>
                </a:solidFill>
                <a:latin typeface="微软雅黑" panose="020B0503020204020204" pitchFamily="34" charset="-122"/>
                <a:ea typeface="微软雅黑" panose="020B0503020204020204" pitchFamily="34" charset="-122"/>
              </a:rPr>
              <a:t>42.1</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急诊业务量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急诊人次</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6.42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42.7%</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4.43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4.50 </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-1.6%</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1.99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713355" y="2016760"/>
            <a:ext cx="119126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+42.7%</a:t>
            </a:r>
          </a:p>
        </p:txBody>
      </p:sp>
      <p:graphicFrame>
        <p:nvGraphicFramePr>
          <p:cNvPr id="8" name="图表 7"/>
          <p:cNvGraphicFramePr/>
          <p:nvPr/>
        </p:nvGraphicFramePr>
        <p:xfrm>
          <a:off x="1132523" y="2117725"/>
          <a:ext cx="4385945" cy="234315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2768633" y="4333249"/>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69" name="组合 68"/>
          <p:cNvGrpSpPr/>
          <p:nvPr/>
        </p:nvGrpSpPr>
        <p:grpSpPr>
          <a:xfrm>
            <a:off x="1433559" y="1307425"/>
            <a:ext cx="2736102" cy="390680"/>
            <a:chOff x="2790266" y="142563"/>
            <a:chExt cx="3584682" cy="390680"/>
          </a:xfrm>
        </p:grpSpPr>
        <p:sp>
          <p:nvSpPr>
            <p:cNvPr id="70" name="圆角矩形 69"/>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71" name="组合 70"/>
            <p:cNvGrpSpPr/>
            <p:nvPr/>
          </p:nvGrpSpPr>
          <p:grpSpPr>
            <a:xfrm>
              <a:off x="5921798" y="256915"/>
              <a:ext cx="453150" cy="161976"/>
              <a:chOff x="264939" y="188640"/>
              <a:chExt cx="604358" cy="216024"/>
            </a:xfrm>
          </p:grpSpPr>
          <p:sp>
            <p:nvSpPr>
              <p:cNvPr id="76" name="燕尾形 7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7" name="燕尾形 7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8" name="燕尾形 7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72" name="组合 71"/>
            <p:cNvGrpSpPr/>
            <p:nvPr/>
          </p:nvGrpSpPr>
          <p:grpSpPr>
            <a:xfrm rot="10800000">
              <a:off x="2790266" y="256915"/>
              <a:ext cx="453150" cy="161976"/>
              <a:chOff x="264939" y="188640"/>
              <a:chExt cx="604358" cy="216024"/>
            </a:xfrm>
          </p:grpSpPr>
          <p:sp>
            <p:nvSpPr>
              <p:cNvPr id="73" name="燕尾形 7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4" name="燕尾形 7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5" name="燕尾形 7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79" name="矩形 78"/>
          <p:cNvSpPr/>
          <p:nvPr/>
        </p:nvSpPr>
        <p:spPr>
          <a:xfrm>
            <a:off x="2334750" y="1367164"/>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sp>
        <p:nvSpPr>
          <p:cNvPr id="80" name="文本框 79"/>
          <p:cNvSpPr txBox="1"/>
          <p:nvPr/>
        </p:nvSpPr>
        <p:spPr>
          <a:xfrm>
            <a:off x="4148461" y="2016555"/>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52" name="矩形 51"/>
          <p:cNvSpPr/>
          <p:nvPr/>
        </p:nvSpPr>
        <p:spPr>
          <a:xfrm>
            <a:off x="355594" y="5266594"/>
            <a:ext cx="11618944"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月，住院人次为</a:t>
            </a:r>
            <a:r>
              <a:rPr lang="en-US" altLang="zh-CN" sz="1600" b="1" kern="0" dirty="0">
                <a:solidFill>
                  <a:srgbClr val="002060"/>
                </a:solidFill>
                <a:latin typeface="微软雅黑" panose="020B0503020204020204" pitchFamily="34" charset="-122"/>
                <a:ea typeface="微软雅黑" panose="020B0503020204020204" pitchFamily="34" charset="-122"/>
              </a:rPr>
              <a:t>1.55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万人次，同比增长</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0.25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a:t>
            </a:r>
            <a:r>
              <a:rPr lang="zh-CN" altLang="en-US" sz="1600" b="1" kern="0" dirty="0">
                <a:solidFill>
                  <a:srgbClr val="002060"/>
                </a:solidFill>
                <a:latin typeface="微软雅黑" panose="020B0503020204020204" pitchFamily="34" charset="-122"/>
                <a:ea typeface="微软雅黑" panose="020B0503020204020204" pitchFamily="34" charset="-122"/>
              </a:rPr>
              <a:t>同比</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19.2%</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1.26</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19.4%</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0.3</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18.5%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月，奉贤院区住院人次为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0.36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万人次</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23.1%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住院业务量</a:t>
            </a:r>
          </a:p>
        </p:txBody>
      </p:sp>
      <p:graphicFrame>
        <p:nvGraphicFramePr>
          <p:cNvPr id="6" name="表格 5"/>
          <p:cNvGraphicFramePr>
            <a:graphicFrameLocks noGrp="1"/>
          </p:cNvGraphicFramePr>
          <p:nvPr/>
        </p:nvGraphicFramePr>
        <p:xfrm>
          <a:off x="6437744" y="2377752"/>
          <a:ext cx="4839856" cy="2123972"/>
        </p:xfrm>
        <a:graphic>
          <a:graphicData uri="http://schemas.openxmlformats.org/drawingml/2006/table">
            <a:tbl>
              <a:tblPr firstRow="1" bandRow="1">
                <a:tableStyleId>{22838BEF-8BB2-4498-84A7-C5851F593DF1}</a:tableStyleId>
              </a:tblPr>
              <a:tblGrid>
                <a:gridCol w="1209964">
                  <a:extLst>
                    <a:ext uri="{9D8B030D-6E8A-4147-A177-3AD203B41FA5}">
                      <a16:colId xmlns:a16="http://schemas.microsoft.com/office/drawing/2014/main" val="20000"/>
                    </a:ext>
                  </a:extLst>
                </a:gridCol>
                <a:gridCol w="1209964">
                  <a:extLst>
                    <a:ext uri="{9D8B030D-6E8A-4147-A177-3AD203B41FA5}">
                      <a16:colId xmlns:a16="http://schemas.microsoft.com/office/drawing/2014/main" val="20001"/>
                    </a:ext>
                  </a:extLst>
                </a:gridCol>
                <a:gridCol w="1209964">
                  <a:extLst>
                    <a:ext uri="{9D8B030D-6E8A-4147-A177-3AD203B41FA5}">
                      <a16:colId xmlns:a16="http://schemas.microsoft.com/office/drawing/2014/main" val="20002"/>
                    </a:ext>
                  </a:extLst>
                </a:gridCol>
                <a:gridCol w="1209964">
                  <a:extLst>
                    <a:ext uri="{9D8B030D-6E8A-4147-A177-3AD203B41FA5}">
                      <a16:colId xmlns:a16="http://schemas.microsoft.com/office/drawing/2014/main" val="20003"/>
                    </a:ext>
                  </a:extLst>
                </a:gridCol>
              </a:tblGrid>
              <a:tr h="530993">
                <a:tc>
                  <a:txBody>
                    <a:bodyPr/>
                    <a:lstStyle/>
                    <a:p>
                      <a:pPr algn="ctr" rtl="0" fontAlgn="ctr">
                        <a:buNone/>
                      </a:pP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30993">
                <a:tc>
                  <a:txBody>
                    <a:bodyPr/>
                    <a:lstStyle/>
                    <a:p>
                      <a:pPr algn="ctr" rtl="0" fontAlgn="ctr">
                        <a:buNone/>
                      </a:pP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住院人次</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1.30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19.2%</a:t>
                      </a:r>
                    </a:p>
                  </a:txBody>
                  <a:tcPr marL="9842" marR="9842" marT="9842" marB="0" anchor="ctr"/>
                </a:tc>
                <a:extLst>
                  <a:ext uri="{0D108BD9-81ED-4DB2-BD59-A6C34878D82A}">
                    <a16:rowId xmlns:a16="http://schemas.microsoft.com/office/drawing/2014/main" val="10001"/>
                  </a:ext>
                </a:extLst>
              </a:tr>
              <a:tr h="530993">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1.19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1.30 </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-8.3%</a:t>
                      </a:r>
                    </a:p>
                  </a:txBody>
                  <a:tcPr marL="9842" marR="9842" marT="9842" marB="0" anchor="ctr"/>
                </a:tc>
                <a:extLst>
                  <a:ext uri="{0D108BD9-81ED-4DB2-BD59-A6C34878D82A}">
                    <a16:rowId xmlns:a16="http://schemas.microsoft.com/office/drawing/2014/main" val="10002"/>
                  </a:ext>
                </a:extLst>
              </a:tr>
              <a:tr h="530993">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0.36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2" name="组合 21"/>
          <p:cNvGrpSpPr/>
          <p:nvPr/>
        </p:nvGrpSpPr>
        <p:grpSpPr>
          <a:xfrm>
            <a:off x="7323367" y="1324445"/>
            <a:ext cx="2736102" cy="390680"/>
            <a:chOff x="2790266" y="142563"/>
            <a:chExt cx="3584682" cy="390680"/>
          </a:xfrm>
        </p:grpSpPr>
        <p:sp>
          <p:nvSpPr>
            <p:cNvPr id="23" name="圆角矩形 2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4" name="组合 23"/>
            <p:cNvGrpSpPr/>
            <p:nvPr/>
          </p:nvGrpSpPr>
          <p:grpSpPr>
            <a:xfrm>
              <a:off x="5921798" y="256915"/>
              <a:ext cx="453150" cy="161976"/>
              <a:chOff x="264939" y="188640"/>
              <a:chExt cx="604358" cy="216024"/>
            </a:xfrm>
          </p:grpSpPr>
          <p:sp>
            <p:nvSpPr>
              <p:cNvPr id="29" name="燕尾形 28"/>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0" name="燕尾形 2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1" name="燕尾形 3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5" name="组合 24"/>
            <p:cNvGrpSpPr/>
            <p:nvPr/>
          </p:nvGrpSpPr>
          <p:grpSpPr>
            <a:xfrm rot="10800000">
              <a:off x="2790266" y="256915"/>
              <a:ext cx="453150" cy="161976"/>
              <a:chOff x="264939" y="188640"/>
              <a:chExt cx="604358" cy="216024"/>
            </a:xfrm>
          </p:grpSpPr>
          <p:sp>
            <p:nvSpPr>
              <p:cNvPr id="26" name="燕尾形 2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7" name="燕尾形 2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8" name="燕尾形 2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32" name="矩形 31"/>
          <p:cNvSpPr/>
          <p:nvPr/>
        </p:nvSpPr>
        <p:spPr>
          <a:xfrm>
            <a:off x="8069043" y="1365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住院人次来源</a:t>
            </a:r>
          </a:p>
        </p:txBody>
      </p:sp>
      <p:sp>
        <p:nvSpPr>
          <p:cNvPr id="33" name="文本框 32"/>
          <p:cNvSpPr txBox="1"/>
          <p:nvPr/>
        </p:nvSpPr>
        <p:spPr>
          <a:xfrm>
            <a:off x="10059469" y="2016555"/>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7" name="文本框 6"/>
          <p:cNvSpPr txBox="1"/>
          <p:nvPr/>
        </p:nvSpPr>
        <p:spPr>
          <a:xfrm>
            <a:off x="2425065" y="2434590"/>
            <a:ext cx="119253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+19.2%</a:t>
            </a:r>
            <a:endParaRPr kumimoji="0" lang="zh-CN" altLang="en-US"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aphicFrame>
        <p:nvGraphicFramePr>
          <p:cNvPr id="8" name="图表 7"/>
          <p:cNvGraphicFramePr/>
          <p:nvPr/>
        </p:nvGraphicFramePr>
        <p:xfrm>
          <a:off x="998855" y="2377123"/>
          <a:ext cx="4290060" cy="19716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lang="zh-CN" altLang="en-US" sz="3200" b="1" kern="0" dirty="0">
                <a:solidFill>
                  <a:srgbClr val="071F65"/>
                </a:solidFill>
                <a:sym typeface="Calibri" panose="020F0502020204030204" pitchFamily="34" charset="0"/>
              </a:rPr>
              <a:t>住院业务量</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杨浦院区同比下降前十科室</a:t>
            </a:r>
          </a:p>
        </p:txBody>
      </p:sp>
      <p:graphicFrame>
        <p:nvGraphicFramePr>
          <p:cNvPr id="6" name="表格 5"/>
          <p:cNvGraphicFramePr/>
          <p:nvPr/>
        </p:nvGraphicFramePr>
        <p:xfrm>
          <a:off x="755015" y="1555115"/>
          <a:ext cx="10480040" cy="3598545"/>
        </p:xfrm>
        <a:graphic>
          <a:graphicData uri="http://schemas.openxmlformats.org/drawingml/2006/table">
            <a:tbl>
              <a:tblPr/>
              <a:tblGrid>
                <a:gridCol w="24955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692910">
                  <a:extLst>
                    <a:ext uri="{9D8B030D-6E8A-4147-A177-3AD203B41FA5}">
                      <a16:colId xmlns:a16="http://schemas.microsoft.com/office/drawing/2014/main" val="20002"/>
                    </a:ext>
                  </a:extLst>
                </a:gridCol>
                <a:gridCol w="1487170">
                  <a:extLst>
                    <a:ext uri="{9D8B030D-6E8A-4147-A177-3AD203B41FA5}">
                      <a16:colId xmlns:a16="http://schemas.microsoft.com/office/drawing/2014/main" val="20003"/>
                    </a:ext>
                  </a:extLst>
                </a:gridCol>
                <a:gridCol w="1760220">
                  <a:extLst>
                    <a:ext uri="{9D8B030D-6E8A-4147-A177-3AD203B41FA5}">
                      <a16:colId xmlns:a16="http://schemas.microsoft.com/office/drawing/2014/main" val="20004"/>
                    </a:ext>
                  </a:extLst>
                </a:gridCol>
                <a:gridCol w="1453515">
                  <a:extLst>
                    <a:ext uri="{9D8B030D-6E8A-4147-A177-3AD203B41FA5}">
                      <a16:colId xmlns:a16="http://schemas.microsoft.com/office/drawing/2014/main" val="20005"/>
                    </a:ext>
                  </a:extLst>
                </a:gridCol>
              </a:tblGrid>
              <a:tr h="54356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247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601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-58.90%</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374</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-33.96%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乳腺外科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-45.58%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-23.81%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282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422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-33.18%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315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-10.48%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978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-33.01%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530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-8.11%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-28.88%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451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-11.53%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-28.48%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-4.07%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儿泌尿外科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-19.19%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148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-6.08%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486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-18.75%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-18.75%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195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238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-18.07%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214</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-8.88%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移植科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-13.79%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38.89%</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4777123" y="967572"/>
            <a:ext cx="2736102"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678314" y="1027311"/>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sp>
        <p:nvSpPr>
          <p:cNvPr id="19" name="矩形 18"/>
          <p:cNvSpPr/>
          <p:nvPr/>
        </p:nvSpPr>
        <p:spPr>
          <a:xfrm>
            <a:off x="571500" y="5306200"/>
            <a:ext cx="10912131"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，杨浦院区住院业务量同比下降前十的科室有</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肛肠、乳腺、五官、骨科、泌尿外、急诊医学、儿泌尿、儿急危、儿骨、移植科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5</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同比下降前十</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科室</a:t>
            </a:r>
            <a:r>
              <a:rPr lang="zh-CN" altLang="en-US" sz="1600" b="1" kern="0" dirty="0">
                <a:solidFill>
                  <a:srgbClr val="002060"/>
                </a:solidFill>
                <a:latin typeface="微软雅黑" panose="020B0503020204020204" pitchFamily="34" charset="-122"/>
                <a:ea typeface="微软雅黑" panose="020B0503020204020204" pitchFamily="34" charset="-122"/>
              </a:rPr>
              <a:t>除</a:t>
            </a:r>
            <a:r>
              <a:rPr lang="zh-CN" altLang="en-US" sz="1600" b="1" kern="0" dirty="0">
                <a:solidFill>
                  <a:srgbClr val="C00000"/>
                </a:solidFill>
                <a:latin typeface="微软雅黑" panose="020B0503020204020204" pitchFamily="34" charset="-122"/>
                <a:ea typeface="微软雅黑" panose="020B0503020204020204" pitchFamily="34" charset="-122"/>
              </a:rPr>
              <a:t>移植科</a:t>
            </a:r>
            <a:r>
              <a:rPr lang="zh-CN" altLang="en-US" sz="1600" b="1" kern="0" dirty="0">
                <a:solidFill>
                  <a:srgbClr val="002060"/>
                </a:solidFill>
                <a:latin typeface="微软雅黑" panose="020B0503020204020204" pitchFamily="34" charset="-122"/>
                <a:ea typeface="微软雅黑" panose="020B0503020204020204" pitchFamily="34" charset="-122"/>
              </a:rPr>
              <a:t>外</a:t>
            </a:r>
            <a:r>
              <a:rPr lang="en-US" altLang="zh-CN"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rgbClr val="002060"/>
                </a:solidFill>
                <a:latin typeface="微软雅黑" panose="020B0503020204020204" pitchFamily="34" charset="-122"/>
                <a:ea typeface="微软雅黑" panose="020B0503020204020204" pitchFamily="34" charset="-122"/>
              </a:rPr>
              <a:t>其他科室</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月业务量都</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22910" y="236855"/>
            <a:ext cx="7267575"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20204" pitchFamily="34" charset="0"/>
                <a:ea typeface="微软雅黑" panose="020B0503020204020204" pitchFamily="34" charset="-122"/>
                <a:sym typeface="Calibri" panose="020F0502020204030204" pitchFamily="34" charset="0"/>
              </a:rPr>
              <a:t>杨浦院区住院业务量前十科室增减幅度</a:t>
            </a:r>
          </a:p>
        </p:txBody>
      </p:sp>
      <p:grpSp>
        <p:nvGrpSpPr>
          <p:cNvPr id="7" name="组合 6"/>
          <p:cNvGrpSpPr/>
          <p:nvPr/>
        </p:nvGrpSpPr>
        <p:grpSpPr>
          <a:xfrm>
            <a:off x="4833638" y="944077"/>
            <a:ext cx="2736102"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678314" y="1027311"/>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graphicFrame>
        <p:nvGraphicFramePr>
          <p:cNvPr id="12" name="表格 11"/>
          <p:cNvGraphicFramePr/>
          <p:nvPr/>
        </p:nvGraphicFramePr>
        <p:xfrm>
          <a:off x="755015" y="1555115"/>
          <a:ext cx="10480040" cy="3580765"/>
        </p:xfrm>
        <a:graphic>
          <a:graphicData uri="http://schemas.openxmlformats.org/drawingml/2006/table">
            <a:tbl>
              <a:tblPr/>
              <a:tblGrid>
                <a:gridCol w="24955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692910">
                  <a:extLst>
                    <a:ext uri="{9D8B030D-6E8A-4147-A177-3AD203B41FA5}">
                      <a16:colId xmlns:a16="http://schemas.microsoft.com/office/drawing/2014/main" val="20002"/>
                    </a:ext>
                  </a:extLst>
                </a:gridCol>
                <a:gridCol w="1487170">
                  <a:extLst>
                    <a:ext uri="{9D8B030D-6E8A-4147-A177-3AD203B41FA5}">
                      <a16:colId xmlns:a16="http://schemas.microsoft.com/office/drawing/2014/main" val="20003"/>
                    </a:ext>
                  </a:extLst>
                </a:gridCol>
                <a:gridCol w="1760220">
                  <a:extLst>
                    <a:ext uri="{9D8B030D-6E8A-4147-A177-3AD203B41FA5}">
                      <a16:colId xmlns:a16="http://schemas.microsoft.com/office/drawing/2014/main" val="20004"/>
                    </a:ext>
                  </a:extLst>
                </a:gridCol>
                <a:gridCol w="1453515">
                  <a:extLst>
                    <a:ext uri="{9D8B030D-6E8A-4147-A177-3AD203B41FA5}">
                      <a16:colId xmlns:a16="http://schemas.microsoft.com/office/drawing/2014/main" val="20005"/>
                    </a:ext>
                  </a:extLst>
                </a:gridCol>
              </a:tblGrid>
              <a:tr h="54356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2978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肿瘤内科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-12.49%</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0.22%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12.57%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902</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-9.65%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783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717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9.21%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870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-10.00%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978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777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824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-5.70%</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846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-8.16%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805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-13.04%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789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-11.28%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487</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-33.01%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530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-8.11%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消化内科（内窥镜诊治部）</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483</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492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495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-2.42%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486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血液内科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439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14.62%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13.73%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-28.88%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451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-11.53%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-2.70%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401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-10.22%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26" name="矩形 25"/>
          <p:cNvSpPr/>
          <p:nvPr/>
        </p:nvSpPr>
        <p:spPr>
          <a:xfrm>
            <a:off x="573772" y="535638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，杨浦院区住院业务量前十科室中，</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肿瘤</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普外、妇产科、骨科、消化、泌尿外、神外科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月，杨浦院区住院业务量前十科室中，除</a:t>
            </a:r>
            <a:r>
              <a:rPr kumimoji="0" 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肿瘤、血液科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月业务量都</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下降</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474669" y="5563975"/>
            <a:ext cx="1120233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月，开展住院手术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781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107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。其中四级手术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216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，微创手术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265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人次），同比增幅</a:t>
            </a:r>
            <a:r>
              <a:rPr lang="en-US" altLang="zh-CN" sz="1600" b="1" kern="0" dirty="0">
                <a:solidFill>
                  <a:srgbClr val="C00000"/>
                </a:solidFill>
                <a:latin typeface="微软雅黑" panose="020B0503020204020204" pitchFamily="34" charset="-122"/>
                <a:ea typeface="微软雅黑" panose="020B0503020204020204" pitchFamily="34" charset="-122"/>
              </a:rPr>
              <a:t>12.3</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30570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住院手术业务量</a:t>
            </a:r>
          </a:p>
        </p:txBody>
      </p:sp>
      <p:grpSp>
        <p:nvGrpSpPr>
          <p:cNvPr id="45" name="组合 44"/>
          <p:cNvGrpSpPr/>
          <p:nvPr>
            <p:custDataLst>
              <p:tags r:id="rId1"/>
            </p:custDataLst>
          </p:nvPr>
        </p:nvGrpSpPr>
        <p:grpSpPr>
          <a:xfrm>
            <a:off x="2024603" y="1110564"/>
            <a:ext cx="2736102" cy="390680"/>
            <a:chOff x="2790266" y="142563"/>
            <a:chExt cx="3584682" cy="390680"/>
          </a:xfrm>
        </p:grpSpPr>
        <p:sp>
          <p:nvSpPr>
            <p:cNvPr id="46" name="圆角矩形 45"/>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7" name="组合 46"/>
            <p:cNvGrpSpPr/>
            <p:nvPr/>
          </p:nvGrpSpPr>
          <p:grpSpPr>
            <a:xfrm>
              <a:off x="5921798" y="256915"/>
              <a:ext cx="453150" cy="161976"/>
              <a:chOff x="264939" y="188640"/>
              <a:chExt cx="604358" cy="216024"/>
            </a:xfrm>
          </p:grpSpPr>
          <p:sp>
            <p:nvSpPr>
              <p:cNvPr id="52" name="燕尾形 51"/>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3" name="燕尾形 52"/>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4" name="燕尾形 53"/>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8" name="组合 47"/>
            <p:cNvGrpSpPr/>
            <p:nvPr/>
          </p:nvGrpSpPr>
          <p:grpSpPr>
            <a:xfrm rot="10800000">
              <a:off x="2790266" y="256915"/>
              <a:ext cx="453150" cy="161976"/>
              <a:chOff x="264939" y="188640"/>
              <a:chExt cx="604358" cy="216024"/>
            </a:xfrm>
          </p:grpSpPr>
          <p:sp>
            <p:nvSpPr>
              <p:cNvPr id="49" name="燕尾形 48"/>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0" name="燕尾形 4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1" name="燕尾形 5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55" name="矩形 54"/>
          <p:cNvSpPr/>
          <p:nvPr>
            <p:custDataLst>
              <p:tags r:id="rId2"/>
            </p:custDataLst>
          </p:nvPr>
        </p:nvSpPr>
        <p:spPr>
          <a:xfrm>
            <a:off x="2767326" y="113197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住院手术人次</a:t>
            </a:r>
          </a:p>
        </p:txBody>
      </p:sp>
      <p:sp>
        <p:nvSpPr>
          <p:cNvPr id="57" name="文本框 56"/>
          <p:cNvSpPr txBox="1"/>
          <p:nvPr>
            <p:custDataLst>
              <p:tags r:id="rId3"/>
            </p:custDataLst>
          </p:nvPr>
        </p:nvSpPr>
        <p:spPr>
          <a:xfrm>
            <a:off x="4760705" y="1477648"/>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单位：人次</a:t>
            </a:r>
          </a:p>
        </p:txBody>
      </p:sp>
      <p:grpSp>
        <p:nvGrpSpPr>
          <p:cNvPr id="36" name="组合 35"/>
          <p:cNvGrpSpPr/>
          <p:nvPr>
            <p:custDataLst>
              <p:tags r:id="rId4"/>
            </p:custDataLst>
          </p:nvPr>
        </p:nvGrpSpPr>
        <p:grpSpPr>
          <a:xfrm>
            <a:off x="7786340" y="1089155"/>
            <a:ext cx="2265440" cy="386886"/>
            <a:chOff x="1868021" y="1085100"/>
            <a:chExt cx="2736102" cy="674545"/>
          </a:xfrm>
        </p:grpSpPr>
        <p:grpSp>
          <p:nvGrpSpPr>
            <p:cNvPr id="39" name="组合 38"/>
            <p:cNvGrpSpPr/>
            <p:nvPr/>
          </p:nvGrpSpPr>
          <p:grpSpPr>
            <a:xfrm>
              <a:off x="1868021" y="1085100"/>
              <a:ext cx="2736102" cy="674545"/>
              <a:chOff x="2790266" y="52109"/>
              <a:chExt cx="3584682" cy="558654"/>
            </a:xfrm>
          </p:grpSpPr>
          <p:sp>
            <p:nvSpPr>
              <p:cNvPr id="41" name="圆角矩形 40"/>
              <p:cNvSpPr/>
              <p:nvPr>
                <p:custDataLst>
                  <p:tags r:id="rId7"/>
                </p:custDataLst>
              </p:nvPr>
            </p:nvSpPr>
            <p:spPr>
              <a:xfrm>
                <a:off x="3452485" y="52109"/>
                <a:ext cx="2276003" cy="558654"/>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2" name="组合 41"/>
              <p:cNvGrpSpPr/>
              <p:nvPr/>
            </p:nvGrpSpPr>
            <p:grpSpPr>
              <a:xfrm>
                <a:off x="5921798" y="256915"/>
                <a:ext cx="453150" cy="161976"/>
                <a:chOff x="264939" y="188640"/>
                <a:chExt cx="604358" cy="216024"/>
              </a:xfrm>
            </p:grpSpPr>
            <p:sp>
              <p:nvSpPr>
                <p:cNvPr id="60" name="燕尾形 59"/>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1" name="燕尾形 60"/>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3" name="组合 42"/>
              <p:cNvGrpSpPr/>
              <p:nvPr/>
            </p:nvGrpSpPr>
            <p:grpSpPr>
              <a:xfrm rot="10800000">
                <a:off x="2790266" y="256915"/>
                <a:ext cx="453150" cy="161976"/>
                <a:chOff x="264939" y="188640"/>
                <a:chExt cx="604358" cy="216024"/>
              </a:xfrm>
            </p:grpSpPr>
            <p:sp>
              <p:nvSpPr>
                <p:cNvPr id="44" name="燕尾形 4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6" name="燕尾形 55"/>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6"/>
              </p:custDataLst>
            </p:nvPr>
          </p:nvSpPr>
          <p:spPr>
            <a:xfrm>
              <a:off x="2298350" y="1161948"/>
              <a:ext cx="1804554" cy="536468"/>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四级和微创手术</a:t>
              </a:r>
            </a:p>
          </p:txBody>
        </p:sp>
      </p:grpSp>
      <p:sp>
        <p:nvSpPr>
          <p:cNvPr id="58" name="文本框 57"/>
          <p:cNvSpPr txBox="1"/>
          <p:nvPr>
            <p:custDataLst>
              <p:tags r:id="rId5"/>
            </p:custDataLst>
          </p:nvPr>
        </p:nvSpPr>
        <p:spPr>
          <a:xfrm>
            <a:off x="9863721" y="1477648"/>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单位：人次</a:t>
            </a:r>
          </a:p>
        </p:txBody>
      </p:sp>
      <p:sp>
        <p:nvSpPr>
          <p:cNvPr id="4" name="文本框 3"/>
          <p:cNvSpPr txBox="1"/>
          <p:nvPr/>
        </p:nvSpPr>
        <p:spPr>
          <a:xfrm>
            <a:off x="2959735" y="1946910"/>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+5.5%</a:t>
            </a:r>
          </a:p>
        </p:txBody>
      </p:sp>
      <p:sp>
        <p:nvSpPr>
          <p:cNvPr id="9" name="文本框 8"/>
          <p:cNvSpPr txBox="1"/>
          <p:nvPr/>
        </p:nvSpPr>
        <p:spPr>
          <a:xfrm>
            <a:off x="9515274" y="2072735"/>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+12.3%</a:t>
            </a:r>
          </a:p>
        </p:txBody>
      </p:sp>
      <p:sp>
        <p:nvSpPr>
          <p:cNvPr id="10" name="文本框 9"/>
          <p:cNvSpPr txBox="1"/>
          <p:nvPr/>
        </p:nvSpPr>
        <p:spPr>
          <a:xfrm>
            <a:off x="7293940" y="2072786"/>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+1.9%</a:t>
            </a:r>
          </a:p>
        </p:txBody>
      </p:sp>
      <p:graphicFrame>
        <p:nvGraphicFramePr>
          <p:cNvPr id="11" name="图表 10"/>
          <p:cNvGraphicFramePr/>
          <p:nvPr/>
        </p:nvGraphicFramePr>
        <p:xfrm>
          <a:off x="1757998" y="2440940"/>
          <a:ext cx="3857625" cy="2405380"/>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12" name="图表 11"/>
          <p:cNvGraphicFramePr/>
          <p:nvPr/>
        </p:nvGraphicFramePr>
        <p:xfrm>
          <a:off x="6935788" y="2314893"/>
          <a:ext cx="4197985" cy="2657475"/>
        </p:xfrm>
        <a:graphic>
          <a:graphicData uri="http://schemas.openxmlformats.org/drawingml/2006/chart">
            <c:chart xmlns:c="http://schemas.openxmlformats.org/drawingml/2006/chart" xmlns:r="http://schemas.openxmlformats.org/officeDocument/2006/relationships" r:id="rId20"/>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文本框 10"/>
          <p:cNvSpPr txBox="1"/>
          <p:nvPr/>
        </p:nvSpPr>
        <p:spPr>
          <a:xfrm>
            <a:off x="6838044" y="1168009"/>
            <a:ext cx="5255491" cy="507746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月，儿童科室门急诊人次同比增幅中位数为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10.98%</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18.46%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两项业务量同时正向增长：儿急危、儿神内、新生儿、儿血液、儿肾脏、儿感染、儿心脏</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两项业务量同时负向增长：儿消化</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门急诊增长住院下降：儿内分泌、儿骨、儿泌尿</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住院增长门急诊下降：儿神外、儿呼吸、儿普外</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有门急诊无住院：儿保科同比增幅</a:t>
            </a:r>
            <a:r>
              <a:rPr kumimoji="0" lang="en-US" altLang="zh-CN" sz="1800" b="1" i="0" u="none" strike="noStrike" kern="120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10.98%</a:t>
            </a:r>
            <a:endParaRPr kumimoji="0" lang="en-US" altLang="zh-CN" sz="1800" b="1" i="0" u="none" strike="noStrike" kern="120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39844" y="3822652"/>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79" name="右箭头 78"/>
          <p:cNvSpPr/>
          <p:nvPr/>
        </p:nvSpPr>
        <p:spPr>
          <a:xfrm rot="16200000">
            <a:off x="-956701" y="220202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文本框 3"/>
          <p:cNvSpPr txBox="1"/>
          <p:nvPr/>
        </p:nvSpPr>
        <p:spPr>
          <a:xfrm>
            <a:off x="783776" y="6012461"/>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5" name="右箭头 4"/>
          <p:cNvSpPr/>
          <p:nvPr/>
        </p:nvSpPr>
        <p:spPr>
          <a:xfrm>
            <a:off x="3293706" y="6031123"/>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aphicFrame>
        <p:nvGraphicFramePr>
          <p:cNvPr id="14" name="图表 13"/>
          <p:cNvGraphicFramePr/>
          <p:nvPr/>
        </p:nvGraphicFramePr>
        <p:xfrm>
          <a:off x="474980" y="1029970"/>
          <a:ext cx="6471920" cy="5001260"/>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直接箭头连接符 9"/>
          <p:cNvCxnSpPr/>
          <p:nvPr/>
        </p:nvCxnSpPr>
        <p:spPr>
          <a:xfrm flipV="1">
            <a:off x="601252" y="3913916"/>
            <a:ext cx="6084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4"/>
          <a:stretch>
            <a:fillRect/>
          </a:stretch>
        </p:blipFill>
        <p:spPr>
          <a:xfrm>
            <a:off x="1976755" y="675640"/>
            <a:ext cx="833120" cy="560705"/>
          </a:xfrm>
          <a:prstGeom prst="rect">
            <a:avLst/>
          </a:prstGeom>
        </p:spPr>
      </p:pic>
      <p:cxnSp>
        <p:nvCxnSpPr>
          <p:cNvPr id="9" name="直接箭头连接符 8"/>
          <p:cNvCxnSpPr/>
          <p:nvPr/>
        </p:nvCxnSpPr>
        <p:spPr>
          <a:xfrm flipV="1">
            <a:off x="2447886" y="921156"/>
            <a:ext cx="0" cy="5015865"/>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 name="矩形 2"/>
          <p:cNvSpPr>
            <a:spLocks noChangeArrowheads="1"/>
          </p:cNvSpPr>
          <p:nvPr/>
        </p:nvSpPr>
        <p:spPr bwMode="auto">
          <a:xfrm>
            <a:off x="474669" y="209554"/>
            <a:ext cx="3603650"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儿童科</a:t>
            </a:r>
          </a:p>
        </p:txBody>
      </p:sp>
      <p:sp>
        <p:nvSpPr>
          <p:cNvPr id="12" name="文本框 11"/>
          <p:cNvSpPr txBox="1"/>
          <p:nvPr/>
        </p:nvSpPr>
        <p:spPr>
          <a:xfrm>
            <a:off x="2468265" y="1029922"/>
            <a:ext cx="825209"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10.98%</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5633314" y="3979709"/>
            <a:ext cx="1052022"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18.46%</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48347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成人手术科室</a:t>
            </a:r>
          </a:p>
        </p:txBody>
      </p:sp>
      <p:sp>
        <p:nvSpPr>
          <p:cNvPr id="6" name="文本框 5"/>
          <p:cNvSpPr txBox="1"/>
          <p:nvPr/>
        </p:nvSpPr>
        <p:spPr>
          <a:xfrm>
            <a:off x="783776" y="6115098"/>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7" name="右箭头 6"/>
          <p:cNvSpPr/>
          <p:nvPr/>
        </p:nvSpPr>
        <p:spPr>
          <a:xfrm>
            <a:off x="3293706" y="613376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139844" y="3925289"/>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9" name="右箭头 8"/>
          <p:cNvSpPr/>
          <p:nvPr/>
        </p:nvSpPr>
        <p:spPr>
          <a:xfrm rot="16200000">
            <a:off x="-956701" y="2304657"/>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文本框 10"/>
          <p:cNvSpPr txBox="1"/>
          <p:nvPr/>
        </p:nvSpPr>
        <p:spPr>
          <a:xfrm>
            <a:off x="6984824" y="1384662"/>
            <a:ext cx="4868545" cy="4440382"/>
          </a:xfrm>
          <a:prstGeom prst="rect">
            <a:avLst/>
          </a:prstGeom>
          <a:noFill/>
        </p:spPr>
        <p:txBody>
          <a:bodyPr wrap="square" rtlCol="0">
            <a:no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月，成人手术科室门急诊人次同比增幅中位数为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38.26% </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15.43%</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a:lnSpc>
                <a:spcPct val="200000"/>
              </a:lnSpc>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两项业务量同时正向增长：妇产科、五官、眼科、疼痛、心胸外、整形、介入、普外、泌尿、脊柱、骨科、神经外科</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门急诊增长住院下降：肛肠、乳腺</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门急诊不变住院下降：移植</a:t>
            </a: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294" y="4975576"/>
            <a:ext cx="230784" cy="213031"/>
          </a:xfrm>
          <a:prstGeom prst="rect">
            <a:avLst/>
          </a:prstGeom>
        </p:spPr>
      </p:pic>
      <p:graphicFrame>
        <p:nvGraphicFramePr>
          <p:cNvPr id="5" name="图表 4"/>
          <p:cNvGraphicFramePr/>
          <p:nvPr/>
        </p:nvGraphicFramePr>
        <p:xfrm>
          <a:off x="474663" y="1399223"/>
          <a:ext cx="6391275" cy="4733925"/>
        </p:xfrm>
        <a:graphic>
          <a:graphicData uri="http://schemas.openxmlformats.org/drawingml/2006/chart">
            <c:chart xmlns:c="http://schemas.openxmlformats.org/drawingml/2006/chart" xmlns:r="http://schemas.openxmlformats.org/officeDocument/2006/relationships" r:id="rId3"/>
          </a:graphicData>
        </a:graphic>
      </p:graphicFrame>
      <p:cxnSp>
        <p:nvCxnSpPr>
          <p:cNvPr id="18" name="直接箭头连接符 17"/>
          <p:cNvCxnSpPr/>
          <p:nvPr/>
        </p:nvCxnSpPr>
        <p:spPr>
          <a:xfrm flipV="1">
            <a:off x="3126125" y="844565"/>
            <a:ext cx="0" cy="522000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052057" y="4329747"/>
            <a:ext cx="5652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126218" y="970760"/>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lang="en-US" altLang="zh-CN" sz="1050" b="1" dirty="0">
                <a:solidFill>
                  <a:srgbClr val="C00000"/>
                </a:solidFill>
                <a:latin typeface="微软雅黑" panose="020B0503020204020204" pitchFamily="34" charset="-122"/>
                <a:ea typeface="微软雅黑" panose="020B0503020204020204" pitchFamily="34" charset="-122"/>
              </a:rPr>
              <a:t>38.26</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6052053" y="4329167"/>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15.43%</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成人非手术科室</a:t>
            </a:r>
          </a:p>
        </p:txBody>
      </p:sp>
      <p:sp>
        <p:nvSpPr>
          <p:cNvPr id="13" name="文本框 12"/>
          <p:cNvSpPr txBox="1"/>
          <p:nvPr/>
        </p:nvSpPr>
        <p:spPr>
          <a:xfrm>
            <a:off x="783776" y="6115098"/>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14" name="右箭头 13"/>
          <p:cNvSpPr/>
          <p:nvPr/>
        </p:nvSpPr>
        <p:spPr>
          <a:xfrm>
            <a:off x="3293706" y="613376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文本框 14"/>
          <p:cNvSpPr txBox="1"/>
          <p:nvPr/>
        </p:nvSpPr>
        <p:spPr>
          <a:xfrm>
            <a:off x="139844" y="3925289"/>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16" name="右箭头 15"/>
          <p:cNvSpPr/>
          <p:nvPr/>
        </p:nvSpPr>
        <p:spPr>
          <a:xfrm rot="16200000">
            <a:off x="-956701" y="2304657"/>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文本框 16"/>
          <p:cNvSpPr txBox="1"/>
          <p:nvPr/>
        </p:nvSpPr>
        <p:spPr>
          <a:xfrm>
            <a:off x="6901305" y="991865"/>
            <a:ext cx="5056505" cy="549275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月，成人非手术科室门急诊人次同比增幅中位数为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38.67% </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lang="en-US" altLang="zh-CN" b="1" dirty="0">
                <a:solidFill>
                  <a:srgbClr val="C00000"/>
                </a:solidFill>
                <a:latin typeface="微软雅黑" panose="020B0503020204020204" pitchFamily="34" charset="-122"/>
                <a:ea typeface="微软雅黑" panose="020B0503020204020204" pitchFamily="34" charset="-122"/>
              </a:rPr>
              <a:t>26.98</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两项业务量同时正向增长：老年、血液、皮肤、神内、全科、呼吸、肾脏、消化、心血管</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门急诊增长住院下降：中医、内分泌、急诊医学、肿瘤</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住院增长门急诊下降：感染</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门急诊增长住院不变：康复</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有门急诊无住院：口腔同比增幅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33.8%</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，生殖同比增幅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34.68%</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，心理同比增幅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26.01%</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肿瘤科拆分为肿瘤内科与放疗科，无去年同期分拆数据，故合并分析。</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图表 4"/>
          <p:cNvGraphicFramePr/>
          <p:nvPr/>
        </p:nvGraphicFramePr>
        <p:xfrm>
          <a:off x="500380" y="1421130"/>
          <a:ext cx="6416040" cy="4693920"/>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直接箭头连接符 10"/>
          <p:cNvCxnSpPr/>
          <p:nvPr/>
        </p:nvCxnSpPr>
        <p:spPr>
          <a:xfrm flipV="1">
            <a:off x="4623546" y="1143179"/>
            <a:ext cx="0" cy="496800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809258" y="1143016"/>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lang="en-US" altLang="zh-CN" sz="1050" b="1" dirty="0">
                <a:solidFill>
                  <a:srgbClr val="C00000"/>
                </a:solidFill>
                <a:latin typeface="微软雅黑" panose="020B0503020204020204" pitchFamily="34" charset="-122"/>
                <a:ea typeface="微软雅黑" panose="020B0503020204020204" pitchFamily="34" charset="-122"/>
              </a:rPr>
              <a:t>38.67</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cxnSp>
        <p:nvCxnSpPr>
          <p:cNvPr id="12" name="直接箭头连接符 11"/>
          <p:cNvCxnSpPr/>
          <p:nvPr/>
        </p:nvCxnSpPr>
        <p:spPr>
          <a:xfrm>
            <a:off x="541020" y="3544520"/>
            <a:ext cx="5940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799828" y="3561278"/>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26.98%</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1994" y="1245447"/>
            <a:ext cx="4302093" cy="719455"/>
            <a:chOff x="771994" y="1245447"/>
            <a:chExt cx="4302093" cy="719455"/>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771994" y="1245447"/>
              <a:ext cx="4156364"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401401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2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全院</a:t>
            </a:r>
            <a:endParaRPr kumimoji="0" lang="zh-CN" altLang="en-US" sz="3200" b="1" i="0" u="none" strike="noStrike" kern="0" cap="none" spc="0" normalizeH="0" baseline="0" noProof="0" dirty="0">
              <a:ln>
                <a:noFill/>
              </a:ln>
              <a:solidFill>
                <a:srgbClr val="70AD47"/>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8" name="文本框 17"/>
          <p:cNvSpPr txBox="1"/>
          <p:nvPr/>
        </p:nvSpPr>
        <p:spPr>
          <a:xfrm>
            <a:off x="6661149"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249237" y="5495142"/>
            <a:ext cx="11786819"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月，市级综合性医院门急诊人次平均增幅为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9.9%</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，高于市级综合性医院平均水平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24.1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月，市级综合性医院住院人次平均增幅为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7.1%</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19.2%</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，高于市级综合性医院平均水平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12.1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图表 2"/>
          <p:cNvGraphicFramePr/>
          <p:nvPr>
            <p:extLst>
              <p:ext uri="{D42A27DB-BD31-4B8C-83A1-F6EECF244321}">
                <p14:modId xmlns:p14="http://schemas.microsoft.com/office/powerpoint/2010/main" val="983860141"/>
              </p:ext>
            </p:extLst>
          </p:nvPr>
        </p:nvGraphicFramePr>
        <p:xfrm>
          <a:off x="500063" y="2041843"/>
          <a:ext cx="5048885" cy="31083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图表 3"/>
          <p:cNvGraphicFramePr/>
          <p:nvPr>
            <p:extLst>
              <p:ext uri="{D42A27DB-BD31-4B8C-83A1-F6EECF244321}">
                <p14:modId xmlns:p14="http://schemas.microsoft.com/office/powerpoint/2010/main" val="3633606821"/>
              </p:ext>
            </p:extLst>
          </p:nvPr>
        </p:nvGraphicFramePr>
        <p:xfrm>
          <a:off x="6515735" y="2041525"/>
          <a:ext cx="5117465" cy="31089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68290" y="1245447"/>
            <a:ext cx="4405797" cy="719455"/>
            <a:chOff x="668290" y="1245447"/>
            <a:chExt cx="4405797" cy="719455"/>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668290" y="1245447"/>
              <a:ext cx="4260068"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4424387"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2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儿科类</a:t>
            </a:r>
            <a:endParaRPr kumimoji="0" lang="zh-CN" altLang="en-US" sz="3200" b="1" i="0" u="none" strike="noStrike" kern="0" cap="none" spc="0" normalizeH="0" baseline="0" noProof="0" dirty="0">
              <a:ln>
                <a:noFill/>
              </a:ln>
              <a:solidFill>
                <a:srgbClr val="70AD47"/>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单位：人次</a:t>
            </a:r>
          </a:p>
        </p:txBody>
      </p:sp>
      <p:sp>
        <p:nvSpPr>
          <p:cNvPr id="18" name="文本框 17"/>
          <p:cNvSpPr txBox="1"/>
          <p:nvPr/>
        </p:nvSpPr>
        <p:spPr>
          <a:xfrm>
            <a:off x="6661149"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576341" y="5310976"/>
            <a:ext cx="11400070"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月，儿科类医院门急诊人次平均增幅为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10.8%</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18.9%</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月，儿科类医院住院人次平均增幅为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8.0%</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18.5%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10.5</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图表 4"/>
          <p:cNvGraphicFramePr/>
          <p:nvPr/>
        </p:nvGraphicFramePr>
        <p:xfrm>
          <a:off x="942340" y="2341245"/>
          <a:ext cx="3710940" cy="23406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图表 5"/>
          <p:cNvGraphicFramePr/>
          <p:nvPr>
            <p:extLst>
              <p:ext uri="{D42A27DB-BD31-4B8C-83A1-F6EECF244321}">
                <p14:modId xmlns:p14="http://schemas.microsoft.com/office/powerpoint/2010/main" val="4101046354"/>
              </p:ext>
            </p:extLst>
          </p:nvPr>
        </p:nvGraphicFramePr>
        <p:xfrm>
          <a:off x="6884353" y="2435860"/>
          <a:ext cx="3709035" cy="234061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三、收入分析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nvGraphicFramePr>
        <p:xfrm>
          <a:off x="1347470" y="2169160"/>
          <a:ext cx="422910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1082164"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门急诊收入</a:t>
            </a:r>
          </a:p>
        </p:txBody>
      </p:sp>
      <p:sp>
        <p:nvSpPr>
          <p:cNvPr id="52" name="矩形 51"/>
          <p:cNvSpPr/>
          <p:nvPr/>
        </p:nvSpPr>
        <p:spPr>
          <a:xfrm>
            <a:off x="677167" y="5161676"/>
            <a:ext cx="1085703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月，门急诊收入实现</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2.32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35.7%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41.2%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，儿童科同比增幅</a:t>
            </a:r>
            <a:r>
              <a:rPr lang="en-US" altLang="zh-CN" sz="16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16.5%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，奉贤院区门急诊收入为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0.42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18.02%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门急诊收入</a:t>
            </a:r>
          </a:p>
        </p:txBody>
      </p:sp>
      <p:sp>
        <p:nvSpPr>
          <p:cNvPr id="58" name="文本框 57"/>
          <p:cNvSpPr txBox="1"/>
          <p:nvPr/>
        </p:nvSpPr>
        <p:spPr>
          <a:xfrm>
            <a:off x="2781701" y="1852822"/>
            <a:ext cx="1206142"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+35.7%</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门急诊收入来源</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2.32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1.71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35.7%</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1.90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1.71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11.3%</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0.42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1523365" y="2099945"/>
          <a:ext cx="367665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门诊收入</a:t>
            </a:r>
          </a:p>
        </p:txBody>
      </p:sp>
      <p:sp>
        <p:nvSpPr>
          <p:cNvPr id="52" name="矩形 51"/>
          <p:cNvSpPr/>
          <p:nvPr/>
        </p:nvSpPr>
        <p:spPr>
          <a:xfrm>
            <a:off x="892599" y="5131831"/>
            <a:ext cx="10723138"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月，门诊收入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34.9%</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40.6%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14.2%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2026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年</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5</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月，奉贤院区门诊收入为</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0.32</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亿元，</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占全院比重为</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16.12%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门诊收入</a:t>
            </a:r>
          </a:p>
        </p:txBody>
      </p:sp>
      <p:sp>
        <p:nvSpPr>
          <p:cNvPr id="58" name="文本框 57"/>
          <p:cNvSpPr txBox="1"/>
          <p:nvPr/>
        </p:nvSpPr>
        <p:spPr>
          <a:xfrm>
            <a:off x="2736258" y="1852822"/>
            <a:ext cx="1251585"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+34.9%</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门诊收入来源</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1.49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34.9%</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1.69</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1.49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13.2%</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0.32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nvGraphicFramePr>
        <p:xfrm>
          <a:off x="1582420" y="2105660"/>
          <a:ext cx="367665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急诊收入</a:t>
            </a:r>
          </a:p>
        </p:txBody>
      </p:sp>
      <p:sp>
        <p:nvSpPr>
          <p:cNvPr id="52" name="矩形 51"/>
          <p:cNvSpPr/>
          <p:nvPr/>
        </p:nvSpPr>
        <p:spPr>
          <a:xfrm>
            <a:off x="506837" y="5105268"/>
            <a:ext cx="1099087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月，急诊收入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0.30</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41.4%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45.8%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29.5%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，奉贤院区急诊收入为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30.53%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急诊收入</a:t>
            </a:r>
          </a:p>
        </p:txBody>
      </p:sp>
      <p:sp>
        <p:nvSpPr>
          <p:cNvPr id="58" name="文本框 57"/>
          <p:cNvSpPr txBox="1"/>
          <p:nvPr/>
        </p:nvSpPr>
        <p:spPr>
          <a:xfrm>
            <a:off x="2819572" y="1852822"/>
            <a:ext cx="1262541"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+41.4%</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急诊收入来源</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急诊收入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0.30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41.4%</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0.22</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-1.8%</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0.09</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1432560" y="2123440"/>
          <a:ext cx="4229100" cy="2519680"/>
        </p:xfrm>
        <a:graphic>
          <a:graphicData uri="http://schemas.openxmlformats.org/drawingml/2006/chart">
            <c:chart xmlns:c="http://schemas.openxmlformats.org/drawingml/2006/chart" xmlns:r="http://schemas.openxmlformats.org/officeDocument/2006/relationships" r:id="rId2"/>
          </a:graphicData>
        </a:graphic>
      </p:graphicFrame>
      <p:grpSp>
        <p:nvGrpSpPr>
          <p:cNvPr id="28" name="组合 27"/>
          <p:cNvGrpSpPr/>
          <p:nvPr/>
        </p:nvGrpSpPr>
        <p:grpSpPr>
          <a:xfrm>
            <a:off x="1892576" y="1196783"/>
            <a:ext cx="2736102" cy="390680"/>
            <a:chOff x="2790266" y="142563"/>
            <a:chExt cx="3584682" cy="390680"/>
          </a:xfrm>
        </p:grpSpPr>
        <p:sp>
          <p:nvSpPr>
            <p:cNvPr id="29" name="圆角矩形 28"/>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nvSpPr>
        <p:spPr>
          <a:xfrm>
            <a:off x="2797627" y="1228720"/>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住院收入</a:t>
            </a:r>
          </a:p>
        </p:txBody>
      </p:sp>
      <p:sp>
        <p:nvSpPr>
          <p:cNvPr id="52" name="矩形 51"/>
          <p:cNvSpPr/>
          <p:nvPr/>
        </p:nvSpPr>
        <p:spPr>
          <a:xfrm>
            <a:off x="474669" y="5230263"/>
            <a:ext cx="11514131"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月，住院收入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4.03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30.4%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33.7%</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14.8%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，奉贤院区住院收入为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1.01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25.0%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住院收入</a:t>
            </a:r>
          </a:p>
        </p:txBody>
      </p:sp>
      <p:grpSp>
        <p:nvGrpSpPr>
          <p:cNvPr id="53" name="组合 52"/>
          <p:cNvGrpSpPr/>
          <p:nvPr/>
        </p:nvGrpSpPr>
        <p:grpSpPr>
          <a:xfrm>
            <a:off x="7793229" y="1226199"/>
            <a:ext cx="2736102" cy="390680"/>
            <a:chOff x="2790266" y="142563"/>
            <a:chExt cx="3584682" cy="390680"/>
          </a:xfrm>
        </p:grpSpPr>
        <p:sp>
          <p:nvSpPr>
            <p:cNvPr id="54" name="圆角矩形 53"/>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nvSpPr>
        <p:spPr>
          <a:xfrm>
            <a:off x="8515444" y="126627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住院收入来源</a:t>
            </a:r>
          </a:p>
        </p:txBody>
      </p:sp>
      <p:sp>
        <p:nvSpPr>
          <p:cNvPr id="65" name="文本框 64"/>
          <p:cNvSpPr txBox="1"/>
          <p:nvPr/>
        </p:nvSpPr>
        <p:spPr>
          <a:xfrm>
            <a:off x="2704699" y="1823802"/>
            <a:ext cx="1274639"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+30.4%</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9977400" y="18820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4.03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3.09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30.4%</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3.02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3.09</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-2.2%</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1.01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nvGraphicFramePr>
        <p:xfrm>
          <a:off x="1464310" y="2152650"/>
          <a:ext cx="4229100" cy="2519680"/>
        </p:xfrm>
        <a:graphic>
          <a:graphicData uri="http://schemas.openxmlformats.org/drawingml/2006/chart">
            <c:chart xmlns:c="http://schemas.openxmlformats.org/drawingml/2006/chart" xmlns:r="http://schemas.openxmlformats.org/officeDocument/2006/relationships" r:id="rId3"/>
          </a:graphicData>
        </a:graphic>
      </p:graphicFrame>
      <p:sp>
        <p:nvSpPr>
          <p:cNvPr id="2" name="矩形 1"/>
          <p:cNvSpPr/>
          <p:nvPr/>
        </p:nvSpPr>
        <p:spPr>
          <a:xfrm>
            <a:off x="363494" y="5161037"/>
            <a:ext cx="11536958"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月，医疗收入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6.35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32.3%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32.3%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，奉贤院区医疗收入为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22.5%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a:t>
            </a:r>
          </a:p>
        </p:txBody>
      </p:sp>
      <p:sp>
        <p:nvSpPr>
          <p:cNvPr id="11" name="文本框 10"/>
          <p:cNvSpPr txBox="1"/>
          <p:nvPr/>
        </p:nvSpPr>
        <p:spPr>
          <a:xfrm>
            <a:off x="4466568" y="1779176"/>
            <a:ext cx="1227148"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grpSp>
        <p:nvGrpSpPr>
          <p:cNvPr id="8" name="组合 7"/>
          <p:cNvGrpSpPr/>
          <p:nvPr/>
        </p:nvGrpSpPr>
        <p:grpSpPr>
          <a:xfrm>
            <a:off x="1838203" y="1317206"/>
            <a:ext cx="2736102" cy="390680"/>
            <a:chOff x="2790266" y="142563"/>
            <a:chExt cx="3584682" cy="390680"/>
          </a:xfrm>
        </p:grpSpPr>
        <p:sp>
          <p:nvSpPr>
            <p:cNvPr id="12" name="圆角矩形 11"/>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3" name="组合 12"/>
            <p:cNvGrpSpPr/>
            <p:nvPr/>
          </p:nvGrpSpPr>
          <p:grpSpPr>
            <a:xfrm>
              <a:off x="5921798" y="256915"/>
              <a:ext cx="453150" cy="161976"/>
              <a:chOff x="264939" y="188640"/>
              <a:chExt cx="604358" cy="216024"/>
            </a:xfrm>
          </p:grpSpPr>
          <p:sp>
            <p:nvSpPr>
              <p:cNvPr id="18" name="燕尾形 1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燕尾形 1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燕尾形 1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4" name="组合 13"/>
            <p:cNvGrpSpPr/>
            <p:nvPr/>
          </p:nvGrpSpPr>
          <p:grpSpPr>
            <a:xfrm rot="10800000">
              <a:off x="2790266"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1" name="矩形 20"/>
          <p:cNvSpPr/>
          <p:nvPr/>
        </p:nvSpPr>
        <p:spPr>
          <a:xfrm>
            <a:off x="2712206" y="135575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医疗收入</a:t>
            </a:r>
          </a:p>
        </p:txBody>
      </p:sp>
      <p:grpSp>
        <p:nvGrpSpPr>
          <p:cNvPr id="33" name="组合 32"/>
          <p:cNvGrpSpPr/>
          <p:nvPr/>
        </p:nvGrpSpPr>
        <p:grpSpPr>
          <a:xfrm>
            <a:off x="7805004" y="1317206"/>
            <a:ext cx="2736102" cy="366822"/>
            <a:chOff x="2790266" y="142563"/>
            <a:chExt cx="3584682" cy="390680"/>
          </a:xfrm>
        </p:grpSpPr>
        <p:sp>
          <p:nvSpPr>
            <p:cNvPr id="35" name="圆角矩形 34"/>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6" name="组合 35"/>
            <p:cNvGrpSpPr/>
            <p:nvPr/>
          </p:nvGrpSpPr>
          <p:grpSpPr>
            <a:xfrm>
              <a:off x="5921798"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7" name="组合 36"/>
            <p:cNvGrpSpPr/>
            <p:nvPr/>
          </p:nvGrpSpPr>
          <p:grpSpPr>
            <a:xfrm rot="10800000">
              <a:off x="2790266" y="256915"/>
              <a:ext cx="453150" cy="161976"/>
              <a:chOff x="264939" y="188640"/>
              <a:chExt cx="604358" cy="216024"/>
            </a:xfrm>
          </p:grpSpPr>
          <p:sp>
            <p:nvSpPr>
              <p:cNvPr id="38" name="燕尾形 3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燕尾形 3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1" name="燕尾形 4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5" name="矩形 44"/>
          <p:cNvSpPr/>
          <p:nvPr/>
        </p:nvSpPr>
        <p:spPr>
          <a:xfrm>
            <a:off x="8562991" y="135575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医疗收入来源</a:t>
            </a:r>
          </a:p>
        </p:txBody>
      </p:sp>
      <p:sp>
        <p:nvSpPr>
          <p:cNvPr id="32" name="文本框 31"/>
          <p:cNvSpPr txBox="1"/>
          <p:nvPr/>
        </p:nvSpPr>
        <p:spPr>
          <a:xfrm>
            <a:off x="9977400" y="18820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48" name="文本框 47"/>
          <p:cNvSpPr txBox="1"/>
          <p:nvPr/>
        </p:nvSpPr>
        <p:spPr>
          <a:xfrm>
            <a:off x="2712206" y="1943739"/>
            <a:ext cx="1268874"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+32.3%</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aphicFrame>
        <p:nvGraphicFramePr>
          <p:cNvPr id="34" name="表格 33"/>
          <p:cNvGraphicFramePr>
            <a:graphicFrameLocks noGrp="1"/>
          </p:cNvGraphicFramePr>
          <p:nvPr/>
        </p:nvGraphicFramePr>
        <p:xfrm>
          <a:off x="6862458" y="2237035"/>
          <a:ext cx="4635256" cy="2261074"/>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563164">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6597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医疗收入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6.35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32.3%</a:t>
                      </a:r>
                    </a:p>
                  </a:txBody>
                  <a:tcPr marL="9842" marR="9842" marT="9842" marB="0" anchor="ctr"/>
                </a:tc>
                <a:extLst>
                  <a:ext uri="{0D108BD9-81ED-4DB2-BD59-A6C34878D82A}">
                    <a16:rowId xmlns:a16="http://schemas.microsoft.com/office/drawing/2014/main" val="10001"/>
                  </a:ext>
                </a:extLst>
              </a:tr>
              <a:tr h="56597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4.93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a:t>
                      </a:r>
                    </a:p>
                  </a:txBody>
                  <a:tcPr marL="9842" marR="9842" marT="9842" marB="0" anchor="ctr"/>
                </a:tc>
                <a:extLst>
                  <a:ext uri="{0D108BD9-81ED-4DB2-BD59-A6C34878D82A}">
                    <a16:rowId xmlns:a16="http://schemas.microsoft.com/office/drawing/2014/main" val="10002"/>
                  </a:ext>
                </a:extLst>
              </a:tr>
              <a:tr h="56597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1.43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968817" y="794218"/>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442658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1-4</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月医疗收入前十科室</a:t>
            </a:r>
          </a:p>
        </p:txBody>
      </p:sp>
      <p:sp>
        <p:nvSpPr>
          <p:cNvPr id="12" name="矩形 11"/>
          <p:cNvSpPr/>
          <p:nvPr/>
        </p:nvSpPr>
        <p:spPr>
          <a:xfrm>
            <a:off x="833515" y="5311101"/>
            <a:ext cx="10513356" cy="1059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1-4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月，医疗收入</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24.11</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亿元，同比上升</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27.87%</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。其中收入最高为心血管内科，收入金额</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24,445.76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万元，同比增幅</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40.7%</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；收入占全院医疗收入比重为</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10.14%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，同比增加</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0.88个百分点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1-4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月医疗收入前十科室中，同比增幅最大的科室为神经外科，增幅为</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67.16%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，占全院医疗收入比重增加</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1.23</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p>
        </p:txBody>
      </p:sp>
      <p:graphicFrame>
        <p:nvGraphicFramePr>
          <p:cNvPr id="2" name="表格 1"/>
          <p:cNvGraphicFramePr/>
          <p:nvPr>
            <p:custDataLst>
              <p:tags r:id="rId1"/>
            </p:custDataLst>
          </p:nvPr>
        </p:nvGraphicFramePr>
        <p:xfrm>
          <a:off x="1170305" y="1360805"/>
          <a:ext cx="10017125" cy="3635375"/>
        </p:xfrm>
        <a:graphic>
          <a:graphicData uri="http://schemas.openxmlformats.org/drawingml/2006/table">
            <a:tbl>
              <a:tblPr/>
              <a:tblGrid>
                <a:gridCol w="781685">
                  <a:extLst>
                    <a:ext uri="{9D8B030D-6E8A-4147-A177-3AD203B41FA5}">
                      <a16:colId xmlns:a16="http://schemas.microsoft.com/office/drawing/2014/main" val="20000"/>
                    </a:ext>
                  </a:extLst>
                </a:gridCol>
                <a:gridCol w="922020">
                  <a:extLst>
                    <a:ext uri="{9D8B030D-6E8A-4147-A177-3AD203B41FA5}">
                      <a16:colId xmlns:a16="http://schemas.microsoft.com/office/drawing/2014/main" val="20001"/>
                    </a:ext>
                  </a:extLst>
                </a:gridCol>
                <a:gridCol w="1465580">
                  <a:extLst>
                    <a:ext uri="{9D8B030D-6E8A-4147-A177-3AD203B41FA5}">
                      <a16:colId xmlns:a16="http://schemas.microsoft.com/office/drawing/2014/main" val="20002"/>
                    </a:ext>
                  </a:extLst>
                </a:gridCol>
                <a:gridCol w="1096010">
                  <a:extLst>
                    <a:ext uri="{9D8B030D-6E8A-4147-A177-3AD203B41FA5}">
                      <a16:colId xmlns:a16="http://schemas.microsoft.com/office/drawing/2014/main" val="20003"/>
                    </a:ext>
                  </a:extLst>
                </a:gridCol>
                <a:gridCol w="1475740">
                  <a:extLst>
                    <a:ext uri="{9D8B030D-6E8A-4147-A177-3AD203B41FA5}">
                      <a16:colId xmlns:a16="http://schemas.microsoft.com/office/drawing/2014/main" val="20004"/>
                    </a:ext>
                  </a:extLst>
                </a:gridCol>
                <a:gridCol w="1193800">
                  <a:extLst>
                    <a:ext uri="{9D8B030D-6E8A-4147-A177-3AD203B41FA5}">
                      <a16:colId xmlns:a16="http://schemas.microsoft.com/office/drawing/2014/main" val="20005"/>
                    </a:ext>
                  </a:extLst>
                </a:gridCol>
                <a:gridCol w="1074420">
                  <a:extLst>
                    <a:ext uri="{9D8B030D-6E8A-4147-A177-3AD203B41FA5}">
                      <a16:colId xmlns:a16="http://schemas.microsoft.com/office/drawing/2014/main" val="20006"/>
                    </a:ext>
                  </a:extLst>
                </a:gridCol>
                <a:gridCol w="1226185">
                  <a:extLst>
                    <a:ext uri="{9D8B030D-6E8A-4147-A177-3AD203B41FA5}">
                      <a16:colId xmlns:a16="http://schemas.microsoft.com/office/drawing/2014/main" val="20007"/>
                    </a:ext>
                  </a:extLst>
                </a:gridCol>
                <a:gridCol w="781685">
                  <a:extLst>
                    <a:ext uri="{9D8B030D-6E8A-4147-A177-3AD203B41FA5}">
                      <a16:colId xmlns:a16="http://schemas.microsoft.com/office/drawing/2014/main" val="20008"/>
                    </a:ext>
                  </a:extLst>
                </a:gridCol>
              </a:tblGrid>
              <a:tr h="5956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序号</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科室类别</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2026.1-4</a:t>
                      </a:r>
                      <a:br>
                        <a:rPr lang="en-US" altLang="zh-CN" sz="1200" b="1" i="0">
                          <a:solidFill>
                            <a:srgbClr val="000000"/>
                          </a:solidFill>
                          <a:latin typeface="微软雅黑" panose="020B0503020204020204" pitchFamily="34" charset="-122"/>
                          <a:ea typeface="微软雅黑" panose="020B0503020204020204" pitchFamily="34" charset="-122"/>
                        </a:rPr>
                      </a:br>
                      <a:r>
                        <a:rPr lang="zh-CN" altLang="en-US" sz="1200" b="1" i="0">
                          <a:solidFill>
                            <a:srgbClr val="000000"/>
                          </a:solidFill>
                          <a:latin typeface="微软雅黑" panose="020B0503020204020204" pitchFamily="34" charset="-122"/>
                          <a:ea typeface="微软雅黑" panose="020B0503020204020204" pitchFamily="34" charset="-122"/>
                        </a:rPr>
                        <a:t>医疗收入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2025.1-4</a:t>
                      </a:r>
                      <a:br>
                        <a:rPr lang="en-US" altLang="zh-CN" sz="1200" b="1" i="0">
                          <a:solidFill>
                            <a:srgbClr val="000000"/>
                          </a:solidFill>
                          <a:latin typeface="微软雅黑" panose="020B0503020204020204" pitchFamily="34" charset="-122"/>
                          <a:ea typeface="微软雅黑" panose="020B0503020204020204" pitchFamily="34" charset="-122"/>
                        </a:rPr>
                      </a:br>
                      <a:r>
                        <a:rPr lang="zh-CN" altLang="en-US" sz="1200" b="1" i="0">
                          <a:solidFill>
                            <a:srgbClr val="000000"/>
                          </a:solidFill>
                          <a:latin typeface="微软雅黑" panose="020B0503020204020204" pitchFamily="34" charset="-122"/>
                          <a:ea typeface="微软雅黑" panose="020B0503020204020204" pitchFamily="34" charset="-122"/>
                        </a:rPr>
                        <a:t>医疗收入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本期占全院医疗收入比重</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上期占全院医疗收入比重</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同比增减百分比</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0"/>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24,445.76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17,453.12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40.07%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10.14%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9.26%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0.88%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16,544.80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11,117.31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48.82%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6.86%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5.90%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0.97%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2"/>
                  </a:ext>
                </a:extLst>
              </a:tr>
              <a:tr h="30353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12,594.24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7,534.31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67.16%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5.22%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1.23%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3"/>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11,310.34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8,351.96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35.42%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4.69%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4.43%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4"/>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10,258.78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6,635.48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54.60%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4.25%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0.74%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5"/>
                  </a:ext>
                </a:extLst>
              </a:tr>
              <a:tr h="30353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9,483.27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9,535.32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-0.55%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3.93%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5.06%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-1.12%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8,894.07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5,703.03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55.95%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3.02%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0.66%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8,673.18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7,150.55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21.29%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3.79%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30353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7,249.74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4,825.91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50.23%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3.01%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0.45%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6,442.57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4,853.14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32.75%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0.10%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885825" y="1841500"/>
          <a:ext cx="4533900" cy="2909570"/>
        </p:xfrm>
        <a:graphic>
          <a:graphicData uri="http://schemas.openxmlformats.org/drawingml/2006/chart">
            <c:chart xmlns:c="http://schemas.openxmlformats.org/drawingml/2006/chart" xmlns:r="http://schemas.openxmlformats.org/officeDocument/2006/relationships" r:id="rId21"/>
          </a:graphicData>
        </a:graphic>
      </p:graphicFrame>
      <p:sp>
        <p:nvSpPr>
          <p:cNvPr id="2" name="矩形 1"/>
          <p:cNvSpPr/>
          <p:nvPr/>
        </p:nvSpPr>
        <p:spPr>
          <a:xfrm>
            <a:off x="249237" y="5157011"/>
            <a:ext cx="11249138" cy="1059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，从医疗收入结构同比来看，药占比持续下降、耗材收入占比上升</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，检查化验占比上升</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0.6个百分点</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，劳务占比</a:t>
            </a:r>
            <a:r>
              <a:rPr kumimoji="0" 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上升</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0.1个百分点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从奉贤院区收入占比来看，收入来源第一是耗材收入，第二是检查化验收入，劳务收入占比</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21.8%</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，低于杨浦院区</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4.1</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p>
        </p:txBody>
      </p:sp>
      <p:grpSp>
        <p:nvGrpSpPr>
          <p:cNvPr id="8" name="组合 7"/>
          <p:cNvGrpSpPr/>
          <p:nvPr>
            <p:custDataLst>
              <p:tags r:id="rId1"/>
            </p:custDataLst>
          </p:nvPr>
        </p:nvGrpSpPr>
        <p:grpSpPr>
          <a:xfrm>
            <a:off x="1861479" y="1090198"/>
            <a:ext cx="2736102" cy="390680"/>
            <a:chOff x="2790266" y="142563"/>
            <a:chExt cx="3584682" cy="390680"/>
          </a:xfrm>
        </p:grpSpPr>
        <p:sp>
          <p:nvSpPr>
            <p:cNvPr id="12" name="圆角矩形 11"/>
            <p:cNvSpPr/>
            <p:nvPr>
              <p:custDataLst>
                <p:tags r:id="rId12"/>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3" name="组合 12"/>
            <p:cNvGrpSpPr/>
            <p:nvPr/>
          </p:nvGrpSpPr>
          <p:grpSpPr>
            <a:xfrm>
              <a:off x="5921798" y="256915"/>
              <a:ext cx="453150" cy="161976"/>
              <a:chOff x="264939" y="188640"/>
              <a:chExt cx="604358" cy="216024"/>
            </a:xfrm>
          </p:grpSpPr>
          <p:sp>
            <p:nvSpPr>
              <p:cNvPr id="18" name="燕尾形 17"/>
              <p:cNvSpPr/>
              <p:nvPr>
                <p:custDataLst>
                  <p:tags r:id="rId16"/>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燕尾形 18"/>
              <p:cNvSpPr/>
              <p:nvPr>
                <p:custDataLst>
                  <p:tags r:id="rId17"/>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燕尾形 19"/>
              <p:cNvSpPr/>
              <p:nvPr>
                <p:custDataLst>
                  <p:tags r:id="rId18"/>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4" name="组合 13"/>
            <p:cNvGrpSpPr/>
            <p:nvPr/>
          </p:nvGrpSpPr>
          <p:grpSpPr>
            <a:xfrm rot="10800000">
              <a:off x="2790266" y="256915"/>
              <a:ext cx="453150" cy="161976"/>
              <a:chOff x="264939" y="188640"/>
              <a:chExt cx="604358" cy="216024"/>
            </a:xfrm>
          </p:grpSpPr>
          <p:sp>
            <p:nvSpPr>
              <p:cNvPr id="15" name="燕尾形 14"/>
              <p:cNvSpPr/>
              <p:nvPr>
                <p:custDataLst>
                  <p:tags r:id="rId13"/>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custDataLst>
                  <p:tags r:id="rId14"/>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custDataLst>
                  <p:tags r:id="rId15"/>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1" name="矩形 20"/>
          <p:cNvSpPr/>
          <p:nvPr>
            <p:custDataLst>
              <p:tags r:id="rId2"/>
            </p:custDataLst>
          </p:nvPr>
        </p:nvSpPr>
        <p:spPr>
          <a:xfrm>
            <a:off x="2479592" y="1128250"/>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与去年同期比较</a:t>
            </a:r>
          </a:p>
        </p:txBody>
      </p:sp>
      <p:grpSp>
        <p:nvGrpSpPr>
          <p:cNvPr id="33" name="组合 32"/>
          <p:cNvGrpSpPr/>
          <p:nvPr>
            <p:custDataLst>
              <p:tags r:id="rId3"/>
            </p:custDataLst>
          </p:nvPr>
        </p:nvGrpSpPr>
        <p:grpSpPr>
          <a:xfrm>
            <a:off x="7656144" y="1128250"/>
            <a:ext cx="2736102" cy="366822"/>
            <a:chOff x="2790266" y="142563"/>
            <a:chExt cx="3584682" cy="390680"/>
          </a:xfrm>
        </p:grpSpPr>
        <p:sp>
          <p:nvSpPr>
            <p:cNvPr id="35" name="圆角矩形 34"/>
            <p:cNvSpPr/>
            <p:nvPr>
              <p:custDataLst>
                <p:tags r:id="rId5"/>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6" name="组合 35"/>
            <p:cNvGrpSpPr/>
            <p:nvPr/>
          </p:nvGrpSpPr>
          <p:grpSpPr>
            <a:xfrm>
              <a:off x="5921798" y="256915"/>
              <a:ext cx="453150" cy="161976"/>
              <a:chOff x="264939" y="188640"/>
              <a:chExt cx="604358" cy="216024"/>
            </a:xfrm>
          </p:grpSpPr>
          <p:sp>
            <p:nvSpPr>
              <p:cNvPr id="42" name="燕尾形 41"/>
              <p:cNvSpPr/>
              <p:nvPr>
                <p:custDataLst>
                  <p:tags r:id="rId9"/>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custDataLst>
                  <p:tags r:id="rId10"/>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custDataLst>
                  <p:tags r:id="rId11"/>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7" name="组合 36"/>
            <p:cNvGrpSpPr/>
            <p:nvPr/>
          </p:nvGrpSpPr>
          <p:grpSpPr>
            <a:xfrm rot="10800000">
              <a:off x="2790266" y="256915"/>
              <a:ext cx="453150" cy="161976"/>
              <a:chOff x="264939" y="188640"/>
              <a:chExt cx="604358" cy="216024"/>
            </a:xfrm>
          </p:grpSpPr>
          <p:sp>
            <p:nvSpPr>
              <p:cNvPr id="38" name="燕尾形 37"/>
              <p:cNvSpPr/>
              <p:nvPr>
                <p:custDataLst>
                  <p:tags r:id="rId6"/>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燕尾形 39"/>
              <p:cNvSpPr/>
              <p:nvPr>
                <p:custDataLst>
                  <p:tags r:id="rId7"/>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1" name="燕尾形 40"/>
              <p:cNvSpPr/>
              <p:nvPr>
                <p:custDataLst>
                  <p:tags r:id="rId8"/>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5" name="矩形 44"/>
          <p:cNvSpPr/>
          <p:nvPr>
            <p:custDataLst>
              <p:tags r:id="rId4"/>
            </p:custDataLst>
          </p:nvPr>
        </p:nvSpPr>
        <p:spPr>
          <a:xfrm>
            <a:off x="8303577" y="1141568"/>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杨浦与奉贤比较</a:t>
            </a:r>
          </a:p>
        </p:txBody>
      </p:sp>
      <p:graphicFrame>
        <p:nvGraphicFramePr>
          <p:cNvPr id="23" name="表格 22"/>
          <p:cNvGraphicFramePr/>
          <p:nvPr/>
        </p:nvGraphicFramePr>
        <p:xfrm>
          <a:off x="2516485" y="2187520"/>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r>
                        <a:rPr lang="en-US" altLang="zh-CN" sz="1400" b="1" dirty="0">
                          <a:solidFill>
                            <a:srgbClr val="C00000"/>
                          </a:solidFill>
                          <a:latin typeface="微软雅黑" panose="020B0503020204020204" pitchFamily="34" charset="-122"/>
                          <a:ea typeface="微软雅黑" panose="020B0503020204020204" pitchFamily="34" charset="-122"/>
                          <a:sym typeface="+mn-ea"/>
                        </a:rPr>
                        <a:t>0.1%</a:t>
                      </a:r>
                      <a:endParaRPr lang="en-US" altLang="zh-CN" sz="1400" b="1" i="0" dirty="0">
                        <a:solidFill>
                          <a:srgbClr val="00B050"/>
                        </a:solidFill>
                        <a:latin typeface="微软雅黑" panose="020B0503020204020204" pitchFamily="34" charset="-122"/>
                        <a:ea typeface="微软雅黑" panose="020B0503020204020204" pitchFamily="34" charset="-122"/>
                      </a:endParaRP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4" name="表格 23"/>
          <p:cNvGraphicFramePr/>
          <p:nvPr/>
        </p:nvGraphicFramePr>
        <p:xfrm>
          <a:off x="2516489" y="2674359"/>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buClrTx/>
                        <a:buSzTx/>
                        <a:buFontTx/>
                      </a:pPr>
                      <a:r>
                        <a:rPr lang="en-US" altLang="zh-CN" sz="1400" b="1" i="0" kern="1200" dirty="0">
                          <a:solidFill>
                            <a:srgbClr val="C00000"/>
                          </a:solidFill>
                          <a:latin typeface="微软雅黑" panose="020B0503020204020204" pitchFamily="34" charset="-122"/>
                          <a:ea typeface="微软雅黑" panose="020B0503020204020204" pitchFamily="34" charset="-122"/>
                          <a:cs typeface="+mn-cs"/>
                        </a:rPr>
                        <a:t>0.6%</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5" name="表格 24"/>
          <p:cNvGraphicFramePr/>
          <p:nvPr/>
        </p:nvGraphicFramePr>
        <p:xfrm>
          <a:off x="2516486" y="3202726"/>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buClrTx/>
                        <a:buSzTx/>
                        <a:buFontTx/>
                      </a:pPr>
                      <a:r>
                        <a:rPr lang="en-US" altLang="zh-CN" sz="1400" b="1" i="0" dirty="0">
                          <a:solidFill>
                            <a:srgbClr val="C00000"/>
                          </a:solidFill>
                          <a:latin typeface="微软雅黑" panose="020B0503020204020204" pitchFamily="34" charset="-122"/>
                          <a:ea typeface="微软雅黑" panose="020B0503020204020204" pitchFamily="34" charset="-122"/>
                        </a:rPr>
                        <a:t>1.6%</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6" name="表格 25"/>
          <p:cNvGraphicFramePr/>
          <p:nvPr>
            <p:extLst>
              <p:ext uri="{D42A27DB-BD31-4B8C-83A1-F6EECF244321}">
                <p14:modId xmlns:p14="http://schemas.microsoft.com/office/powerpoint/2010/main" val="1975494832"/>
              </p:ext>
            </p:extLst>
          </p:nvPr>
        </p:nvGraphicFramePr>
        <p:xfrm>
          <a:off x="2516487" y="3781617"/>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r>
                        <a:rPr lang="en-US" altLang="zh-CN" sz="1400" b="1" i="0" dirty="0">
                          <a:solidFill>
                            <a:srgbClr val="00B050"/>
                          </a:solidFill>
                          <a:latin typeface="微软雅黑" panose="020B0503020204020204" pitchFamily="34" charset="-122"/>
                          <a:ea typeface="微软雅黑" panose="020B0503020204020204" pitchFamily="34" charset="-122"/>
                        </a:rPr>
                        <a:t>-2.1%</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9" name="图表 8"/>
          <p:cNvGraphicFramePr/>
          <p:nvPr/>
        </p:nvGraphicFramePr>
        <p:xfrm>
          <a:off x="6560503" y="1859915"/>
          <a:ext cx="4638675" cy="2909570"/>
        </p:xfrm>
        <a:graphic>
          <a:graphicData uri="http://schemas.openxmlformats.org/drawingml/2006/chart">
            <c:chart xmlns:c="http://schemas.openxmlformats.org/drawingml/2006/chart" xmlns:r="http://schemas.openxmlformats.org/officeDocument/2006/relationships" r:id="rId22"/>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808115" y="1059405"/>
          <a:ext cx="10095865" cy="4329424"/>
        </p:xfrm>
        <a:graphic>
          <a:graphicData uri="http://schemas.openxmlformats.org/drawingml/2006/table">
            <a:tbl>
              <a:tblPr>
                <a:tableStyleId>{22838BEF-8BB2-4498-84A7-C5851F593DF1}</a:tableStyleId>
              </a:tblPr>
              <a:tblGrid>
                <a:gridCol w="1484929">
                  <a:extLst>
                    <a:ext uri="{9D8B030D-6E8A-4147-A177-3AD203B41FA5}">
                      <a16:colId xmlns:a16="http://schemas.microsoft.com/office/drawing/2014/main" val="20000"/>
                    </a:ext>
                  </a:extLst>
                </a:gridCol>
                <a:gridCol w="1690377">
                  <a:extLst>
                    <a:ext uri="{9D8B030D-6E8A-4147-A177-3AD203B41FA5}">
                      <a16:colId xmlns:a16="http://schemas.microsoft.com/office/drawing/2014/main" val="20001"/>
                    </a:ext>
                  </a:extLst>
                </a:gridCol>
                <a:gridCol w="1164875">
                  <a:extLst>
                    <a:ext uri="{9D8B030D-6E8A-4147-A177-3AD203B41FA5}">
                      <a16:colId xmlns:a16="http://schemas.microsoft.com/office/drawing/2014/main" val="20002"/>
                    </a:ext>
                  </a:extLst>
                </a:gridCol>
                <a:gridCol w="1567814">
                  <a:extLst>
                    <a:ext uri="{9D8B030D-6E8A-4147-A177-3AD203B41FA5}">
                      <a16:colId xmlns:a16="http://schemas.microsoft.com/office/drawing/2014/main" val="20003"/>
                    </a:ext>
                  </a:extLst>
                </a:gridCol>
                <a:gridCol w="1200931">
                  <a:extLst>
                    <a:ext uri="{9D8B030D-6E8A-4147-A177-3AD203B41FA5}">
                      <a16:colId xmlns:a16="http://schemas.microsoft.com/office/drawing/2014/main" val="20004"/>
                    </a:ext>
                  </a:extLst>
                </a:gridCol>
                <a:gridCol w="1493194">
                  <a:extLst>
                    <a:ext uri="{9D8B030D-6E8A-4147-A177-3AD203B41FA5}">
                      <a16:colId xmlns:a16="http://schemas.microsoft.com/office/drawing/2014/main" val="20005"/>
                    </a:ext>
                  </a:extLst>
                </a:gridCol>
                <a:gridCol w="1493745">
                  <a:extLst>
                    <a:ext uri="{9D8B030D-6E8A-4147-A177-3AD203B41FA5}">
                      <a16:colId xmlns:a16="http://schemas.microsoft.com/office/drawing/2014/main" val="20006"/>
                    </a:ext>
                  </a:extLst>
                </a:gridCol>
              </a:tblGrid>
              <a:tr h="399415">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3,657.54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93.89%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10.58%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-2.73%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62.79%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5.74%</a:t>
                      </a:r>
                    </a:p>
                  </a:txBody>
                  <a:tcPr marL="9842" marR="9842" marT="9842" marB="0" anchor="ctr"/>
                </a:tc>
                <a:extLst>
                  <a:ext uri="{0D108BD9-81ED-4DB2-BD59-A6C34878D82A}">
                    <a16:rowId xmlns:a16="http://schemas.microsoft.com/office/drawing/2014/main" val="10001"/>
                  </a:ext>
                </a:extLst>
              </a:tr>
              <a:tr h="243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2,719.64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85.54%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-0.99%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58.81%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-3.87%</a:t>
                      </a:r>
                    </a:p>
                  </a:txBody>
                  <a:tcPr marL="9842" marR="9842" marT="9842" marB="0" anchor="ctr"/>
                </a:tc>
                <a:extLst>
                  <a:ext uri="{0D108BD9-81ED-4DB2-BD59-A6C34878D82A}">
                    <a16:rowId xmlns:a16="http://schemas.microsoft.com/office/drawing/2014/main" val="10002"/>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介入血管外科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1,311.80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45.92%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6.77%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-0.17%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78.30%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2.39%</a:t>
                      </a:r>
                    </a:p>
                  </a:txBody>
                  <a:tcPr marL="9842" marR="9842" marT="9842" marB="0" anchor="ctr"/>
                </a:tc>
                <a:extLst>
                  <a:ext uri="{0D108BD9-81ED-4DB2-BD59-A6C34878D82A}">
                    <a16:rowId xmlns:a16="http://schemas.microsoft.com/office/drawing/2014/main" val="10003"/>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整形外科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271.72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44.73%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-8.29%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4.63%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-2.15%</a:t>
                      </a:r>
                    </a:p>
                  </a:txBody>
                  <a:tcPr marL="9842" marR="9842" marT="9842" marB="0" anchor="ctr"/>
                </a:tc>
                <a:extLst>
                  <a:ext uri="{0D108BD9-81ED-4DB2-BD59-A6C34878D82A}">
                    <a16:rowId xmlns:a16="http://schemas.microsoft.com/office/drawing/2014/main" val="10004"/>
                  </a:ext>
                </a:extLst>
              </a:tr>
              <a:tr h="23876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4,209.25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40.96%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12.46%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0.56%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53.66%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-9.44%</a:t>
                      </a:r>
                    </a:p>
                  </a:txBody>
                  <a:tcPr marL="9842" marR="9842" marT="9842" marB="0" anchor="ctr"/>
                </a:tc>
                <a:extLst>
                  <a:ext uri="{0D108BD9-81ED-4DB2-BD59-A6C34878D82A}">
                    <a16:rowId xmlns:a16="http://schemas.microsoft.com/office/drawing/2014/main" val="10005"/>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2,312.96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39.62%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28.14%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17.99%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-5.69%</a:t>
                      </a:r>
                    </a:p>
                  </a:txBody>
                  <a:tcPr marL="9842" marR="9842" marT="9842" marB="0" anchor="ctr"/>
                </a:tc>
                <a:extLst>
                  <a:ext uri="{0D108BD9-81ED-4DB2-BD59-A6C34878D82A}">
                    <a16:rowId xmlns:a16="http://schemas.microsoft.com/office/drawing/2014/main" val="10006"/>
                  </a:ext>
                </a:extLst>
              </a:tr>
              <a:tr h="24193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3,099.35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37.44%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18.85%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-3.59%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32.25%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-1.05%</a:t>
                      </a:r>
                    </a:p>
                  </a:txBody>
                  <a:tcPr marL="9842" marR="9842" marT="9842" marB="0" anchor="ctr"/>
                </a:tc>
                <a:extLst>
                  <a:ext uri="{0D108BD9-81ED-4DB2-BD59-A6C34878D82A}">
                    <a16:rowId xmlns:a16="http://schemas.microsoft.com/office/drawing/2014/main" val="10007"/>
                  </a:ext>
                </a:extLst>
              </a:tr>
              <a:tr h="24384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496.78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30.97%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10.81%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-2.47%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52.05%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-1.03%</a:t>
                      </a:r>
                    </a:p>
                  </a:txBody>
                  <a:tcPr marL="9842" marR="9842" marT="9842" marB="0" anchor="ctr"/>
                </a:tc>
                <a:extLst>
                  <a:ext uri="{0D108BD9-81ED-4DB2-BD59-A6C34878D82A}">
                    <a16:rowId xmlns:a16="http://schemas.microsoft.com/office/drawing/2014/main" val="10008"/>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耳鼻咽喉</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1,386.10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16.16%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29.54%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1.55%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15.19%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-0.58%</a:t>
                      </a:r>
                    </a:p>
                  </a:txBody>
                  <a:tcPr marL="9842" marR="9842" marT="9842" marB="0" anchor="ctr"/>
                </a:tc>
                <a:extLst>
                  <a:ext uri="{0D108BD9-81ED-4DB2-BD59-A6C34878D82A}">
                    <a16:rowId xmlns:a16="http://schemas.microsoft.com/office/drawing/2014/main" val="10009"/>
                  </a:ext>
                </a:extLst>
              </a:tr>
              <a:tr h="24003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1,829.91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13.76%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15.39%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-1.68%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9.62%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-1.62%</a:t>
                      </a:r>
                    </a:p>
                  </a:txBody>
                  <a:tcPr marL="9842" marR="9842" marT="9842" marB="0" anchor="ctr"/>
                </a:tc>
                <a:extLst>
                  <a:ext uri="{0D108BD9-81ED-4DB2-BD59-A6C34878D82A}">
                    <a16:rowId xmlns:a16="http://schemas.microsoft.com/office/drawing/2014/main" val="10010"/>
                  </a:ext>
                </a:extLst>
              </a:tr>
              <a:tr h="269237">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乳腺外科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635.88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11.60%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37.16%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4.63%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-2.20%</a:t>
                      </a:r>
                    </a:p>
                  </a:txBody>
                  <a:tcPr marL="9842" marR="9842" marT="9842" marB="0" anchor="ctr"/>
                </a:tc>
                <a:extLst>
                  <a:ext uri="{0D108BD9-81ED-4DB2-BD59-A6C34878D82A}">
                    <a16:rowId xmlns:a16="http://schemas.microsoft.com/office/drawing/2014/main" val="10011"/>
                  </a:ext>
                </a:extLst>
              </a:tr>
              <a:tr h="269237">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1,570.44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10.60%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18.60%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14.72%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-0.02%</a:t>
                      </a:r>
                    </a:p>
                  </a:txBody>
                  <a:tcPr marL="9842" marR="9842" marT="9842" marB="0" anchor="ctr"/>
                </a:tc>
                <a:extLst>
                  <a:ext uri="{0D108BD9-81ED-4DB2-BD59-A6C34878D82A}">
                    <a16:rowId xmlns:a16="http://schemas.microsoft.com/office/drawing/2014/main" val="10012"/>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2,703.29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7.57%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14.87%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-2.02%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47.31%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-0.26%</a:t>
                      </a:r>
                    </a:p>
                  </a:txBody>
                  <a:tcPr marL="9842" marR="9842" marT="9842" marB="0" anchor="ctr"/>
                </a:tc>
                <a:extLst>
                  <a:ext uri="{0D108BD9-81ED-4DB2-BD59-A6C34878D82A}">
                    <a16:rowId xmlns:a16="http://schemas.microsoft.com/office/drawing/2014/main" val="10013"/>
                  </a:ext>
                </a:extLst>
              </a:tr>
              <a:tr h="243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移植科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82.53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32.03%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23.73%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-1.33%</a:t>
                      </a:r>
                    </a:p>
                  </a:txBody>
                  <a:tcPr marL="9842" marR="9842" marT="9842" marB="0" anchor="ctr"/>
                </a:tc>
                <a:extLst>
                  <a:ext uri="{0D108BD9-81ED-4DB2-BD59-A6C34878D82A}">
                    <a16:rowId xmlns:a16="http://schemas.microsoft.com/office/drawing/2014/main" val="10014"/>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1,044.91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-18.59%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26.11%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-7.68%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2.85%</a:t>
                      </a:r>
                    </a:p>
                  </a:txBody>
                  <a:tcPr marL="9842" marR="9842" marT="9842" marB="0" anchor="ctr"/>
                </a:tc>
                <a:extLst>
                  <a:ext uri="{0D108BD9-81ED-4DB2-BD59-A6C34878D82A}">
                    <a16:rowId xmlns:a16="http://schemas.microsoft.com/office/drawing/2014/main" val="10015"/>
                  </a:ext>
                </a:extLst>
              </a:tr>
              <a:tr h="24257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1,822.14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30.75%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18.26%</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33.73%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16"/>
                  </a:ext>
                </a:extLst>
              </a:tr>
            </a:tbl>
          </a:graphicData>
        </a:graphic>
      </p:graphicFrame>
      <p:sp>
        <p:nvSpPr>
          <p:cNvPr id="10" name="文本框 9"/>
          <p:cNvSpPr txBox="1"/>
          <p:nvPr/>
        </p:nvSpPr>
        <p:spPr>
          <a:xfrm>
            <a:off x="9968817" y="794218"/>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38137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成人手术科室</a:t>
            </a:r>
          </a:p>
        </p:txBody>
      </p:sp>
      <p:sp>
        <p:nvSpPr>
          <p:cNvPr id="12" name="矩形 11"/>
          <p:cNvSpPr/>
          <p:nvPr/>
        </p:nvSpPr>
        <p:spPr>
          <a:xfrm>
            <a:off x="766840" y="5682576"/>
            <a:ext cx="10513356"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月，无药耗占比均增长的科室</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，两项均下降的有</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脊柱中心、整形、普外、疼痛、妇产、心胸外</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药耗占比合计超过</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50%</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的科室有</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神经外、</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脊柱、</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介入、骨科、普外、疼痛、心胸外、</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移植、</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肛肠</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865273" y="958631"/>
          <a:ext cx="10352405" cy="4599940"/>
        </p:xfrm>
        <a:graphic>
          <a:graphicData uri="http://schemas.openxmlformats.org/drawingml/2006/table">
            <a:tbl>
              <a:tblPr>
                <a:tableStyleId>{22838BEF-8BB2-4498-84A7-C5851F593DF1}</a:tableStyleId>
              </a:tblPr>
              <a:tblGrid>
                <a:gridCol w="1437005">
                  <a:extLst>
                    <a:ext uri="{9D8B030D-6E8A-4147-A177-3AD203B41FA5}">
                      <a16:colId xmlns:a16="http://schemas.microsoft.com/office/drawing/2014/main" val="20000"/>
                    </a:ext>
                  </a:extLst>
                </a:gridCol>
                <a:gridCol w="1649612">
                  <a:extLst>
                    <a:ext uri="{9D8B030D-6E8A-4147-A177-3AD203B41FA5}">
                      <a16:colId xmlns:a16="http://schemas.microsoft.com/office/drawing/2014/main" val="20001"/>
                    </a:ext>
                  </a:extLst>
                </a:gridCol>
                <a:gridCol w="1322823">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485265">
                  <a:extLst>
                    <a:ext uri="{9D8B030D-6E8A-4147-A177-3AD203B41FA5}">
                      <a16:colId xmlns:a16="http://schemas.microsoft.com/office/drawing/2014/main" val="20004"/>
                    </a:ext>
                  </a:extLst>
                </a:gridCol>
                <a:gridCol w="1486535">
                  <a:extLst>
                    <a:ext uri="{9D8B030D-6E8A-4147-A177-3AD203B41FA5}">
                      <a16:colId xmlns:a16="http://schemas.microsoft.com/office/drawing/2014/main" val="20005"/>
                    </a:ext>
                  </a:extLst>
                </a:gridCol>
                <a:gridCol w="1485265">
                  <a:extLst>
                    <a:ext uri="{9D8B030D-6E8A-4147-A177-3AD203B41FA5}">
                      <a16:colId xmlns:a16="http://schemas.microsoft.com/office/drawing/2014/main" val="20006"/>
                    </a:ext>
                  </a:extLst>
                </a:gridCol>
              </a:tblGrid>
              <a:tr h="375285">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6,368.03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60.08%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19.18%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-1.58%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55.13%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0.97%</a:t>
                      </a:r>
                    </a:p>
                  </a:txBody>
                  <a:tcPr marL="9842" marR="9842" marT="9842" marB="0" anchor="ctr"/>
                </a:tc>
                <a:extLst>
                  <a:ext uri="{0D108BD9-81ED-4DB2-BD59-A6C34878D82A}">
                    <a16:rowId xmlns:a16="http://schemas.microsoft.com/office/drawing/2014/main" val="10001"/>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生殖医学中心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317.66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57.34%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16.45%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0.20%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-0.01%</a:t>
                      </a:r>
                    </a:p>
                  </a:txBody>
                  <a:tcPr marL="9842" marR="9842" marT="9842" marB="0" anchor="ctr"/>
                </a:tc>
                <a:extLst>
                  <a:ext uri="{0D108BD9-81ED-4DB2-BD59-A6C34878D82A}">
                    <a16:rowId xmlns:a16="http://schemas.microsoft.com/office/drawing/2014/main" val="10002"/>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1,446.80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51.71%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34.68%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-6.08%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21.92%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6.14%</a:t>
                      </a:r>
                    </a:p>
                  </a:txBody>
                  <a:tcPr marL="9842" marR="9842" marT="9842" marB="0" anchor="ctr"/>
                </a:tc>
                <a:extLst>
                  <a:ext uri="{0D108BD9-81ED-4DB2-BD59-A6C34878D82A}">
                    <a16:rowId xmlns:a16="http://schemas.microsoft.com/office/drawing/2014/main" val="10003"/>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全科医学科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355.65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46.04%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27.62%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-5.00%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3.88%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0.64%</a:t>
                      </a:r>
                    </a:p>
                  </a:txBody>
                  <a:tcPr marL="9842" marR="9842" marT="9842" marB="0" anchor="ctr"/>
                </a:tc>
                <a:extLst>
                  <a:ext uri="{0D108BD9-81ED-4DB2-BD59-A6C34878D82A}">
                    <a16:rowId xmlns:a16="http://schemas.microsoft.com/office/drawing/2014/main" val="10004"/>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1,974.33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45.18%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29.42%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14.90%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0.63%</a:t>
                      </a:r>
                    </a:p>
                  </a:txBody>
                  <a:tcPr marL="9842" marR="9842" marT="9842" marB="0" anchor="ctr"/>
                </a:tc>
                <a:extLst>
                  <a:ext uri="{0D108BD9-81ED-4DB2-BD59-A6C34878D82A}">
                    <a16:rowId xmlns:a16="http://schemas.microsoft.com/office/drawing/2014/main" val="10005"/>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肿瘤内科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1,206.95</a:t>
                      </a:r>
                    </a:p>
                  </a:txBody>
                  <a:tcPr marL="9842" marR="9842" marT="9842" marB="0" anchor="ctr"/>
                </a:tc>
                <a:tc rowSpan="2">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35.71%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73.42%</a:t>
                      </a:r>
                    </a:p>
                  </a:txBody>
                  <a:tcPr marL="9842" marR="9842" marT="9842" marB="0" anchor="ctr"/>
                </a:tc>
                <a:tc rowSpan="2">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-0.37%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3.51%</a:t>
                      </a:r>
                    </a:p>
                  </a:txBody>
                  <a:tcPr marL="9842" marR="9842" marT="9842" marB="0" anchor="ctr"/>
                </a:tc>
                <a:tc rowSpan="2">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-0.08%</a:t>
                      </a:r>
                    </a:p>
                  </a:txBody>
                  <a:tcPr marL="9842" marR="9842" marT="9842" marB="0" anchor="ctr"/>
                </a:tc>
                <a:extLst>
                  <a:ext uri="{0D108BD9-81ED-4DB2-BD59-A6C34878D82A}">
                    <a16:rowId xmlns:a16="http://schemas.microsoft.com/office/drawing/2014/main" val="10006"/>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放疗科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1,174.40</a:t>
                      </a:r>
                    </a:p>
                  </a:txBody>
                  <a:tcPr marL="9842" marR="9842" marT="9842" marB="0" anchor="ctr"/>
                </a:tc>
                <a:tc vMerge="1">
                  <a:txBody>
                    <a:bodyPr/>
                    <a:lstStyle/>
                    <a:p>
                      <a:endParaRPr lang="zh-CN"/>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22.42%</a:t>
                      </a:r>
                    </a:p>
                  </a:txBody>
                  <a:tcPr marL="9842" marR="9842" marT="9842" marB="0" anchor="ctr"/>
                </a:tc>
                <a:tc vMerge="1">
                  <a:txBody>
                    <a:bodyPr/>
                    <a:lstStyle/>
                    <a:p>
                      <a:endParaRPr lang="zh-CN"/>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1.02%</a:t>
                      </a:r>
                    </a:p>
                  </a:txBody>
                  <a:tcPr marL="9842" marR="9842" marT="9842" marB="0" anchor="ctr"/>
                </a:tc>
                <a:tc vMerge="1">
                  <a:txBody>
                    <a:bodyPr/>
                    <a:lstStyle/>
                    <a:p>
                      <a:endParaRPr lang="zh-CN"/>
                    </a:p>
                  </a:txBody>
                  <a:tcPr marL="9842" marR="9842" marT="9842" marB="0" anchor="ctr"/>
                </a:tc>
                <a:extLst>
                  <a:ext uri="{0D108BD9-81ED-4DB2-BD59-A6C34878D82A}">
                    <a16:rowId xmlns:a16="http://schemas.microsoft.com/office/drawing/2014/main" val="10007"/>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1,733.46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33.01%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31.96%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1.81%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-0.25%</a:t>
                      </a:r>
                    </a:p>
                  </a:txBody>
                  <a:tcPr marL="9842" marR="9842" marT="9842" marB="0" anchor="ctr"/>
                </a:tc>
                <a:extLst>
                  <a:ext uri="{0D108BD9-81ED-4DB2-BD59-A6C34878D82A}">
                    <a16:rowId xmlns:a16="http://schemas.microsoft.com/office/drawing/2014/main" val="10008"/>
                  </a:ext>
                </a:extLst>
              </a:tr>
              <a:tr h="21272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肾脏风湿免疫科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1,320.72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27.97%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35.22%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-1.58%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9.42%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-3.77%</a:t>
                      </a:r>
                    </a:p>
                  </a:txBody>
                  <a:tcPr marL="9842" marR="9842" marT="9842" marB="0" anchor="ctr"/>
                </a:tc>
                <a:extLst>
                  <a:ext uri="{0D108BD9-81ED-4DB2-BD59-A6C34878D82A}">
                    <a16:rowId xmlns:a16="http://schemas.microsoft.com/office/drawing/2014/main" val="10009"/>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呼吸内科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1,013.51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24.86%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43.31%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-5.55%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0.09%</a:t>
                      </a:r>
                    </a:p>
                  </a:txBody>
                  <a:tcPr marL="9842" marR="9842" marT="9842" marB="0" anchor="ctr"/>
                </a:tc>
                <a:extLst>
                  <a:ext uri="{0D108BD9-81ED-4DB2-BD59-A6C34878D82A}">
                    <a16:rowId xmlns:a16="http://schemas.microsoft.com/office/drawing/2014/main" val="10010"/>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临床心理科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332.57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22.85%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36.65%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-4.99%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0.00%</a:t>
                      </a:r>
                    </a:p>
                  </a:txBody>
                  <a:tcPr marL="9842" marR="9842" marT="9842" marB="0" anchor="ctr"/>
                </a:tc>
                <a:extLst>
                  <a:ext uri="{0D108BD9-81ED-4DB2-BD59-A6C34878D82A}">
                    <a16:rowId xmlns:a16="http://schemas.microsoft.com/office/drawing/2014/main" val="10011"/>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内分泌科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1,052.17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21.96%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40.83%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-0.40%</a:t>
                      </a:r>
                    </a:p>
                  </a:txBody>
                  <a:tcPr marL="9842" marR="9842" marT="9842" marB="0" anchor="ctr"/>
                </a:tc>
                <a:extLst>
                  <a:ext uri="{0D108BD9-81ED-4DB2-BD59-A6C34878D82A}">
                    <a16:rowId xmlns:a16="http://schemas.microsoft.com/office/drawing/2014/main" val="10012"/>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康复医学科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142.26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20.64%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0.20%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0.04%</a:t>
                      </a:r>
                    </a:p>
                  </a:txBody>
                  <a:tcPr marL="9842" marR="9842" marT="9842" marB="0" anchor="ctr"/>
                </a:tc>
                <a:extLst>
                  <a:ext uri="{0D108BD9-81ED-4DB2-BD59-A6C34878D82A}">
                    <a16:rowId xmlns:a16="http://schemas.microsoft.com/office/drawing/2014/main" val="10013"/>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口腔科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550.32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-1.39%</a:t>
                      </a:r>
                    </a:p>
                  </a:txBody>
                  <a:tcPr marL="9842" marR="9842" marT="9842" marB="0" anchor="ctr"/>
                </a:tc>
                <a:extLst>
                  <a:ext uri="{0D108BD9-81ED-4DB2-BD59-A6C34878D82A}">
                    <a16:rowId xmlns:a16="http://schemas.microsoft.com/office/drawing/2014/main" val="10014"/>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血液内科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933.37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7.15%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71.82%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-6.73%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0.90%</a:t>
                      </a:r>
                    </a:p>
                  </a:txBody>
                  <a:tcPr marL="9842" marR="9842" marT="9842" marB="0" anchor="ctr"/>
                </a:tc>
                <a:extLst>
                  <a:ext uri="{0D108BD9-81ED-4DB2-BD59-A6C34878D82A}">
                    <a16:rowId xmlns:a16="http://schemas.microsoft.com/office/drawing/2014/main" val="10015"/>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老年医学科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692.24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1.54%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40.39%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0.05%</a:t>
                      </a:r>
                    </a:p>
                  </a:txBody>
                  <a:tcPr marL="9842" marR="9842" marT="9842" marB="0" anchor="ctr"/>
                </a:tc>
                <a:extLst>
                  <a:ext uri="{0D108BD9-81ED-4DB2-BD59-A6C34878D82A}">
                    <a16:rowId xmlns:a16="http://schemas.microsoft.com/office/drawing/2014/main" val="10016"/>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中医科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816.00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1.46%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52.90%</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-1.94%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0.35%</a:t>
                      </a:r>
                    </a:p>
                  </a:txBody>
                  <a:tcPr marL="9842" marR="9842" marT="9842" marB="0" anchor="ctr"/>
                </a:tc>
                <a:extLst>
                  <a:ext uri="{0D108BD9-81ED-4DB2-BD59-A6C34878D82A}">
                    <a16:rowId xmlns:a16="http://schemas.microsoft.com/office/drawing/2014/main" val="10017"/>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感染科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110.35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-8.66%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35.33%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-10.64%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0.13%</a:t>
                      </a:r>
                    </a:p>
                  </a:txBody>
                  <a:tcPr marL="9842" marR="9842" marT="9842" marB="0" anchor="ctr"/>
                </a:tc>
                <a:extLst>
                  <a:ext uri="{0D108BD9-81ED-4DB2-BD59-A6C34878D82A}">
                    <a16:rowId xmlns:a16="http://schemas.microsoft.com/office/drawing/2014/main" val="10018"/>
                  </a:ext>
                </a:extLst>
              </a:tr>
              <a:tr h="22288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1,196.71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27.56%</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34.20%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7.21%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19"/>
                  </a:ext>
                </a:extLst>
              </a:tr>
            </a:tbl>
          </a:graphicData>
        </a:graphic>
      </p:graphicFrame>
      <p:sp>
        <p:nvSpPr>
          <p:cNvPr id="10" name="文本框 9"/>
          <p:cNvSpPr txBox="1"/>
          <p:nvPr/>
        </p:nvSpPr>
        <p:spPr>
          <a:xfrm>
            <a:off x="9995856" y="720710"/>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79174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成人非手术科室</a:t>
            </a:r>
          </a:p>
        </p:txBody>
      </p:sp>
      <p:sp>
        <p:nvSpPr>
          <p:cNvPr id="12" name="矩形 11"/>
          <p:cNvSpPr/>
          <p:nvPr/>
        </p:nvSpPr>
        <p:spPr>
          <a:xfrm>
            <a:off x="611376" y="5757909"/>
            <a:ext cx="10860197"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月，药耗占比均增长的科室</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有</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消化内、康复</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，两项均下降的有</a:t>
            </a:r>
            <a:r>
              <a:rPr lang="zh-CN" altLang="en-US" sz="1400" b="1" kern="0" noProof="0" dirty="0">
                <a:ln>
                  <a:noFill/>
                </a:ln>
                <a:solidFill>
                  <a:srgbClr val="339933"/>
                </a:solidFill>
                <a:effectLst/>
                <a:uLnTx/>
                <a:uFillTx/>
                <a:latin typeface="微软雅黑" panose="020B0503020204020204" pitchFamily="34" charset="-122"/>
                <a:ea typeface="微软雅黑" panose="020B0503020204020204" pitchFamily="34" charset="-122"/>
                <a:sym typeface="+mn-ea"/>
              </a:rPr>
              <a:t>肿瘤、肾脏、</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内分泌</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药耗占比合计超过50%的科室有</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心血管、</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神经内、肿瘤、皮肤、血液、</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中医</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663752" y="1107217"/>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p:cNvGraphicFramePr>
            <a:graphicFrameLocks noGrp="1"/>
          </p:cNvGraphicFramePr>
          <p:nvPr/>
        </p:nvGraphicFramePr>
        <p:xfrm>
          <a:off x="737870" y="1384213"/>
          <a:ext cx="10478770" cy="3829050"/>
        </p:xfrm>
        <a:graphic>
          <a:graphicData uri="http://schemas.openxmlformats.org/drawingml/2006/table">
            <a:tbl>
              <a:tblPr>
                <a:tableStyleId>{22838BEF-8BB2-4498-84A7-C5851F593DF1}</a:tableStyleId>
              </a:tblPr>
              <a:tblGrid>
                <a:gridCol w="1432560">
                  <a:extLst>
                    <a:ext uri="{9D8B030D-6E8A-4147-A177-3AD203B41FA5}">
                      <a16:colId xmlns:a16="http://schemas.microsoft.com/office/drawing/2014/main" val="20000"/>
                    </a:ext>
                  </a:extLst>
                </a:gridCol>
                <a:gridCol w="1928604">
                  <a:extLst>
                    <a:ext uri="{9D8B030D-6E8A-4147-A177-3AD203B41FA5}">
                      <a16:colId xmlns:a16="http://schemas.microsoft.com/office/drawing/2014/main" val="20001"/>
                    </a:ext>
                  </a:extLst>
                </a:gridCol>
                <a:gridCol w="1035576">
                  <a:extLst>
                    <a:ext uri="{9D8B030D-6E8A-4147-A177-3AD203B41FA5}">
                      <a16:colId xmlns:a16="http://schemas.microsoft.com/office/drawing/2014/main" val="20002"/>
                    </a:ext>
                  </a:extLst>
                </a:gridCol>
                <a:gridCol w="1686604">
                  <a:extLst>
                    <a:ext uri="{9D8B030D-6E8A-4147-A177-3AD203B41FA5}">
                      <a16:colId xmlns:a16="http://schemas.microsoft.com/office/drawing/2014/main" val="20003"/>
                    </a:ext>
                  </a:extLst>
                </a:gridCol>
                <a:gridCol w="1276306">
                  <a:extLst>
                    <a:ext uri="{9D8B030D-6E8A-4147-A177-3AD203B41FA5}">
                      <a16:colId xmlns:a16="http://schemas.microsoft.com/office/drawing/2014/main" val="20004"/>
                    </a:ext>
                  </a:extLst>
                </a:gridCol>
                <a:gridCol w="1729652">
                  <a:extLst>
                    <a:ext uri="{9D8B030D-6E8A-4147-A177-3AD203B41FA5}">
                      <a16:colId xmlns:a16="http://schemas.microsoft.com/office/drawing/2014/main" val="20005"/>
                    </a:ext>
                  </a:extLst>
                </a:gridCol>
                <a:gridCol w="1389380">
                  <a:extLst>
                    <a:ext uri="{9D8B030D-6E8A-4147-A177-3AD203B41FA5}">
                      <a16:colId xmlns:a16="http://schemas.microsoft.com/office/drawing/2014/main" val="20006"/>
                    </a:ext>
                  </a:extLst>
                </a:gridCol>
              </a:tblGrid>
              <a:tr h="546988">
                <a:tc>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5</a:t>
                      </a:r>
                      <a:r>
                        <a:rPr lang="zh-CN" altLang="en-US" sz="14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5</a:t>
                      </a:r>
                      <a:r>
                        <a:rPr lang="zh-CN" altLang="en-US" sz="14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4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400" b="1" i="0" dirty="0">
                        <a:solidFill>
                          <a:srgbClr val="000000"/>
                        </a:solidFill>
                        <a:latin typeface="微软雅黑" panose="020B0503020204020204" pitchFamily="34" charset="-122"/>
                        <a:ea typeface="微软雅黑" panose="020B0503020204020204" pitchFamily="34" charset="-122"/>
                        <a:sym typeface="+mn-ea"/>
                      </a:endParaRPr>
                    </a:p>
                  </a:txBody>
                  <a:tcPr marL="9842" marR="9842" marT="9842" marB="0" anchor="ctr"/>
                </a:tc>
                <a:tc>
                  <a:txBody>
                    <a:bodyPr/>
                    <a:lstStyle/>
                    <a:p>
                      <a:pPr algn="ctr" fontAlgn="ct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5</a:t>
                      </a:r>
                      <a:r>
                        <a:rPr lang="zh-CN" altLang="en-US" sz="14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4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400" b="1" i="0" dirty="0">
                        <a:solidFill>
                          <a:srgbClr val="000000"/>
                        </a:solidFill>
                        <a:latin typeface="微软雅黑" panose="020B0503020204020204" pitchFamily="34" charset="-122"/>
                        <a:ea typeface="微软雅黑" panose="020B0503020204020204" pitchFamily="34" charset="-122"/>
                        <a:sym typeface="+mn-ea"/>
                      </a:endParaRPr>
                    </a:p>
                  </a:txBody>
                  <a:tcPr marL="9842" marR="9842" marT="9842" marB="0" anchor="ctr"/>
                </a:tc>
                <a:extLst>
                  <a:ext uri="{0D108BD9-81ED-4DB2-BD59-A6C34878D82A}">
                    <a16:rowId xmlns:a16="http://schemas.microsoft.com/office/drawing/2014/main" val="10000"/>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1,313.49</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37.68%</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9.38%</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-0.50%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57.34%</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2.38%</a:t>
                      </a:r>
                    </a:p>
                  </a:txBody>
                  <a:tcPr marL="9842" marR="9842" marT="9842" marB="0" anchor="ctr"/>
                </a:tc>
                <a:extLst>
                  <a:ext uri="{0D108BD9-81ED-4DB2-BD59-A6C34878D82A}">
                    <a16:rowId xmlns:a16="http://schemas.microsoft.com/office/drawing/2014/main" val="10001"/>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925.65</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-0.74%</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5.23%</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-0.91%</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55.57%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1.82%</a:t>
                      </a:r>
                    </a:p>
                  </a:txBody>
                  <a:tcPr marL="9842" marR="9842" marT="9842" marB="0" anchor="ctr"/>
                </a:tc>
                <a:extLst>
                  <a:ext uri="{0D108BD9-81ED-4DB2-BD59-A6C34878D82A}">
                    <a16:rowId xmlns:a16="http://schemas.microsoft.com/office/drawing/2014/main" val="10002"/>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儿心脏中心</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430.99</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-5.25%</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13.94%</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3.40%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19.70%</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-8.63%</a:t>
                      </a:r>
                    </a:p>
                  </a:txBody>
                  <a:tcPr marL="9842" marR="9842" marT="9842" marB="0" anchor="ctr"/>
                </a:tc>
                <a:extLst>
                  <a:ext uri="{0D108BD9-81ED-4DB2-BD59-A6C34878D82A}">
                    <a16:rowId xmlns:a16="http://schemas.microsoft.com/office/drawing/2014/main" val="10003"/>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儿普外科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377.25</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-7.55%</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10.10%</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-2.38%</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20.94%</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-0.05%</a:t>
                      </a:r>
                    </a:p>
                  </a:txBody>
                  <a:tcPr marL="9842" marR="9842" marT="9842" marB="0" anchor="ctr"/>
                </a:tc>
                <a:extLst>
                  <a:ext uri="{0D108BD9-81ED-4DB2-BD59-A6C34878D82A}">
                    <a16:rowId xmlns:a16="http://schemas.microsoft.com/office/drawing/2014/main" val="10004"/>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儿泌尿外科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178.05</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-24.41%</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7.69%</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-2.80%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20.07%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1.08%</a:t>
                      </a:r>
                    </a:p>
                  </a:txBody>
                  <a:tcPr marL="9842" marR="9842" marT="9842" marB="0" anchor="ctr"/>
                </a:tc>
                <a:extLst>
                  <a:ext uri="{0D108BD9-81ED-4DB2-BD59-A6C34878D82A}">
                    <a16:rowId xmlns:a16="http://schemas.microsoft.com/office/drawing/2014/main" val="10005"/>
                  </a:ext>
                </a:extLst>
              </a:tr>
              <a:tr h="546988">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645.09</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-0.05%</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9.27%</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34.72%</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6"/>
                  </a:ext>
                </a:extLst>
              </a:tr>
            </a:tbl>
          </a:graphicData>
        </a:graphic>
      </p:graphicFrame>
      <p:sp>
        <p:nvSpPr>
          <p:cNvPr id="11"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a:spLocks noChangeArrowheads="1"/>
          </p:cNvSpPr>
          <p:nvPr/>
        </p:nvSpPr>
        <p:spPr bwMode="auto">
          <a:xfrm>
            <a:off x="474669" y="209554"/>
            <a:ext cx="538137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儿童手术科室</a:t>
            </a:r>
          </a:p>
        </p:txBody>
      </p:sp>
      <p:sp>
        <p:nvSpPr>
          <p:cNvPr id="13" name="矩形 12"/>
          <p:cNvSpPr/>
          <p:nvPr/>
        </p:nvSpPr>
        <p:spPr>
          <a:xfrm>
            <a:off x="989670" y="5665935"/>
            <a:ext cx="9819594" cy="45910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月，药耗占比超过50%的科室有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儿神经外、儿骨。</a:t>
            </a:r>
            <a:endPar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04595" y="1145627"/>
          <a:ext cx="10417833" cy="4403835"/>
        </p:xfrm>
        <a:graphic>
          <a:graphicData uri="http://schemas.openxmlformats.org/drawingml/2006/table">
            <a:tbl>
              <a:tblPr>
                <a:tableStyleId>{22838BEF-8BB2-4498-84A7-C5851F593DF1}</a:tableStyleId>
              </a:tblPr>
              <a:tblGrid>
                <a:gridCol w="1410553">
                  <a:extLst>
                    <a:ext uri="{9D8B030D-6E8A-4147-A177-3AD203B41FA5}">
                      <a16:colId xmlns:a16="http://schemas.microsoft.com/office/drawing/2014/main" val="20000"/>
                    </a:ext>
                  </a:extLst>
                </a:gridCol>
                <a:gridCol w="1753257">
                  <a:extLst>
                    <a:ext uri="{9D8B030D-6E8A-4147-A177-3AD203B41FA5}">
                      <a16:colId xmlns:a16="http://schemas.microsoft.com/office/drawing/2014/main" val="20001"/>
                    </a:ext>
                  </a:extLst>
                </a:gridCol>
                <a:gridCol w="1419520">
                  <a:extLst>
                    <a:ext uri="{9D8B030D-6E8A-4147-A177-3AD203B41FA5}">
                      <a16:colId xmlns:a16="http://schemas.microsoft.com/office/drawing/2014/main" val="20002"/>
                    </a:ext>
                  </a:extLst>
                </a:gridCol>
                <a:gridCol w="1713829">
                  <a:extLst>
                    <a:ext uri="{9D8B030D-6E8A-4147-A177-3AD203B41FA5}">
                      <a16:colId xmlns:a16="http://schemas.microsoft.com/office/drawing/2014/main" val="20003"/>
                    </a:ext>
                  </a:extLst>
                </a:gridCol>
                <a:gridCol w="1203423">
                  <a:extLst>
                    <a:ext uri="{9D8B030D-6E8A-4147-A177-3AD203B41FA5}">
                      <a16:colId xmlns:a16="http://schemas.microsoft.com/office/drawing/2014/main" val="20004"/>
                    </a:ext>
                  </a:extLst>
                </a:gridCol>
                <a:gridCol w="1458303">
                  <a:extLst>
                    <a:ext uri="{9D8B030D-6E8A-4147-A177-3AD203B41FA5}">
                      <a16:colId xmlns:a16="http://schemas.microsoft.com/office/drawing/2014/main" val="20005"/>
                    </a:ext>
                  </a:extLst>
                </a:gridCol>
                <a:gridCol w="1458948">
                  <a:extLst>
                    <a:ext uri="{9D8B030D-6E8A-4147-A177-3AD203B41FA5}">
                      <a16:colId xmlns:a16="http://schemas.microsoft.com/office/drawing/2014/main" val="20006"/>
                    </a:ext>
                  </a:extLst>
                </a:gridCol>
              </a:tblGrid>
              <a:tr h="507232">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43320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儿神经内科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792.92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68.76%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49.64%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5.88%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-0.45%</a:t>
                      </a:r>
                    </a:p>
                  </a:txBody>
                  <a:tcPr marL="9842" marR="9842" marT="9842" marB="0" anchor="ctr"/>
                </a:tc>
                <a:extLst>
                  <a:ext uri="{0D108BD9-81ED-4DB2-BD59-A6C34878D82A}">
                    <a16:rowId xmlns:a16="http://schemas.microsoft.com/office/drawing/2014/main" val="10001"/>
                  </a:ext>
                </a:extLst>
              </a:tr>
              <a:tr h="43320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儿感染科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568.61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41.32%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33.05%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1.79%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-0.87%</a:t>
                      </a:r>
                    </a:p>
                  </a:txBody>
                  <a:tcPr marL="9842" marR="9842" marT="9842" marB="0" anchor="ctr"/>
                </a:tc>
                <a:extLst>
                  <a:ext uri="{0D108BD9-81ED-4DB2-BD59-A6C34878D82A}">
                    <a16:rowId xmlns:a16="http://schemas.microsoft.com/office/drawing/2014/main" val="10002"/>
                  </a:ext>
                </a:extLst>
              </a:tr>
              <a:tr h="422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儿肾脏内科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341.89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32.29%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38.19%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0.91%</a:t>
                      </a:r>
                    </a:p>
                  </a:txBody>
                  <a:tcPr marL="9842" marR="9842" marT="9842" marB="0" anchor="ctr"/>
                </a:tc>
                <a:extLst>
                  <a:ext uri="{0D108BD9-81ED-4DB2-BD59-A6C34878D82A}">
                    <a16:rowId xmlns:a16="http://schemas.microsoft.com/office/drawing/2014/main" val="10003"/>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发育行为儿童保健科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550.64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28.35%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28.68%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0.00%</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0.00%</a:t>
                      </a:r>
                    </a:p>
                  </a:txBody>
                  <a:tcPr marL="9842" marR="9842" marT="9842" marB="0" anchor="ctr"/>
                </a:tc>
                <a:extLst>
                  <a:ext uri="{0D108BD9-81ED-4DB2-BD59-A6C34878D82A}">
                    <a16:rowId xmlns:a16="http://schemas.microsoft.com/office/drawing/2014/main" val="10004"/>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1,095.57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24.59%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17.84%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-1.94%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13.82%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-1.61%</a:t>
                      </a:r>
                    </a:p>
                  </a:txBody>
                  <a:tcPr marL="9842" marR="9842" marT="9842" marB="0" anchor="ctr"/>
                </a:tc>
                <a:extLst>
                  <a:ext uri="{0D108BD9-81ED-4DB2-BD59-A6C34878D82A}">
                    <a16:rowId xmlns:a16="http://schemas.microsoft.com/office/drawing/2014/main" val="10005"/>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儿血液肿瘤科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805.50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8.65%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51.77%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-0.54%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-0.33%</a:t>
                      </a:r>
                    </a:p>
                  </a:txBody>
                  <a:tcPr marL="9842" marR="9842" marT="9842" marB="0" anchor="ctr"/>
                </a:tc>
                <a:extLst>
                  <a:ext uri="{0D108BD9-81ED-4DB2-BD59-A6C34878D82A}">
                    <a16:rowId xmlns:a16="http://schemas.microsoft.com/office/drawing/2014/main" val="10006"/>
                  </a:ext>
                </a:extLst>
              </a:tr>
              <a:tr h="32545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儿内分泌遗传科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750.82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5.70%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40.08%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0.27%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-0.06%</a:t>
                      </a:r>
                    </a:p>
                  </a:txBody>
                  <a:tcPr marL="9842" marR="9842" marT="9842" marB="0" anchor="ctr"/>
                </a:tc>
                <a:extLst>
                  <a:ext uri="{0D108BD9-81ED-4DB2-BD59-A6C34878D82A}">
                    <a16:rowId xmlns:a16="http://schemas.microsoft.com/office/drawing/2014/main" val="10007"/>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753.91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28.03%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-3.62%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2.44%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-0.48%</a:t>
                      </a:r>
                    </a:p>
                  </a:txBody>
                  <a:tcPr marL="9842" marR="9842" marT="9842" marB="0" anchor="ctr"/>
                </a:tc>
                <a:extLst>
                  <a:ext uri="{0D108BD9-81ED-4DB2-BD59-A6C34878D82A}">
                    <a16:rowId xmlns:a16="http://schemas.microsoft.com/office/drawing/2014/main" val="10008"/>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393.03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-2.01%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32.98%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-0.83%</a:t>
                      </a:r>
                    </a:p>
                  </a:txBody>
                  <a:tcPr marL="9842" marR="9842" marT="9842" marB="0" anchor="ctr"/>
                </a:tc>
                <a:extLst>
                  <a:ext uri="{0D108BD9-81ED-4DB2-BD59-A6C34878D82A}">
                    <a16:rowId xmlns:a16="http://schemas.microsoft.com/office/drawing/2014/main" val="10009"/>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915.19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-2.20%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15.56%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-3.72%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5.02%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-0.75%</a:t>
                      </a:r>
                    </a:p>
                  </a:txBody>
                  <a:tcPr marL="9842" marR="9842" marT="9842" marB="0" anchor="ctr"/>
                </a:tc>
                <a:extLst>
                  <a:ext uri="{0D108BD9-81ED-4DB2-BD59-A6C34878D82A}">
                    <a16:rowId xmlns:a16="http://schemas.microsoft.com/office/drawing/2014/main" val="10010"/>
                  </a:ext>
                </a:extLst>
              </a:tr>
              <a:tr h="32545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696.81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20.81%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33.58%</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3.64%</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11"/>
                  </a:ext>
                </a:extLst>
              </a:tr>
            </a:tbl>
          </a:graphicData>
        </a:graphic>
      </p:graphicFrame>
      <p:sp>
        <p:nvSpPr>
          <p:cNvPr id="10" name="文本框 9"/>
          <p:cNvSpPr txBox="1"/>
          <p:nvPr/>
        </p:nvSpPr>
        <p:spPr>
          <a:xfrm>
            <a:off x="9725115" y="786835"/>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79174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儿童非手术科室</a:t>
            </a:r>
          </a:p>
        </p:txBody>
      </p:sp>
      <p:sp>
        <p:nvSpPr>
          <p:cNvPr id="12" name="矩形 11"/>
          <p:cNvSpPr/>
          <p:nvPr/>
        </p:nvSpPr>
        <p:spPr>
          <a:xfrm>
            <a:off x="500063" y="5748153"/>
            <a:ext cx="11249138"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月，药耗占比均上升的科室有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儿肾脏</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，两项均</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下降的有</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儿保、儿重症、儿血液、</a:t>
            </a:r>
            <a:r>
              <a:rPr lang="zh-CN" altLang="en-US" sz="1600" b="1" kern="0" noProof="0" dirty="0">
                <a:ln>
                  <a:noFill/>
                </a:ln>
                <a:solidFill>
                  <a:srgbClr val="339933"/>
                </a:solidFill>
                <a:effectLst/>
                <a:uLnTx/>
                <a:uFillTx/>
                <a:latin typeface="微软雅黑" panose="020B0503020204020204" pitchFamily="34" charset="-122"/>
                <a:ea typeface="微软雅黑" panose="020B0503020204020204" pitchFamily="34" charset="-122"/>
                <a:sym typeface="+mn-ea"/>
              </a:rPr>
              <a:t>儿内分泌、</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儿呼吸、新生儿</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药耗占比超过50%的科室有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儿神经内、儿血液</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nvGraphicFramePr>
        <p:xfrm>
          <a:off x="1014791" y="1746250"/>
          <a:ext cx="10162418" cy="1953853"/>
        </p:xfrm>
        <a:graphic>
          <a:graphicData uri="http://schemas.openxmlformats.org/drawingml/2006/table">
            <a:tbl>
              <a:tblPr/>
              <a:tblGrid>
                <a:gridCol w="2642809">
                  <a:extLst>
                    <a:ext uri="{9D8B030D-6E8A-4147-A177-3AD203B41FA5}">
                      <a16:colId xmlns:a16="http://schemas.microsoft.com/office/drawing/2014/main" val="20000"/>
                    </a:ext>
                  </a:extLst>
                </a:gridCol>
                <a:gridCol w="2021605">
                  <a:extLst>
                    <a:ext uri="{9D8B030D-6E8A-4147-A177-3AD203B41FA5}">
                      <a16:colId xmlns:a16="http://schemas.microsoft.com/office/drawing/2014/main" val="20001"/>
                    </a:ext>
                  </a:extLst>
                </a:gridCol>
                <a:gridCol w="2137586">
                  <a:extLst>
                    <a:ext uri="{9D8B030D-6E8A-4147-A177-3AD203B41FA5}">
                      <a16:colId xmlns:a16="http://schemas.microsoft.com/office/drawing/2014/main" val="20002"/>
                    </a:ext>
                  </a:extLst>
                </a:gridCol>
                <a:gridCol w="1680209">
                  <a:extLst>
                    <a:ext uri="{9D8B030D-6E8A-4147-A177-3AD203B41FA5}">
                      <a16:colId xmlns:a16="http://schemas.microsoft.com/office/drawing/2014/main" val="20003"/>
                    </a:ext>
                  </a:extLst>
                </a:gridCol>
                <a:gridCol w="1680209">
                  <a:extLst>
                    <a:ext uri="{9D8B030D-6E8A-4147-A177-3AD203B41FA5}">
                      <a16:colId xmlns:a16="http://schemas.microsoft.com/office/drawing/2014/main" val="20004"/>
                    </a:ext>
                  </a:extLst>
                </a:gridCol>
              </a:tblGrid>
              <a:tr h="1101902">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800" b="1" dirty="0">
                          <a:solidFill>
                            <a:srgbClr val="000000"/>
                          </a:solidFill>
                          <a:latin typeface="微软雅黑" panose="020B0503020204020204" pitchFamily="34" charset="-122"/>
                          <a:ea typeface="微软雅黑" panose="020B0503020204020204" pitchFamily="34" charset="-122"/>
                          <a:sym typeface="+mn-ea"/>
                        </a:rPr>
                        <a:t>2026</a:t>
                      </a:r>
                      <a:r>
                        <a:rPr lang="zh-CN" altLang="en-US" sz="1800" b="1" dirty="0">
                          <a:solidFill>
                            <a:srgbClr val="000000"/>
                          </a:solidFill>
                          <a:latin typeface="微软雅黑" panose="020B0503020204020204" pitchFamily="34" charset="-122"/>
                          <a:ea typeface="微软雅黑" panose="020B0503020204020204" pitchFamily="34" charset="-122"/>
                          <a:sym typeface="+mn-ea"/>
                        </a:rPr>
                        <a:t>年</a:t>
                      </a:r>
                      <a:r>
                        <a:rPr lang="en-US" altLang="zh-CN" sz="1800" b="1" dirty="0">
                          <a:solidFill>
                            <a:srgbClr val="000000"/>
                          </a:solidFill>
                          <a:latin typeface="微软雅黑" panose="020B0503020204020204" pitchFamily="34" charset="-122"/>
                          <a:ea typeface="微软雅黑" panose="020B0503020204020204" pitchFamily="34" charset="-122"/>
                          <a:sym typeface="+mn-ea"/>
                        </a:rPr>
                        <a:t>5</a:t>
                      </a:r>
                      <a:r>
                        <a:rPr lang="zh-CN" altLang="en-US" sz="1800" b="1" dirty="0">
                          <a:solidFill>
                            <a:srgbClr val="000000"/>
                          </a:solidFill>
                          <a:latin typeface="微软雅黑" panose="020B0503020204020204" pitchFamily="34" charset="-122"/>
                          <a:ea typeface="微软雅黑" panose="020B0503020204020204" pitchFamily="34" charset="-122"/>
                          <a:sym typeface="+mn-ea"/>
                        </a:rPr>
                        <a:t>月</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800" b="1" dirty="0">
                          <a:solidFill>
                            <a:srgbClr val="000000"/>
                          </a:solidFill>
                          <a:latin typeface="微软雅黑" panose="020B0503020204020204" pitchFamily="34" charset="-122"/>
                          <a:ea typeface="微软雅黑" panose="020B0503020204020204" pitchFamily="34" charset="-122"/>
                          <a:sym typeface="+mn-ea"/>
                        </a:rPr>
                        <a:t>2025</a:t>
                      </a:r>
                      <a:r>
                        <a:rPr lang="zh-CN" altLang="en-US" sz="1800" b="1" dirty="0">
                          <a:solidFill>
                            <a:srgbClr val="000000"/>
                          </a:solidFill>
                          <a:latin typeface="微软雅黑" panose="020B0503020204020204" pitchFamily="34" charset="-122"/>
                          <a:ea typeface="微软雅黑" panose="020B0503020204020204" pitchFamily="34" charset="-122"/>
                          <a:sym typeface="+mn-ea"/>
                        </a:rPr>
                        <a:t>年</a:t>
                      </a:r>
                      <a:r>
                        <a:rPr lang="en-US" altLang="zh-CN" sz="1800" b="1" dirty="0">
                          <a:solidFill>
                            <a:srgbClr val="000000"/>
                          </a:solidFill>
                          <a:latin typeface="微软雅黑" panose="020B0503020204020204" pitchFamily="34" charset="-122"/>
                          <a:ea typeface="微软雅黑" panose="020B0503020204020204" pitchFamily="34" charset="-122"/>
                          <a:sym typeface="+mn-ea"/>
                        </a:rPr>
                        <a:t>5</a:t>
                      </a:r>
                      <a:r>
                        <a:rPr lang="zh-CN" altLang="en-US" sz="1800" b="1" dirty="0">
                          <a:solidFill>
                            <a:srgbClr val="000000"/>
                          </a:solidFill>
                          <a:latin typeface="微软雅黑" panose="020B0503020204020204" pitchFamily="34" charset="-122"/>
                          <a:ea typeface="微软雅黑" panose="020B0503020204020204" pitchFamily="34" charset="-122"/>
                          <a:sym typeface="+mn-ea"/>
                        </a:rPr>
                        <a:t>月</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1951">
                <a:tc>
                  <a:txBody>
                    <a:bodyPr/>
                    <a:lstStyle/>
                    <a:p>
                      <a:pPr algn="l" rtl="0" fontAlgn="ct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新华医疗开发公司</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82.36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303.06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-220.70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-72.82%</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Rectangle 5"/>
          <p:cNvSpPr>
            <a:spLocks noChangeArrowheads="1"/>
          </p:cNvSpPr>
          <p:nvPr/>
        </p:nvSpPr>
        <p:spPr bwMode="auto">
          <a:xfrm>
            <a:off x="3664861" y="1111119"/>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投资收益</a:t>
            </a:r>
          </a:p>
        </p:txBody>
      </p:sp>
      <p:sp>
        <p:nvSpPr>
          <p:cNvPr id="7" name="TextBox 1"/>
          <p:cNvSpPr txBox="1"/>
          <p:nvPr/>
        </p:nvSpPr>
        <p:spPr>
          <a:xfrm>
            <a:off x="9942247" y="1249618"/>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投资收益</a:t>
            </a:r>
          </a:p>
        </p:txBody>
      </p:sp>
      <p:sp>
        <p:nvSpPr>
          <p:cNvPr id="8" name="矩形 7"/>
          <p:cNvSpPr/>
          <p:nvPr/>
        </p:nvSpPr>
        <p:spPr>
          <a:xfrm>
            <a:off x="1521860" y="4424951"/>
            <a:ext cx="9475879" cy="45910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月，产业的投资收益为</a:t>
            </a:r>
            <a:r>
              <a:rPr kumimoji="0" lang="en-US" altLang="zh-CN" sz="16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rPr>
              <a:t>82.36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万元，同比减少</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220.7</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万元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lang="zh-CN" altLang="en-US" sz="1600" b="1" kern="0" noProof="0" dirty="0">
                <a:solidFill>
                  <a:srgbClr val="002060"/>
                </a:solidFill>
                <a:latin typeface="微软雅黑" panose="020B0503020204020204" pitchFamily="34" charset="-122"/>
                <a:ea typeface="微软雅黑" panose="020B0503020204020204" pitchFamily="34" charset="-122"/>
              </a:rPr>
              <a:t>降</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72.82</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四、均次费用分析</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1384300" y="2227580"/>
          <a:ext cx="4229100" cy="2519680"/>
        </p:xfrm>
        <a:graphic>
          <a:graphicData uri="http://schemas.openxmlformats.org/drawingml/2006/chart">
            <c:chart xmlns:c="http://schemas.openxmlformats.org/drawingml/2006/chart" xmlns:r="http://schemas.openxmlformats.org/officeDocument/2006/relationships" r:id="rId23"/>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571166" y="1219389"/>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诊</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p>
        </p:txBody>
      </p:sp>
      <p:sp>
        <p:nvSpPr>
          <p:cNvPr id="52" name="矩形 51"/>
          <p:cNvSpPr/>
          <p:nvPr/>
        </p:nvSpPr>
        <p:spPr>
          <a:xfrm>
            <a:off x="506837" y="5576034"/>
            <a:ext cx="11186399"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510.60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1.3</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降幅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sym typeface="+mn-ea"/>
              </a:rPr>
              <a:t>2.0%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，奉贤院区门急诊均次费用为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439.43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元，低于全院门急诊均次费用</a:t>
            </a:r>
            <a:r>
              <a:rPr kumimoji="0" lang="en-US" altLang="zh-CN" sz="160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rPr>
              <a:t>71.17</a:t>
            </a:r>
            <a:r>
              <a:rPr kumimoji="0" lang="zh-CN" altLang="en-US" sz="160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rPr>
              <a:t>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30264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门急诊均次费用</a:t>
            </a:r>
          </a:p>
        </p:txBody>
      </p:sp>
      <p:sp>
        <p:nvSpPr>
          <p:cNvPr id="58" name="文本框 57"/>
          <p:cNvSpPr txBox="1"/>
          <p:nvPr/>
        </p:nvSpPr>
        <p:spPr>
          <a:xfrm>
            <a:off x="2821305" y="1995170"/>
            <a:ext cx="1033780"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0" cap="none" spc="0" normalizeH="0" baseline="0" noProof="0" dirty="0">
                <a:ln>
                  <a:noFill/>
                </a:ln>
                <a:solidFill>
                  <a:srgbClr val="C00000"/>
                </a:solidFill>
                <a:effectLst/>
                <a:uLnTx/>
                <a:uFillTx/>
                <a:latin typeface="等线" panose="02010600030101010101" charset="-122"/>
                <a:ea typeface="微软雅黑" panose="020B0503020204020204" pitchFamily="34" charset="-122"/>
                <a:cs typeface="+mn-lt"/>
              </a:rPr>
              <a:t>+1.3</a:t>
            </a:r>
            <a:r>
              <a:rPr kumimoji="0" lang="zh-CN" altLang="en-US" sz="2500" b="1" i="0" u="none" strike="noStrike" kern="0" cap="none" spc="0" normalizeH="0" baseline="0" noProof="0" dirty="0">
                <a:ln>
                  <a:noFill/>
                </a:ln>
                <a:solidFill>
                  <a:srgbClr val="C00000"/>
                </a:solidFill>
                <a:effectLst/>
                <a:uLnTx/>
                <a:uFillTx/>
                <a:latin typeface="等线" panose="02010600030101010101" charset="-122"/>
                <a:ea typeface="微软雅黑" panose="020B0503020204020204" pitchFamily="34" charset="-122"/>
                <a:cs typeface="+mn-lt"/>
              </a:rPr>
              <a:t>%</a:t>
            </a:r>
            <a:endPar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lt"/>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268968" y="1256939"/>
            <a:ext cx="1800309"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来源</a:t>
            </a:r>
          </a:p>
        </p:txBody>
      </p:sp>
      <p:graphicFrame>
        <p:nvGraphicFramePr>
          <p:cNvPr id="34" name="表格 33"/>
          <p:cNvGraphicFramePr>
            <a:graphicFrameLocks noGrp="1"/>
          </p:cNvGraphicFramePr>
          <p:nvPr/>
        </p:nvGraphicFramePr>
        <p:xfrm>
          <a:off x="6862445" y="2075180"/>
          <a:ext cx="4635500" cy="15538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8671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门急诊均费用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510.60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504.16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a:t>
                      </a:r>
                    </a:p>
                  </a:txBody>
                  <a:tcPr marL="9842" marR="9842" marT="9842" marB="0" anchor="ctr"/>
                </a:tc>
                <a:extLst>
                  <a:ext uri="{0D108BD9-81ED-4DB2-BD59-A6C34878D82A}">
                    <a16:rowId xmlns:a16="http://schemas.microsoft.com/office/drawing/2014/main" val="10001"/>
                  </a:ext>
                </a:extLst>
              </a:tr>
              <a:tr h="38862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成人</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519.92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510.17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a:t>
                      </a:r>
                    </a:p>
                  </a:txBody>
                  <a:tcPr marL="9842" marR="9842" marT="9842" marB="0" anchor="ctr"/>
                </a:tc>
                <a:extLst>
                  <a:ext uri="{0D108BD9-81ED-4DB2-BD59-A6C34878D82A}">
                    <a16:rowId xmlns:a16="http://schemas.microsoft.com/office/drawing/2014/main" val="10002"/>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儿童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474.35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484.12</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-2.0%</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7476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graphicFrame>
        <p:nvGraphicFramePr>
          <p:cNvPr id="7" name="表格 6"/>
          <p:cNvGraphicFramePr>
            <a:graphicFrameLocks noGrp="1"/>
          </p:cNvGraphicFramePr>
          <p:nvPr/>
        </p:nvGraphicFramePr>
        <p:xfrm>
          <a:off x="6856095" y="3850005"/>
          <a:ext cx="4635500" cy="15538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8671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510.60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504.16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a:t>
                      </a:r>
                    </a:p>
                  </a:txBody>
                  <a:tcPr marL="9842" marR="9842" marT="9842" marB="0" anchor="ctr"/>
                </a:tc>
                <a:extLst>
                  <a:ext uri="{0D108BD9-81ED-4DB2-BD59-A6C34878D82A}">
                    <a16:rowId xmlns:a16="http://schemas.microsoft.com/office/drawing/2014/main" val="10001"/>
                  </a:ext>
                </a:extLst>
              </a:tr>
              <a:tr h="38862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529.44</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504.16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5.0%</a:t>
                      </a:r>
                    </a:p>
                  </a:txBody>
                  <a:tcPr marL="9842" marR="9842" marT="9842" marB="0" anchor="ctr"/>
                </a:tc>
                <a:extLst>
                  <a:ext uri="{0D108BD9-81ED-4DB2-BD59-A6C34878D82A}">
                    <a16:rowId xmlns:a16="http://schemas.microsoft.com/office/drawing/2014/main" val="10002"/>
                  </a:ext>
                </a:extLst>
              </a:tr>
              <a:tr h="38925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439.43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图表 9"/>
          <p:cNvGraphicFramePr/>
          <p:nvPr/>
        </p:nvGraphicFramePr>
        <p:xfrm>
          <a:off x="1257935" y="2261870"/>
          <a:ext cx="461010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26177" y="122872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p>
        </p:txBody>
      </p:sp>
      <p:sp>
        <p:nvSpPr>
          <p:cNvPr id="52" name="矩形 51"/>
          <p:cNvSpPr/>
          <p:nvPr/>
        </p:nvSpPr>
        <p:spPr>
          <a:xfrm>
            <a:off x="610247" y="5506488"/>
            <a:ext cx="1099087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，住院均次费用实现</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26,011.78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9.4%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12.0%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，儿童科同比降幅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3.1%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，奉贤院区住院均次费用为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28,181.86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元，高于全院住院均次费用</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2,170.08</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住院均次费用</a:t>
            </a: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343994" y="1266270"/>
            <a:ext cx="1604010" cy="305435"/>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住院均次费用来源</a:t>
            </a:r>
          </a:p>
        </p:txBody>
      </p:sp>
      <p:sp>
        <p:nvSpPr>
          <p:cNvPr id="65" name="文本框 64"/>
          <p:cNvSpPr txBox="1"/>
          <p:nvPr/>
        </p:nvSpPr>
        <p:spPr>
          <a:xfrm>
            <a:off x="2933065" y="1995170"/>
            <a:ext cx="1259840"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+9.4%</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8" name="文本框 7"/>
          <p:cNvSpPr txBox="1"/>
          <p:nvPr>
            <p:custDataLst>
              <p:tags r:id="rId6"/>
            </p:custDataLst>
          </p:nvPr>
        </p:nvSpPr>
        <p:spPr>
          <a:xfrm>
            <a:off x="10082175" y="1777273"/>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graphicFrame>
        <p:nvGraphicFramePr>
          <p:cNvPr id="34" name="表格 33"/>
          <p:cNvGraphicFramePr>
            <a:graphicFrameLocks noGrp="1"/>
          </p:cNvGraphicFramePr>
          <p:nvPr/>
        </p:nvGraphicFramePr>
        <p:xfrm>
          <a:off x="6862445" y="2113280"/>
          <a:ext cx="4635500" cy="15157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7719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797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26,011.78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23,780.45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9.4%</a:t>
                      </a:r>
                    </a:p>
                  </a:txBody>
                  <a:tcPr marL="9842" marR="9842" marT="9842" marB="0" anchor="ctr"/>
                </a:tc>
                <a:extLst>
                  <a:ext uri="{0D108BD9-81ED-4DB2-BD59-A6C34878D82A}">
                    <a16:rowId xmlns:a16="http://schemas.microsoft.com/office/drawing/2014/main" val="10001"/>
                  </a:ext>
                </a:extLst>
              </a:tr>
              <a:tr h="37909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其中：成人</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27,159.21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24,250.58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12.0%</a:t>
                      </a:r>
                    </a:p>
                  </a:txBody>
                  <a:tcPr marL="9842" marR="9842" marT="9842" marB="0" anchor="ctr"/>
                </a:tc>
                <a:extLst>
                  <a:ext uri="{0D108BD9-81ED-4DB2-BD59-A6C34878D82A}">
                    <a16:rowId xmlns:a16="http://schemas.microsoft.com/office/drawing/2014/main" val="10002"/>
                  </a:ext>
                </a:extLst>
              </a:tr>
              <a:tr h="37973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儿童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21,130.82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21,796.49 </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-3.1%</a:t>
                      </a:r>
                    </a:p>
                  </a:txBody>
                  <a:tcPr marL="9842" marR="9842" marT="9842" marB="0" anchor="ct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nvGraphicFramePr>
        <p:xfrm>
          <a:off x="6865620" y="3840480"/>
          <a:ext cx="4635500" cy="15157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7719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797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26,011.78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23,780.45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9.4%</a:t>
                      </a:r>
                    </a:p>
                  </a:txBody>
                  <a:tcPr marL="9842" marR="9842" marT="9842" marB="0" anchor="ctr"/>
                </a:tc>
                <a:extLst>
                  <a:ext uri="{0D108BD9-81ED-4DB2-BD59-A6C34878D82A}">
                    <a16:rowId xmlns:a16="http://schemas.microsoft.com/office/drawing/2014/main" val="10001"/>
                  </a:ext>
                </a:extLst>
              </a:tr>
              <a:tr h="37909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25,360.72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23,780.45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6.6%</a:t>
                      </a:r>
                    </a:p>
                  </a:txBody>
                  <a:tcPr marL="9842" marR="9842" marT="9842" marB="0" anchor="ctr"/>
                </a:tc>
                <a:extLst>
                  <a:ext uri="{0D108BD9-81ED-4DB2-BD59-A6C34878D82A}">
                    <a16:rowId xmlns:a16="http://schemas.microsoft.com/office/drawing/2014/main" val="10002"/>
                  </a:ext>
                </a:extLst>
              </a:tr>
              <a:tr h="37973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28,181.86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460876" y="5512755"/>
            <a:ext cx="11458184" cy="104965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月，市级综合性医院门急诊均次平均值为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581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511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，低于市级综合性医院平均水平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70</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月，市级综合性医院医院住院均次平均值为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26,785</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26,012</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，低于市级综合性医院平均水平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773</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510886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门急诊和住院均次横向比较</a:t>
            </a:r>
          </a:p>
        </p:txBody>
      </p:sp>
      <p:grpSp>
        <p:nvGrpSpPr>
          <p:cNvPr id="9" name="组合 8"/>
          <p:cNvGrpSpPr/>
          <p:nvPr>
            <p:custDataLst>
              <p:tags r:id="rId1"/>
            </p:custDataLst>
          </p:nvPr>
        </p:nvGrpSpPr>
        <p:grpSpPr>
          <a:xfrm>
            <a:off x="794854" y="1005417"/>
            <a:ext cx="4302093" cy="719455"/>
            <a:chOff x="771994" y="1245447"/>
            <a:chExt cx="4302093" cy="719455"/>
          </a:xfrm>
        </p:grpSpPr>
        <p:sp>
          <p:nvSpPr>
            <p:cNvPr id="10" name="文本框 9"/>
            <p:cNvSpPr txBox="1"/>
            <p:nvPr>
              <p:custDataLst>
                <p:tags r:id="rId5"/>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custDataLst>
                <p:tags r:id="rId6"/>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5" name="组合 14"/>
          <p:cNvGrpSpPr/>
          <p:nvPr>
            <p:custDataLst>
              <p:tags r:id="rId2"/>
            </p:custDataLst>
          </p:nvPr>
        </p:nvGrpSpPr>
        <p:grpSpPr>
          <a:xfrm>
            <a:off x="6664670" y="1015021"/>
            <a:ext cx="4302093" cy="719455"/>
            <a:chOff x="771994" y="1245447"/>
            <a:chExt cx="4302093" cy="719455"/>
          </a:xfrm>
        </p:grpSpPr>
        <p:sp>
          <p:nvSpPr>
            <p:cNvPr id="16" name="文本框 15"/>
            <p:cNvSpPr txBox="1"/>
            <p:nvPr>
              <p:custDataLst>
                <p:tags r:id="rId3"/>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custDataLst>
                <p:tags r:id="rId4"/>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2" name="图表 1"/>
          <p:cNvGraphicFramePr/>
          <p:nvPr/>
        </p:nvGraphicFramePr>
        <p:xfrm>
          <a:off x="294005" y="1891030"/>
          <a:ext cx="5471160" cy="345567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7" name="图表 6"/>
          <p:cNvGraphicFramePr/>
          <p:nvPr/>
        </p:nvGraphicFramePr>
        <p:xfrm>
          <a:off x="5996940" y="1895475"/>
          <a:ext cx="5744210" cy="3455670"/>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366719" y="5344178"/>
            <a:ext cx="11458184"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月，儿科类医院门急诊均次平均值为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424</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474</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50</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月，儿科类医院住院均次平均值为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20,410</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21,131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721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712890"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门急诊和住院均次横向比较</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儿科类</a:t>
            </a:r>
          </a:p>
        </p:txBody>
      </p:sp>
      <p:grpSp>
        <p:nvGrpSpPr>
          <p:cNvPr id="11" name="组合 10"/>
          <p:cNvGrpSpPr/>
          <p:nvPr>
            <p:custDataLst>
              <p:tags r:id="rId1"/>
            </p:custDataLst>
          </p:nvPr>
        </p:nvGrpSpPr>
        <p:grpSpPr>
          <a:xfrm>
            <a:off x="794854" y="1005417"/>
            <a:ext cx="4302093" cy="719455"/>
            <a:chOff x="771994" y="1245447"/>
            <a:chExt cx="4302093" cy="719455"/>
          </a:xfrm>
        </p:grpSpPr>
        <p:sp>
          <p:nvSpPr>
            <p:cNvPr id="12" name="文本框 11"/>
            <p:cNvSpPr txBox="1"/>
            <p:nvPr>
              <p:custDataLst>
                <p:tags r:id="rId7"/>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custDataLst>
                <p:tags r:id="rId8"/>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4" name="组合 13"/>
          <p:cNvGrpSpPr/>
          <p:nvPr>
            <p:custDataLst>
              <p:tags r:id="rId2"/>
            </p:custDataLst>
          </p:nvPr>
        </p:nvGrpSpPr>
        <p:grpSpPr>
          <a:xfrm>
            <a:off x="6664670" y="1015021"/>
            <a:ext cx="4302093" cy="719455"/>
            <a:chOff x="771994" y="1245447"/>
            <a:chExt cx="4302093" cy="719455"/>
          </a:xfrm>
        </p:grpSpPr>
        <p:sp>
          <p:nvSpPr>
            <p:cNvPr id="15" name="文本框 14"/>
            <p:cNvSpPr txBox="1"/>
            <p:nvPr>
              <p:custDataLst>
                <p:tags r:id="rId5"/>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
          <p:nvSpPr>
            <p:cNvPr id="16" name="文本框 15"/>
            <p:cNvSpPr txBox="1"/>
            <p:nvPr>
              <p:custDataLst>
                <p:tags r:id="rId6"/>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9" name="图表 8"/>
          <p:cNvGraphicFramePr/>
          <p:nvPr>
            <p:custDataLst>
              <p:tags r:id="rId3"/>
            </p:custDataLst>
            <p:extLst>
              <p:ext uri="{D42A27DB-BD31-4B8C-83A1-F6EECF244321}">
                <p14:modId xmlns:p14="http://schemas.microsoft.com/office/powerpoint/2010/main" val="2664261975"/>
              </p:ext>
            </p:extLst>
          </p:nvPr>
        </p:nvGraphicFramePr>
        <p:xfrm>
          <a:off x="926783" y="2258695"/>
          <a:ext cx="3709035" cy="234061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图表 9"/>
          <p:cNvGraphicFramePr/>
          <p:nvPr>
            <p:custDataLst>
              <p:tags r:id="rId4"/>
            </p:custDataLst>
            <p:extLst>
              <p:ext uri="{D42A27DB-BD31-4B8C-83A1-F6EECF244321}">
                <p14:modId xmlns:p14="http://schemas.microsoft.com/office/powerpoint/2010/main" val="3319560675"/>
              </p:ext>
            </p:extLst>
          </p:nvPr>
        </p:nvGraphicFramePr>
        <p:xfrm>
          <a:off x="6888163" y="2258695"/>
          <a:ext cx="3709035" cy="2340610"/>
        </p:xfrm>
        <a:graphic>
          <a:graphicData uri="http://schemas.openxmlformats.org/drawingml/2006/chart">
            <c:chart xmlns:c="http://schemas.openxmlformats.org/drawingml/2006/chart" xmlns:r="http://schemas.openxmlformats.org/officeDocument/2006/relationships" r:id="rId11"/>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五、成本分析</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6" name="Rectangle 5"/>
          <p:cNvSpPr>
            <a:spLocks noChangeArrowheads="1"/>
          </p:cNvSpPr>
          <p:nvPr/>
        </p:nvSpPr>
        <p:spPr bwMode="auto">
          <a:xfrm>
            <a:off x="2630102" y="2797737"/>
            <a:ext cx="4537316" cy="430887"/>
          </a:xfrm>
          <a:prstGeom prst="rect">
            <a:avLst/>
          </a:prstGeom>
          <a:noFill/>
          <a:ln w="9525">
            <a:noFill/>
            <a:miter lim="800000"/>
          </a:ln>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月医疗成本结构情况</a:t>
            </a:r>
          </a:p>
        </p:txBody>
      </p:sp>
      <p:sp>
        <p:nvSpPr>
          <p:cNvPr id="17" name="Rectangle 5"/>
          <p:cNvSpPr>
            <a:spLocks noChangeArrowheads="1"/>
          </p:cNvSpPr>
          <p:nvPr/>
        </p:nvSpPr>
        <p:spPr bwMode="auto">
          <a:xfrm>
            <a:off x="9497040" y="3152001"/>
            <a:ext cx="1349375" cy="276999"/>
          </a:xfrm>
          <a:prstGeom prst="rect">
            <a:avLst/>
          </a:prstGeom>
          <a:noFill/>
          <a:ln w="9525">
            <a:noFill/>
            <a:miter lim="800000"/>
          </a:ln>
        </p:spPr>
        <p:txBody>
          <a:bodyPr>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0" name="Group 52"/>
          <p:cNvGraphicFramePr>
            <a:graphicFrameLocks noGrp="1"/>
          </p:cNvGraphicFramePr>
          <p:nvPr>
            <p:extLst>
              <p:ext uri="{D42A27DB-BD31-4B8C-83A1-F6EECF244321}">
                <p14:modId xmlns:p14="http://schemas.microsoft.com/office/powerpoint/2010/main" val="1752230940"/>
              </p:ext>
            </p:extLst>
          </p:nvPr>
        </p:nvGraphicFramePr>
        <p:xfrm>
          <a:off x="1175291" y="3498464"/>
          <a:ext cx="9671124" cy="2963070"/>
        </p:xfrm>
        <a:graphic>
          <a:graphicData uri="http://schemas.openxmlformats.org/drawingml/2006/table">
            <a:tbl>
              <a:tblPr/>
              <a:tblGrid>
                <a:gridCol w="1484224">
                  <a:extLst>
                    <a:ext uri="{9D8B030D-6E8A-4147-A177-3AD203B41FA5}">
                      <a16:colId xmlns:a16="http://schemas.microsoft.com/office/drawing/2014/main" val="20000"/>
                    </a:ext>
                  </a:extLst>
                </a:gridCol>
                <a:gridCol w="1142743">
                  <a:extLst>
                    <a:ext uri="{9D8B030D-6E8A-4147-A177-3AD203B41FA5}">
                      <a16:colId xmlns:a16="http://schemas.microsoft.com/office/drawing/2014/main" val="20001"/>
                    </a:ext>
                  </a:extLst>
                </a:gridCol>
                <a:gridCol w="953490">
                  <a:extLst>
                    <a:ext uri="{9D8B030D-6E8A-4147-A177-3AD203B41FA5}">
                      <a16:colId xmlns:a16="http://schemas.microsoft.com/office/drawing/2014/main" val="20002"/>
                    </a:ext>
                  </a:extLst>
                </a:gridCol>
                <a:gridCol w="986382">
                  <a:extLst>
                    <a:ext uri="{9D8B030D-6E8A-4147-A177-3AD203B41FA5}">
                      <a16:colId xmlns:a16="http://schemas.microsoft.com/office/drawing/2014/main" val="20003"/>
                    </a:ext>
                  </a:extLst>
                </a:gridCol>
                <a:gridCol w="799196">
                  <a:extLst>
                    <a:ext uri="{9D8B030D-6E8A-4147-A177-3AD203B41FA5}">
                      <a16:colId xmlns:a16="http://schemas.microsoft.com/office/drawing/2014/main" val="20004"/>
                    </a:ext>
                  </a:extLst>
                </a:gridCol>
                <a:gridCol w="1331995">
                  <a:extLst>
                    <a:ext uri="{9D8B030D-6E8A-4147-A177-3AD203B41FA5}">
                      <a16:colId xmlns:a16="http://schemas.microsoft.com/office/drawing/2014/main" val="20005"/>
                    </a:ext>
                  </a:extLst>
                </a:gridCol>
                <a:gridCol w="894340">
                  <a:extLst>
                    <a:ext uri="{9D8B030D-6E8A-4147-A177-3AD203B41FA5}">
                      <a16:colId xmlns:a16="http://schemas.microsoft.com/office/drawing/2014/main" val="20006"/>
                    </a:ext>
                  </a:extLst>
                </a:gridCol>
                <a:gridCol w="1115533">
                  <a:extLst>
                    <a:ext uri="{9D8B030D-6E8A-4147-A177-3AD203B41FA5}">
                      <a16:colId xmlns:a16="http://schemas.microsoft.com/office/drawing/2014/main" val="20007"/>
                    </a:ext>
                  </a:extLst>
                </a:gridCol>
                <a:gridCol w="963221">
                  <a:extLst>
                    <a:ext uri="{9D8B030D-6E8A-4147-A177-3AD203B41FA5}">
                      <a16:colId xmlns:a16="http://schemas.microsoft.com/office/drawing/2014/main" val="20008"/>
                    </a:ext>
                  </a:extLst>
                </a:gridCol>
              </a:tblGrid>
              <a:tr h="627156">
                <a:tc>
                  <a:txBody>
                    <a:bodyPr/>
                    <a:lstStyle/>
                    <a:p>
                      <a:pPr algn="ctr" rtl="0"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奉贤院区</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增减额</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增减率</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人员经费</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21,460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34.1%</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5,764</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36.7%</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18,248</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35.2%</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3,212</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17.6%</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药品费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15,105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24.0%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2,609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16.6%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12,655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24.4%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2,450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19.4%</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卫生材料费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20,637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32.8%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5,826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37.1%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16,201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31.2%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4,436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27.4%</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折旧</a:t>
                      </a:r>
                      <a:r>
                        <a:rPr lang="en-US" altLang="zh-CN" sz="1400" b="1" i="0" u="none" strike="noStrike">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摊销</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1,141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1.8%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203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1,089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医疗风险基金</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95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0.1%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72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32.0%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商品和服务费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4,492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1,284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8.2%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3,649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844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23.1%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33702">
                <a:tc>
                  <a:txBody>
                    <a:bodyPr/>
                    <a:lstStyle/>
                    <a:p>
                      <a:pPr algn="ctr" rtl="0" fontAlgn="ctr">
                        <a:buNone/>
                      </a:pPr>
                      <a:r>
                        <a:rPr lang="zh-CN" altLang="en-US" sz="1400" b="1" i="0" u="none" strike="noStrike">
                          <a:solidFill>
                            <a:srgbClr val="C00000"/>
                          </a:solidFill>
                          <a:effectLst/>
                          <a:latin typeface="微软雅黑" panose="020B0503020204020204" pitchFamily="34" charset="-122"/>
                          <a:ea typeface="微软雅黑" panose="020B0503020204020204" pitchFamily="34" charset="-122"/>
                        </a:rPr>
                        <a:t>医疗成本合计</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62,931</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100.0%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400" b="0" i="0" u="none" strike="noStrike" dirty="0">
                          <a:solidFill>
                            <a:srgbClr val="C00000"/>
                          </a:solidFill>
                          <a:effectLst/>
                          <a:latin typeface="微软雅黑" panose="020B0503020204020204" pitchFamily="34" charset="-122"/>
                          <a:ea typeface="微软雅黑" panose="020B0503020204020204" pitchFamily="34" charset="-122"/>
                        </a:rPr>
                        <a:t>15,707</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400" b="0" i="0" u="none" strike="noStrike" dirty="0">
                          <a:solidFill>
                            <a:srgbClr val="C00000"/>
                          </a:solidFill>
                          <a:effectLst/>
                          <a:latin typeface="微软雅黑" panose="020B0503020204020204" pitchFamily="34" charset="-122"/>
                          <a:ea typeface="微软雅黑" panose="020B0503020204020204" pitchFamily="34" charset="-122"/>
                        </a:rPr>
                        <a:t>100.0%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51,914</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100.0%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11,017</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21.2%</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 name="矩形 1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医疗成本</a:t>
            </a:r>
          </a:p>
        </p:txBody>
      </p:sp>
      <p:graphicFrame>
        <p:nvGraphicFramePr>
          <p:cNvPr id="11" name="图表 10">
            <a:extLst>
              <a:ext uri="{FF2B5EF4-FFF2-40B4-BE49-F238E27FC236}">
                <a16:creationId xmlns:a16="http://schemas.microsoft.com/office/drawing/2014/main" id="{3447A930-A7C1-495C-B5CD-593EA8A022CE}"/>
              </a:ext>
            </a:extLst>
          </p:cNvPr>
          <p:cNvGraphicFramePr>
            <a:graphicFrameLocks/>
          </p:cNvGraphicFramePr>
          <p:nvPr>
            <p:extLst>
              <p:ext uri="{D42A27DB-BD31-4B8C-83A1-F6EECF244321}">
                <p14:modId xmlns:p14="http://schemas.microsoft.com/office/powerpoint/2010/main" val="3087607753"/>
              </p:ext>
            </p:extLst>
          </p:nvPr>
        </p:nvGraphicFramePr>
        <p:xfrm>
          <a:off x="7227922" y="730250"/>
          <a:ext cx="4850624" cy="2405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877148616"/>
              </p:ext>
            </p:extLst>
          </p:nvPr>
        </p:nvGraphicFramePr>
        <p:xfrm>
          <a:off x="1293092" y="1876843"/>
          <a:ext cx="9511756" cy="3480249"/>
        </p:xfrm>
        <a:graphic>
          <a:graphicData uri="http://schemas.openxmlformats.org/drawingml/2006/table">
            <a:tbl>
              <a:tblPr/>
              <a:tblGrid>
                <a:gridCol w="1984949">
                  <a:extLst>
                    <a:ext uri="{9D8B030D-6E8A-4147-A177-3AD203B41FA5}">
                      <a16:colId xmlns:a16="http://schemas.microsoft.com/office/drawing/2014/main" val="20000"/>
                    </a:ext>
                  </a:extLst>
                </a:gridCol>
                <a:gridCol w="1622105">
                  <a:extLst>
                    <a:ext uri="{9D8B030D-6E8A-4147-A177-3AD203B41FA5}">
                      <a16:colId xmlns:a16="http://schemas.microsoft.com/office/drawing/2014/main" val="20001"/>
                    </a:ext>
                  </a:extLst>
                </a:gridCol>
                <a:gridCol w="1653023">
                  <a:extLst>
                    <a:ext uri="{9D8B030D-6E8A-4147-A177-3AD203B41FA5}">
                      <a16:colId xmlns:a16="http://schemas.microsoft.com/office/drawing/2014/main" val="20002"/>
                    </a:ext>
                  </a:extLst>
                </a:gridCol>
                <a:gridCol w="1653023">
                  <a:extLst>
                    <a:ext uri="{9D8B030D-6E8A-4147-A177-3AD203B41FA5}">
                      <a16:colId xmlns:a16="http://schemas.microsoft.com/office/drawing/2014/main" val="20003"/>
                    </a:ext>
                  </a:extLst>
                </a:gridCol>
                <a:gridCol w="1299328">
                  <a:extLst>
                    <a:ext uri="{9D8B030D-6E8A-4147-A177-3AD203B41FA5}">
                      <a16:colId xmlns:a16="http://schemas.microsoft.com/office/drawing/2014/main" val="20004"/>
                    </a:ext>
                  </a:extLst>
                </a:gridCol>
                <a:gridCol w="1299328">
                  <a:extLst>
                    <a:ext uri="{9D8B030D-6E8A-4147-A177-3AD203B41FA5}">
                      <a16:colId xmlns:a16="http://schemas.microsoft.com/office/drawing/2014/main" val="20005"/>
                    </a:ext>
                  </a:extLst>
                </a:gridCol>
              </a:tblGrid>
              <a:tr h="603035">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4808">
                <a:tc>
                  <a:txBody>
                    <a:bodyPr/>
                    <a:lstStyle/>
                    <a:p>
                      <a:pPr algn="l" rtl="0" fontAlgn="ctr"/>
                      <a:r>
                        <a:rPr lang="zh-CN" altLang="en-US" sz="1600" b="1" i="0" u="none" strike="noStrike" dirty="0">
                          <a:solidFill>
                            <a:srgbClr val="000066"/>
                          </a:solidFill>
                          <a:effectLst/>
                          <a:latin typeface="微软雅黑" panose="020B0503020204020204" pitchFamily="34" charset="-122"/>
                          <a:ea typeface="微软雅黑" panose="020B0503020204020204" pitchFamily="34" charset="-122"/>
                        </a:rPr>
                        <a:t>医疗服务收入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30,476</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6,265</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22,736</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7,740</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34.0%</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4808">
                <a:tc>
                  <a:txBody>
                    <a:bodyPr/>
                    <a:lstStyle/>
                    <a:p>
                      <a:pPr algn="l" rtl="0" fontAlgn="ctr">
                        <a:buNone/>
                      </a:pPr>
                      <a:r>
                        <a:rPr lang="zh-CN" altLang="en-US" sz="1600" b="1" i="0" u="none" strike="noStrike" dirty="0">
                          <a:solidFill>
                            <a:srgbClr val="000066"/>
                          </a:solidFill>
                          <a:effectLst/>
                          <a:latin typeface="微软雅黑" panose="020B0503020204020204" pitchFamily="34" charset="-122"/>
                          <a:ea typeface="微软雅黑" panose="020B0503020204020204" pitchFamily="34" charset="-122"/>
                        </a:rPr>
                        <a:t>人员经费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21,460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5,764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18,248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3,212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17.6%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64808">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其中：工资总额</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16,597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5,159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13,703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2,894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21.1%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464808">
                <a:tc>
                  <a:txBody>
                    <a:bodyPr/>
                    <a:lstStyle/>
                    <a:p>
                      <a:pPr algn="r" rtl="0" fontAlgn="ctr">
                        <a:buNone/>
                      </a:pPr>
                      <a:r>
                        <a:rPr lang="zh-CN" altLang="en-US" sz="1200" b="0" i="0" u="none" strike="noStrike">
                          <a:solidFill>
                            <a:srgbClr val="0F1321"/>
                          </a:solidFill>
                          <a:effectLst/>
                          <a:latin typeface="微软雅黑" panose="020B0503020204020204" pitchFamily="34" charset="-122"/>
                          <a:ea typeface="微软雅黑" panose="020B0503020204020204" pitchFamily="34" charset="-122"/>
                        </a:rPr>
                        <a:t>    其中：基本工资等</a:t>
                      </a:r>
                    </a:p>
                  </a:txBody>
                  <a:tcPr marL="9525" marR="342900"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3,877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568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3,499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378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10.8%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64808">
                <a:tc>
                  <a:txBody>
                    <a:bodyPr/>
                    <a:lstStyle/>
                    <a:p>
                      <a:pPr algn="r" rtl="0" fontAlgn="ctr">
                        <a:buNone/>
                      </a:pPr>
                      <a:r>
                        <a:rPr lang="zh-CN" altLang="en-US" sz="1200" b="0" i="0" u="none" strike="noStrike">
                          <a:solidFill>
                            <a:srgbClr val="0F1321"/>
                          </a:solidFill>
                          <a:effectLst/>
                          <a:latin typeface="微软雅黑" panose="020B0503020204020204" pitchFamily="34" charset="-122"/>
                          <a:ea typeface="微软雅黑" panose="020B0503020204020204" pitchFamily="34" charset="-122"/>
                        </a:rPr>
                        <a:t>               绩效工资</a:t>
                      </a:r>
                    </a:p>
                  </a:txBody>
                  <a:tcPr marL="9525" marR="342900"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12,720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4,590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10,204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2,516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24.7%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553174">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社保公积金</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4,577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602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4,270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307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7.2%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518291" y="1210591"/>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人员经费</a:t>
            </a:r>
          </a:p>
        </p:txBody>
      </p:sp>
      <p:sp>
        <p:nvSpPr>
          <p:cNvPr id="7" name="TextBox 1"/>
          <p:cNvSpPr txBox="1"/>
          <p:nvPr/>
        </p:nvSpPr>
        <p:spPr>
          <a:xfrm>
            <a:off x="9454852" y="1535272"/>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人员经费</a:t>
            </a:r>
          </a:p>
        </p:txBody>
      </p:sp>
      <p:sp>
        <p:nvSpPr>
          <p:cNvPr id="9" name="矩形 8"/>
          <p:cNvSpPr/>
          <p:nvPr/>
        </p:nvSpPr>
        <p:spPr>
          <a:xfrm>
            <a:off x="500063" y="5608805"/>
            <a:ext cx="11249138"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2026年5月，新华医院人员经费支出21,460万元，同比增幅17.6%，其中绩效工资同比增幅24.7%，基本工资等同比降幅10.8%，主要原因是去年同期一次性将春节、元旦、清明等节假日的加班费用计入基本工资。</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3818665987"/>
              </p:ext>
            </p:extLst>
          </p:nvPr>
        </p:nvGraphicFramePr>
        <p:xfrm>
          <a:off x="617325" y="1252754"/>
          <a:ext cx="10858309" cy="4307785"/>
        </p:xfrm>
        <a:graphic>
          <a:graphicData uri="http://schemas.openxmlformats.org/drawingml/2006/table">
            <a:tbl>
              <a:tblPr/>
              <a:tblGrid>
                <a:gridCol w="3478309">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gridCol w="1476000">
                  <a:extLst>
                    <a:ext uri="{9D8B030D-6E8A-4147-A177-3AD203B41FA5}">
                      <a16:colId xmlns:a16="http://schemas.microsoft.com/office/drawing/2014/main" val="20003"/>
                    </a:ext>
                  </a:extLst>
                </a:gridCol>
                <a:gridCol w="1476000">
                  <a:extLst>
                    <a:ext uri="{9D8B030D-6E8A-4147-A177-3AD203B41FA5}">
                      <a16:colId xmlns:a16="http://schemas.microsoft.com/office/drawing/2014/main" val="20004"/>
                    </a:ext>
                  </a:extLst>
                </a:gridCol>
                <a:gridCol w="1476000">
                  <a:extLst>
                    <a:ext uri="{9D8B030D-6E8A-4147-A177-3AD203B41FA5}">
                      <a16:colId xmlns:a16="http://schemas.microsoft.com/office/drawing/2014/main" val="20005"/>
                    </a:ext>
                  </a:extLst>
                </a:gridCol>
              </a:tblGrid>
              <a:tr h="74814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其中</a:t>
                      </a:r>
                      <a:endParaRPr lang="en-US" altLang="zh-CN" sz="15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0276">
                <a:tc>
                  <a:txBody>
                    <a:bodyPr/>
                    <a:lstStyle/>
                    <a:p>
                      <a:pPr algn="l" rtl="0" fontAlgn="ctr"/>
                      <a:r>
                        <a:rPr lang="zh-CN" altLang="en-US" sz="2000" b="1" i="0" u="none" strike="noStrike" dirty="0">
                          <a:solidFill>
                            <a:srgbClr val="000066"/>
                          </a:solidFill>
                          <a:effectLst/>
                          <a:latin typeface="微软雅黑" panose="020B0503020204020204" pitchFamily="34" charset="-122"/>
                          <a:ea typeface="微软雅黑" panose="020B0503020204020204" pitchFamily="34" charset="-122"/>
                        </a:rPr>
                        <a:t>卫生材料收入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17,825</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5,377</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12,724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5,101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40.1%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66793">
                <a:tc>
                  <a:txBody>
                    <a:bodyPr/>
                    <a:lstStyle/>
                    <a:p>
                      <a:pPr algn="l" rtl="0" fontAlgn="ctr">
                        <a:buNone/>
                      </a:pPr>
                      <a:r>
                        <a:rPr lang="zh-CN" altLang="en-US" sz="2000" b="1" i="0" u="none" strike="noStrike" dirty="0">
                          <a:solidFill>
                            <a:srgbClr val="000066"/>
                          </a:solidFill>
                          <a:effectLst/>
                          <a:latin typeface="微软雅黑" panose="020B0503020204020204" pitchFamily="34" charset="-122"/>
                          <a:ea typeface="微软雅黑" panose="020B0503020204020204" pitchFamily="34" charset="-122"/>
                        </a:rPr>
                        <a:t>卫生材料费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20,637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5,826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16,201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4,436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27.4%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66793">
                <a:tc>
                  <a:txBody>
                    <a:bodyPr/>
                    <a:lstStyle/>
                    <a:p>
                      <a:pPr algn="l" rtl="0" fontAlgn="ctr">
                        <a:buNone/>
                      </a:pP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其中：可收费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16,484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5,062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12,885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3,599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27.9%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560276">
                <a:tc>
                  <a:txBody>
                    <a:bodyPr/>
                    <a:lstStyle/>
                    <a:p>
                      <a:pPr algn="l" rtl="0" fontAlgn="ctr">
                        <a:buNone/>
                      </a:pP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          不可收费</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4,153</a:t>
                      </a:r>
                    </a:p>
                  </a:txBody>
                  <a:tcPr marL="9525" marR="9525" marT="9525" marB="0" anchor="ctr">
                    <a:lnL>
                      <a:noFill/>
                    </a:lnL>
                    <a:lnR>
                      <a:noFill/>
                    </a:lnR>
                    <a:lnT>
                      <a:noFill/>
                    </a:lnT>
                    <a:lnB>
                      <a:noFill/>
                    </a:lnB>
                    <a:lnTlToBr>
                      <a:noFill/>
                    </a:lnTlToBr>
                    <a:lnBlToTr>
                      <a:noFill/>
                    </a:lnBlToTr>
                    <a:noFill/>
                  </a:tcPr>
                </a:tc>
                <a:tc>
                  <a:txBody>
                    <a:bodyPr/>
                    <a:lstStyle/>
                    <a:p>
                      <a:pPr marL="0" algn="ctr" defTabSz="914400" rtl="0" eaLnBrk="1" fontAlgn="ctr" latinLnBrk="0" hangingPunct="1">
                        <a:buNone/>
                      </a:pPr>
                      <a:r>
                        <a:rPr lang="en-US" altLang="zh-CN" sz="15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764</a:t>
                      </a:r>
                    </a:p>
                  </a:txBody>
                  <a:tcPr marL="6350" marR="6350" marT="6350"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3,316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836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25.2%</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45225">
                <a:tc>
                  <a:txBody>
                    <a:bodyPr/>
                    <a:lstStyle/>
                    <a:p>
                      <a:pPr algn="l" rtl="0" fontAlgn="ctr">
                        <a:buNone/>
                      </a:pPr>
                      <a:r>
                        <a:rPr lang="zh-CN" altLang="en-US" sz="1500" b="0" i="0" u="none" strike="noStrike" dirty="0">
                          <a:solidFill>
                            <a:srgbClr val="0F1321"/>
                          </a:solidFill>
                          <a:effectLst/>
                          <a:latin typeface="微软雅黑" panose="020B0503020204020204" pitchFamily="34" charset="-122"/>
                          <a:ea typeface="微软雅黑" panose="020B0503020204020204" pitchFamily="34" charset="-122"/>
                        </a:rPr>
                        <a:t>          其中：检验试剂</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3,191</a:t>
                      </a:r>
                    </a:p>
                  </a:txBody>
                  <a:tcPr marL="9525" marR="9525" marT="9525" marB="0" anchor="ctr">
                    <a:lnL>
                      <a:noFill/>
                    </a:lnL>
                    <a:lnR>
                      <a:noFill/>
                    </a:lnR>
                    <a:lnT>
                      <a:noFill/>
                    </a:lnT>
                    <a:lnB>
                      <a:noFill/>
                    </a:lnB>
                    <a:lnTlToBr>
                      <a:noFill/>
                    </a:lnTlToBr>
                    <a:lnBlToTr>
                      <a:noFill/>
                    </a:lnBlToTr>
                    <a:noFill/>
                  </a:tcPr>
                </a:tc>
                <a:tc>
                  <a:txBody>
                    <a:bodyPr/>
                    <a:lstStyle/>
                    <a:p>
                      <a:pPr marL="0" algn="ctr" defTabSz="914400" rtl="0" eaLnBrk="1" fontAlgn="ctr" latinLnBrk="0" hangingPunct="1">
                        <a:buNone/>
                      </a:pPr>
                      <a:r>
                        <a:rPr lang="en-US" altLang="zh-CN" sz="15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550</a:t>
                      </a:r>
                    </a:p>
                  </a:txBody>
                  <a:tcPr marL="6350" marR="6350" marT="6350"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2,449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742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30.3%</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560276">
                <a:tc>
                  <a:txBody>
                    <a:bodyPr/>
                    <a:lstStyle/>
                    <a:p>
                      <a:pPr algn="l" rtl="0" fontAlgn="ctr"/>
                      <a:r>
                        <a:rPr lang="zh-CN" altLang="en-US" sz="1500" b="0" i="0" u="none" strike="noStrike" dirty="0">
                          <a:solidFill>
                            <a:srgbClr val="0F1321"/>
                          </a:solidFill>
                          <a:effectLst/>
                          <a:latin typeface="微软雅黑" panose="020B0503020204020204" pitchFamily="34" charset="-122"/>
                          <a:ea typeface="微软雅黑" panose="020B0503020204020204" pitchFamily="34" charset="-122"/>
                        </a:rPr>
                        <a:t>                    其他不可收费卫生材料</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961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214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867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10.8%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615342" y="707020"/>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卫生材料费</a:t>
            </a:r>
          </a:p>
        </p:txBody>
      </p:sp>
      <p:sp>
        <p:nvSpPr>
          <p:cNvPr id="7" name="TextBox 1"/>
          <p:cNvSpPr txBox="1"/>
          <p:nvPr/>
        </p:nvSpPr>
        <p:spPr>
          <a:xfrm>
            <a:off x="9463165" y="1010223"/>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卫生材料费</a:t>
            </a:r>
          </a:p>
        </p:txBody>
      </p:sp>
      <p:sp>
        <p:nvSpPr>
          <p:cNvPr id="9" name="矩形 8"/>
          <p:cNvSpPr/>
          <p:nvPr/>
        </p:nvSpPr>
        <p:spPr>
          <a:xfrm>
            <a:off x="474669" y="5690437"/>
            <a:ext cx="11017682"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2026年5月，卫生材料费支出20,637万元，同比增幅27.4%，其中可收费卫生材料同比增长27.9%，主要是由于业务量增长引起卫生材料收入增长，可收费材料费用因此增长。</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1329813200"/>
              </p:ext>
            </p:extLst>
          </p:nvPr>
        </p:nvGraphicFramePr>
        <p:xfrm>
          <a:off x="724556" y="1565456"/>
          <a:ext cx="9710835" cy="3501586"/>
        </p:xfrm>
        <a:graphic>
          <a:graphicData uri="http://schemas.openxmlformats.org/drawingml/2006/table">
            <a:tbl>
              <a:tblPr/>
              <a:tblGrid>
                <a:gridCol w="2378862">
                  <a:extLst>
                    <a:ext uri="{9D8B030D-6E8A-4147-A177-3AD203B41FA5}">
                      <a16:colId xmlns:a16="http://schemas.microsoft.com/office/drawing/2014/main" val="20000"/>
                    </a:ext>
                  </a:extLst>
                </a:gridCol>
                <a:gridCol w="1303687">
                  <a:extLst>
                    <a:ext uri="{9D8B030D-6E8A-4147-A177-3AD203B41FA5}">
                      <a16:colId xmlns:a16="http://schemas.microsoft.com/office/drawing/2014/main" val="20001"/>
                    </a:ext>
                  </a:extLst>
                </a:gridCol>
                <a:gridCol w="1687621">
                  <a:extLst>
                    <a:ext uri="{9D8B030D-6E8A-4147-A177-3AD203B41FA5}">
                      <a16:colId xmlns:a16="http://schemas.microsoft.com/office/drawing/2014/main" val="20002"/>
                    </a:ext>
                  </a:extLst>
                </a:gridCol>
                <a:gridCol w="1687621">
                  <a:extLst>
                    <a:ext uri="{9D8B030D-6E8A-4147-A177-3AD203B41FA5}">
                      <a16:colId xmlns:a16="http://schemas.microsoft.com/office/drawing/2014/main" val="20003"/>
                    </a:ext>
                  </a:extLst>
                </a:gridCol>
                <a:gridCol w="1326522">
                  <a:extLst>
                    <a:ext uri="{9D8B030D-6E8A-4147-A177-3AD203B41FA5}">
                      <a16:colId xmlns:a16="http://schemas.microsoft.com/office/drawing/2014/main" val="20004"/>
                    </a:ext>
                  </a:extLst>
                </a:gridCol>
                <a:gridCol w="1326522">
                  <a:extLst>
                    <a:ext uri="{9D8B030D-6E8A-4147-A177-3AD203B41FA5}">
                      <a16:colId xmlns:a16="http://schemas.microsoft.com/office/drawing/2014/main" val="20005"/>
                    </a:ext>
                  </a:extLst>
                </a:gridCol>
              </a:tblGrid>
              <a:tr h="66455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6392">
                <a:tc>
                  <a:txBody>
                    <a:bodyPr/>
                    <a:lstStyle/>
                    <a:p>
                      <a:pPr algn="l" rtl="0" fontAlgn="ctr">
                        <a:buNone/>
                      </a:pP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检验试剂成本</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3,191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550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2,449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742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0066"/>
                          </a:solidFill>
                          <a:effectLst/>
                          <a:latin typeface="微软雅黑" panose="020B0503020204020204" pitchFamily="34" charset="-122"/>
                          <a:ea typeface="微软雅黑" panose="020B0503020204020204" pitchFamily="34" charset="-122"/>
                        </a:rPr>
                        <a:t>30.3%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其中：医学检验科</a:t>
                      </a:r>
                    </a:p>
                  </a:txBody>
                  <a:tcPr marL="342900"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2,502</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354</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1,955</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547</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28.0%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392">
                <a:tc>
                  <a:txBody>
                    <a:bodyPr/>
                    <a:lstStyle/>
                    <a:p>
                      <a:pPr algn="l" rtl="0" fontAlgn="ctr">
                        <a:buNone/>
                      </a:pP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化验收入</a:t>
                      </a:r>
                    </a:p>
                  </a:txBody>
                  <a:tcPr marL="342900"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7,779</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1,487</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5,820</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1,959</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a:solidFill>
                            <a:srgbClr val="000066"/>
                          </a:solidFill>
                          <a:effectLst/>
                          <a:latin typeface="微软雅黑" panose="020B0503020204020204" pitchFamily="34" charset="-122"/>
                          <a:ea typeface="微软雅黑" panose="020B0503020204020204" pitchFamily="34" charset="-122"/>
                        </a:rPr>
                        <a:t>33.7%</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5070">
                <a:tc>
                  <a:txBody>
                    <a:bodyPr/>
                    <a:lstStyle/>
                    <a:p>
                      <a:pPr algn="l" rtl="0" fontAlgn="ctr">
                        <a:buNone/>
                      </a:pPr>
                      <a:r>
                        <a:rPr lang="zh-CN" altLang="en-US" sz="2000" b="1" i="0" u="none" strike="noStrike">
                          <a:solidFill>
                            <a:srgbClr val="C00000"/>
                          </a:solidFill>
                          <a:effectLst/>
                          <a:latin typeface="微软雅黑" panose="020B0503020204020204" pitchFamily="34" charset="-122"/>
                          <a:ea typeface="微软雅黑" panose="020B0503020204020204" pitchFamily="34" charset="-122"/>
                        </a:rPr>
                        <a:t>成本收入比重</a:t>
                      </a:r>
                    </a:p>
                  </a:txBody>
                  <a:tcPr marL="342900"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41.0%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37.0%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42.1%</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-1.1%</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-2.5%</a:t>
                      </a:r>
                      <a:r>
                        <a:rPr lang="zh-CN" altLang="en-US" sz="2000" b="1" i="0" u="none" strike="noStrike" dirty="0">
                          <a:solidFill>
                            <a:srgbClr val="C00000"/>
                          </a:solidFill>
                          <a:effectLst/>
                          <a:latin typeface="微软雅黑" panose="020B0503020204020204" pitchFamily="34" charset="-122"/>
                          <a:ea typeface="微软雅黑" panose="020B0503020204020204" pitchFamily="34" charset="-122"/>
                        </a:rPr>
                        <a:t>　</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门急诊人次</a:t>
                      </a:r>
                    </a:p>
                  </a:txBody>
                  <a:tcPr marL="342900"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45.44</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9.51</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33.90</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11.54</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34.0%</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住院人次</a:t>
                      </a:r>
                    </a:p>
                  </a:txBody>
                  <a:tcPr marL="342900"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1.55</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0.36</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1.30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0.25</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19.2%</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518291" y="918203"/>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检验试剂成本与化验收入</a:t>
            </a:r>
          </a:p>
        </p:txBody>
      </p:sp>
      <p:sp>
        <p:nvSpPr>
          <p:cNvPr id="7" name="TextBox 1"/>
          <p:cNvSpPr txBox="1"/>
          <p:nvPr/>
        </p:nvSpPr>
        <p:spPr>
          <a:xfrm>
            <a:off x="9389537" y="1043523"/>
            <a:ext cx="1961953"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万人次</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卫生材料费</a:t>
            </a:r>
          </a:p>
        </p:txBody>
      </p:sp>
      <p:sp>
        <p:nvSpPr>
          <p:cNvPr id="9" name="矩形 8"/>
          <p:cNvSpPr/>
          <p:nvPr/>
        </p:nvSpPr>
        <p:spPr>
          <a:xfrm>
            <a:off x="474669" y="5520704"/>
            <a:ext cx="11249138"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2026年5月相较2025年同期，检验试剂成本增长742万元，成本收入比重为41.0%，同比增加1.1个百分点。奉贤院区化验成本收入比为37.0%。</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5" name="上箭头 14"/>
          <p:cNvSpPr/>
          <p:nvPr/>
        </p:nvSpPr>
        <p:spPr>
          <a:xfrm>
            <a:off x="10273754" y="4713619"/>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上箭头 15"/>
          <p:cNvSpPr/>
          <p:nvPr/>
        </p:nvSpPr>
        <p:spPr>
          <a:xfrm>
            <a:off x="10273753" y="4260171"/>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上箭头 16"/>
          <p:cNvSpPr/>
          <p:nvPr/>
        </p:nvSpPr>
        <p:spPr>
          <a:xfrm>
            <a:off x="10253576" y="3284323"/>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上箭头 17"/>
          <p:cNvSpPr/>
          <p:nvPr/>
        </p:nvSpPr>
        <p:spPr>
          <a:xfrm>
            <a:off x="10248323" y="2328590"/>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上箭头 18"/>
          <p:cNvSpPr/>
          <p:nvPr/>
        </p:nvSpPr>
        <p:spPr>
          <a:xfrm>
            <a:off x="10248323" y="2830875"/>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nvGraphicFramePr>
        <p:xfrm>
          <a:off x="558252" y="1161137"/>
          <a:ext cx="10493760" cy="4059543"/>
        </p:xfrm>
        <a:graphic>
          <a:graphicData uri="http://schemas.openxmlformats.org/drawingml/2006/table">
            <a:tbl>
              <a:tblPr/>
              <a:tblGrid>
                <a:gridCol w="1975508">
                  <a:extLst>
                    <a:ext uri="{9D8B030D-6E8A-4147-A177-3AD203B41FA5}">
                      <a16:colId xmlns:a16="http://schemas.microsoft.com/office/drawing/2014/main" val="20000"/>
                    </a:ext>
                  </a:extLst>
                </a:gridCol>
                <a:gridCol w="1747024">
                  <a:extLst>
                    <a:ext uri="{9D8B030D-6E8A-4147-A177-3AD203B41FA5}">
                      <a16:colId xmlns:a16="http://schemas.microsoft.com/office/drawing/2014/main" val="20001"/>
                    </a:ext>
                  </a:extLst>
                </a:gridCol>
                <a:gridCol w="1821366">
                  <a:extLst>
                    <a:ext uri="{9D8B030D-6E8A-4147-A177-3AD203B41FA5}">
                      <a16:colId xmlns:a16="http://schemas.microsoft.com/office/drawing/2014/main" val="20002"/>
                    </a:ext>
                  </a:extLst>
                </a:gridCol>
                <a:gridCol w="2082918">
                  <a:extLst>
                    <a:ext uri="{9D8B030D-6E8A-4147-A177-3AD203B41FA5}">
                      <a16:colId xmlns:a16="http://schemas.microsoft.com/office/drawing/2014/main" val="20003"/>
                    </a:ext>
                  </a:extLst>
                </a:gridCol>
                <a:gridCol w="1433472">
                  <a:extLst>
                    <a:ext uri="{9D8B030D-6E8A-4147-A177-3AD203B41FA5}">
                      <a16:colId xmlns:a16="http://schemas.microsoft.com/office/drawing/2014/main" val="20004"/>
                    </a:ext>
                  </a:extLst>
                </a:gridCol>
                <a:gridCol w="1433472">
                  <a:extLst>
                    <a:ext uri="{9D8B030D-6E8A-4147-A177-3AD203B41FA5}">
                      <a16:colId xmlns:a16="http://schemas.microsoft.com/office/drawing/2014/main" val="20005"/>
                    </a:ext>
                  </a:extLst>
                </a:gridCol>
              </a:tblGrid>
              <a:tr h="565877">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571">
                <a:tc>
                  <a:txBody>
                    <a:bodyPr/>
                    <a:lstStyle/>
                    <a:p>
                      <a:pPr algn="l" rtl="0" fontAlgn="ct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商品服务</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4,492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1,284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3,649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844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23.1%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其中：</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能源成本</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609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124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478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131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27.4%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维修护费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683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719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507669">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物业管理费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1,182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388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729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453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62.1%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委托业务费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240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355.9%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劳务费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344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324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6.3%</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租赁费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其他费用</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1,064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975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89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2093340543"/>
                  </a:ext>
                </a:extLst>
              </a:tr>
            </a:tbl>
          </a:graphicData>
        </a:graphic>
      </p:graphicFrame>
      <p:sp>
        <p:nvSpPr>
          <p:cNvPr id="5" name="Rectangle 5"/>
          <p:cNvSpPr>
            <a:spLocks noChangeArrowheads="1"/>
          </p:cNvSpPr>
          <p:nvPr/>
        </p:nvSpPr>
        <p:spPr bwMode="auto">
          <a:xfrm>
            <a:off x="3664855" y="730250"/>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商品和服务费用</a:t>
            </a:r>
          </a:p>
        </p:txBody>
      </p:sp>
      <p:sp>
        <p:nvSpPr>
          <p:cNvPr id="7" name="TextBox 1"/>
          <p:cNvSpPr txBox="1"/>
          <p:nvPr/>
        </p:nvSpPr>
        <p:spPr>
          <a:xfrm>
            <a:off x="9905879" y="787415"/>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商品和服务费</a:t>
            </a:r>
          </a:p>
        </p:txBody>
      </p:sp>
      <p:sp>
        <p:nvSpPr>
          <p:cNvPr id="8" name="矩形 7"/>
          <p:cNvSpPr/>
          <p:nvPr/>
        </p:nvSpPr>
        <p:spPr>
          <a:xfrm>
            <a:off x="82326" y="5201385"/>
            <a:ext cx="12027333" cy="128982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商品和服务费支出4,492万元，同比增长844万元。变动因素如下：1、能源成本同比减少131万元。2、维修护费同比减少-36万元。3、物业管理费同比增长453万元。4、委托业务费同比增长187万元，其中外送检测费同比增长22万元，科研匹配经费中的检测费用同比增长232万元。5、劳务费增长20万元，主要是奉贤一口价人员成本同比增长68万元，另支付申康2025-2026年总会计师薪酬170万元，去年同期支付金额为95万元。6、租赁费同比上涨-6万元，主要是本月支付3个月的奉贤租房费用44万元。 7、其他费用同比上涨89万元，主要是支付吉爱家庭及吉晨卫生的患者照护相关款项544万元。</a:t>
            </a:r>
            <a:endParaRPr lang="en-US" altLang="zh-CN" b="1"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3635562849"/>
              </p:ext>
            </p:extLst>
          </p:nvPr>
        </p:nvGraphicFramePr>
        <p:xfrm>
          <a:off x="884664" y="1598341"/>
          <a:ext cx="10198971" cy="3375104"/>
        </p:xfrm>
        <a:graphic>
          <a:graphicData uri="http://schemas.openxmlformats.org/drawingml/2006/table">
            <a:tbl>
              <a:tblPr/>
              <a:tblGrid>
                <a:gridCol w="1502540">
                  <a:extLst>
                    <a:ext uri="{9D8B030D-6E8A-4147-A177-3AD203B41FA5}">
                      <a16:colId xmlns:a16="http://schemas.microsoft.com/office/drawing/2014/main" val="20000"/>
                    </a:ext>
                  </a:extLst>
                </a:gridCol>
                <a:gridCol w="1264082">
                  <a:extLst>
                    <a:ext uri="{9D8B030D-6E8A-4147-A177-3AD203B41FA5}">
                      <a16:colId xmlns:a16="http://schemas.microsoft.com/office/drawing/2014/main" val="20001"/>
                    </a:ext>
                  </a:extLst>
                </a:gridCol>
                <a:gridCol w="1159578">
                  <a:extLst>
                    <a:ext uri="{9D8B030D-6E8A-4147-A177-3AD203B41FA5}">
                      <a16:colId xmlns:a16="http://schemas.microsoft.com/office/drawing/2014/main" val="20002"/>
                    </a:ext>
                  </a:extLst>
                </a:gridCol>
                <a:gridCol w="1159578">
                  <a:extLst>
                    <a:ext uri="{9D8B030D-6E8A-4147-A177-3AD203B41FA5}">
                      <a16:colId xmlns:a16="http://schemas.microsoft.com/office/drawing/2014/main" val="20003"/>
                    </a:ext>
                  </a:extLst>
                </a:gridCol>
                <a:gridCol w="1233841">
                  <a:extLst>
                    <a:ext uri="{9D8B030D-6E8A-4147-A177-3AD203B41FA5}">
                      <a16:colId xmlns:a16="http://schemas.microsoft.com/office/drawing/2014/main" val="20004"/>
                    </a:ext>
                  </a:extLst>
                </a:gridCol>
                <a:gridCol w="969838">
                  <a:extLst>
                    <a:ext uri="{9D8B030D-6E8A-4147-A177-3AD203B41FA5}">
                      <a16:colId xmlns:a16="http://schemas.microsoft.com/office/drawing/2014/main" val="20005"/>
                    </a:ext>
                  </a:extLst>
                </a:gridCol>
                <a:gridCol w="969838">
                  <a:extLst>
                    <a:ext uri="{9D8B030D-6E8A-4147-A177-3AD203B41FA5}">
                      <a16:colId xmlns:a16="http://schemas.microsoft.com/office/drawing/2014/main" val="20006"/>
                    </a:ext>
                  </a:extLst>
                </a:gridCol>
                <a:gridCol w="969838">
                  <a:extLst>
                    <a:ext uri="{9D8B030D-6E8A-4147-A177-3AD203B41FA5}">
                      <a16:colId xmlns:a16="http://schemas.microsoft.com/office/drawing/2014/main" val="20007"/>
                    </a:ext>
                  </a:extLst>
                </a:gridCol>
                <a:gridCol w="969838">
                  <a:extLst>
                    <a:ext uri="{9D8B030D-6E8A-4147-A177-3AD203B41FA5}">
                      <a16:colId xmlns:a16="http://schemas.microsoft.com/office/drawing/2014/main" val="20008"/>
                    </a:ext>
                  </a:extLst>
                </a:gridCol>
              </a:tblGrid>
              <a:tr h="782914">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8644">
                <a:tc>
                  <a:txBody>
                    <a:bodyPr/>
                    <a:lstStyle/>
                    <a:p>
                      <a:pPr algn="ctr" rtl="0" fontAlgn="ctr"/>
                      <a:r>
                        <a:rPr lang="zh-CN" altLang="en-US" sz="1800" b="1" i="0" u="none" strike="noStrike">
                          <a:solidFill>
                            <a:srgbClr val="000000"/>
                          </a:solidFill>
                          <a:effectLst/>
                          <a:latin typeface="微软雅黑" panose="020B0503020204020204" pitchFamily="34" charset="-122"/>
                          <a:ea typeface="微软雅黑" panose="020B0503020204020204" pitchFamily="34" charset="-122"/>
                        </a:rPr>
                        <a:t>能耗成本</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3,200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738</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2,462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2,729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471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17.3%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a:solidFill>
                            <a:srgbClr val="000066"/>
                          </a:solidFill>
                          <a:effectLst/>
                          <a:latin typeface="微软雅黑" panose="020B0503020204020204" pitchFamily="34" charset="-122"/>
                          <a:ea typeface="微软雅黑" panose="020B0503020204020204" pitchFamily="34" charset="-122"/>
                        </a:rPr>
                        <a:t>-273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a:solidFill>
                            <a:srgbClr val="000066"/>
                          </a:solidFill>
                          <a:effectLst/>
                          <a:latin typeface="微软雅黑" panose="020B0503020204020204" pitchFamily="34" charset="-122"/>
                          <a:ea typeface="微软雅黑" panose="020B0503020204020204" pitchFamily="34" charset="-122"/>
                        </a:rPr>
                        <a:t>-12.1%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18644">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其中：水费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301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275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22.9%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18644">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电费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1,997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522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1,474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1,465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531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36.3%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736258">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燃气费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865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179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687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988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-123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-12.5%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-242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-28.1%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5"/>
          <p:cNvSpPr>
            <a:spLocks noChangeArrowheads="1"/>
          </p:cNvSpPr>
          <p:nvPr/>
        </p:nvSpPr>
        <p:spPr bwMode="auto">
          <a:xfrm>
            <a:off x="3664861" y="1061283"/>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能源成本</a:t>
            </a:r>
          </a:p>
        </p:txBody>
      </p:sp>
      <p:sp>
        <p:nvSpPr>
          <p:cNvPr id="7" name="TextBox 1"/>
          <p:cNvSpPr txBox="1"/>
          <p:nvPr/>
        </p:nvSpPr>
        <p:spPr>
          <a:xfrm>
            <a:off x="10155261" y="794218"/>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能源成本</a:t>
            </a:r>
          </a:p>
        </p:txBody>
      </p:sp>
      <p:sp>
        <p:nvSpPr>
          <p:cNvPr id="8" name="矩形 7"/>
          <p:cNvSpPr/>
          <p:nvPr/>
        </p:nvSpPr>
        <p:spPr>
          <a:xfrm>
            <a:off x="374100" y="5197019"/>
            <a:ext cx="11577137" cy="115677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2026年1-5月，能源成本支出3,200万元，同比增幅17.3%，其中杨浦院区同比减少266万元，降幅12.1%。水费同比增长63万元，电费同比增长531万元，燃气费同比减少-123万元。</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nvGraphicFramePr>
        <p:xfrm>
          <a:off x="727204" y="1120755"/>
          <a:ext cx="10307080" cy="3508317"/>
        </p:xfrm>
        <a:graphic>
          <a:graphicData uri="http://schemas.openxmlformats.org/drawingml/2006/table">
            <a:tbl>
              <a:tblPr/>
              <a:tblGrid>
                <a:gridCol w="2372046">
                  <a:extLst>
                    <a:ext uri="{9D8B030D-6E8A-4147-A177-3AD203B41FA5}">
                      <a16:colId xmlns:a16="http://schemas.microsoft.com/office/drawing/2014/main" val="20000"/>
                    </a:ext>
                  </a:extLst>
                </a:gridCol>
                <a:gridCol w="1644423">
                  <a:extLst>
                    <a:ext uri="{9D8B030D-6E8A-4147-A177-3AD203B41FA5}">
                      <a16:colId xmlns:a16="http://schemas.microsoft.com/office/drawing/2014/main" val="20001"/>
                    </a:ext>
                  </a:extLst>
                </a:gridCol>
                <a:gridCol w="1683428">
                  <a:extLst>
                    <a:ext uri="{9D8B030D-6E8A-4147-A177-3AD203B41FA5}">
                      <a16:colId xmlns:a16="http://schemas.microsoft.com/office/drawing/2014/main" val="20002"/>
                    </a:ext>
                  </a:extLst>
                </a:gridCol>
                <a:gridCol w="1791241">
                  <a:extLst>
                    <a:ext uri="{9D8B030D-6E8A-4147-A177-3AD203B41FA5}">
                      <a16:colId xmlns:a16="http://schemas.microsoft.com/office/drawing/2014/main" val="20003"/>
                    </a:ext>
                  </a:extLst>
                </a:gridCol>
                <a:gridCol w="1407971">
                  <a:extLst>
                    <a:ext uri="{9D8B030D-6E8A-4147-A177-3AD203B41FA5}">
                      <a16:colId xmlns:a16="http://schemas.microsoft.com/office/drawing/2014/main" val="20004"/>
                    </a:ext>
                  </a:extLst>
                </a:gridCol>
                <a:gridCol w="1407971">
                  <a:extLst>
                    <a:ext uri="{9D8B030D-6E8A-4147-A177-3AD203B41FA5}">
                      <a16:colId xmlns:a16="http://schemas.microsoft.com/office/drawing/2014/main" val="20005"/>
                    </a:ext>
                  </a:extLst>
                </a:gridCol>
              </a:tblGrid>
              <a:tr h="74905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9371">
                <a:tc>
                  <a:txBody>
                    <a:bodyPr/>
                    <a:lstStyle/>
                    <a:p>
                      <a:pPr algn="l" rtl="0" fontAlgn="ctr">
                        <a:buNone/>
                      </a:pP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物业管理费</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1,182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388</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729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454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62.3%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1978">
                <a:tc>
                  <a:txBody>
                    <a:bodyPr/>
                    <a:lstStyle/>
                    <a:p>
                      <a:pPr algn="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其中：保安管理</a:t>
                      </a: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费</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197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145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35.9%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            运送服务费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212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134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171.8%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            保洁服务费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481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113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361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33.2%</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被服洗涤费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25.9%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386353047"/>
                  </a:ext>
                </a:extLst>
              </a:tr>
              <a:tr h="451978">
                <a:tc>
                  <a:txBody>
                    <a:bodyPr/>
                    <a:lstStyle/>
                    <a:p>
                      <a:pPr algn="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物业其他</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245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-184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-75.1%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664856" y="578774"/>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物业管理费</a:t>
            </a:r>
          </a:p>
        </p:txBody>
      </p:sp>
      <p:sp>
        <p:nvSpPr>
          <p:cNvPr id="7" name="TextBox 1"/>
          <p:cNvSpPr txBox="1"/>
          <p:nvPr/>
        </p:nvSpPr>
        <p:spPr>
          <a:xfrm>
            <a:off x="10155261" y="730250"/>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物业管理费</a:t>
            </a:r>
          </a:p>
        </p:txBody>
      </p:sp>
      <p:sp>
        <p:nvSpPr>
          <p:cNvPr id="8" name="矩形 7"/>
          <p:cNvSpPr/>
          <p:nvPr/>
        </p:nvSpPr>
        <p:spPr>
          <a:xfrm>
            <a:off x="92175" y="4889795"/>
            <a:ext cx="11577137" cy="1161452"/>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物业管理费支出1,182万元，同比增幅62.3%。其中，保安管理费、运送服务费、被服洗涤费共增长53万元，主要原因为奉贤院区相关成本的增长。保洁服务费同比增长120万元，一部分是由于每月奉贤成本增长111万元，每月杨浦成本增长51万元，另一部分是由于本月支付了因预算不足推迟支付的去年10月份的剩余保洁费用148万元。</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472985501"/>
              </p:ext>
            </p:extLst>
          </p:nvPr>
        </p:nvGraphicFramePr>
        <p:xfrm>
          <a:off x="817757" y="1434791"/>
          <a:ext cx="10176068" cy="3375102"/>
        </p:xfrm>
        <a:graphic>
          <a:graphicData uri="http://schemas.openxmlformats.org/drawingml/2006/table">
            <a:tbl>
              <a:tblPr/>
              <a:tblGrid>
                <a:gridCol w="2137912">
                  <a:extLst>
                    <a:ext uri="{9D8B030D-6E8A-4147-A177-3AD203B41FA5}">
                      <a16:colId xmlns:a16="http://schemas.microsoft.com/office/drawing/2014/main" val="20000"/>
                    </a:ext>
                  </a:extLst>
                </a:gridCol>
                <a:gridCol w="1827504">
                  <a:extLst>
                    <a:ext uri="{9D8B030D-6E8A-4147-A177-3AD203B41FA5}">
                      <a16:colId xmlns:a16="http://schemas.microsoft.com/office/drawing/2014/main" val="20001"/>
                    </a:ext>
                  </a:extLst>
                </a:gridCol>
                <a:gridCol w="1662030">
                  <a:extLst>
                    <a:ext uri="{9D8B030D-6E8A-4147-A177-3AD203B41FA5}">
                      <a16:colId xmlns:a16="http://schemas.microsoft.com/office/drawing/2014/main" val="20002"/>
                    </a:ext>
                  </a:extLst>
                </a:gridCol>
                <a:gridCol w="1768472">
                  <a:extLst>
                    <a:ext uri="{9D8B030D-6E8A-4147-A177-3AD203B41FA5}">
                      <a16:colId xmlns:a16="http://schemas.microsoft.com/office/drawing/2014/main" val="20003"/>
                    </a:ext>
                  </a:extLst>
                </a:gridCol>
                <a:gridCol w="1390075">
                  <a:extLst>
                    <a:ext uri="{9D8B030D-6E8A-4147-A177-3AD203B41FA5}">
                      <a16:colId xmlns:a16="http://schemas.microsoft.com/office/drawing/2014/main" val="20004"/>
                    </a:ext>
                  </a:extLst>
                </a:gridCol>
                <a:gridCol w="1390075">
                  <a:extLst>
                    <a:ext uri="{9D8B030D-6E8A-4147-A177-3AD203B41FA5}">
                      <a16:colId xmlns:a16="http://schemas.microsoft.com/office/drawing/2014/main" val="20005"/>
                    </a:ext>
                  </a:extLst>
                </a:gridCol>
              </a:tblGrid>
              <a:tr h="661637">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2814">
                <a:tc>
                  <a:txBody>
                    <a:bodyPr/>
                    <a:lstStyle/>
                    <a:p>
                      <a:pPr algn="l" rtl="0" fontAlgn="ctr">
                        <a:buNone/>
                      </a:pP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维修费</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684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183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719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-35</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-4.9%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22814">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其中：</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网络维修</a:t>
                      </a:r>
                      <a:endParaRPr lang="zh-CN" altLang="en-US" sz="1500" b="0" i="0" u="none" strike="noStrike">
                        <a:solidFill>
                          <a:srgbClr val="0F1321"/>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219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-164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-74.9%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2814">
                <a:tc>
                  <a:txBody>
                    <a:bodyPr/>
                    <a:lstStyle/>
                    <a:p>
                      <a:pPr algn="r" rtl="0" fontAlgn="ctr">
                        <a:buNone/>
                      </a:pP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设备</a:t>
                      </a: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维修</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347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421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-17.6%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622209">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后勤维修</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199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237.3%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522814">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房屋维修</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315.0%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Rectangle 5"/>
          <p:cNvSpPr>
            <a:spLocks noChangeArrowheads="1"/>
          </p:cNvSpPr>
          <p:nvPr/>
        </p:nvSpPr>
        <p:spPr bwMode="auto">
          <a:xfrm>
            <a:off x="3664855" y="871162"/>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维修护费</a:t>
            </a:r>
          </a:p>
        </p:txBody>
      </p:sp>
      <p:sp>
        <p:nvSpPr>
          <p:cNvPr id="7" name="TextBox 1"/>
          <p:cNvSpPr txBox="1"/>
          <p:nvPr/>
        </p:nvSpPr>
        <p:spPr>
          <a:xfrm>
            <a:off x="9718381" y="1086605"/>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9324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维修护费</a:t>
            </a:r>
          </a:p>
        </p:txBody>
      </p:sp>
      <p:sp>
        <p:nvSpPr>
          <p:cNvPr id="8" name="矩形 7"/>
          <p:cNvSpPr/>
          <p:nvPr/>
        </p:nvSpPr>
        <p:spPr>
          <a:xfrm>
            <a:off x="307425" y="5008344"/>
            <a:ext cx="11490566" cy="115677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2026年5月，维修护费支出684万元，同比降幅4.9%。网络维修费增加-164万元；设备维修费增加-74万元，同比增幅-17.6%，2026年柯渡每月奉贤院区计提费用为12万元 。后勤维修费降低140万元，同比降幅237.3%。房屋维修费降低63万元。</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5</a:t>
              </a:r>
              <a:r>
                <a:rPr lang="zh-CN" altLang="en-US" sz="2400" b="1" dirty="0">
                  <a:ln w="0"/>
                  <a:solidFill>
                    <a:srgbClr val="0070C0"/>
                  </a:soli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1-5</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endPar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1261" y="1083614"/>
              <a:ext cx="1202972" cy="307814"/>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耗材成本收入比</a:t>
              </a:r>
            </a:p>
          </p:txBody>
        </p:sp>
      </p:grpSp>
      <p:sp>
        <p:nvSpPr>
          <p:cNvPr id="52" name="矩形 51"/>
          <p:cNvSpPr/>
          <p:nvPr/>
        </p:nvSpPr>
        <p:spPr>
          <a:xfrm>
            <a:off x="770306" y="5400250"/>
            <a:ext cx="10654881" cy="42926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月，耗材总收入为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17,825</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万元，耗材总成本为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20,637</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万元，其中奉贤院区耗材成本为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5,826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p:cNvGraphicFramePr/>
          <p:nvPr/>
        </p:nvGraphicFramePr>
        <p:xfrm>
          <a:off x="1351179" y="1993900"/>
          <a:ext cx="9793417" cy="2870200"/>
        </p:xfrm>
        <a:graphic>
          <a:graphicData uri="http://schemas.openxmlformats.org/drawingml/2006/table">
            <a:tbl>
              <a:tblPr/>
              <a:tblGrid>
                <a:gridCol w="1004731">
                  <a:extLst>
                    <a:ext uri="{9D8B030D-6E8A-4147-A177-3AD203B41FA5}">
                      <a16:colId xmlns:a16="http://schemas.microsoft.com/office/drawing/2014/main" val="20000"/>
                    </a:ext>
                  </a:extLst>
                </a:gridCol>
                <a:gridCol w="840603">
                  <a:extLst>
                    <a:ext uri="{9D8B030D-6E8A-4147-A177-3AD203B41FA5}">
                      <a16:colId xmlns:a16="http://schemas.microsoft.com/office/drawing/2014/main" val="20001"/>
                    </a:ext>
                  </a:extLst>
                </a:gridCol>
                <a:gridCol w="829016">
                  <a:extLst>
                    <a:ext uri="{9D8B030D-6E8A-4147-A177-3AD203B41FA5}">
                      <a16:colId xmlns:a16="http://schemas.microsoft.com/office/drawing/2014/main" val="20002"/>
                    </a:ext>
                  </a:extLst>
                </a:gridCol>
                <a:gridCol w="705779">
                  <a:extLst>
                    <a:ext uri="{9D8B030D-6E8A-4147-A177-3AD203B41FA5}">
                      <a16:colId xmlns:a16="http://schemas.microsoft.com/office/drawing/2014/main" val="20003"/>
                    </a:ext>
                  </a:extLst>
                </a:gridCol>
                <a:gridCol w="874461">
                  <a:extLst>
                    <a:ext uri="{9D8B030D-6E8A-4147-A177-3AD203B41FA5}">
                      <a16:colId xmlns:a16="http://schemas.microsoft.com/office/drawing/2014/main" val="20004"/>
                    </a:ext>
                  </a:extLst>
                </a:gridCol>
                <a:gridCol w="817986">
                  <a:extLst>
                    <a:ext uri="{9D8B030D-6E8A-4147-A177-3AD203B41FA5}">
                      <a16:colId xmlns:a16="http://schemas.microsoft.com/office/drawing/2014/main" val="20005"/>
                    </a:ext>
                  </a:extLst>
                </a:gridCol>
                <a:gridCol w="849614">
                  <a:extLst>
                    <a:ext uri="{9D8B030D-6E8A-4147-A177-3AD203B41FA5}">
                      <a16:colId xmlns:a16="http://schemas.microsoft.com/office/drawing/2014/main" val="20006"/>
                    </a:ext>
                  </a:extLst>
                </a:gridCol>
                <a:gridCol w="859910">
                  <a:extLst>
                    <a:ext uri="{9D8B030D-6E8A-4147-A177-3AD203B41FA5}">
                      <a16:colId xmlns:a16="http://schemas.microsoft.com/office/drawing/2014/main" val="20007"/>
                    </a:ext>
                  </a:extLst>
                </a:gridCol>
                <a:gridCol w="903679">
                  <a:extLst>
                    <a:ext uri="{9D8B030D-6E8A-4147-A177-3AD203B41FA5}">
                      <a16:colId xmlns:a16="http://schemas.microsoft.com/office/drawing/2014/main" val="20008"/>
                    </a:ext>
                  </a:extLst>
                </a:gridCol>
                <a:gridCol w="1087755">
                  <a:extLst>
                    <a:ext uri="{9D8B030D-6E8A-4147-A177-3AD203B41FA5}">
                      <a16:colId xmlns:a16="http://schemas.microsoft.com/office/drawing/2014/main" val="20009"/>
                    </a:ext>
                  </a:extLst>
                </a:gridCol>
                <a:gridCol w="1019883">
                  <a:extLst>
                    <a:ext uri="{9D8B030D-6E8A-4147-A177-3AD203B41FA5}">
                      <a16:colId xmlns:a16="http://schemas.microsoft.com/office/drawing/2014/main" val="20010"/>
                    </a:ext>
                  </a:extLst>
                </a:gridCol>
              </a:tblGrid>
              <a:tr h="574040">
                <a:tc rowSpan="2">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lstStyle/>
                    <a:p>
                      <a:pPr algn="ctr" fontAlgn="b"/>
                      <a:r>
                        <a:rPr lang="zh-CN" altLang="en-US" sz="1400" b="1" i="0" dirty="0">
                          <a:solidFill>
                            <a:srgbClr val="000000"/>
                          </a:solidFill>
                          <a:latin typeface="微软雅黑" panose="020B0503020204020204" pitchFamily="34" charset="-122"/>
                          <a:ea typeface="微软雅黑" panose="020B0503020204020204" pitchFamily="34" charset="-122"/>
                        </a:rPr>
                        <a:t>耗材总收入</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3">
                  <a:txBody>
                    <a:bodyPr/>
                    <a:lstStyle/>
                    <a:p>
                      <a:pPr algn="ctr" fontAlgn="b"/>
                      <a:r>
                        <a:rPr lang="zh-CN" altLang="en-US" sz="1400" b="1" i="0">
                          <a:solidFill>
                            <a:srgbClr val="000000"/>
                          </a:solidFill>
                          <a:latin typeface="微软雅黑" panose="020B0503020204020204" pitchFamily="34" charset="-122"/>
                          <a:ea typeface="微软雅黑" panose="020B0503020204020204" pitchFamily="34" charset="-122"/>
                        </a:rPr>
                        <a:t>耗材总成本</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lstStyle/>
                    <a:p>
                      <a:pPr algn="ctr" fontAlgn="b">
                        <a:buClrTx/>
                        <a:buSzTx/>
                        <a:buFontTx/>
                      </a:pPr>
                      <a:r>
                        <a:rPr lang="zh-CN" altLang="en-US" sz="1400" b="1" i="0" dirty="0">
                          <a:solidFill>
                            <a:srgbClr val="000000"/>
                          </a:solidFill>
                          <a:latin typeface="微软雅黑" panose="020B0503020204020204" pitchFamily="34" charset="-122"/>
                          <a:ea typeface="微软雅黑" panose="020B0503020204020204" pitchFamily="34" charset="-122"/>
                        </a:rPr>
                        <a:t>耗材成本收入比</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lstStyle/>
                    <a:p>
                      <a:pPr algn="ctr" fontAlgn="b">
                        <a:buClrTx/>
                        <a:buSzTx/>
                        <a:buFontTx/>
                      </a:pPr>
                      <a:r>
                        <a:rPr lang="zh-CN" altLang="en-US" sz="1400" b="1" i="0" dirty="0">
                          <a:solidFill>
                            <a:srgbClr val="000000"/>
                          </a:solidFill>
                          <a:latin typeface="微软雅黑" panose="020B0503020204020204" pitchFamily="34" charset="-122"/>
                          <a:ea typeface="微软雅黑" panose="020B0503020204020204" pitchFamily="34" charset="-122"/>
                        </a:rPr>
                        <a:t>可收费耗材成本收入比</a:t>
                      </a:r>
                    </a:p>
                  </a:txBody>
                  <a:tcPr marL="9842" marR="9842" marT="9842" marB="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57404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zh-CN" altLang="en-US" sz="1200" b="1" i="0" dirty="0">
                          <a:solidFill>
                            <a:schemeClr val="bg1"/>
                          </a:solidFill>
                          <a:latin typeface="微软雅黑" panose="020B0503020204020204" pitchFamily="34" charset="-122"/>
                          <a:ea typeface="微软雅黑" panose="020B0503020204020204" pitchFamily="34" charset="-122"/>
                        </a:rPr>
                        <a:t>同比</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zh-CN" altLang="en-US" sz="1200" b="1" i="0">
                          <a:solidFill>
                            <a:schemeClr val="bg1"/>
                          </a:solidFill>
                          <a:latin typeface="微软雅黑" panose="020B0503020204020204" pitchFamily="34" charset="-122"/>
                          <a:ea typeface="微软雅黑" panose="020B0503020204020204" pitchFamily="34" charset="-122"/>
                        </a:rPr>
                        <a:t>同比</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1"/>
                  </a:ext>
                </a:extLst>
              </a:tr>
              <a:tr h="574040">
                <a:tc>
                  <a:txBody>
                    <a:bodyPr/>
                    <a:lstStyle/>
                    <a:p>
                      <a:pPr algn="ctr" fontAlgn="b"/>
                      <a:r>
                        <a:rPr lang="zh-CN" altLang="en-US" sz="1400" b="0" i="0" dirty="0">
                          <a:solidFill>
                            <a:srgbClr val="000000"/>
                          </a:solidFill>
                          <a:latin typeface="微软雅黑" panose="020B0503020204020204" pitchFamily="34" charset="-122"/>
                          <a:ea typeface="微软雅黑" panose="020B0503020204020204" pitchFamily="34" charset="-122"/>
                        </a:rPr>
                        <a:t>全院</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17,825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12,724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40.09%</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20,637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16,201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27.38%</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1.16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574040">
                <a:tc>
                  <a:txBody>
                    <a:bodyPr/>
                    <a:lstStyle/>
                    <a:p>
                      <a:pPr algn="ctr" fontAlgn="b"/>
                      <a:r>
                        <a:rPr lang="zh-CN" altLang="en-US" sz="1400" b="0"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12,448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12,724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-2.17%</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14,811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16,201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-8.58%</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1.19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574040">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a:t>
                      </a:r>
                      <a:r>
                        <a:rPr lang="zh-CN" altLang="en-US" sz="1400" b="0"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5,377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5,826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1.08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endPar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1261" y="1083614"/>
              <a:ext cx="1202972" cy="307814"/>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耗材成本收入比</a:t>
              </a:r>
            </a:p>
          </p:txBody>
        </p:sp>
      </p:grpSp>
      <p:sp>
        <p:nvSpPr>
          <p:cNvPr id="52" name="矩形 51"/>
          <p:cNvSpPr/>
          <p:nvPr/>
        </p:nvSpPr>
        <p:spPr>
          <a:xfrm>
            <a:off x="770306" y="5400250"/>
            <a:ext cx="10654881" cy="76835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a:t>
            </a:r>
            <a:r>
              <a:rPr kumimoji="0" 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可收费耗材成本为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16,484</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万元，可收费耗材成本收入比为</a:t>
            </a:r>
            <a:r>
              <a:rPr kumimoji="0" lang="en-US" altLang="zh-CN" sz="147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0.92</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，成本与收入差额</a:t>
            </a:r>
            <a:r>
              <a:rPr kumimoji="0" lang="en-US" altLang="zh-CN" sz="147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1,341</a:t>
            </a:r>
            <a:r>
              <a:rPr kumimoji="0" lang="zh-CN" altLang="en-US" sz="147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万元</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，收支差异过大，请相关部门关注。</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表格 3"/>
          <p:cNvGraphicFramePr/>
          <p:nvPr/>
        </p:nvGraphicFramePr>
        <p:xfrm>
          <a:off x="1317625" y="1668145"/>
          <a:ext cx="9528175" cy="2923540"/>
        </p:xfrm>
        <a:graphic>
          <a:graphicData uri="http://schemas.openxmlformats.org/drawingml/2006/table">
            <a:tbl>
              <a:tblPr/>
              <a:tblGrid>
                <a:gridCol w="1529715">
                  <a:extLst>
                    <a:ext uri="{9D8B030D-6E8A-4147-A177-3AD203B41FA5}">
                      <a16:colId xmlns:a16="http://schemas.microsoft.com/office/drawing/2014/main" val="20000"/>
                    </a:ext>
                  </a:extLst>
                </a:gridCol>
                <a:gridCol w="1142365">
                  <a:extLst>
                    <a:ext uri="{9D8B030D-6E8A-4147-A177-3AD203B41FA5}">
                      <a16:colId xmlns:a16="http://schemas.microsoft.com/office/drawing/2014/main" val="20001"/>
                    </a:ext>
                  </a:extLst>
                </a:gridCol>
                <a:gridCol w="1316355">
                  <a:extLst>
                    <a:ext uri="{9D8B030D-6E8A-4147-A177-3AD203B41FA5}">
                      <a16:colId xmlns:a16="http://schemas.microsoft.com/office/drawing/2014/main" val="20002"/>
                    </a:ext>
                  </a:extLst>
                </a:gridCol>
                <a:gridCol w="1315085">
                  <a:extLst>
                    <a:ext uri="{9D8B030D-6E8A-4147-A177-3AD203B41FA5}">
                      <a16:colId xmlns:a16="http://schemas.microsoft.com/office/drawing/2014/main" val="20003"/>
                    </a:ext>
                  </a:extLst>
                </a:gridCol>
                <a:gridCol w="1316990">
                  <a:extLst>
                    <a:ext uri="{9D8B030D-6E8A-4147-A177-3AD203B41FA5}">
                      <a16:colId xmlns:a16="http://schemas.microsoft.com/office/drawing/2014/main" val="20004"/>
                    </a:ext>
                  </a:extLst>
                </a:gridCol>
                <a:gridCol w="1316990">
                  <a:extLst>
                    <a:ext uri="{9D8B030D-6E8A-4147-A177-3AD203B41FA5}">
                      <a16:colId xmlns:a16="http://schemas.microsoft.com/office/drawing/2014/main" val="20005"/>
                    </a:ext>
                  </a:extLst>
                </a:gridCol>
                <a:gridCol w="1590675">
                  <a:extLst>
                    <a:ext uri="{9D8B030D-6E8A-4147-A177-3AD203B41FA5}">
                      <a16:colId xmlns:a16="http://schemas.microsoft.com/office/drawing/2014/main" val="20006"/>
                    </a:ext>
                  </a:extLst>
                </a:gridCol>
              </a:tblGrid>
              <a:tr h="438785">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项目</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2026年1月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2026年2月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2026年3月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2026年4月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2026年5月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2026年1-5月累计</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0"/>
                  </a:ext>
                </a:extLst>
              </a:tr>
              <a:tr h="457835">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耗材收入</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18,122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12,512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18,546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19,200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FF0000"/>
                          </a:solidFill>
                          <a:latin typeface="微软雅黑" panose="020B0503020204020204" pitchFamily="34" charset="-122"/>
                          <a:ea typeface="微软雅黑" panose="020B0503020204020204" pitchFamily="34" charset="-122"/>
                        </a:rPr>
                        <a:t> 17,825</a:t>
                      </a:r>
                      <a:r>
                        <a:rPr lang="en-US" altLang="zh-CN" sz="1400" b="0" i="0">
                          <a:solidFill>
                            <a:srgbClr val="000000"/>
                          </a:solidFill>
                          <a:latin typeface="微软雅黑" panose="020B0503020204020204" pitchFamily="34" charset="-122"/>
                          <a:ea typeface="微软雅黑" panose="020B0503020204020204" pitchFamily="34" charset="-122"/>
                        </a:rPr>
                        <a:t>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86,205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耗材总成本</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23,896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15,392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22,157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22,400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20,637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104,482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其中：可收费耗材</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23,289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14,825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18,705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18,923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FF0000"/>
                          </a:solidFill>
                          <a:latin typeface="微软雅黑" panose="020B0503020204020204" pitchFamily="34" charset="-122"/>
                          <a:ea typeface="微软雅黑" panose="020B0503020204020204" pitchFamily="34" charset="-122"/>
                        </a:rPr>
                        <a:t> 16,484</a:t>
                      </a:r>
                      <a:r>
                        <a:rPr lang="en-US" altLang="zh-CN" sz="1400" b="0" i="0">
                          <a:solidFill>
                            <a:srgbClr val="000000"/>
                          </a:solidFill>
                          <a:latin typeface="微软雅黑" panose="020B0503020204020204" pitchFamily="34" charset="-122"/>
                          <a:ea typeface="微软雅黑" panose="020B0503020204020204" pitchFamily="34" charset="-122"/>
                        </a:rPr>
                        <a:t>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92,226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成本收入比</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1.32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1.23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可收费成本收入比</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1.29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1.18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1.01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0.99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FF0000"/>
                          </a:solidFill>
                          <a:latin typeface="微软雅黑" panose="020B0503020204020204" pitchFamily="34" charset="-122"/>
                          <a:ea typeface="微软雅黑" panose="020B0503020204020204" pitchFamily="34" charset="-122"/>
                        </a:rPr>
                        <a:t> 0.92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1.07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nvGraphicFramePr>
        <p:xfrm>
          <a:off x="173039" y="1086240"/>
          <a:ext cx="11815443" cy="4505593"/>
        </p:xfrm>
        <a:graphic>
          <a:graphicData uri="http://schemas.openxmlformats.org/drawingml/2006/table">
            <a:tbl>
              <a:tblPr/>
              <a:tblGrid>
                <a:gridCol w="1646806">
                  <a:extLst>
                    <a:ext uri="{9D8B030D-6E8A-4147-A177-3AD203B41FA5}">
                      <a16:colId xmlns:a16="http://schemas.microsoft.com/office/drawing/2014/main" val="20000"/>
                    </a:ext>
                  </a:extLst>
                </a:gridCol>
                <a:gridCol w="773109">
                  <a:extLst>
                    <a:ext uri="{9D8B030D-6E8A-4147-A177-3AD203B41FA5}">
                      <a16:colId xmlns:a16="http://schemas.microsoft.com/office/drawing/2014/main" val="20001"/>
                    </a:ext>
                  </a:extLst>
                </a:gridCol>
                <a:gridCol w="819365">
                  <a:extLst>
                    <a:ext uri="{9D8B030D-6E8A-4147-A177-3AD203B41FA5}">
                      <a16:colId xmlns:a16="http://schemas.microsoft.com/office/drawing/2014/main" val="20002"/>
                    </a:ext>
                  </a:extLst>
                </a:gridCol>
                <a:gridCol w="785591">
                  <a:extLst>
                    <a:ext uri="{9D8B030D-6E8A-4147-A177-3AD203B41FA5}">
                      <a16:colId xmlns:a16="http://schemas.microsoft.com/office/drawing/2014/main" val="20003"/>
                    </a:ext>
                  </a:extLst>
                </a:gridCol>
                <a:gridCol w="592498">
                  <a:extLst>
                    <a:ext uri="{9D8B030D-6E8A-4147-A177-3AD203B41FA5}">
                      <a16:colId xmlns:a16="http://schemas.microsoft.com/office/drawing/2014/main" val="20004"/>
                    </a:ext>
                  </a:extLst>
                </a:gridCol>
                <a:gridCol w="806149">
                  <a:extLst>
                    <a:ext uri="{9D8B030D-6E8A-4147-A177-3AD203B41FA5}">
                      <a16:colId xmlns:a16="http://schemas.microsoft.com/office/drawing/2014/main" val="20005"/>
                    </a:ext>
                  </a:extLst>
                </a:gridCol>
                <a:gridCol w="805415">
                  <a:extLst>
                    <a:ext uri="{9D8B030D-6E8A-4147-A177-3AD203B41FA5}">
                      <a16:colId xmlns:a16="http://schemas.microsoft.com/office/drawing/2014/main" val="20006"/>
                    </a:ext>
                  </a:extLst>
                </a:gridCol>
                <a:gridCol w="806149">
                  <a:extLst>
                    <a:ext uri="{9D8B030D-6E8A-4147-A177-3AD203B41FA5}">
                      <a16:colId xmlns:a16="http://schemas.microsoft.com/office/drawing/2014/main" val="20007"/>
                    </a:ext>
                  </a:extLst>
                </a:gridCol>
                <a:gridCol w="751084">
                  <a:extLst>
                    <a:ext uri="{9D8B030D-6E8A-4147-A177-3AD203B41FA5}">
                      <a16:colId xmlns:a16="http://schemas.microsoft.com/office/drawing/2014/main" val="20008"/>
                    </a:ext>
                  </a:extLst>
                </a:gridCol>
                <a:gridCol w="806149">
                  <a:extLst>
                    <a:ext uri="{9D8B030D-6E8A-4147-A177-3AD203B41FA5}">
                      <a16:colId xmlns:a16="http://schemas.microsoft.com/office/drawing/2014/main" val="20009"/>
                    </a:ext>
                  </a:extLst>
                </a:gridCol>
                <a:gridCol w="805415">
                  <a:extLst>
                    <a:ext uri="{9D8B030D-6E8A-4147-A177-3AD203B41FA5}">
                      <a16:colId xmlns:a16="http://schemas.microsoft.com/office/drawing/2014/main" val="20010"/>
                    </a:ext>
                  </a:extLst>
                </a:gridCol>
                <a:gridCol w="660748">
                  <a:extLst>
                    <a:ext uri="{9D8B030D-6E8A-4147-A177-3AD203B41FA5}">
                      <a16:colId xmlns:a16="http://schemas.microsoft.com/office/drawing/2014/main" val="20011"/>
                    </a:ext>
                  </a:extLst>
                </a:gridCol>
                <a:gridCol w="831061">
                  <a:extLst>
                    <a:ext uri="{9D8B030D-6E8A-4147-A177-3AD203B41FA5}">
                      <a16:colId xmlns:a16="http://schemas.microsoft.com/office/drawing/2014/main" val="20012"/>
                    </a:ext>
                  </a:extLst>
                </a:gridCol>
                <a:gridCol w="925904">
                  <a:extLst>
                    <a:ext uri="{9D8B030D-6E8A-4147-A177-3AD203B41FA5}">
                      <a16:colId xmlns:a16="http://schemas.microsoft.com/office/drawing/2014/main" val="20013"/>
                    </a:ext>
                  </a:extLst>
                </a:gridCol>
              </a:tblGrid>
              <a:tr h="326818">
                <a:tc rowSpan="2">
                  <a:txBody>
                    <a:bodyPr/>
                    <a:lstStyle/>
                    <a:p>
                      <a:pPr algn="ctr" fontAlgn="ctr"/>
                      <a:r>
                        <a:rPr lang="zh-CN" altLang="en-US" sz="10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gridSpan="4">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耗材收入</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耗材成本</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耗材成本收入比</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387516">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同比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1"/>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3,510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2,154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4,015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3,177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-22.86%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2"/>
                  </a:ext>
                </a:extLst>
              </a:tr>
              <a:tr h="188954">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2,296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2,269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2,466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-20.43%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2,259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1,884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-19.7%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2,085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4"/>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1,479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545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1,586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-6.70%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5"/>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1,279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1,146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1,088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-17.14%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6"/>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介入血管外科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-0.5%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-5.70%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7"/>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1,000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751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764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8"/>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753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473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-15.58%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9"/>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514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446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-7.15%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0"/>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574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-27.5%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-10.62%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1"/>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2"/>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275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17.07%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3"/>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273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247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-2.09%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4"/>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-23.8%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-15.77%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5"/>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11.15%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6"/>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188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19.94%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7"/>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176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187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44.74%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8"/>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29.24%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9"/>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5.98%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20"/>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肾脏风湿免疫科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-0.93%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21"/>
                  </a:ext>
                </a:extLst>
              </a:tr>
            </a:tbl>
          </a:graphicData>
        </a:graphic>
      </p:graphicFrame>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75713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190372" y="51772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464561" y="1100487"/>
              <a:ext cx="1698625" cy="305556"/>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耗材收入前</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20</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科室</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a:t>
              </a:r>
            </a:p>
          </p:txBody>
        </p:sp>
      </p:grpSp>
      <p:sp>
        <p:nvSpPr>
          <p:cNvPr id="18" name="矩形 17"/>
          <p:cNvSpPr/>
          <p:nvPr/>
        </p:nvSpPr>
        <p:spPr>
          <a:xfrm>
            <a:off x="173037" y="5684340"/>
            <a:ext cx="11815445"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月耗材收入前</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科室中，较</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4</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月成本收入比环比下降较多的科室有</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心血管内科、神经外科、心胸外科、神经内科</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，分别下降</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0.12</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0.23</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0.25</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0.18</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；成本收入比环比上升较为明显的科室为</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泌尿外、眼科、妇产科</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，分别上升</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0.22</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0.24</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0.4</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40227" y="1075154"/>
              <a:ext cx="1032605" cy="305556"/>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手术室</a:t>
              </a:r>
            </a:p>
          </p:txBody>
        </p:sp>
      </p:grpSp>
      <p:graphicFrame>
        <p:nvGraphicFramePr>
          <p:cNvPr id="4" name="表格 3"/>
          <p:cNvGraphicFramePr/>
          <p:nvPr/>
        </p:nvGraphicFramePr>
        <p:xfrm>
          <a:off x="1852026" y="1470324"/>
          <a:ext cx="8435636" cy="3749493"/>
        </p:xfrm>
        <a:graphic>
          <a:graphicData uri="http://schemas.openxmlformats.org/drawingml/2006/table">
            <a:tbl>
              <a:tblPr firstRow="1" bandRow="1"/>
              <a:tblGrid>
                <a:gridCol w="1565765">
                  <a:extLst>
                    <a:ext uri="{9D8B030D-6E8A-4147-A177-3AD203B41FA5}">
                      <a16:colId xmlns:a16="http://schemas.microsoft.com/office/drawing/2014/main" val="20000"/>
                    </a:ext>
                  </a:extLst>
                </a:gridCol>
                <a:gridCol w="1485807">
                  <a:extLst>
                    <a:ext uri="{9D8B030D-6E8A-4147-A177-3AD203B41FA5}">
                      <a16:colId xmlns:a16="http://schemas.microsoft.com/office/drawing/2014/main" val="20001"/>
                    </a:ext>
                  </a:extLst>
                </a:gridCol>
                <a:gridCol w="1290292">
                  <a:extLst>
                    <a:ext uri="{9D8B030D-6E8A-4147-A177-3AD203B41FA5}">
                      <a16:colId xmlns:a16="http://schemas.microsoft.com/office/drawing/2014/main" val="20002"/>
                    </a:ext>
                  </a:extLst>
                </a:gridCol>
                <a:gridCol w="1199379">
                  <a:extLst>
                    <a:ext uri="{9D8B030D-6E8A-4147-A177-3AD203B41FA5}">
                      <a16:colId xmlns:a16="http://schemas.microsoft.com/office/drawing/2014/main" val="20003"/>
                    </a:ext>
                  </a:extLst>
                </a:gridCol>
                <a:gridCol w="1636961">
                  <a:extLst>
                    <a:ext uri="{9D8B030D-6E8A-4147-A177-3AD203B41FA5}">
                      <a16:colId xmlns:a16="http://schemas.microsoft.com/office/drawing/2014/main" val="20004"/>
                    </a:ext>
                  </a:extLst>
                </a:gridCol>
                <a:gridCol w="1257432">
                  <a:extLst>
                    <a:ext uri="{9D8B030D-6E8A-4147-A177-3AD203B41FA5}">
                      <a16:colId xmlns:a16="http://schemas.microsoft.com/office/drawing/2014/main" val="20005"/>
                    </a:ext>
                  </a:extLst>
                </a:gridCol>
              </a:tblGrid>
              <a:tr h="367931">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2026</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2025</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同比</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2026</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4</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环比</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儿科楼手术室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13.18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324.16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-95.94%</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178.44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-92.62%</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1"/>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急诊楼手术室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13.99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588.41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-97.62%</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-58.19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-124.05%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2"/>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日间手术室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21.29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267.21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-92.03%</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42.20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-49.53%</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3"/>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外科楼手术室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48.98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736.34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-93.35%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-244.67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-120.02%</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4"/>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眼科手术室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16.54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139.56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-88.15%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62.61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-73.58%</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5"/>
                  </a:ext>
                </a:extLst>
              </a:tr>
              <a:tr h="438114">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医疗保健楼手术室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6.94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120.91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-94.26%</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67.95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-89.79%</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6"/>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奉贤手术室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3.63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438.74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-99.17%</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7"/>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疼痛手术室</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0.11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100" b="0" i="0">
                          <a:solidFill>
                            <a:srgbClr val="000000"/>
                          </a:solidFill>
                          <a:latin typeface="微软雅黑" panose="020B0503020204020204" pitchFamily="34" charset="-122"/>
                          <a:ea typeface="微软雅黑" panose="020B0503020204020204" pitchFamily="34" charset="-122"/>
                        </a:rPr>
                        <a:t> -   </a:t>
                      </a:r>
                      <a:r>
                        <a:rPr lang="zh-CN" altLang="en-US" sz="1100" b="0" i="0">
                          <a:solidFill>
                            <a:srgbClr val="000000"/>
                          </a:solidFill>
                          <a:latin typeface="宋体" panose="02010600030101010101" pitchFamily="2" charset="-122"/>
                          <a:ea typeface="宋体" panose="02010600030101010101" pitchFamily="2" charset="-122"/>
                        </a:rPr>
                        <a:t>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0.13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-14.39%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solidFill>
                      <a:srgbClr val="DAE3F3"/>
                    </a:solidFill>
                  </a:tcPr>
                </a:tc>
                <a:extLst>
                  <a:ext uri="{0D108BD9-81ED-4DB2-BD59-A6C34878D82A}">
                    <a16:rowId xmlns:a16="http://schemas.microsoft.com/office/drawing/2014/main" val="10008"/>
                  </a:ext>
                </a:extLst>
              </a:tr>
              <a:tr h="367931">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总计</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124.66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2,176.58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-94.27%</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mpd="sng">
                      <a:solidFill>
                        <a:schemeClr val="tx1"/>
                      </a:solidFill>
                      <a:prstDash val="solid"/>
                    </a:lnB>
                    <a:solidFill>
                      <a:srgbClr val="DAE3F3"/>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487.22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-74.41%</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mpd="sng">
                      <a:solidFill>
                        <a:schemeClr val="tx1"/>
                      </a:solidFill>
                      <a:prstDash val="solid"/>
                    </a:lnB>
                    <a:solidFill>
                      <a:srgbClr val="DAE3F3"/>
                    </a:solidFill>
                  </a:tcPr>
                </a:tc>
                <a:extLst>
                  <a:ext uri="{0D108BD9-81ED-4DB2-BD59-A6C34878D82A}">
                    <a16:rowId xmlns:a16="http://schemas.microsoft.com/office/drawing/2014/main" val="10009"/>
                  </a:ext>
                </a:extLst>
              </a:tr>
            </a:tbl>
          </a:graphicData>
        </a:graphic>
      </p:graphicFrame>
      <p:sp>
        <p:nvSpPr>
          <p:cNvPr id="52" name="矩形 51"/>
          <p:cNvSpPr/>
          <p:nvPr/>
        </p:nvSpPr>
        <p:spPr>
          <a:xfrm>
            <a:off x="990889" y="5431249"/>
            <a:ext cx="10443925" cy="76835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2026</a:t>
            </a:r>
            <a:r>
              <a:rPr lang="zh-CN" altLang="en-US"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年</a:t>
            </a:r>
            <a:r>
              <a:rPr lang="en-US" altLang="zh-CN"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5</a:t>
            </a:r>
            <a:r>
              <a:rPr lang="zh-CN" altLang="en-US"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月，手术室使用耗材</a:t>
            </a:r>
            <a:r>
              <a:rPr lang="en-US" altLang="zh-CN" sz="1470" b="1" kern="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124.66</a:t>
            </a:r>
            <a:r>
              <a:rPr lang="zh-CN" altLang="en-US"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万元，同比</a:t>
            </a:r>
            <a:r>
              <a:rPr lang="zh-CN" altLang="en-US" sz="1470" b="1" kern="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降幅</a:t>
            </a:r>
            <a:r>
              <a:rPr lang="en-US" altLang="zh-CN" sz="1470" b="1" kern="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94.27%</a:t>
            </a:r>
            <a:r>
              <a:rPr lang="zh-CN" altLang="en-US" sz="1470" b="1" kern="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，环比降幅</a:t>
            </a:r>
            <a:r>
              <a:rPr lang="en-US" altLang="zh-CN" sz="1470" b="1" kern="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74.41%</a:t>
            </a:r>
            <a:r>
              <a:rPr lang="zh-CN" altLang="en-US" sz="1470" b="1" kern="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a:t>
            </a:r>
            <a:endPar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手术室成本大幅下降，系已将耗材成本分摊至各使用科室。</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3991610" y="109728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342119" y="1071352"/>
              <a:ext cx="1622950" cy="305556"/>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麻醉与重症医学科</a:t>
              </a:r>
            </a:p>
          </p:txBody>
        </p:sp>
      </p:grpSp>
      <p:sp>
        <p:nvSpPr>
          <p:cNvPr id="52" name="矩形 51"/>
          <p:cNvSpPr/>
          <p:nvPr/>
        </p:nvSpPr>
        <p:spPr>
          <a:xfrm>
            <a:off x="500063" y="5736575"/>
            <a:ext cx="11483959" cy="42926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5</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麻醉与重症医学科</a:t>
            </a:r>
            <a:r>
              <a:rPr kumimoji="0" lang="zh-CN"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使用耗材</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862.36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万元，同比增幅</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1049.93%</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环比</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月降幅</a:t>
            </a:r>
            <a:r>
              <a:rPr kumimoji="0" lang="en-US" altLang="zh-CN" sz="147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sym typeface="+mn-ea"/>
              </a:rPr>
              <a:t>19.78%</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graphicFrame>
        <p:nvGraphicFramePr>
          <p:cNvPr id="7" name="表格 6"/>
          <p:cNvGraphicFramePr/>
          <p:nvPr>
            <p:custDataLst>
              <p:tags r:id="rId1"/>
            </p:custDataLst>
          </p:nvPr>
        </p:nvGraphicFramePr>
        <p:xfrm>
          <a:off x="1671955" y="1546225"/>
          <a:ext cx="8949055" cy="4038600"/>
        </p:xfrm>
        <a:graphic>
          <a:graphicData uri="http://schemas.openxmlformats.org/drawingml/2006/table">
            <a:tbl>
              <a:tblPr/>
              <a:tblGrid>
                <a:gridCol w="1778635">
                  <a:extLst>
                    <a:ext uri="{9D8B030D-6E8A-4147-A177-3AD203B41FA5}">
                      <a16:colId xmlns:a16="http://schemas.microsoft.com/office/drawing/2014/main" val="20000"/>
                    </a:ext>
                  </a:extLst>
                </a:gridCol>
                <a:gridCol w="1209040">
                  <a:extLst>
                    <a:ext uri="{9D8B030D-6E8A-4147-A177-3AD203B41FA5}">
                      <a16:colId xmlns:a16="http://schemas.microsoft.com/office/drawing/2014/main" val="20001"/>
                    </a:ext>
                  </a:extLst>
                </a:gridCol>
                <a:gridCol w="1345565">
                  <a:extLst>
                    <a:ext uri="{9D8B030D-6E8A-4147-A177-3AD203B41FA5}">
                      <a16:colId xmlns:a16="http://schemas.microsoft.com/office/drawing/2014/main" val="20002"/>
                    </a:ext>
                  </a:extLst>
                </a:gridCol>
                <a:gridCol w="1049020">
                  <a:extLst>
                    <a:ext uri="{9D8B030D-6E8A-4147-A177-3AD203B41FA5}">
                      <a16:colId xmlns:a16="http://schemas.microsoft.com/office/drawing/2014/main" val="20003"/>
                    </a:ext>
                  </a:extLst>
                </a:gridCol>
                <a:gridCol w="2477135">
                  <a:extLst>
                    <a:ext uri="{9D8B030D-6E8A-4147-A177-3AD203B41FA5}">
                      <a16:colId xmlns:a16="http://schemas.microsoft.com/office/drawing/2014/main" val="20004"/>
                    </a:ext>
                  </a:extLst>
                </a:gridCol>
                <a:gridCol w="1089660">
                  <a:extLst>
                    <a:ext uri="{9D8B030D-6E8A-4147-A177-3AD203B41FA5}">
                      <a16:colId xmlns:a16="http://schemas.microsoft.com/office/drawing/2014/main" val="20005"/>
                    </a:ext>
                  </a:extLst>
                </a:gridCol>
              </a:tblGrid>
              <a:tr h="602615">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2026</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2025</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同比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300" b="1" i="0">
                          <a:solidFill>
                            <a:srgbClr val="000000"/>
                          </a:solidFill>
                          <a:latin typeface="微软雅黑" panose="020B0503020204020204" pitchFamily="34" charset="-122"/>
                          <a:ea typeface="微软雅黑" panose="020B0503020204020204" pitchFamily="34" charset="-122"/>
                        </a:rPr>
                        <a:t>2026</a:t>
                      </a:r>
                      <a:r>
                        <a:rPr lang="zh-CN" altLang="en-US" sz="1300" b="1" i="0">
                          <a:solidFill>
                            <a:srgbClr val="000000"/>
                          </a:solidFill>
                          <a:latin typeface="微软雅黑" panose="020B0503020204020204" pitchFamily="34" charset="-122"/>
                          <a:ea typeface="微软雅黑" panose="020B0503020204020204" pitchFamily="34" charset="-122"/>
                        </a:rPr>
                        <a:t>年</a:t>
                      </a:r>
                      <a:r>
                        <a:rPr lang="en-US" altLang="zh-CN" sz="1300" b="1" i="0">
                          <a:solidFill>
                            <a:srgbClr val="000000"/>
                          </a:solidFill>
                          <a:latin typeface="微软雅黑" panose="020B0503020204020204" pitchFamily="34" charset="-122"/>
                          <a:ea typeface="微软雅黑" panose="020B0503020204020204" pitchFamily="34" charset="-122"/>
                        </a:rPr>
                        <a:t>4</a:t>
                      </a:r>
                      <a:r>
                        <a:rPr lang="zh-CN" altLang="en-US" sz="13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0"/>
                  </a:ext>
                </a:extLst>
              </a:tr>
              <a:tr h="53276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麻醉科（麻醉）</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711.30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17.72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3913.88%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799.94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-11.08%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49657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奉贤麻醉科</a:t>
                      </a:r>
                      <a:r>
                        <a:rPr lang="en-US" altLang="zh-CN" sz="1400" b="0" i="0">
                          <a:solidFill>
                            <a:srgbClr val="000000"/>
                          </a:solidFill>
                          <a:latin typeface="微软雅黑" panose="020B0503020204020204" pitchFamily="34" charset="-122"/>
                          <a:ea typeface="微软雅黑" panose="020B0503020204020204" pitchFamily="34" charset="-122"/>
                        </a:rPr>
                        <a:t>(</a:t>
                      </a:r>
                      <a:r>
                        <a:rPr lang="zh-CN" altLang="en-US" sz="1400" b="0" i="0">
                          <a:solidFill>
                            <a:srgbClr val="000000"/>
                          </a:solidFill>
                          <a:latin typeface="微软雅黑" panose="020B0503020204020204" pitchFamily="34" charset="-122"/>
                          <a:ea typeface="微软雅黑" panose="020B0503020204020204" pitchFamily="34" charset="-122"/>
                        </a:rPr>
                        <a:t>麻醉</a:t>
                      </a:r>
                      <a:r>
                        <a:rPr lang="en-US" altLang="zh-CN" sz="14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39.59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181.33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-78.17%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48450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a:t>
                      </a:r>
                      <a:r>
                        <a:rPr lang="en-US" altLang="zh-CN" sz="1400" b="0" i="0">
                          <a:solidFill>
                            <a:srgbClr val="000000"/>
                          </a:solidFill>
                          <a:latin typeface="微软雅黑" panose="020B0503020204020204" pitchFamily="34" charset="-122"/>
                          <a:ea typeface="微软雅黑" panose="020B0503020204020204" pitchFamily="34" charset="-122"/>
                        </a:rPr>
                        <a:t>(</a:t>
                      </a:r>
                      <a:r>
                        <a:rPr lang="zh-CN" altLang="en-US" sz="1400" b="0" i="0">
                          <a:solidFill>
                            <a:srgbClr val="000000"/>
                          </a:solidFill>
                          <a:latin typeface="微软雅黑" panose="020B0503020204020204" pitchFamily="34" charset="-122"/>
                          <a:ea typeface="微软雅黑" panose="020B0503020204020204" pitchFamily="34" charset="-122"/>
                        </a:rPr>
                        <a:t>筹</a:t>
                      </a:r>
                      <a:r>
                        <a:rPr lang="en-US" altLang="zh-CN" sz="14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10.83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-36.02%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3.01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259.59%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48450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97.32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35942.85%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81.35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19.63%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6896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重症医学科一病区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2.41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29.52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-91.83%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6.23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-61.30%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5086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重症医学科二病区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10.56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-91.32%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3.17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-71.10%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360045">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总计</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862.36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74.99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1049.93%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1" i="0">
                          <a:solidFill>
                            <a:srgbClr val="000000"/>
                          </a:solidFill>
                          <a:latin typeface="微软雅黑" panose="020B0503020204020204" pitchFamily="34" charset="-122"/>
                          <a:ea typeface="微软雅黑" panose="020B0503020204020204" pitchFamily="34" charset="-122"/>
                        </a:rPr>
                        <a:t> 1,075.03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-19.78%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卫生材料</a:t>
            </a:r>
            <a:r>
              <a:rPr lang="zh-CN" sz="3200" b="1" kern="0" dirty="0">
                <a:solidFill>
                  <a:srgbClr val="071F65"/>
                </a:solidFill>
                <a:sym typeface="Calibri" panose="020F0502020204030204" pitchFamily="34" charset="0"/>
              </a:rPr>
              <a:t>分析</a:t>
            </a:r>
            <a:endParaRPr kumimoji="0" lang="zh-CN"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p>
        </p:txBody>
      </p:sp>
      <p:grpSp>
        <p:nvGrpSpPr>
          <p:cNvPr id="11" name="组合 10"/>
          <p:cNvGrpSpPr/>
          <p:nvPr/>
        </p:nvGrpSpPr>
        <p:grpSpPr>
          <a:xfrm>
            <a:off x="3991610" y="102108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8" name="矩形 47"/>
            <p:cNvSpPr/>
            <p:nvPr/>
          </p:nvSpPr>
          <p:spPr>
            <a:xfrm>
              <a:off x="2342119" y="1071352"/>
              <a:ext cx="1622950" cy="305556"/>
            </a:xfrm>
            <a:prstGeom prst="rect">
              <a:avLst/>
            </a:prstGeom>
          </p:spPr>
          <p:txBody>
            <a:bodyPr wrap="square" lIns="91349" tIns="45678" rIns="91349" bIns="45678">
              <a:spAutoFit/>
            </a:bodyPr>
            <a:lstStyle/>
            <a:p>
              <a:pPr algn="ctr" defTabSz="913765"/>
              <a:r>
                <a:rPr lang="zh-CN" sz="1400" b="1" kern="0" dirty="0">
                  <a:solidFill>
                    <a:sysClr val="windowText" lastClr="000000"/>
                  </a:solidFill>
                  <a:latin typeface="微软雅黑" panose="020B0503020204020204" pitchFamily="34" charset="-122"/>
                  <a:ea typeface="微软雅黑" panose="020B0503020204020204" pitchFamily="34" charset="-122"/>
                </a:rPr>
                <a:t>卫生材料发票未达情况</a:t>
              </a:r>
            </a:p>
          </p:txBody>
        </p:sp>
      </p:grpSp>
      <p:sp>
        <p:nvSpPr>
          <p:cNvPr id="52" name="矩形 51"/>
          <p:cNvSpPr/>
          <p:nvPr/>
        </p:nvSpPr>
        <p:spPr>
          <a:xfrm>
            <a:off x="319405" y="5414645"/>
            <a:ext cx="11712575" cy="1374140"/>
          </a:xfrm>
          <a:prstGeom prst="rect">
            <a:avLst/>
          </a:prstGeom>
          <a:solidFill>
            <a:srgbClr val="31B6FD">
              <a:lumMod val="20000"/>
              <a:lumOff val="80000"/>
            </a:srgbClr>
          </a:solidFill>
        </p:spPr>
        <p:txBody>
          <a:bodyPr wrap="square" lIns="91349" tIns="45678" rIns="91349" bIns="45678">
            <a:noAutofit/>
          </a:bodyPr>
          <a:lstStyle/>
          <a:p>
            <a:pPr marL="285750" indent="-285750" defTabSz="913765">
              <a:lnSpc>
                <a:spcPct val="150000"/>
              </a:lnSpc>
              <a:buFont typeface="Wingdings" panose="05000000000000000000" pitchFamily="2" charset="2"/>
              <a:buChar char="p"/>
              <a:defRPr/>
            </a:pPr>
            <a:r>
              <a:rPr lang="zh-CN" altLang="en-US" sz="1470" b="1" kern="0" dirty="0">
                <a:solidFill>
                  <a:srgbClr val="002060"/>
                </a:solidFill>
                <a:latin typeface="微软雅黑" panose="020B0503020204020204" pitchFamily="34" charset="-122"/>
                <a:ea typeface="微软雅黑" panose="020B0503020204020204" pitchFamily="34" charset="-122"/>
              </a:rPr>
              <a:t>截至</a:t>
            </a:r>
            <a:r>
              <a:rPr lang="en-US" altLang="zh-CN" sz="1470" b="1" kern="0" dirty="0">
                <a:solidFill>
                  <a:srgbClr val="002060"/>
                </a:solidFill>
                <a:latin typeface="微软雅黑" panose="020B0503020204020204" pitchFamily="34" charset="-122"/>
                <a:ea typeface="微软雅黑" panose="020B0503020204020204" pitchFamily="34" charset="-122"/>
              </a:rPr>
              <a:t>2026</a:t>
            </a:r>
            <a:r>
              <a:rPr lang="zh-CN" altLang="en-US" sz="1470" b="1" kern="0" dirty="0">
                <a:solidFill>
                  <a:srgbClr val="002060"/>
                </a:solidFill>
                <a:latin typeface="微软雅黑" panose="020B0503020204020204" pitchFamily="34" charset="-122"/>
                <a:ea typeface="微软雅黑" panose="020B0503020204020204" pitchFamily="34" charset="-122"/>
              </a:rPr>
              <a:t>年</a:t>
            </a:r>
            <a:r>
              <a:rPr lang="en-US" altLang="zh-CN" sz="1470" b="1" kern="0" dirty="0">
                <a:solidFill>
                  <a:srgbClr val="002060"/>
                </a:solidFill>
                <a:latin typeface="微软雅黑" panose="020B0503020204020204" pitchFamily="34" charset="-122"/>
                <a:ea typeface="微软雅黑" panose="020B0503020204020204" pitchFamily="34" charset="-122"/>
              </a:rPr>
              <a:t>5</a:t>
            </a:r>
            <a:r>
              <a:rPr lang="zh-CN" altLang="en-US" sz="1470" b="1" kern="0" dirty="0">
                <a:solidFill>
                  <a:srgbClr val="002060"/>
                </a:solidFill>
                <a:latin typeface="微软雅黑" panose="020B0503020204020204" pitchFamily="34" charset="-122"/>
                <a:ea typeface="微软雅黑" panose="020B0503020204020204" pitchFamily="34" charset="-122"/>
              </a:rPr>
              <a:t>月</a:t>
            </a:r>
            <a:r>
              <a:rPr lang="en-US" altLang="zh-CN" sz="1470" b="1" kern="0" dirty="0">
                <a:solidFill>
                  <a:srgbClr val="002060"/>
                </a:solidFill>
                <a:latin typeface="微软雅黑" panose="020B0503020204020204" pitchFamily="34" charset="-122"/>
                <a:ea typeface="微软雅黑" panose="020B0503020204020204" pitchFamily="34" charset="-122"/>
              </a:rPr>
              <a:t>31</a:t>
            </a:r>
            <a:r>
              <a:rPr lang="zh-CN" altLang="en-US" sz="1470" b="1" kern="0" dirty="0">
                <a:solidFill>
                  <a:srgbClr val="002060"/>
                </a:solidFill>
                <a:latin typeface="微软雅黑" panose="020B0503020204020204" pitchFamily="34" charset="-122"/>
                <a:ea typeface="微软雅黑" panose="020B0503020204020204" pitchFamily="34" charset="-122"/>
              </a:rPr>
              <a:t>日，</a:t>
            </a:r>
            <a:r>
              <a:rPr lang="en-US" altLang="zh-CN" sz="1470" b="1" kern="0" dirty="0">
                <a:solidFill>
                  <a:srgbClr val="002060"/>
                </a:solidFill>
                <a:latin typeface="微软雅黑" panose="020B0503020204020204" pitchFamily="34" charset="-122"/>
                <a:ea typeface="微软雅黑" panose="020B0503020204020204" pitchFamily="34" charset="-122"/>
              </a:rPr>
              <a:t>2026</a:t>
            </a:r>
            <a:r>
              <a:rPr lang="zh-CN" altLang="en-US" sz="1470" b="1" kern="0" dirty="0">
                <a:solidFill>
                  <a:srgbClr val="002060"/>
                </a:solidFill>
                <a:latin typeface="微软雅黑" panose="020B0503020204020204" pitchFamily="34" charset="-122"/>
                <a:ea typeface="微软雅黑" panose="020B0503020204020204" pitchFamily="34" charset="-122"/>
              </a:rPr>
              <a:t>年物资已入库发票未达金额为</a:t>
            </a:r>
            <a:r>
              <a:rPr lang="en-US" altLang="zh-CN" sz="1470" b="1" kern="0" dirty="0">
                <a:solidFill>
                  <a:srgbClr val="002060"/>
                </a:solidFill>
                <a:latin typeface="微软雅黑" panose="020B0503020204020204" pitchFamily="34" charset="-122"/>
                <a:ea typeface="微软雅黑" panose="020B0503020204020204" pitchFamily="34" charset="-122"/>
              </a:rPr>
              <a:t>8,979.02</a:t>
            </a:r>
            <a:r>
              <a:rPr lang="zh-CN" altLang="en-US" sz="1470" b="1" kern="0" dirty="0">
                <a:solidFill>
                  <a:srgbClr val="002060"/>
                </a:solidFill>
                <a:latin typeface="微软雅黑" panose="020B0503020204020204" pitchFamily="34" charset="-122"/>
                <a:ea typeface="微软雅黑" panose="020B0503020204020204" pitchFamily="34" charset="-122"/>
              </a:rPr>
              <a:t>万元，其中高值耗材</a:t>
            </a:r>
            <a:r>
              <a:rPr lang="en-US" altLang="zh-CN" sz="1470" b="1" kern="0" dirty="0">
                <a:solidFill>
                  <a:srgbClr val="002060"/>
                </a:solidFill>
                <a:latin typeface="微软雅黑" panose="020B0503020204020204" pitchFamily="34" charset="-122"/>
                <a:ea typeface="微软雅黑" panose="020B0503020204020204" pitchFamily="34" charset="-122"/>
              </a:rPr>
              <a:t>5,407.93</a:t>
            </a:r>
            <a:r>
              <a:rPr lang="zh-CN" altLang="en-US" sz="1470" b="1" kern="0" dirty="0">
                <a:solidFill>
                  <a:srgbClr val="002060"/>
                </a:solidFill>
                <a:latin typeface="微软雅黑" panose="020B0503020204020204" pitchFamily="34" charset="-122"/>
                <a:ea typeface="微软雅黑" panose="020B0503020204020204" pitchFamily="34" charset="-122"/>
              </a:rPr>
              <a:t>万元，低值耗材</a:t>
            </a:r>
            <a:r>
              <a:rPr lang="en-US" altLang="zh-CN" sz="1470" b="1" kern="0" dirty="0">
                <a:solidFill>
                  <a:srgbClr val="002060"/>
                </a:solidFill>
                <a:latin typeface="微软雅黑" panose="020B0503020204020204" pitchFamily="34" charset="-122"/>
                <a:ea typeface="微软雅黑" panose="020B0503020204020204" pitchFamily="34" charset="-122"/>
              </a:rPr>
              <a:t>3,571.1</a:t>
            </a:r>
            <a:r>
              <a:rPr lang="zh-CN" altLang="en-US" sz="1470" b="1" kern="0" dirty="0">
                <a:solidFill>
                  <a:srgbClr val="002060"/>
                </a:solidFill>
                <a:latin typeface="微软雅黑" panose="020B0503020204020204" pitchFamily="34" charset="-122"/>
                <a:ea typeface="微软雅黑" panose="020B0503020204020204" pitchFamily="34" charset="-122"/>
              </a:rPr>
              <a:t>万元，建发发票未达合计</a:t>
            </a:r>
            <a:r>
              <a:rPr lang="en-US" altLang="zh-CN"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5,926.4</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万元（包含已开具未审核的红字发票</a:t>
            </a:r>
            <a:r>
              <a:rPr lang="en-US" altLang="zh-CN"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470.8</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万元）</a:t>
            </a:r>
          </a:p>
          <a:p>
            <a:pPr marL="285750" indent="-285750" defTabSz="913765">
              <a:lnSpc>
                <a:spcPct val="150000"/>
              </a:lnSpc>
              <a:buFont typeface="Wingdings" panose="05000000000000000000" pitchFamily="2" charset="2"/>
              <a:buChar char="p"/>
              <a:defRPr/>
            </a:pP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国药满意为试剂耗材供应商，应当按照当月消耗，当月结算的模式，供应商在当月提交发票入账。</a:t>
            </a:r>
            <a:r>
              <a:rPr lang="en-US" altLang="zh-CN"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5</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月余额是由于资产管理部未及时将发票提交并审核后推送至财务审核，导致账面显示发票未达。</a:t>
            </a:r>
          </a:p>
        </p:txBody>
      </p:sp>
      <p:graphicFrame>
        <p:nvGraphicFramePr>
          <p:cNvPr id="6" name="表格 5"/>
          <p:cNvGraphicFramePr/>
          <p:nvPr>
            <p:custDataLst>
              <p:tags r:id="rId1"/>
            </p:custDataLst>
          </p:nvPr>
        </p:nvGraphicFramePr>
        <p:xfrm>
          <a:off x="965835" y="1604645"/>
          <a:ext cx="10092055" cy="3693795"/>
        </p:xfrm>
        <a:graphic>
          <a:graphicData uri="http://schemas.openxmlformats.org/drawingml/2006/table">
            <a:tbl>
              <a:tblPr/>
              <a:tblGrid>
                <a:gridCol w="4404360">
                  <a:extLst>
                    <a:ext uri="{9D8B030D-6E8A-4147-A177-3AD203B41FA5}">
                      <a16:colId xmlns:a16="http://schemas.microsoft.com/office/drawing/2014/main" val="20000"/>
                    </a:ext>
                  </a:extLst>
                </a:gridCol>
                <a:gridCol w="1943735">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943735">
                  <a:extLst>
                    <a:ext uri="{9D8B030D-6E8A-4147-A177-3AD203B41FA5}">
                      <a16:colId xmlns:a16="http://schemas.microsoft.com/office/drawing/2014/main" val="20003"/>
                    </a:ext>
                  </a:extLst>
                </a:gridCol>
              </a:tblGrid>
              <a:tr h="261620">
                <a:tc>
                  <a:txBody>
                    <a:bodyPr/>
                    <a:lstStyle/>
                    <a:p>
                      <a:pPr algn="ctr" fontAlgn="ctr"/>
                      <a:r>
                        <a:rPr lang="zh-CN" sz="1600" b="1" i="0">
                          <a:solidFill>
                            <a:srgbClr val="000000"/>
                          </a:solidFill>
                          <a:latin typeface="微软雅黑" panose="020B0503020204020204" pitchFamily="34" charset="-122"/>
                          <a:ea typeface="微软雅黑" panose="020B0503020204020204" pitchFamily="34" charset="-122"/>
                        </a:rPr>
                        <a:t>供应商</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a:t>
                      </a:r>
                      <a:r>
                        <a:rPr lang="en-US" altLang="zh-CN" sz="1600" b="1" i="0">
                          <a:solidFill>
                            <a:srgbClr val="000000"/>
                          </a:solidFill>
                          <a:latin typeface="微软雅黑" panose="020B0503020204020204" pitchFamily="34" charset="-122"/>
                          <a:ea typeface="微软雅黑" panose="020B0503020204020204" pitchFamily="34" charset="-122"/>
                        </a:rPr>
                        <a:t>1-4</a:t>
                      </a:r>
                      <a:r>
                        <a:rPr lang="zh-CN" altLang="en-US" sz="16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a:t>
                      </a:r>
                      <a:r>
                        <a:rPr lang="en-US" altLang="zh-CN" sz="1600" b="1" i="0">
                          <a:solidFill>
                            <a:srgbClr val="000000"/>
                          </a:solidFill>
                          <a:latin typeface="微软雅黑" panose="020B0503020204020204" pitchFamily="34" charset="-122"/>
                          <a:ea typeface="微软雅黑" panose="020B0503020204020204" pitchFamily="34" charset="-122"/>
                        </a:rPr>
                        <a:t>5</a:t>
                      </a:r>
                      <a:r>
                        <a:rPr lang="zh-CN" altLang="en-US" sz="16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年合计</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extLst>
                  <a:ext uri="{0D108BD9-81ED-4DB2-BD59-A6C34878D82A}">
                    <a16:rowId xmlns:a16="http://schemas.microsoft.com/office/drawing/2014/main" val="10000"/>
                  </a:ext>
                </a:extLst>
              </a:tr>
              <a:tr h="261620">
                <a:tc>
                  <a:txBody>
                    <a:bodyPr/>
                    <a:lstStyle/>
                    <a:p>
                      <a:pPr algn="l" fontAlgn="b">
                        <a:buClrTx/>
                        <a:buSzTx/>
                        <a:buFontTx/>
                      </a:pPr>
                      <a:r>
                        <a:rPr lang="en-US" altLang="zh-CN" sz="1600" b="0" i="0">
                          <a:solidFill>
                            <a:srgbClr val="FF0000"/>
                          </a:solidFill>
                          <a:latin typeface="微软雅黑" panose="020B0503020204020204" pitchFamily="34" charset="-122"/>
                          <a:ea typeface="微软雅黑" panose="020B0503020204020204" pitchFamily="34" charset="-122"/>
                        </a:rPr>
                        <a:t>上海建发鹭益科技有限公司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FF0000"/>
                          </a:solidFill>
                          <a:latin typeface="微软雅黑" panose="020B0503020204020204" pitchFamily="34" charset="-122"/>
                          <a:ea typeface="微软雅黑" panose="020B0503020204020204" pitchFamily="34" charset="-122"/>
                        </a:rPr>
                        <a:t> -1,011,312.69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FF0000"/>
                          </a:solidFill>
                          <a:latin typeface="微软雅黑" panose="020B0503020204020204" pitchFamily="34" charset="-122"/>
                          <a:ea typeface="微软雅黑" panose="020B0503020204020204" pitchFamily="34" charset="-122"/>
                        </a:rPr>
                        <a:t> 60,275,301.80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FF0000"/>
                          </a:solidFill>
                          <a:latin typeface="微软雅黑" panose="020B0503020204020204" pitchFamily="34" charset="-122"/>
                          <a:ea typeface="微软雅黑" panose="020B0503020204020204" pitchFamily="34" charset="-122"/>
                        </a:rPr>
                        <a:t> 59,263,989.11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262255">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国药集团上海医疗器械有限公司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1,694.00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3,495.00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5,189.00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国药控股菱商医院管理服务（上海）有限公司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1,120.00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680,605.12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681,725.12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291465">
                <a:tc>
                  <a:txBody>
                    <a:bodyPr/>
                    <a:lstStyle/>
                    <a:p>
                      <a:pPr algn="l" fontAlgn="b">
                        <a:buClrTx/>
                        <a:buSzTx/>
                        <a:buFontTx/>
                      </a:pPr>
                      <a:r>
                        <a:rPr lang="en-US" altLang="zh-CN" sz="1600" b="0" i="0">
                          <a:solidFill>
                            <a:schemeClr val="accent2">
                              <a:lumMod val="75000"/>
                            </a:schemeClr>
                          </a:solidFill>
                          <a:latin typeface="微软雅黑" panose="020B0503020204020204" pitchFamily="34" charset="-122"/>
                          <a:ea typeface="微软雅黑" panose="020B0503020204020204" pitchFamily="34" charset="-122"/>
                        </a:rPr>
                        <a:t>国药满意(上海)医疗器械有限公司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chemeClr val="accent2">
                              <a:lumMod val="75000"/>
                            </a:schemeClr>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chemeClr val="accent2">
                              <a:lumMod val="75000"/>
                            </a:schemeClr>
                          </a:solidFill>
                          <a:latin typeface="微软雅黑" panose="020B0503020204020204" pitchFamily="34" charset="-122"/>
                          <a:ea typeface="微软雅黑" panose="020B0503020204020204" pitchFamily="34" charset="-122"/>
                        </a:rPr>
                        <a:t> 29,084,929.90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chemeClr val="accent2">
                              <a:lumMod val="75000"/>
                            </a:schemeClr>
                          </a:solidFill>
                          <a:latin typeface="微软雅黑" panose="020B0503020204020204" pitchFamily="34" charset="-122"/>
                          <a:ea typeface="微软雅黑" panose="020B0503020204020204" pitchFamily="34" charset="-122"/>
                        </a:rPr>
                        <a:t> 29,084,929.90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上海宾理生物科技发展有限公司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65,880.00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b"/>
                      <a:endParaRPr sz="1600" b="0" i="0">
                        <a:solidFill>
                          <a:srgbClr val="000000"/>
                        </a:solidFill>
                        <a:latin typeface="微软雅黑" panose="020B0503020204020204" pitchFamily="34" charset="-122"/>
                        <a:ea typeface="微软雅黑" panose="020B0503020204020204" pitchFamily="34" charset="-122"/>
                      </a:endParaRP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65,880.00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上海沪广科教服务有限公司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8,930.00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8,930.00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上海佳毓科技有限公司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26,400.00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26,400.00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上海启慧达机电设备工程有限公司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2,550.00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2,550.00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8"/>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上海申南特种气体有限公司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128,840.00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b"/>
                      <a:endParaRPr sz="1600" b="0" i="0">
                        <a:solidFill>
                          <a:srgbClr val="000000"/>
                        </a:solidFill>
                        <a:latin typeface="微软雅黑" panose="020B0503020204020204" pitchFamily="34" charset="-122"/>
                        <a:ea typeface="微软雅黑" panose="020B0503020204020204" pitchFamily="34" charset="-122"/>
                      </a:endParaRP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128,840.00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9"/>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上海申威医用气体有限公司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0"/>
                  </a:ext>
                </a:extLst>
              </a:tr>
              <a:tr h="262255">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上海诗烨企业发展有限公司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518,400.00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518,400.00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1"/>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上海伟方电子科技有限公司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2"/>
                  </a:ext>
                </a:extLst>
              </a:tr>
              <a:tr h="261620">
                <a:tc>
                  <a:txBody>
                    <a:bodyPr/>
                    <a:lstStyle/>
                    <a:p>
                      <a:pPr algn="ctr" fontAlgn="b"/>
                      <a:r>
                        <a:rPr lang="zh-CN" altLang="en-US" sz="1600" b="1" i="0">
                          <a:solidFill>
                            <a:srgbClr val="000000"/>
                          </a:solidFill>
                          <a:latin typeface="微软雅黑" panose="020B0503020204020204" pitchFamily="34" charset="-122"/>
                          <a:ea typeface="微软雅黑" panose="020B0503020204020204" pitchFamily="34" charset="-122"/>
                        </a:rPr>
                        <a:t>合计</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-813,778.69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90,603,991.82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89,790,213.13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1-5</a:t>
              </a:r>
              <a:r>
                <a:rPr lang="zh-CN" altLang="en-US" sz="2400" b="1" dirty="0">
                  <a:ln w="0"/>
                  <a:solidFill>
                    <a:srgbClr val="0070C0"/>
                  </a:solidFill>
                  <a:latin typeface="等线" panose="02010600030101010101" charset="-122"/>
                  <a:ea typeface="等线" panose="02010600030101010101" charset="-122"/>
                </a:rPr>
                <a:t>月预算执行情况分析</a:t>
              </a: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2" name="Group 38"/>
          <p:cNvGraphicFramePr/>
          <p:nvPr>
            <p:extLst>
              <p:ext uri="{D42A27DB-BD31-4B8C-83A1-F6EECF244321}">
                <p14:modId xmlns:p14="http://schemas.microsoft.com/office/powerpoint/2010/main" val="998389141"/>
              </p:ext>
            </p:extLst>
          </p:nvPr>
        </p:nvGraphicFramePr>
        <p:xfrm>
          <a:off x="1107867" y="2249862"/>
          <a:ext cx="9681148" cy="3071695"/>
        </p:xfrm>
        <a:graphic>
          <a:graphicData uri="http://schemas.openxmlformats.org/drawingml/2006/table">
            <a:tbl>
              <a:tblPr/>
              <a:tblGrid>
                <a:gridCol w="1854761">
                  <a:extLst>
                    <a:ext uri="{9D8B030D-6E8A-4147-A177-3AD203B41FA5}">
                      <a16:colId xmlns:a16="http://schemas.microsoft.com/office/drawing/2014/main" val="20000"/>
                    </a:ext>
                  </a:extLst>
                </a:gridCol>
                <a:gridCol w="2246323">
                  <a:extLst>
                    <a:ext uri="{9D8B030D-6E8A-4147-A177-3AD203B41FA5}">
                      <a16:colId xmlns:a16="http://schemas.microsoft.com/office/drawing/2014/main" val="20001"/>
                    </a:ext>
                  </a:extLst>
                </a:gridCol>
                <a:gridCol w="1934926">
                  <a:extLst>
                    <a:ext uri="{9D8B030D-6E8A-4147-A177-3AD203B41FA5}">
                      <a16:colId xmlns:a16="http://schemas.microsoft.com/office/drawing/2014/main" val="20002"/>
                    </a:ext>
                  </a:extLst>
                </a:gridCol>
                <a:gridCol w="1822569">
                  <a:extLst>
                    <a:ext uri="{9D8B030D-6E8A-4147-A177-3AD203B41FA5}">
                      <a16:colId xmlns:a16="http://schemas.microsoft.com/office/drawing/2014/main" val="20003"/>
                    </a:ext>
                  </a:extLst>
                </a:gridCol>
                <a:gridCol w="1822569">
                  <a:extLst>
                    <a:ext uri="{9D8B030D-6E8A-4147-A177-3AD203B41FA5}">
                      <a16:colId xmlns:a16="http://schemas.microsoft.com/office/drawing/2014/main" val="20004"/>
                    </a:ext>
                  </a:extLst>
                </a:gridCol>
              </a:tblGrid>
              <a:tr h="502613">
                <a:tc rowSpan="2">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项    目</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执行率指标</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9527">
                <a:tc vMerge="1">
                  <a:txBody>
                    <a:bodyPr/>
                    <a:lstStyle/>
                    <a:p>
                      <a:endParaRPr lang="zh-CN"/>
                    </a:p>
                  </a:txBody>
                  <a:tcPr marL="90000" marR="90000" marT="46800" marB="4680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核定数</a:t>
                      </a:r>
                      <a:endParaRPr kumimoji="0" lang="en-US"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执行数</a:t>
                      </a:r>
                      <a:endParaRPr kumimoji="0" lang="en-US"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执行率</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与时间节点比较</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313">
                <a:tc>
                  <a:txBody>
                    <a:bodyPr/>
                    <a:lstStyle/>
                    <a:p>
                      <a:pPr algn="l" rtl="0" fontAlgn="ctr">
                        <a:buNone/>
                      </a:pP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医疗收入</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750,000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304,651</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40.6%</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65121">
                <a:tc>
                  <a:txBody>
                    <a:bodyPr/>
                    <a:lstStyle/>
                    <a:p>
                      <a:pPr algn="l" rtl="0" fontAlgn="ctr">
                        <a:buNone/>
                      </a:pP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医疗成本</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768,743</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338,609</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44.0%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2.4%</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65121">
                <a:tc>
                  <a:txBody>
                    <a:bodyPr/>
                    <a:lstStyle/>
                    <a:p>
                      <a:pPr algn="l" rtl="0" fontAlgn="ctr">
                        <a:buNone/>
                      </a:pP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工资总额</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225,000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101,632</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45.2%</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3" name="Rectangle 5"/>
          <p:cNvSpPr>
            <a:spLocks noChangeArrowheads="1"/>
          </p:cNvSpPr>
          <p:nvPr/>
        </p:nvSpPr>
        <p:spPr bwMode="auto">
          <a:xfrm>
            <a:off x="9562417" y="1671176"/>
            <a:ext cx="1349375" cy="30480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4409294" y="1124214"/>
            <a:ext cx="384913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月预算完成情况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预算完成情况</a:t>
            </a:r>
          </a:p>
        </p:txBody>
      </p:sp>
      <p:sp>
        <p:nvSpPr>
          <p:cNvPr id="14" name="矩形 13"/>
          <p:cNvSpPr/>
          <p:nvPr/>
        </p:nvSpPr>
        <p:spPr>
          <a:xfrm>
            <a:off x="323872" y="5435585"/>
            <a:ext cx="11249138" cy="115677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2026年1-5月，医疗收入预算执行率为40.6%，低于时间节点预算执行率1.0个百分点；医疗成本预算执行率为44.0% ，高于时间节点预算执行率2.4个百分点；工资总额预算执行率为45.2%，高于时间节点3.5个百分点。调整年终奖因素后，工资总额预算执行率为32.6%，低于时间节点进度0.7个百分点。</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71027" y="860053"/>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sp>
        <p:nvSpPr>
          <p:cNvPr id="14" name="矩形 13"/>
          <p:cNvSpPr/>
          <p:nvPr/>
        </p:nvSpPr>
        <p:spPr>
          <a:xfrm>
            <a:off x="400614" y="5987814"/>
            <a:ext cx="11610409" cy="65701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偏离度为正：</a:t>
            </a:r>
            <a:r>
              <a:rPr lang="zh-CN" altLang="en-US" sz="1300" b="1" kern="0" dirty="0">
                <a:solidFill>
                  <a:srgbClr val="C00000"/>
                </a:solidFill>
                <a:latin typeface="微软雅黑" panose="020B0503020204020204" pitchFamily="34" charset="-122"/>
                <a:ea typeface="微软雅黑" panose="020B0503020204020204" pitchFamily="34" charset="-122"/>
              </a:rPr>
              <a:t>肿瘤、儿神内、神内、儿感染、皮肤</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偏离度为负，且偏离度小于</a:t>
            </a:r>
            <a:r>
              <a:rPr lang="en-US" altLang="zh-CN" sz="1300" b="1" kern="0" dirty="0">
                <a:solidFill>
                  <a:srgbClr val="002050"/>
                </a:solidFill>
                <a:latin typeface="微软雅黑" panose="020B0503020204020204" pitchFamily="34" charset="-122"/>
                <a:ea typeface="微软雅黑" panose="020B0503020204020204" pitchFamily="34" charset="-122"/>
              </a:rPr>
              <a:t>-2%</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chemeClr val="accent6"/>
                </a:solidFill>
                <a:latin typeface="微软雅黑" panose="020B0503020204020204" pitchFamily="34" charset="-122"/>
                <a:ea typeface="微软雅黑" panose="020B0503020204020204" pitchFamily="34" charset="-122"/>
              </a:rPr>
              <a:t>老年、全科、放疗、肾内、呼吸、内分泌</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843052" y="794380"/>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388638"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非手术科室（有病房）</a:t>
              </a:r>
            </a:p>
          </p:txBody>
        </p:sp>
      </p:grpSp>
      <p:graphicFrame>
        <p:nvGraphicFramePr>
          <p:cNvPr id="4" name="表格 3"/>
          <p:cNvGraphicFramePr>
            <a:graphicFrameLocks noGrp="1"/>
          </p:cNvGraphicFramePr>
          <p:nvPr>
            <p:extLst>
              <p:ext uri="{D42A27DB-BD31-4B8C-83A1-F6EECF244321}">
                <p14:modId xmlns:p14="http://schemas.microsoft.com/office/powerpoint/2010/main" val="966044438"/>
              </p:ext>
            </p:extLst>
          </p:nvPr>
        </p:nvGraphicFramePr>
        <p:xfrm>
          <a:off x="911008" y="1296506"/>
          <a:ext cx="10589623" cy="4576964"/>
        </p:xfrm>
        <a:graphic>
          <a:graphicData uri="http://schemas.openxmlformats.org/drawingml/2006/table">
            <a:tbl>
              <a:tblPr/>
              <a:tblGrid>
                <a:gridCol w="1939636">
                  <a:extLst>
                    <a:ext uri="{9D8B030D-6E8A-4147-A177-3AD203B41FA5}">
                      <a16:colId xmlns:a16="http://schemas.microsoft.com/office/drawing/2014/main" val="20000"/>
                    </a:ext>
                  </a:extLst>
                </a:gridCol>
                <a:gridCol w="1809811">
                  <a:extLst>
                    <a:ext uri="{9D8B030D-6E8A-4147-A177-3AD203B41FA5}">
                      <a16:colId xmlns:a16="http://schemas.microsoft.com/office/drawing/2014/main" val="20001"/>
                    </a:ext>
                  </a:extLst>
                </a:gridCol>
                <a:gridCol w="1513076">
                  <a:extLst>
                    <a:ext uri="{9D8B030D-6E8A-4147-A177-3AD203B41FA5}">
                      <a16:colId xmlns:a16="http://schemas.microsoft.com/office/drawing/2014/main" val="20002"/>
                    </a:ext>
                  </a:extLst>
                </a:gridCol>
                <a:gridCol w="993795">
                  <a:extLst>
                    <a:ext uri="{9D8B030D-6E8A-4147-A177-3AD203B41FA5}">
                      <a16:colId xmlns:a16="http://schemas.microsoft.com/office/drawing/2014/main" val="20003"/>
                    </a:ext>
                  </a:extLst>
                </a:gridCol>
                <a:gridCol w="877405">
                  <a:extLst>
                    <a:ext uri="{9D8B030D-6E8A-4147-A177-3AD203B41FA5}">
                      <a16:colId xmlns:a16="http://schemas.microsoft.com/office/drawing/2014/main" val="20004"/>
                    </a:ext>
                  </a:extLst>
                </a:gridCol>
                <a:gridCol w="966936">
                  <a:extLst>
                    <a:ext uri="{9D8B030D-6E8A-4147-A177-3AD203B41FA5}">
                      <a16:colId xmlns:a16="http://schemas.microsoft.com/office/drawing/2014/main" val="20005"/>
                    </a:ext>
                  </a:extLst>
                </a:gridCol>
                <a:gridCol w="886358">
                  <a:extLst>
                    <a:ext uri="{9D8B030D-6E8A-4147-A177-3AD203B41FA5}">
                      <a16:colId xmlns:a16="http://schemas.microsoft.com/office/drawing/2014/main" val="20006"/>
                    </a:ext>
                  </a:extLst>
                </a:gridCol>
                <a:gridCol w="1602606">
                  <a:extLst>
                    <a:ext uri="{9D8B030D-6E8A-4147-A177-3AD203B41FA5}">
                      <a16:colId xmlns:a16="http://schemas.microsoft.com/office/drawing/2014/main" val="20007"/>
                    </a:ext>
                  </a:extLst>
                </a:gridCol>
              </a:tblGrid>
              <a:tr h="322085">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年指标（杨浦</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月总收入</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备注</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肿瘤内科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11,296.28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6,152.73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12.8%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96.6%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52.5%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儿神经内科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7,166.24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3,153.78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249.5%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儿感染科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5,756.79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2,486.28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50.4%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5525">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神经内科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17,365.18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7,321.52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皮肤科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19,522.96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8,176.03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全科医学科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3,525.54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1,454.33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放疗科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14,139.60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5,761.70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肾脏风湿免疫科(血液净化部)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16,001.35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6,492.08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呼吸内科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12,493.15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5,029.39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内分泌科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12,711.89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5,106.82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老年医学科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9,275.65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3,718.86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心血管内科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77,815.63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30,813.79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儿肾脏内科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4,168.94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1,621.88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58.2%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儿消化营养科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4,848.10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1,860.27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儿内分泌遗传科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10,403.97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3,983.42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消化内科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25,007.78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9,224.07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新生儿科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11,661.20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4,185.43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儿血液肿瘤科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11,414.39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4,093.30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康复医学科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2,042.81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720.61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中医科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11,535.08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4,063.04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儿呼吸内科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10,472.45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3,688.58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血液内科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12,335.39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4,214.86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255154">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感染科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1,544.46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498.74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62318" y="1526717"/>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4006715" y="1168856"/>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388638"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非手术科室（无病房）</a:t>
              </a:r>
            </a:p>
          </p:txBody>
        </p:sp>
      </p:grpSp>
      <p:graphicFrame>
        <p:nvGraphicFramePr>
          <p:cNvPr id="5" name="表格 4"/>
          <p:cNvGraphicFramePr>
            <a:graphicFrameLocks noGrp="1"/>
          </p:cNvGraphicFramePr>
          <p:nvPr>
            <p:extLst>
              <p:ext uri="{D42A27DB-BD31-4B8C-83A1-F6EECF244321}">
                <p14:modId xmlns:p14="http://schemas.microsoft.com/office/powerpoint/2010/main" val="746126388"/>
              </p:ext>
            </p:extLst>
          </p:nvPr>
        </p:nvGraphicFramePr>
        <p:xfrm>
          <a:off x="931292" y="1979461"/>
          <a:ext cx="10135690" cy="2868001"/>
        </p:xfrm>
        <a:graphic>
          <a:graphicData uri="http://schemas.openxmlformats.org/drawingml/2006/table">
            <a:tbl>
              <a:tblPr/>
              <a:tblGrid>
                <a:gridCol w="1949631">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637212">
                  <a:extLst>
                    <a:ext uri="{9D8B030D-6E8A-4147-A177-3AD203B41FA5}">
                      <a16:colId xmlns:a16="http://schemas.microsoft.com/office/drawing/2014/main" val="20002"/>
                    </a:ext>
                  </a:extLst>
                </a:gridCol>
                <a:gridCol w="1271451">
                  <a:extLst>
                    <a:ext uri="{9D8B030D-6E8A-4147-A177-3AD203B41FA5}">
                      <a16:colId xmlns:a16="http://schemas.microsoft.com/office/drawing/2014/main" val="20003"/>
                    </a:ext>
                  </a:extLst>
                </a:gridCol>
                <a:gridCol w="1184366">
                  <a:extLst>
                    <a:ext uri="{9D8B030D-6E8A-4147-A177-3AD203B41FA5}">
                      <a16:colId xmlns:a16="http://schemas.microsoft.com/office/drawing/2014/main" val="20004"/>
                    </a:ext>
                  </a:extLst>
                </a:gridCol>
                <a:gridCol w="1210200">
                  <a:extLst>
                    <a:ext uri="{9D8B030D-6E8A-4147-A177-3AD203B41FA5}">
                      <a16:colId xmlns:a16="http://schemas.microsoft.com/office/drawing/2014/main" val="20005"/>
                    </a:ext>
                  </a:extLst>
                </a:gridCol>
                <a:gridCol w="1132407">
                  <a:extLst>
                    <a:ext uri="{9D8B030D-6E8A-4147-A177-3AD203B41FA5}">
                      <a16:colId xmlns:a16="http://schemas.microsoft.com/office/drawing/2014/main" val="20006"/>
                    </a:ext>
                  </a:extLst>
                </a:gridCol>
              </a:tblGrid>
              <a:tr h="852001">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年指标</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（杨浦</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4000">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生殖医学中心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3,002.95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1,479.78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49.3%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C00000"/>
                          </a:solidFill>
                          <a:effectLst/>
                          <a:latin typeface="微软雅黑" panose="020B0503020204020204" pitchFamily="34" charset="-122"/>
                          <a:ea typeface="微软雅黑" panose="020B0503020204020204" pitchFamily="34" charset="-122"/>
                        </a:rPr>
                        <a:t>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38.0%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000">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发育行为儿童保健科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6,025.85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2,628.40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C00000"/>
                          </a:solidFill>
                          <a:effectLst/>
                          <a:latin typeface="微软雅黑" panose="020B0503020204020204" pitchFamily="34" charset="-122"/>
                          <a:ea typeface="微软雅黑" panose="020B0503020204020204" pitchFamily="34" charset="-122"/>
                        </a:rPr>
                        <a:t>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43.4%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00">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临床心理科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3,722.35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1,519.32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40.8%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92D050"/>
                          </a:solidFill>
                          <a:effectLst/>
                          <a:latin typeface="微软雅黑" panose="020B0503020204020204" pitchFamily="34" charset="-122"/>
                          <a:ea typeface="微软雅黑" panose="020B0503020204020204" pitchFamily="34" charset="-122"/>
                        </a:rPr>
                        <a:t>-0.9%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51.1%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口腔科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7,329.16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2,655.56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36.2%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92D050"/>
                          </a:solidFill>
                          <a:effectLst/>
                          <a:latin typeface="微软雅黑" panose="020B0503020204020204" pitchFamily="34" charset="-122"/>
                          <a:ea typeface="微软雅黑" panose="020B0503020204020204" pitchFamily="34" charset="-122"/>
                        </a:rPr>
                        <a:t>-5.5%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27.4%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38.4%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1" name="矩形 20"/>
          <p:cNvSpPr/>
          <p:nvPr/>
        </p:nvSpPr>
        <p:spPr>
          <a:xfrm>
            <a:off x="378843" y="5267387"/>
            <a:ext cx="11610409"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偏离度为正：</a:t>
            </a:r>
            <a:r>
              <a:rPr lang="zh-CN" altLang="en-US" sz="1600" b="1" kern="0" dirty="0">
                <a:solidFill>
                  <a:srgbClr val="C00000"/>
                </a:solidFill>
                <a:latin typeface="微软雅黑" panose="020B0503020204020204" pitchFamily="34" charset="-122"/>
                <a:ea typeface="微软雅黑" panose="020B0503020204020204" pitchFamily="34" charset="-122"/>
              </a:rPr>
              <a:t>生殖、儿保</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偏离度为负</a:t>
            </a:r>
            <a:r>
              <a:rPr lang="zh-CN" altLang="en-US"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chemeClr val="accent6"/>
                </a:solidFill>
                <a:latin typeface="微软雅黑" panose="020B0503020204020204" pitchFamily="34" charset="-122"/>
                <a:ea typeface="微软雅黑" panose="020B0503020204020204" pitchFamily="34" charset="-122"/>
              </a:rPr>
              <a:t>临床心理、口腔</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71027" y="860053"/>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3852577" y="683889"/>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078325"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           手术科室</a:t>
              </a:r>
            </a:p>
          </p:txBody>
        </p:sp>
      </p:grpSp>
      <p:graphicFrame>
        <p:nvGraphicFramePr>
          <p:cNvPr id="6" name="表格 5"/>
          <p:cNvGraphicFramePr>
            <a:graphicFrameLocks noGrp="1"/>
          </p:cNvGraphicFramePr>
          <p:nvPr>
            <p:extLst>
              <p:ext uri="{D42A27DB-BD31-4B8C-83A1-F6EECF244321}">
                <p14:modId xmlns:p14="http://schemas.microsoft.com/office/powerpoint/2010/main" val="753976073"/>
              </p:ext>
            </p:extLst>
          </p:nvPr>
        </p:nvGraphicFramePr>
        <p:xfrm>
          <a:off x="804536" y="1222270"/>
          <a:ext cx="10682345" cy="4338721"/>
        </p:xfrm>
        <a:graphic>
          <a:graphicData uri="http://schemas.openxmlformats.org/drawingml/2006/table">
            <a:tbl>
              <a:tblPr/>
              <a:tblGrid>
                <a:gridCol w="1498544">
                  <a:extLst>
                    <a:ext uri="{9D8B030D-6E8A-4147-A177-3AD203B41FA5}">
                      <a16:colId xmlns:a16="http://schemas.microsoft.com/office/drawing/2014/main" val="20000"/>
                    </a:ext>
                  </a:extLst>
                </a:gridCol>
                <a:gridCol w="1819834">
                  <a:extLst>
                    <a:ext uri="{9D8B030D-6E8A-4147-A177-3AD203B41FA5}">
                      <a16:colId xmlns:a16="http://schemas.microsoft.com/office/drawing/2014/main" val="20001"/>
                    </a:ext>
                  </a:extLst>
                </a:gridCol>
                <a:gridCol w="1456766">
                  <a:extLst>
                    <a:ext uri="{9D8B030D-6E8A-4147-A177-3AD203B41FA5}">
                      <a16:colId xmlns:a16="http://schemas.microsoft.com/office/drawing/2014/main" val="20002"/>
                    </a:ext>
                  </a:extLst>
                </a:gridCol>
                <a:gridCol w="1146383">
                  <a:extLst>
                    <a:ext uri="{9D8B030D-6E8A-4147-A177-3AD203B41FA5}">
                      <a16:colId xmlns:a16="http://schemas.microsoft.com/office/drawing/2014/main" val="20003"/>
                    </a:ext>
                  </a:extLst>
                </a:gridCol>
                <a:gridCol w="911017">
                  <a:extLst>
                    <a:ext uri="{9D8B030D-6E8A-4147-A177-3AD203B41FA5}">
                      <a16:colId xmlns:a16="http://schemas.microsoft.com/office/drawing/2014/main" val="20004"/>
                    </a:ext>
                  </a:extLst>
                </a:gridCol>
                <a:gridCol w="981075">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763826">
                  <a:extLst>
                    <a:ext uri="{9D8B030D-6E8A-4147-A177-3AD203B41FA5}">
                      <a16:colId xmlns:a16="http://schemas.microsoft.com/office/drawing/2014/main" val="20007"/>
                    </a:ext>
                  </a:extLst>
                </a:gridCol>
              </a:tblGrid>
              <a:tr h="353101">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年指标（杨浦</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月总收入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备注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儿泌尿外科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1,793.63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1,024.36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15.4%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儿神经外科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12,232.27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5,929.12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89.0%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整形外科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2,758.56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1,300.85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泌尿外科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27,374.99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11,207.02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神经外科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40,000.00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16,251.78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脊柱中心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32,486.73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12,978.42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介入血管外科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18,083.59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7,046.52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疼痛科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6,443.71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2,446.64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312.8%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普外科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38,189.68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14,409.69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骨科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55,909.77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20,754.04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眼科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21,516.74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7,957.67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-4.7%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心胸外科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33,027.04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12,186.56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肛肠外科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15,501.44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5,490.80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乳腺外科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8,728.70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3,080.63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移植科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1,103.77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386.87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妇产科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22,789.33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7,894.03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耳鼻咽喉-头颈外科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20,085.31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6,662.71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儿骨科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13,601.57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4,507.67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儿心脏中心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6,557.33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2,118.26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儿普外科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6,695.83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2,098.10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bl>
          </a:graphicData>
        </a:graphic>
      </p:graphicFrame>
      <p:sp>
        <p:nvSpPr>
          <p:cNvPr id="24" name="矩形 23"/>
          <p:cNvSpPr/>
          <p:nvPr/>
        </p:nvSpPr>
        <p:spPr>
          <a:xfrm>
            <a:off x="497169" y="5921718"/>
            <a:ext cx="11297077" cy="65701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偏离度为正：</a:t>
            </a:r>
            <a:r>
              <a:rPr lang="zh-CN" altLang="en-US" sz="1300" b="1" kern="0" dirty="0">
                <a:solidFill>
                  <a:srgbClr val="C00000"/>
                </a:solidFill>
                <a:latin typeface="微软雅黑" panose="020B0503020204020204" pitchFamily="34" charset="-122"/>
                <a:ea typeface="微软雅黑" panose="020B0503020204020204" pitchFamily="34" charset="-122"/>
              </a:rPr>
              <a:t>儿泌尿外、整形、儿神外</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偏离度为负，且偏离度小于</a:t>
            </a:r>
            <a:r>
              <a:rPr lang="en-US" altLang="zh-CN" sz="1300" b="1" kern="0" dirty="0">
                <a:solidFill>
                  <a:srgbClr val="002050"/>
                </a:solidFill>
                <a:latin typeface="微软雅黑" panose="020B0503020204020204" pitchFamily="34" charset="-122"/>
                <a:ea typeface="微软雅黑" panose="020B0503020204020204" pitchFamily="34" charset="-122"/>
              </a:rPr>
              <a:t>-2%</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chemeClr val="accent6"/>
                </a:solidFill>
                <a:latin typeface="微软雅黑" panose="020B0503020204020204" pitchFamily="34" charset="-122"/>
                <a:ea typeface="微软雅黑" panose="020B0503020204020204" pitchFamily="34" charset="-122"/>
              </a:rPr>
              <a:t>泌尿、脊柱、神外</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10080622" y="1575085"/>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3888772" y="1115056"/>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806415" y="1128989"/>
              <a:ext cx="884940"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公共服务平台</a:t>
              </a:r>
            </a:p>
          </p:txBody>
        </p:sp>
      </p:grpSp>
      <p:graphicFrame>
        <p:nvGraphicFramePr>
          <p:cNvPr id="5" name="表格 4"/>
          <p:cNvGraphicFramePr>
            <a:graphicFrameLocks noGrp="1"/>
          </p:cNvGraphicFramePr>
          <p:nvPr>
            <p:extLst>
              <p:ext uri="{D42A27DB-BD31-4B8C-83A1-F6EECF244321}">
                <p14:modId xmlns:p14="http://schemas.microsoft.com/office/powerpoint/2010/main" val="1633925870"/>
              </p:ext>
            </p:extLst>
          </p:nvPr>
        </p:nvGraphicFramePr>
        <p:xfrm>
          <a:off x="670875" y="1886904"/>
          <a:ext cx="10759122" cy="3092474"/>
        </p:xfrm>
        <a:graphic>
          <a:graphicData uri="http://schemas.openxmlformats.org/drawingml/2006/table">
            <a:tbl>
              <a:tblPr/>
              <a:tblGrid>
                <a:gridCol w="2135361">
                  <a:extLst>
                    <a:ext uri="{9D8B030D-6E8A-4147-A177-3AD203B41FA5}">
                      <a16:colId xmlns:a16="http://schemas.microsoft.com/office/drawing/2014/main" val="20000"/>
                    </a:ext>
                  </a:extLst>
                </a:gridCol>
                <a:gridCol w="1908638">
                  <a:extLst>
                    <a:ext uri="{9D8B030D-6E8A-4147-A177-3AD203B41FA5}">
                      <a16:colId xmlns:a16="http://schemas.microsoft.com/office/drawing/2014/main" val="20001"/>
                    </a:ext>
                  </a:extLst>
                </a:gridCol>
                <a:gridCol w="1609725">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gridCol w="1323975">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gridCol w="1257298">
                  <a:extLst>
                    <a:ext uri="{9D8B030D-6E8A-4147-A177-3AD203B41FA5}">
                      <a16:colId xmlns:a16="http://schemas.microsoft.com/office/drawing/2014/main" val="20006"/>
                    </a:ext>
                  </a:extLst>
                </a:gridCol>
              </a:tblGrid>
              <a:tr h="752474">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年指标</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（杨浦</a:t>
                      </a: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8000">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临床营养科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155.84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76.15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C00000"/>
                          </a:solidFill>
                          <a:effectLst/>
                          <a:latin typeface="微软雅黑" panose="020B0503020204020204" pitchFamily="34" charset="-122"/>
                          <a:ea typeface="微软雅黑" panose="020B0503020204020204" pitchFamily="34" charset="-122"/>
                        </a:rPr>
                        <a:t>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急诊医学科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24,683.51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10,772.25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C00000"/>
                          </a:solidFill>
                          <a:effectLst/>
                          <a:latin typeface="微软雅黑" panose="020B0503020204020204" pitchFamily="34" charset="-122"/>
                          <a:ea typeface="微软雅黑" panose="020B0503020204020204" pitchFamily="34" charset="-122"/>
                        </a:rPr>
                        <a:t>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66.5%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儿急危重症医学科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12,461.46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4,547.31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92D050"/>
                          </a:solidFill>
                          <a:effectLst/>
                          <a:latin typeface="微软雅黑" panose="020B0503020204020204" pitchFamily="34" charset="-122"/>
                          <a:ea typeface="微软雅黑" panose="020B0503020204020204" pitchFamily="34" charset="-122"/>
                        </a:rPr>
                        <a:t>-5.2%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56.5%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麻醉科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3,858.45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1,356.94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92D050"/>
                          </a:solidFill>
                          <a:effectLst/>
                          <a:latin typeface="微软雅黑" panose="020B0503020204020204" pitchFamily="34" charset="-122"/>
                          <a:ea typeface="微软雅黑" panose="020B0503020204020204" pitchFamily="34" charset="-122"/>
                        </a:rPr>
                        <a:t>-6.5%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28.6%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39.7%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健康管理中心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11,881.23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2,264.38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92D050"/>
                          </a:solidFill>
                          <a:effectLst/>
                          <a:latin typeface="微软雅黑" panose="020B0503020204020204" pitchFamily="34" charset="-122"/>
                          <a:ea typeface="微软雅黑" panose="020B0503020204020204" pitchFamily="34" charset="-122"/>
                        </a:rPr>
                        <a:t>-22.6%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19.5%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3" name="矩形 22"/>
          <p:cNvSpPr/>
          <p:nvPr/>
        </p:nvSpPr>
        <p:spPr>
          <a:xfrm>
            <a:off x="584004" y="5380615"/>
            <a:ext cx="10929934"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偏离度为正：</a:t>
            </a:r>
            <a:r>
              <a:rPr lang="zh-CN" altLang="en-US" sz="1600" b="1" kern="0" dirty="0">
                <a:solidFill>
                  <a:srgbClr val="C00000"/>
                </a:solidFill>
                <a:latin typeface="微软雅黑" panose="020B0503020204020204" pitchFamily="34" charset="-122"/>
                <a:ea typeface="微软雅黑" panose="020B0503020204020204" pitchFamily="34" charset="-122"/>
              </a:rPr>
              <a:t>营养、急诊</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偏离度为负</a:t>
            </a:r>
            <a:r>
              <a:rPr lang="zh-CN" altLang="en-US"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chemeClr val="accent6"/>
                </a:solidFill>
                <a:latin typeface="微软雅黑" panose="020B0503020204020204" pitchFamily="34" charset="-122"/>
                <a:ea typeface="微软雅黑" panose="020B0503020204020204" pitchFamily="34" charset="-122"/>
              </a:rPr>
              <a:t>健康管理中心、麻醉、儿急危</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1-5</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611751" cy="752475"/>
            <a:chOff x="3912956" y="1496324"/>
            <a:chExt cx="7611756" cy="753515"/>
          </a:xfrm>
        </p:grpSpPr>
        <p:sp>
          <p:nvSpPr>
            <p:cNvPr id="25" name="圆角矩形 49"/>
            <p:cNvSpPr/>
            <p:nvPr/>
          </p:nvSpPr>
          <p:spPr>
            <a:xfrm>
              <a:off x="4600546" y="1510900"/>
              <a:ext cx="6924166"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b="1" dirty="0">
                  <a:ln w="0"/>
                  <a:solidFill>
                    <a:srgbClr val="0070C0"/>
                  </a:solidFill>
                  <a:latin typeface="等线" panose="02010600030101010101" charset="-122"/>
                  <a:ea typeface="等线" panose="02010600030101010101" charset="-122"/>
                </a:rPr>
                <a:t>医院运营管理相关目标下达建议及</a:t>
              </a:r>
              <a:r>
                <a:rPr lang="en-US" altLang="zh-CN" sz="2400" b="1" dirty="0">
                  <a:ln w="0"/>
                  <a:solidFill>
                    <a:srgbClr val="0070C0"/>
                  </a:solidFill>
                  <a:latin typeface="等线" panose="02010600030101010101" charset="-122"/>
                  <a:ea typeface="等线" panose="02010600030101010101" charset="-122"/>
                </a:rPr>
                <a:t>1-5</a:t>
              </a:r>
              <a:r>
                <a:rPr lang="zh-CN" altLang="en-US" sz="2400" b="1" dirty="0">
                  <a:ln w="0"/>
                  <a:solidFill>
                    <a:srgbClr val="0070C0"/>
                  </a:soli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630583" y="1230803"/>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月医疗收入目标完成情况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76590"/>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收入指标</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医疗收入相关指标</a:t>
            </a:r>
          </a:p>
        </p:txBody>
      </p:sp>
      <p:graphicFrame>
        <p:nvGraphicFramePr>
          <p:cNvPr id="3" name="表格 2"/>
          <p:cNvGraphicFramePr>
            <a:graphicFrameLocks noGrp="1"/>
          </p:cNvGraphicFramePr>
          <p:nvPr>
            <p:extLst>
              <p:ext uri="{D42A27DB-BD31-4B8C-83A1-F6EECF244321}">
                <p14:modId xmlns:p14="http://schemas.microsoft.com/office/powerpoint/2010/main" val="2490161446"/>
              </p:ext>
            </p:extLst>
          </p:nvPr>
        </p:nvGraphicFramePr>
        <p:xfrm>
          <a:off x="363681" y="2202872"/>
          <a:ext cx="11388437" cy="3420000"/>
        </p:xfrm>
        <a:graphic>
          <a:graphicData uri="http://schemas.openxmlformats.org/drawingml/2006/table">
            <a:tbl>
              <a:tblPr/>
              <a:tblGrid>
                <a:gridCol w="1060054">
                  <a:extLst>
                    <a:ext uri="{9D8B030D-6E8A-4147-A177-3AD203B41FA5}">
                      <a16:colId xmlns:a16="http://schemas.microsoft.com/office/drawing/2014/main" val="20000"/>
                    </a:ext>
                  </a:extLst>
                </a:gridCol>
                <a:gridCol w="2161129">
                  <a:extLst>
                    <a:ext uri="{9D8B030D-6E8A-4147-A177-3AD203B41FA5}">
                      <a16:colId xmlns:a16="http://schemas.microsoft.com/office/drawing/2014/main" val="20001"/>
                    </a:ext>
                  </a:extLst>
                </a:gridCol>
                <a:gridCol w="1465118">
                  <a:extLst>
                    <a:ext uri="{9D8B030D-6E8A-4147-A177-3AD203B41FA5}">
                      <a16:colId xmlns:a16="http://schemas.microsoft.com/office/drawing/2014/main" val="20002"/>
                    </a:ext>
                  </a:extLst>
                </a:gridCol>
                <a:gridCol w="2173778">
                  <a:extLst>
                    <a:ext uri="{9D8B030D-6E8A-4147-A177-3AD203B41FA5}">
                      <a16:colId xmlns:a16="http://schemas.microsoft.com/office/drawing/2014/main" val="20003"/>
                    </a:ext>
                  </a:extLst>
                </a:gridCol>
                <a:gridCol w="1792176">
                  <a:extLst>
                    <a:ext uri="{9D8B030D-6E8A-4147-A177-3AD203B41FA5}">
                      <a16:colId xmlns:a16="http://schemas.microsoft.com/office/drawing/2014/main" val="20004"/>
                    </a:ext>
                  </a:extLst>
                </a:gridCol>
                <a:gridCol w="1060315">
                  <a:extLst>
                    <a:ext uri="{9D8B030D-6E8A-4147-A177-3AD203B41FA5}">
                      <a16:colId xmlns:a16="http://schemas.microsoft.com/office/drawing/2014/main" val="20005"/>
                    </a:ext>
                  </a:extLst>
                </a:gridCol>
                <a:gridCol w="1675867">
                  <a:extLst>
                    <a:ext uri="{9D8B030D-6E8A-4147-A177-3AD203B41FA5}">
                      <a16:colId xmlns:a16="http://schemas.microsoft.com/office/drawing/2014/main" val="20006"/>
                    </a:ext>
                  </a:extLst>
                </a:gridCol>
              </a:tblGrid>
              <a:tr h="684000">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分管领导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杜鹏</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医疗收入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40.6%</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李劲松</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600" b="0" i="0" u="none" strike="noStrike" baseline="0"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其中：奉贤院区</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6.35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42.3%</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马飞</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其中：门急诊收入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marL="0" algn="ctr" defTabSz="914400" rtl="0" eaLnBrk="1" fontAlgn="ctr" latinLnBrk="0" hangingPunct="1">
                        <a:lnSpc>
                          <a:spcPct val="150000"/>
                        </a:lnSpc>
                      </a:pP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根据科主任目标责任书的门急诊、住院收入比例分摊</a:t>
                      </a: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75</a:t>
                      </a: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亿目标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41.9%</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84000">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盛旭俊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baseline="0"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住院收入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19.18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39.9%</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angle 5"/>
          <p:cNvSpPr>
            <a:spLocks noChangeArrowheads="1"/>
          </p:cNvSpPr>
          <p:nvPr/>
        </p:nvSpPr>
        <p:spPr bwMode="auto">
          <a:xfrm>
            <a:off x="9734898" y="1692468"/>
            <a:ext cx="1400002" cy="338554"/>
          </a:xfrm>
          <a:prstGeom prst="rect">
            <a:avLst/>
          </a:prstGeom>
          <a:noFill/>
          <a:ln w="9525">
            <a:noFill/>
            <a:miter lim="800000"/>
          </a:ln>
        </p:spPr>
        <p:txBody>
          <a:bodyPr wrap="square">
            <a:spAutoFit/>
          </a:bodyPr>
          <a:lstStyle/>
          <a:p>
            <a:pPr lvl="0" eaLnBrk="0" fontAlgn="base" hangingPunct="0">
              <a:spcBef>
                <a:spcPct val="0"/>
              </a:spcBef>
              <a:spcAft>
                <a:spcPct val="0"/>
              </a:spcAft>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a:t>
            </a:r>
            <a:r>
              <a:rPr lang="zh-CN" altLang="en-US" sz="1600" b="1" dirty="0">
                <a:solidFill>
                  <a:srgbClr val="000000"/>
                </a:solidFill>
                <a:latin typeface="微软雅黑" panose="020B0503020204020204" pitchFamily="34" charset="-122"/>
                <a:ea typeface="微软雅黑" panose="020B0503020204020204" pitchFamily="34" charset="-122"/>
              </a:rPr>
              <a:t>亿元</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744882" y="1110465"/>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lang="zh-CN" altLang="en-US" sz="2400" b="1" dirty="0">
                <a:solidFill>
                  <a:srgbClr val="000000"/>
                </a:solidFill>
                <a:latin typeface="微软雅黑" panose="020B0503020204020204" pitchFamily="34" charset="-122"/>
                <a:ea typeface="微软雅黑" panose="020B0503020204020204" pitchFamily="34" charset="-122"/>
              </a:rPr>
              <a:t>医疗</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lvl="0" defTabSz="342265" eaLnBrk="1" hangingPunct="1">
              <a:spcBef>
                <a:spcPct val="20000"/>
              </a:spcBef>
              <a:defRPr/>
            </a:pPr>
            <a:r>
              <a:rPr lang="zh-CN" altLang="en-US" sz="3200" b="1" kern="0" dirty="0">
                <a:solidFill>
                  <a:srgbClr val="071F65"/>
                </a:solidFill>
                <a:sym typeface="Calibri" panose="020F0502020204030204" pitchFamily="34" charset="0"/>
              </a:rPr>
              <a:t>收入指标</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医疗收入相关指标</a:t>
            </a:r>
          </a:p>
        </p:txBody>
      </p:sp>
      <p:graphicFrame>
        <p:nvGraphicFramePr>
          <p:cNvPr id="4" name="表格 3"/>
          <p:cNvGraphicFramePr>
            <a:graphicFrameLocks noGrp="1"/>
          </p:cNvGraphicFramePr>
          <p:nvPr>
            <p:extLst>
              <p:ext uri="{D42A27DB-BD31-4B8C-83A1-F6EECF244321}">
                <p14:modId xmlns:p14="http://schemas.microsoft.com/office/powerpoint/2010/main" val="1714900324"/>
              </p:ext>
            </p:extLst>
          </p:nvPr>
        </p:nvGraphicFramePr>
        <p:xfrm>
          <a:off x="313661" y="2007921"/>
          <a:ext cx="11525592" cy="4107947"/>
        </p:xfrm>
        <a:graphic>
          <a:graphicData uri="http://schemas.openxmlformats.org/drawingml/2006/table">
            <a:tbl>
              <a:tblPr/>
              <a:tblGrid>
                <a:gridCol w="1402918">
                  <a:extLst>
                    <a:ext uri="{9D8B030D-6E8A-4147-A177-3AD203B41FA5}">
                      <a16:colId xmlns:a16="http://schemas.microsoft.com/office/drawing/2014/main" val="20000"/>
                    </a:ext>
                  </a:extLst>
                </a:gridCol>
                <a:gridCol w="2340032">
                  <a:extLst>
                    <a:ext uri="{9D8B030D-6E8A-4147-A177-3AD203B41FA5}">
                      <a16:colId xmlns:a16="http://schemas.microsoft.com/office/drawing/2014/main" val="20001"/>
                    </a:ext>
                  </a:extLst>
                </a:gridCol>
                <a:gridCol w="1487978">
                  <a:extLst>
                    <a:ext uri="{9D8B030D-6E8A-4147-A177-3AD203B41FA5}">
                      <a16:colId xmlns:a16="http://schemas.microsoft.com/office/drawing/2014/main" val="20002"/>
                    </a:ext>
                  </a:extLst>
                </a:gridCol>
                <a:gridCol w="2281843">
                  <a:extLst>
                    <a:ext uri="{9D8B030D-6E8A-4147-A177-3AD203B41FA5}">
                      <a16:colId xmlns:a16="http://schemas.microsoft.com/office/drawing/2014/main" val="20003"/>
                    </a:ext>
                  </a:extLst>
                </a:gridCol>
                <a:gridCol w="1371601">
                  <a:extLst>
                    <a:ext uri="{9D8B030D-6E8A-4147-A177-3AD203B41FA5}">
                      <a16:colId xmlns:a16="http://schemas.microsoft.com/office/drawing/2014/main" val="20004"/>
                    </a:ext>
                  </a:extLst>
                </a:gridCol>
                <a:gridCol w="976746">
                  <a:extLst>
                    <a:ext uri="{9D8B030D-6E8A-4147-A177-3AD203B41FA5}">
                      <a16:colId xmlns:a16="http://schemas.microsoft.com/office/drawing/2014/main" val="20005"/>
                    </a:ext>
                  </a:extLst>
                </a:gridCol>
                <a:gridCol w="1664474">
                  <a:extLst>
                    <a:ext uri="{9D8B030D-6E8A-4147-A177-3AD203B41FA5}">
                      <a16:colId xmlns:a16="http://schemas.microsoft.com/office/drawing/2014/main" val="20006"/>
                    </a:ext>
                  </a:extLst>
                </a:gridCol>
              </a:tblGrid>
              <a:tr h="881704">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1108797">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门急诊部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互联网医疗收入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年互联网医院收入较低，仅为</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703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万元，故以</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年市级综合性医院中位数为目标</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397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80654">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体检中心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体检中心收入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因医院需提升医疗收入，体检收入作为重要组成部分，故今年需采取措施提升收入</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2,261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36792">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镜朗特需与国际医疗部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镜朗特需与国际医疗部</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住院收入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3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15,000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镜朗收入作为医疗收入</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重要部分，故今年需在</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年基础上做增量</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4,673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5"/>
          <p:cNvSpPr>
            <a:spLocks noChangeArrowheads="1"/>
          </p:cNvSpPr>
          <p:nvPr/>
        </p:nvSpPr>
        <p:spPr bwMode="auto">
          <a:xfrm>
            <a:off x="10281461" y="1572130"/>
            <a:ext cx="1400002" cy="338554"/>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541873" y="1228229"/>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月其他收入目标完成情况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lvl="0" defTabSz="342265" eaLnBrk="1" hangingPunct="1">
              <a:spcBef>
                <a:spcPct val="20000"/>
              </a:spcBef>
              <a:defRPr/>
            </a:pPr>
            <a:r>
              <a:rPr lang="zh-CN" altLang="en-US" sz="3200" b="1" kern="0" dirty="0">
                <a:solidFill>
                  <a:srgbClr val="071F65"/>
                </a:solidFill>
                <a:sym typeface="Calibri" panose="020F0502020204030204" pitchFamily="34" charset="0"/>
              </a:rPr>
              <a:t>收入指标</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其他收入相关指标</a:t>
            </a:r>
          </a:p>
        </p:txBody>
      </p:sp>
      <p:graphicFrame>
        <p:nvGraphicFramePr>
          <p:cNvPr id="4" name="表格 3"/>
          <p:cNvGraphicFramePr>
            <a:graphicFrameLocks noGrp="1"/>
          </p:cNvGraphicFramePr>
          <p:nvPr>
            <p:extLst>
              <p:ext uri="{D42A27DB-BD31-4B8C-83A1-F6EECF244321}">
                <p14:modId xmlns:p14="http://schemas.microsoft.com/office/powerpoint/2010/main" val="2798483116"/>
              </p:ext>
            </p:extLst>
          </p:nvPr>
        </p:nvGraphicFramePr>
        <p:xfrm>
          <a:off x="500063" y="2369126"/>
          <a:ext cx="11237510" cy="3523509"/>
        </p:xfrm>
        <a:graphic>
          <a:graphicData uri="http://schemas.openxmlformats.org/drawingml/2006/table">
            <a:tbl>
              <a:tblPr/>
              <a:tblGrid>
                <a:gridCol w="1550742">
                  <a:extLst>
                    <a:ext uri="{9D8B030D-6E8A-4147-A177-3AD203B41FA5}">
                      <a16:colId xmlns:a16="http://schemas.microsoft.com/office/drawing/2014/main" val="20000"/>
                    </a:ext>
                  </a:extLst>
                </a:gridCol>
                <a:gridCol w="2213624">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2215342">
                  <a:extLst>
                    <a:ext uri="{9D8B030D-6E8A-4147-A177-3AD203B41FA5}">
                      <a16:colId xmlns:a16="http://schemas.microsoft.com/office/drawing/2014/main" val="20003"/>
                    </a:ext>
                  </a:extLst>
                </a:gridCol>
                <a:gridCol w="1382033">
                  <a:extLst>
                    <a:ext uri="{9D8B030D-6E8A-4147-A177-3AD203B41FA5}">
                      <a16:colId xmlns:a16="http://schemas.microsoft.com/office/drawing/2014/main" val="20004"/>
                    </a:ext>
                  </a:extLst>
                </a:gridCol>
                <a:gridCol w="1058975">
                  <a:extLst>
                    <a:ext uri="{9D8B030D-6E8A-4147-A177-3AD203B41FA5}">
                      <a16:colId xmlns:a16="http://schemas.microsoft.com/office/drawing/2014/main" val="20005"/>
                    </a:ext>
                  </a:extLst>
                </a:gridCol>
                <a:gridCol w="1490914">
                  <a:extLst>
                    <a:ext uri="{9D8B030D-6E8A-4147-A177-3AD203B41FA5}">
                      <a16:colId xmlns:a16="http://schemas.microsoft.com/office/drawing/2014/main" val="20006"/>
                    </a:ext>
                  </a:extLst>
                </a:gridCol>
              </a:tblGrid>
              <a:tr h="576000">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576000">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院长办公室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合作共建及外部捐赠收入</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marL="0" marR="0" lvl="0" indent="0" algn="ctr" defTabSz="914400" rtl="0" eaLnBrk="1" fontAlgn="ctr" latinLnBrk="0" hangingPunct="1">
                        <a:lnSpc>
                          <a:spcPct val="200000"/>
                        </a:lnSpc>
                        <a:spcBef>
                          <a:spcPts val="0"/>
                        </a:spcBef>
                        <a:spcAft>
                          <a:spcPts val="0"/>
                        </a:spcAft>
                        <a:buClrTx/>
                        <a:buSzTx/>
                        <a:buFontTx/>
                        <a:buNone/>
                        <a:defRPr/>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医院</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年度的运营目标为实现收支平衡，需大力增加外部收入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758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000">
                <a:tc>
                  <a:txBody>
                    <a:bodyPr/>
                    <a:lstStyle/>
                    <a:p>
                      <a:pPr algn="ctr" fontAlgn="ct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临床医学院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学习班收入（含培训收入）</a:t>
                      </a:r>
                      <a:endPar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81</a:t>
                      </a:r>
                      <a:endPar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16.2%</a:t>
                      </a:r>
                      <a:endPar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000">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医务部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外送儿研所检测收入</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6000">
                <a:tc>
                  <a:txBody>
                    <a:bodyPr/>
                    <a:lstStyle/>
                    <a:p>
                      <a:pPr algn="ctr"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新华医疗开发公司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投资收益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910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6000">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科研部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成果转化收入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Rectangle 5"/>
          <p:cNvSpPr>
            <a:spLocks noChangeArrowheads="1"/>
          </p:cNvSpPr>
          <p:nvPr/>
        </p:nvSpPr>
        <p:spPr bwMode="auto">
          <a:xfrm>
            <a:off x="10337571" y="1690956"/>
            <a:ext cx="1400002" cy="338554"/>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765667" y="1417902"/>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lang="zh-CN" altLang="en-US" sz="2400" b="1" dirty="0">
                <a:solidFill>
                  <a:srgbClr val="000000"/>
                </a:solidFill>
                <a:latin typeface="微软雅黑" panose="020B0503020204020204" pitchFamily="34" charset="-122"/>
                <a:ea typeface="微软雅黑" panose="020B0503020204020204" pitchFamily="34" charset="-122"/>
              </a:rPr>
              <a:t>结构指标</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98138" y="149225"/>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结构指标</a:t>
            </a:r>
          </a:p>
        </p:txBody>
      </p:sp>
      <p:graphicFrame>
        <p:nvGraphicFramePr>
          <p:cNvPr id="2" name="表格 1"/>
          <p:cNvGraphicFramePr>
            <a:graphicFrameLocks noGrp="1"/>
          </p:cNvGraphicFramePr>
          <p:nvPr>
            <p:extLst>
              <p:ext uri="{D42A27DB-BD31-4B8C-83A1-F6EECF244321}">
                <p14:modId xmlns:p14="http://schemas.microsoft.com/office/powerpoint/2010/main" val="33106016"/>
              </p:ext>
            </p:extLst>
          </p:nvPr>
        </p:nvGraphicFramePr>
        <p:xfrm>
          <a:off x="426028" y="2332421"/>
          <a:ext cx="11159836" cy="3105331"/>
        </p:xfrm>
        <a:graphic>
          <a:graphicData uri="http://schemas.openxmlformats.org/drawingml/2006/table">
            <a:tbl>
              <a:tblPr/>
              <a:tblGrid>
                <a:gridCol w="1203395">
                  <a:extLst>
                    <a:ext uri="{9D8B030D-6E8A-4147-A177-3AD203B41FA5}">
                      <a16:colId xmlns:a16="http://schemas.microsoft.com/office/drawing/2014/main" val="20000"/>
                    </a:ext>
                  </a:extLst>
                </a:gridCol>
                <a:gridCol w="3441341">
                  <a:extLst>
                    <a:ext uri="{9D8B030D-6E8A-4147-A177-3AD203B41FA5}">
                      <a16:colId xmlns:a16="http://schemas.microsoft.com/office/drawing/2014/main" val="20001"/>
                    </a:ext>
                  </a:extLst>
                </a:gridCol>
                <a:gridCol w="1444336">
                  <a:extLst>
                    <a:ext uri="{9D8B030D-6E8A-4147-A177-3AD203B41FA5}">
                      <a16:colId xmlns:a16="http://schemas.microsoft.com/office/drawing/2014/main" val="20002"/>
                    </a:ext>
                  </a:extLst>
                </a:gridCol>
                <a:gridCol w="2140527">
                  <a:extLst>
                    <a:ext uri="{9D8B030D-6E8A-4147-A177-3AD203B41FA5}">
                      <a16:colId xmlns:a16="http://schemas.microsoft.com/office/drawing/2014/main" val="20003"/>
                    </a:ext>
                  </a:extLst>
                </a:gridCol>
                <a:gridCol w="1517073">
                  <a:extLst>
                    <a:ext uri="{9D8B030D-6E8A-4147-A177-3AD203B41FA5}">
                      <a16:colId xmlns:a16="http://schemas.microsoft.com/office/drawing/2014/main" val="20004"/>
                    </a:ext>
                  </a:extLst>
                </a:gridCol>
                <a:gridCol w="1413164">
                  <a:extLst>
                    <a:ext uri="{9D8B030D-6E8A-4147-A177-3AD203B41FA5}">
                      <a16:colId xmlns:a16="http://schemas.microsoft.com/office/drawing/2014/main" val="20005"/>
                    </a:ext>
                  </a:extLst>
                </a:gridCol>
              </a:tblGrid>
              <a:tr h="770701">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 </a:t>
                      </a: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年目标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年</a:t>
                      </a: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1-5</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与目标值差距</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770701">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医务部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药耗收入占比（</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0701">
                <a:tc rowSpan="2">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资产管理部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卫生材料成本收入比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以</a:t>
                      </a: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a:t>
                      </a: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年数据为基础</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93228">
                <a:tc vMerge="1">
                  <a:txBody>
                    <a:bodyPr/>
                    <a:lstStyle/>
                    <a:p>
                      <a:endParaRPr lang="zh-CN"/>
                    </a:p>
                  </a:txBody>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试剂成本与检验项目收入占比（</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50000"/>
                        </a:lnSpc>
                        <a:spcBef>
                          <a:spcPts val="0"/>
                        </a:spcBef>
                        <a:spcAft>
                          <a:spcPts val="0"/>
                        </a:spcAft>
                        <a:buClrTx/>
                        <a:buSzTx/>
                        <a:buFontTx/>
                        <a:buNone/>
                        <a:defRPr/>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以</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年市级综合性医院平均水平为基础</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36.19%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6.19%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ChangeArrowheads="1"/>
          </p:cNvSpPr>
          <p:nvPr/>
        </p:nvSpPr>
        <p:spPr bwMode="auto">
          <a:xfrm>
            <a:off x="3419648" y="1288535"/>
            <a:ext cx="515389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lang="zh-CN" altLang="en-US" sz="2200" b="1" dirty="0">
                <a:solidFill>
                  <a:srgbClr val="000000"/>
                </a:solidFill>
                <a:latin typeface="微软雅黑" panose="020B0503020204020204" pitchFamily="34" charset="-122"/>
                <a:ea typeface="微软雅黑" panose="020B0503020204020204" pitchFamily="34" charset="-122"/>
              </a:rPr>
              <a:t>成本指标</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成本指标</a:t>
            </a:r>
          </a:p>
        </p:txBody>
      </p:sp>
      <p:graphicFrame>
        <p:nvGraphicFramePr>
          <p:cNvPr id="3" name="表格 2"/>
          <p:cNvGraphicFramePr>
            <a:graphicFrameLocks noGrp="1"/>
          </p:cNvGraphicFramePr>
          <p:nvPr>
            <p:extLst>
              <p:ext uri="{D42A27DB-BD31-4B8C-83A1-F6EECF244321}">
                <p14:modId xmlns:p14="http://schemas.microsoft.com/office/powerpoint/2010/main" val="992682743"/>
              </p:ext>
            </p:extLst>
          </p:nvPr>
        </p:nvGraphicFramePr>
        <p:xfrm>
          <a:off x="500063" y="2239381"/>
          <a:ext cx="10970721" cy="2727472"/>
        </p:xfrm>
        <a:graphic>
          <a:graphicData uri="http://schemas.openxmlformats.org/drawingml/2006/table">
            <a:tbl>
              <a:tblPr/>
              <a:tblGrid>
                <a:gridCol w="977181">
                  <a:extLst>
                    <a:ext uri="{9D8B030D-6E8A-4147-A177-3AD203B41FA5}">
                      <a16:colId xmlns:a16="http://schemas.microsoft.com/office/drawing/2014/main" val="20000"/>
                    </a:ext>
                  </a:extLst>
                </a:gridCol>
                <a:gridCol w="3568682">
                  <a:extLst>
                    <a:ext uri="{9D8B030D-6E8A-4147-A177-3AD203B41FA5}">
                      <a16:colId xmlns:a16="http://schemas.microsoft.com/office/drawing/2014/main" val="20001"/>
                    </a:ext>
                  </a:extLst>
                </a:gridCol>
                <a:gridCol w="1567039">
                  <a:extLst>
                    <a:ext uri="{9D8B030D-6E8A-4147-A177-3AD203B41FA5}">
                      <a16:colId xmlns:a16="http://schemas.microsoft.com/office/drawing/2014/main" val="20002"/>
                    </a:ext>
                  </a:extLst>
                </a:gridCol>
                <a:gridCol w="1749859">
                  <a:extLst>
                    <a:ext uri="{9D8B030D-6E8A-4147-A177-3AD203B41FA5}">
                      <a16:colId xmlns:a16="http://schemas.microsoft.com/office/drawing/2014/main" val="20003"/>
                    </a:ext>
                  </a:extLst>
                </a:gridCol>
                <a:gridCol w="1749859">
                  <a:extLst>
                    <a:ext uri="{9D8B030D-6E8A-4147-A177-3AD203B41FA5}">
                      <a16:colId xmlns:a16="http://schemas.microsoft.com/office/drawing/2014/main" val="20004"/>
                    </a:ext>
                  </a:extLst>
                </a:gridCol>
                <a:gridCol w="1358101">
                  <a:extLst>
                    <a:ext uri="{9D8B030D-6E8A-4147-A177-3AD203B41FA5}">
                      <a16:colId xmlns:a16="http://schemas.microsoft.com/office/drawing/2014/main" val="20005"/>
                    </a:ext>
                  </a:extLst>
                </a:gridCol>
              </a:tblGrid>
              <a:tr h="844654">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与目标值差距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627606">
                <a:tc rowSpan="3">
                  <a:txBody>
                    <a:bodyPr/>
                    <a:lstStyle/>
                    <a:p>
                      <a:pPr algn="ctr" fontAlgn="ctr">
                        <a:lnSpc>
                          <a:spcPct val="130000"/>
                        </a:lnSpc>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综合保障部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万元医疗收入（不含药耗）能耗成本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187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lnSpc>
                          <a:spcPct val="150000"/>
                        </a:lnSpc>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以</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年市级综合性医院平均水平为基础</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7606">
                <a:tc vMerge="1">
                  <a:txBody>
                    <a:bodyPr/>
                    <a:lstStyle/>
                    <a:p>
                      <a:endParaRPr lang="zh-CN"/>
                    </a:p>
                  </a:txBody>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万元医疗收入（不含药耗）维修成本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7606">
                <a:tc vMerge="1">
                  <a:txBody>
                    <a:bodyPr/>
                    <a:lstStyle/>
                    <a:p>
                      <a:endParaRPr lang="zh-CN"/>
                    </a:p>
                  </a:txBody>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万元医疗收入（不含药耗）物业成本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ChangeArrowheads="1"/>
          </p:cNvSpPr>
          <p:nvPr/>
        </p:nvSpPr>
        <p:spPr bwMode="auto">
          <a:xfrm>
            <a:off x="3557848" y="854547"/>
            <a:ext cx="515389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月成本指标目标完成情况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75749"/>
            <a:ext cx="3467394"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rPr>
              <a:t>运营目标完成情况</a:t>
            </a:r>
          </a:p>
        </p:txBody>
      </p:sp>
      <p:graphicFrame>
        <p:nvGraphicFramePr>
          <p:cNvPr id="3" name="表格 2"/>
          <p:cNvGraphicFramePr>
            <a:graphicFrameLocks noGrp="1"/>
          </p:cNvGraphicFramePr>
          <p:nvPr>
            <p:extLst>
              <p:ext uri="{D42A27DB-BD31-4B8C-83A1-F6EECF244321}">
                <p14:modId xmlns:p14="http://schemas.microsoft.com/office/powerpoint/2010/main" val="3932591793"/>
              </p:ext>
            </p:extLst>
          </p:nvPr>
        </p:nvGraphicFramePr>
        <p:xfrm>
          <a:off x="390697" y="1345759"/>
          <a:ext cx="11213870" cy="5154797"/>
        </p:xfrm>
        <a:graphic>
          <a:graphicData uri="http://schemas.openxmlformats.org/drawingml/2006/table">
            <a:tbl>
              <a:tblPr/>
              <a:tblGrid>
                <a:gridCol w="1188390">
                  <a:extLst>
                    <a:ext uri="{9D8B030D-6E8A-4147-A177-3AD203B41FA5}">
                      <a16:colId xmlns:a16="http://schemas.microsoft.com/office/drawing/2014/main" val="20000"/>
                    </a:ext>
                  </a:extLst>
                </a:gridCol>
                <a:gridCol w="4340021">
                  <a:extLst>
                    <a:ext uri="{9D8B030D-6E8A-4147-A177-3AD203B41FA5}">
                      <a16:colId xmlns:a16="http://schemas.microsoft.com/office/drawing/2014/main" val="20001"/>
                    </a:ext>
                  </a:extLst>
                </a:gridCol>
                <a:gridCol w="1905741">
                  <a:extLst>
                    <a:ext uri="{9D8B030D-6E8A-4147-A177-3AD203B41FA5}">
                      <a16:colId xmlns:a16="http://schemas.microsoft.com/office/drawing/2014/main" val="20002"/>
                    </a:ext>
                  </a:extLst>
                </a:gridCol>
                <a:gridCol w="2128076">
                  <a:extLst>
                    <a:ext uri="{9D8B030D-6E8A-4147-A177-3AD203B41FA5}">
                      <a16:colId xmlns:a16="http://schemas.microsoft.com/office/drawing/2014/main" val="20003"/>
                    </a:ext>
                  </a:extLst>
                </a:gridCol>
                <a:gridCol w="1651642">
                  <a:extLst>
                    <a:ext uri="{9D8B030D-6E8A-4147-A177-3AD203B41FA5}">
                      <a16:colId xmlns:a16="http://schemas.microsoft.com/office/drawing/2014/main" val="20004"/>
                    </a:ext>
                  </a:extLst>
                </a:gridCol>
              </a:tblGrid>
              <a:tr h="342917">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归口部门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指标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 </a:t>
                      </a: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年目标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年</a:t>
                      </a: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1-5</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月实际值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与目标值差距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385782">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运营绩效部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各科室不含药耗收入增幅</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该科室绩效奖金增幅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12">
                  <a:txBody>
                    <a:bodyPr/>
                    <a:lstStyle/>
                    <a:p>
                      <a:pPr marL="0" marR="0" lvl="0" indent="0" algn="ctr" defTabSz="914400" rtl="0" eaLnBrk="1" fontAlgn="ctr" latinLnBrk="0" hangingPunct="1">
                        <a:lnSpc>
                          <a:spcPct val="150000"/>
                        </a:lnSpc>
                        <a:spcBef>
                          <a:spcPts val="0"/>
                        </a:spcBef>
                        <a:spcAft>
                          <a:spcPts val="0"/>
                        </a:spcAft>
                        <a:buClrTx/>
                        <a:buSzTx/>
                        <a:buFontTx/>
                        <a:buNone/>
                        <a:defRPr/>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以季度数据暂时难以判断与目标值的差距，建议以半年度为单位进行监测</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5782">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人力资源部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医勤工一口价劳务费降幅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5782">
                <a:tc vMerge="1">
                  <a:txBody>
                    <a:bodyPr/>
                    <a:lstStyle/>
                    <a:p>
                      <a:endParaRPr lang="zh-CN"/>
                    </a:p>
                  </a:txBody>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第三方劳务派遣公司人均人事代理和服务费降幅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5782">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护理部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手术平台科室消耗卫生耗材总金额</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手术总量</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同比降幅 ≥</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6614">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资产管理部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（柯渡第三方维保</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医院消耗领用的维修配件）</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已出保专用设备金额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5782">
                <a:tc vMerge="1">
                  <a:txBody>
                    <a:bodyPr/>
                    <a:lstStyle/>
                    <a:p>
                      <a:endParaRPr lang="zh-CN"/>
                    </a:p>
                  </a:txBody>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医院办公类耗材（国药菱商）领用总金额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46614">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护理部、资产管理部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（洁诺第三方成本</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医院领用消耗的消毒类相关耗材）</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出院病人数</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15%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5782">
                <a:tc vMerge="1">
                  <a:txBody>
                    <a:bodyPr/>
                    <a:lstStyle/>
                    <a:p>
                      <a:endParaRPr lang="zh-CN"/>
                    </a:p>
                  </a:txBody>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手术平台科室二级库管理卫生耗材收入成本配比率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5782">
                <a:tc rowSpan="2">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综合保障部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能耗成本（水电煤）</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较</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年减少</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万元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3,200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5782">
                <a:tc vMerge="1">
                  <a:txBody>
                    <a:bodyPr/>
                    <a:lstStyle/>
                    <a:p>
                      <a:endParaRPr lang="zh-CN"/>
                    </a:p>
                  </a:txBody>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医疗废弃物处置费用</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床位数</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 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25</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年下降</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67w/</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85782">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大数据中心</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信息维保费用</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无形资产原值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较</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年下降</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个百分点</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46614">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采购与招标管理中心</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采购与招标节资率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月预算执行情况分析</a:t>
              </a: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a:ln w="0"/>
                  <a:gradFill>
                    <a:gsLst>
                      <a:gs pos="21000">
                        <a:srgbClr val="53575C"/>
                      </a:gs>
                      <a:gs pos="88000">
                        <a:srgbClr val="C5C7CA"/>
                      </a:gs>
                    </a:gsLst>
                    <a:lin ang="5400000"/>
                  </a:gradFill>
                  <a:latin typeface="等线" panose="02010600030101010101" charset="-122"/>
                  <a:ea typeface="等线" panose="02010600030101010101" charset="-122"/>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zh-CN" altLang="en-US" sz="2400" b="1" dirty="0">
                  <a:ln w="0"/>
                  <a:solidFill>
                    <a:srgbClr val="0070C0"/>
                  </a:solidFill>
                  <a:latin typeface="等线" panose="02010600030101010101" charset="-122"/>
                  <a:ea typeface="等线" panose="02010600030101010101" charset="-122"/>
                </a:rPr>
                <a:t>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建议举措</a:t>
            </a:r>
          </a:p>
        </p:txBody>
      </p:sp>
      <p:grpSp>
        <p:nvGrpSpPr>
          <p:cNvPr id="5" name="组合 4"/>
          <p:cNvGrpSpPr/>
          <p:nvPr/>
        </p:nvGrpSpPr>
        <p:grpSpPr>
          <a:xfrm>
            <a:off x="2776845" y="369198"/>
            <a:ext cx="7072284" cy="611078"/>
            <a:chOff x="707092" y="1156626"/>
            <a:chExt cx="6905820" cy="600075"/>
          </a:xfrm>
        </p:grpSpPr>
        <p:sp>
          <p:nvSpPr>
            <p:cNvPr id="33" name="Rectangle 6"/>
            <p:cNvSpPr/>
            <p:nvPr/>
          </p:nvSpPr>
          <p:spPr>
            <a:xfrm>
              <a:off x="707092" y="1156626"/>
              <a:ext cx="6905820" cy="600075"/>
            </a:xfrm>
            <a:prstGeom prst="rect">
              <a:avLst/>
            </a:prstGeom>
            <a:solidFill>
              <a:srgbClr val="C00000"/>
            </a:solidFill>
            <a:ln w="28575" cap="rnd">
              <a:solidFill>
                <a:srgbClr val="C00000"/>
              </a:solidFill>
              <a:prstDash val="solid"/>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D" sz="3200" b="0" i="0" u="none" strike="noStrike" kern="0" cap="none" spc="0" normalizeH="0" baseline="0" noProof="0" dirty="0">
                <a:ln>
                  <a:noFill/>
                </a:ln>
                <a:solidFill>
                  <a:prstClr val="black">
                    <a:lumMod val="65000"/>
                    <a:lumOff val="35000"/>
                  </a:prstClr>
                </a:solidFill>
                <a:effectLst/>
                <a:uLnTx/>
                <a:uFillTx/>
                <a:latin typeface="Arial Black" panose="020B0A04020102020204"/>
                <a:ea typeface="+mn-ea"/>
                <a:cs typeface="+mn-cs"/>
              </a:endParaRPr>
            </a:p>
          </p:txBody>
        </p:sp>
        <p:sp>
          <p:nvSpPr>
            <p:cNvPr id="34" name="Freeform 807"/>
            <p:cNvSpPr/>
            <p:nvPr/>
          </p:nvSpPr>
          <p:spPr>
            <a:xfrm>
              <a:off x="7040517" y="1218166"/>
              <a:ext cx="572395" cy="476995"/>
            </a:xfrm>
            <a:custGeom>
              <a:avLst/>
              <a:gdLst/>
              <a:ahLst/>
              <a:cxnLst>
                <a:cxn ang="0">
                  <a:pos x="wd2" y="hd2"/>
                </a:cxn>
                <a:cxn ang="5400000">
                  <a:pos x="wd2" y="hd2"/>
                </a:cxn>
                <a:cxn ang="10800000">
                  <a:pos x="wd2" y="hd2"/>
                </a:cxn>
                <a:cxn ang="16200000">
                  <a:pos x="wd2" y="hd2"/>
                </a:cxn>
              </a:cxnLst>
              <a:rect l="0" t="0" r="r" b="b"/>
              <a:pathLst>
                <a:path w="21600" h="21600" extrusionOk="0">
                  <a:moveTo>
                    <a:pt x="21595" y="11520"/>
                  </a:moveTo>
                  <a:lnTo>
                    <a:pt x="18627" y="3196"/>
                  </a:lnTo>
                  <a:cubicBezTo>
                    <a:pt x="18686" y="3007"/>
                    <a:pt x="18720" y="2804"/>
                    <a:pt x="18720" y="2591"/>
                  </a:cubicBezTo>
                  <a:cubicBezTo>
                    <a:pt x="18720" y="1637"/>
                    <a:pt x="18075" y="863"/>
                    <a:pt x="17279" y="863"/>
                  </a:cubicBezTo>
                  <a:cubicBezTo>
                    <a:pt x="16798" y="863"/>
                    <a:pt x="16373" y="1148"/>
                    <a:pt x="16112" y="1583"/>
                  </a:cubicBezTo>
                  <a:lnTo>
                    <a:pt x="12791" y="1583"/>
                  </a:lnTo>
                  <a:cubicBezTo>
                    <a:pt x="12463" y="653"/>
                    <a:pt x="11694" y="0"/>
                    <a:pt x="10800" y="0"/>
                  </a:cubicBezTo>
                  <a:cubicBezTo>
                    <a:pt x="9905" y="0"/>
                    <a:pt x="9137" y="653"/>
                    <a:pt x="8809" y="1584"/>
                  </a:cubicBezTo>
                  <a:lnTo>
                    <a:pt x="5488" y="1584"/>
                  </a:lnTo>
                  <a:cubicBezTo>
                    <a:pt x="5226" y="1148"/>
                    <a:pt x="4801" y="864"/>
                    <a:pt x="4320" y="864"/>
                  </a:cubicBezTo>
                  <a:cubicBezTo>
                    <a:pt x="3525" y="864"/>
                    <a:pt x="2880" y="1638"/>
                    <a:pt x="2880" y="2592"/>
                  </a:cubicBezTo>
                  <a:cubicBezTo>
                    <a:pt x="2880" y="2805"/>
                    <a:pt x="2914" y="3008"/>
                    <a:pt x="2973" y="3196"/>
                  </a:cubicBezTo>
                  <a:lnTo>
                    <a:pt x="5" y="11520"/>
                  </a:lnTo>
                  <a:lnTo>
                    <a:pt x="0" y="11520"/>
                  </a:lnTo>
                  <a:cubicBezTo>
                    <a:pt x="0" y="14223"/>
                    <a:pt x="1935" y="16416"/>
                    <a:pt x="4320" y="16416"/>
                  </a:cubicBezTo>
                  <a:cubicBezTo>
                    <a:pt x="6707" y="16416"/>
                    <a:pt x="8640" y="14223"/>
                    <a:pt x="8640" y="11520"/>
                  </a:cubicBezTo>
                  <a:lnTo>
                    <a:pt x="8635" y="11520"/>
                  </a:lnTo>
                  <a:lnTo>
                    <a:pt x="5812" y="3600"/>
                  </a:lnTo>
                  <a:lnTo>
                    <a:pt x="8809" y="3600"/>
                  </a:lnTo>
                  <a:cubicBezTo>
                    <a:pt x="8975" y="4069"/>
                    <a:pt x="9252" y="4467"/>
                    <a:pt x="9600" y="4747"/>
                  </a:cubicBezTo>
                  <a:lnTo>
                    <a:pt x="9600" y="17568"/>
                  </a:lnTo>
                  <a:lnTo>
                    <a:pt x="5280" y="17568"/>
                  </a:lnTo>
                  <a:lnTo>
                    <a:pt x="5280" y="18720"/>
                  </a:lnTo>
                  <a:cubicBezTo>
                    <a:pt x="5280" y="20304"/>
                    <a:pt x="6360" y="21600"/>
                    <a:pt x="7680" y="21600"/>
                  </a:cubicBezTo>
                  <a:lnTo>
                    <a:pt x="13920" y="21600"/>
                  </a:lnTo>
                  <a:cubicBezTo>
                    <a:pt x="15240" y="21600"/>
                    <a:pt x="16320" y="20304"/>
                    <a:pt x="16320" y="18720"/>
                  </a:cubicBezTo>
                  <a:lnTo>
                    <a:pt x="16320" y="17568"/>
                  </a:lnTo>
                  <a:lnTo>
                    <a:pt x="12000" y="17568"/>
                  </a:lnTo>
                  <a:lnTo>
                    <a:pt x="12000" y="4746"/>
                  </a:lnTo>
                  <a:cubicBezTo>
                    <a:pt x="12348" y="4466"/>
                    <a:pt x="12625" y="4068"/>
                    <a:pt x="12790" y="3600"/>
                  </a:cubicBezTo>
                  <a:lnTo>
                    <a:pt x="15787" y="3600"/>
                  </a:lnTo>
                  <a:lnTo>
                    <a:pt x="12960" y="11520"/>
                  </a:lnTo>
                  <a:lnTo>
                    <a:pt x="12960" y="11520"/>
                  </a:lnTo>
                  <a:lnTo>
                    <a:pt x="12960" y="11520"/>
                  </a:lnTo>
                  <a:lnTo>
                    <a:pt x="12958" y="11524"/>
                  </a:lnTo>
                  <a:lnTo>
                    <a:pt x="12960" y="11525"/>
                  </a:lnTo>
                  <a:cubicBezTo>
                    <a:pt x="12963" y="14226"/>
                    <a:pt x="14896" y="16416"/>
                    <a:pt x="17280" y="16416"/>
                  </a:cubicBezTo>
                  <a:cubicBezTo>
                    <a:pt x="19667" y="16416"/>
                    <a:pt x="21600" y="14223"/>
                    <a:pt x="21600" y="11520"/>
                  </a:cubicBezTo>
                  <a:cubicBezTo>
                    <a:pt x="21600" y="11520"/>
                    <a:pt x="21595" y="11520"/>
                    <a:pt x="21595" y="11520"/>
                  </a:cubicBezTo>
                  <a:close/>
                  <a:moveTo>
                    <a:pt x="7330" y="11520"/>
                  </a:moveTo>
                  <a:lnTo>
                    <a:pt x="1311" y="11520"/>
                  </a:lnTo>
                  <a:lnTo>
                    <a:pt x="3903" y="4246"/>
                  </a:lnTo>
                  <a:cubicBezTo>
                    <a:pt x="4035" y="4293"/>
                    <a:pt x="4175" y="4320"/>
                    <a:pt x="4319" y="4320"/>
                  </a:cubicBezTo>
                  <a:cubicBezTo>
                    <a:pt x="4464" y="4320"/>
                    <a:pt x="4605" y="4293"/>
                    <a:pt x="4737" y="4245"/>
                  </a:cubicBezTo>
                  <a:lnTo>
                    <a:pt x="7330" y="11520"/>
                  </a:lnTo>
                  <a:close/>
                  <a:moveTo>
                    <a:pt x="14265" y="11520"/>
                  </a:moveTo>
                  <a:lnTo>
                    <a:pt x="16862" y="4246"/>
                  </a:lnTo>
                  <a:cubicBezTo>
                    <a:pt x="16994" y="4294"/>
                    <a:pt x="17134" y="4320"/>
                    <a:pt x="17279" y="4320"/>
                  </a:cubicBezTo>
                  <a:cubicBezTo>
                    <a:pt x="17425" y="4320"/>
                    <a:pt x="17565" y="4294"/>
                    <a:pt x="17697" y="4246"/>
                  </a:cubicBezTo>
                  <a:lnTo>
                    <a:pt x="20290" y="11520"/>
                  </a:lnTo>
                  <a:lnTo>
                    <a:pt x="14265" y="11520"/>
                  </a:lnTo>
                  <a:close/>
                </a:path>
              </a:pathLst>
            </a:custGeom>
            <a:solidFill>
              <a:schemeClr val="bg1"/>
            </a:solidFill>
            <a:ln w="12700" cap="flat">
              <a:noFill/>
              <a:miter lim="400000"/>
            </a:ln>
            <a:effectLst/>
          </p:spPr>
          <p:txBody>
            <a:bodyPr wrap="square" lIns="45719" tIns="45719" rIns="45719" bIns="45719"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1800" b="0" i="0" u="none" strike="noStrike" kern="0" cap="none" spc="0" normalizeH="0" baseline="0" noProof="0" dirty="0">
                <a:ln>
                  <a:noFill/>
                </a:ln>
                <a:solidFill>
                  <a:srgbClr val="FFFFFF"/>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5" name="文本框 53"/>
            <p:cNvSpPr txBox="1"/>
            <p:nvPr/>
          </p:nvSpPr>
          <p:spPr>
            <a:xfrm>
              <a:off x="707092" y="1237801"/>
              <a:ext cx="3601244" cy="45335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kumimoji="1" lang="zh-CN" altLang="en-US" sz="2400" b="1" dirty="0">
                  <a:solidFill>
                    <a:srgbClr val="FFFFFF"/>
                  </a:solidFill>
                  <a:latin typeface="微软雅黑" panose="020B0503020204020204" pitchFamily="34" charset="-122"/>
                  <a:ea typeface="微软雅黑" panose="020B0503020204020204" pitchFamily="34" charset="-122"/>
                  <a:cs typeface="OPPOSans B" pitchFamily="18" charset="-122"/>
                </a:rPr>
                <a:t>优化业务和收入结构，压实预算执行</a:t>
              </a:r>
            </a:p>
          </p:txBody>
        </p:sp>
      </p:grpSp>
      <p:sp>
        <p:nvSpPr>
          <p:cNvPr id="43" name="文本框 42"/>
          <p:cNvSpPr txBox="1"/>
          <p:nvPr/>
        </p:nvSpPr>
        <p:spPr>
          <a:xfrm>
            <a:off x="639657" y="826435"/>
            <a:ext cx="11151290" cy="3178049"/>
          </a:xfrm>
          <a:prstGeom prst="rect">
            <a:avLst/>
          </a:prstGeom>
          <a:noFill/>
        </p:spPr>
        <p:txBody>
          <a:bodyPr wrap="square">
            <a:spAutoFit/>
          </a:bodyPr>
          <a:lstStyle/>
          <a:p>
            <a:pPr marL="17145">
              <a:lnSpc>
                <a:spcPct val="170000"/>
              </a:lnSpc>
            </a:pPr>
            <a:endParaRPr lang="en-US" altLang="zh-CN" sz="1400" b="1" dirty="0">
              <a:solidFill>
                <a:srgbClr val="002FA7"/>
              </a:solidFill>
              <a:latin typeface="微软雅黑" panose="020B0503020204020204" pitchFamily="34" charset="-122"/>
              <a:ea typeface="微软雅黑" panose="020B0503020204020204" pitchFamily="34" charset="-122"/>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杨浦院区住院业务萎缩，奉贤院区持续亏损：</a:t>
            </a:r>
            <a:r>
              <a:rPr lang="zh-CN" altLang="en-US" sz="1400" b="1" dirty="0">
                <a:solidFill>
                  <a:srgbClr val="C00000"/>
                </a:solidFill>
                <a:latin typeface="+mn-ea"/>
              </a:rPr>
              <a:t>杨浦院区</a:t>
            </a:r>
            <a:r>
              <a:rPr lang="zh-CN" altLang="en-US" sz="1400" b="1" dirty="0">
                <a:latin typeface="+mn-ea"/>
              </a:rPr>
              <a:t>住院人次降幅</a:t>
            </a:r>
            <a:r>
              <a:rPr lang="en-US" altLang="zh-CN" sz="1400" b="1" dirty="0">
                <a:latin typeface="+mn-ea"/>
              </a:rPr>
              <a:t>8.3%%</a:t>
            </a:r>
            <a:r>
              <a:rPr lang="zh-CN" altLang="en-US" sz="1400" b="1" dirty="0">
                <a:latin typeface="+mn-ea"/>
              </a:rPr>
              <a:t>，较之</a:t>
            </a:r>
            <a:r>
              <a:rPr lang="en-US" altLang="zh-CN" sz="1400" b="1" dirty="0">
                <a:latin typeface="+mn-ea"/>
              </a:rPr>
              <a:t>4</a:t>
            </a:r>
            <a:r>
              <a:rPr lang="zh-CN" altLang="en-US" sz="1400" b="1" dirty="0">
                <a:latin typeface="+mn-ea"/>
              </a:rPr>
              <a:t>月降幅扩大，呈现加速萎缩趋势；</a:t>
            </a:r>
            <a:r>
              <a:rPr lang="zh-CN" altLang="en-US" sz="1400" b="1" dirty="0">
                <a:solidFill>
                  <a:srgbClr val="C00000"/>
                </a:solidFill>
                <a:latin typeface="+mn-ea"/>
              </a:rPr>
              <a:t>奉贤院区</a:t>
            </a:r>
            <a:r>
              <a:rPr lang="zh-CN" altLang="en-US" sz="1400" b="1" dirty="0">
                <a:latin typeface="+mn-ea"/>
              </a:rPr>
              <a:t>收支结余为</a:t>
            </a:r>
            <a:r>
              <a:rPr lang="en-US" altLang="zh-CN" sz="1400" b="1" dirty="0">
                <a:latin typeface="+mn-ea"/>
              </a:rPr>
              <a:t>-1,477</a:t>
            </a:r>
            <a:r>
              <a:rPr lang="zh-CN" altLang="en-US" sz="1400" b="1" dirty="0">
                <a:latin typeface="+mn-ea"/>
              </a:rPr>
              <a:t>万元，</a:t>
            </a:r>
            <a:r>
              <a:rPr lang="en-US" altLang="zh-CN" sz="1400" b="1" dirty="0">
                <a:latin typeface="+mn-ea"/>
              </a:rPr>
              <a:t>1-5</a:t>
            </a:r>
            <a:r>
              <a:rPr lang="zh-CN" altLang="en-US" sz="1400" b="1" dirty="0">
                <a:latin typeface="+mn-ea"/>
              </a:rPr>
              <a:t>月份收支结余</a:t>
            </a:r>
            <a:r>
              <a:rPr lang="en-US" altLang="zh-CN" sz="1400" b="1" dirty="0">
                <a:latin typeface="+mn-ea"/>
              </a:rPr>
              <a:t>-16,877</a:t>
            </a:r>
            <a:r>
              <a:rPr lang="zh-CN" altLang="en-US" sz="1400" b="1" dirty="0">
                <a:latin typeface="+mn-ea"/>
              </a:rPr>
              <a:t>万元，占全院总亏损的</a:t>
            </a:r>
            <a:r>
              <a:rPr lang="en-US" altLang="zh-CN" sz="1400" b="1" dirty="0">
                <a:latin typeface="+mn-ea"/>
              </a:rPr>
              <a:t>94.6%</a:t>
            </a:r>
            <a:r>
              <a:rPr lang="zh-CN" altLang="en-US" sz="1400" b="1" dirty="0">
                <a:latin typeface="+mn-ea"/>
              </a:rPr>
              <a:t>，运营压力大。</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收入结构待优化，药耗占比管控待加强：</a:t>
            </a:r>
            <a:r>
              <a:rPr lang="zh-CN" altLang="en-US" sz="1400" b="1" dirty="0">
                <a:solidFill>
                  <a:srgbClr val="C00000"/>
                </a:solidFill>
                <a:latin typeface="+mn-ea"/>
              </a:rPr>
              <a:t>药耗占比</a:t>
            </a:r>
            <a:r>
              <a:rPr lang="en-US" altLang="zh-CN" sz="1400" b="1" dirty="0">
                <a:latin typeface="+mn-ea"/>
              </a:rPr>
              <a:t>52.1%</a:t>
            </a:r>
            <a:r>
              <a:rPr lang="zh-CN" altLang="en-US" sz="1400" b="1" dirty="0">
                <a:latin typeface="+mn-ea"/>
              </a:rPr>
              <a:t>，高于</a:t>
            </a:r>
            <a:r>
              <a:rPr lang="en-US" altLang="zh-CN" sz="1400" b="1" dirty="0">
                <a:latin typeface="+mn-ea"/>
              </a:rPr>
              <a:t>2026</a:t>
            </a:r>
            <a:r>
              <a:rPr lang="zh-CN" altLang="en-US" sz="1400" b="1" dirty="0">
                <a:latin typeface="+mn-ea"/>
              </a:rPr>
              <a:t>年预算目标（</a:t>
            </a:r>
            <a:r>
              <a:rPr lang="en-US" altLang="zh-CN" sz="1400" b="1" dirty="0">
                <a:latin typeface="+mn-ea"/>
              </a:rPr>
              <a:t>49% </a:t>
            </a:r>
            <a:r>
              <a:rPr lang="zh-CN" altLang="en-US" sz="1400" b="1" dirty="0">
                <a:latin typeface="+mn-ea"/>
              </a:rPr>
              <a:t>）</a:t>
            </a:r>
            <a:r>
              <a:rPr lang="en-US" altLang="zh-CN" sz="1400" b="1" dirty="0">
                <a:latin typeface="+mn-ea"/>
              </a:rPr>
              <a:t>3.1</a:t>
            </a:r>
            <a:r>
              <a:rPr lang="zh-CN" altLang="en-US" sz="1400" b="1" dirty="0">
                <a:latin typeface="+mn-ea"/>
              </a:rPr>
              <a:t>个百分点。奉贤院区耗占比达</a:t>
            </a:r>
            <a:r>
              <a:rPr lang="en-US" altLang="zh-CN" sz="1400" b="1" dirty="0">
                <a:latin typeface="+mn-ea"/>
              </a:rPr>
              <a:t>37.7%</a:t>
            </a:r>
            <a:r>
              <a:rPr lang="zh-CN" altLang="en-US" sz="1400" b="1" dirty="0">
                <a:latin typeface="+mn-ea"/>
              </a:rPr>
              <a:t>，劳务占比仅</a:t>
            </a:r>
            <a:r>
              <a:rPr lang="en-US" altLang="zh-CN" sz="1400" b="1" dirty="0">
                <a:latin typeface="+mn-ea"/>
              </a:rPr>
              <a:t>21.8%</a:t>
            </a:r>
            <a:r>
              <a:rPr lang="zh-CN" altLang="en-US" sz="1400" b="1" dirty="0">
                <a:latin typeface="+mn-ea"/>
              </a:rPr>
              <a:t>，收入结构失衡。</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收入预算执行进度偏缓，运营管理目标执行进度偏差较大：</a:t>
            </a:r>
            <a:r>
              <a:rPr lang="zh-CN" altLang="en-US" sz="1400" b="1" dirty="0">
                <a:solidFill>
                  <a:srgbClr val="C00000"/>
                </a:solidFill>
                <a:latin typeface="+mn-ea"/>
              </a:rPr>
              <a:t>医疗收入预算执行偏离度</a:t>
            </a:r>
            <a:r>
              <a:rPr lang="zh-CN" altLang="en-US" sz="1400" b="1" dirty="0">
                <a:latin typeface="+mn-ea"/>
              </a:rPr>
              <a:t>为</a:t>
            </a:r>
            <a:r>
              <a:rPr lang="en-US" altLang="zh-CN" sz="1400" b="1" dirty="0">
                <a:latin typeface="+mn-ea"/>
              </a:rPr>
              <a:t>-1.1%</a:t>
            </a:r>
            <a:r>
              <a:rPr lang="zh-CN" altLang="en-US" sz="1400" b="1" dirty="0">
                <a:latin typeface="+mn-ea"/>
              </a:rPr>
              <a:t>，合作共建、投资收益、镜朗、体检等收入执行进度较慢。</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卫生材料管理存在风险，发票未达金额高：</a:t>
            </a:r>
            <a:r>
              <a:rPr lang="zh-CN" altLang="en-US" sz="1400" b="1" dirty="0">
                <a:solidFill>
                  <a:srgbClr val="C00000"/>
                </a:solidFill>
                <a:latin typeface="+mn-ea"/>
              </a:rPr>
              <a:t>物资已入库发票未达金额</a:t>
            </a:r>
            <a:r>
              <a:rPr lang="en-US" altLang="zh-CN" sz="1400" b="1" dirty="0">
                <a:latin typeface="+mn-ea"/>
              </a:rPr>
              <a:t>8979</a:t>
            </a:r>
            <a:r>
              <a:rPr lang="zh-CN" altLang="en-US" sz="1400" b="1" dirty="0">
                <a:latin typeface="+mn-ea"/>
              </a:rPr>
              <a:t>万元，其中高值耗材</a:t>
            </a:r>
            <a:r>
              <a:rPr lang="en-US" altLang="zh-CN" sz="1400" b="1" dirty="0">
                <a:latin typeface="+mn-ea"/>
              </a:rPr>
              <a:t>5408</a:t>
            </a:r>
            <a:r>
              <a:rPr lang="zh-CN" altLang="en-US" sz="1400" b="1" dirty="0">
                <a:latin typeface="+mn-ea"/>
              </a:rPr>
              <a:t>万元，低值耗材</a:t>
            </a:r>
            <a:r>
              <a:rPr lang="en-US" altLang="zh-CN" sz="1400" b="1" dirty="0">
                <a:latin typeface="+mn-ea"/>
              </a:rPr>
              <a:t>3571</a:t>
            </a:r>
            <a:r>
              <a:rPr lang="zh-CN" altLang="en-US" sz="1400" b="1" dirty="0">
                <a:latin typeface="+mn-ea"/>
              </a:rPr>
              <a:t>万元。建发发票未达</a:t>
            </a:r>
            <a:r>
              <a:rPr lang="en-US" altLang="zh-CN" sz="1400" b="1" dirty="0">
                <a:latin typeface="+mn-ea"/>
              </a:rPr>
              <a:t>5926</a:t>
            </a:r>
            <a:r>
              <a:rPr lang="zh-CN" altLang="en-US" sz="1400" b="1" dirty="0">
                <a:latin typeface="+mn-ea"/>
              </a:rPr>
              <a:t>万元，国药满意</a:t>
            </a:r>
            <a:r>
              <a:rPr lang="en-US" altLang="zh-CN" sz="1400" b="1" dirty="0">
                <a:latin typeface="+mn-ea"/>
              </a:rPr>
              <a:t>5</a:t>
            </a:r>
            <a:r>
              <a:rPr lang="zh-CN" altLang="en-US" sz="1400" b="1" dirty="0">
                <a:latin typeface="+mn-ea"/>
              </a:rPr>
              <a:t>月新增未达</a:t>
            </a:r>
            <a:r>
              <a:rPr lang="en-US" altLang="zh-CN" sz="1400" b="1" dirty="0">
                <a:latin typeface="+mn-ea"/>
              </a:rPr>
              <a:t>2908</a:t>
            </a:r>
            <a:r>
              <a:rPr lang="zh-CN" altLang="en-US" sz="1400" b="1" dirty="0">
                <a:latin typeface="+mn-ea"/>
              </a:rPr>
              <a:t>万元。</a:t>
            </a:r>
          </a:p>
        </p:txBody>
      </p:sp>
      <p:grpSp>
        <p:nvGrpSpPr>
          <p:cNvPr id="45" name="组合 44"/>
          <p:cNvGrpSpPr/>
          <p:nvPr/>
        </p:nvGrpSpPr>
        <p:grpSpPr>
          <a:xfrm>
            <a:off x="-194406" y="3885312"/>
            <a:ext cx="11985353" cy="3029947"/>
            <a:chOff x="-327307" y="4036697"/>
            <a:chExt cx="11881901" cy="3029947"/>
          </a:xfrm>
        </p:grpSpPr>
        <p:sp>
          <p:nvSpPr>
            <p:cNvPr id="46" name="鱼丸PPT4"/>
            <p:cNvSpPr/>
            <p:nvPr/>
          </p:nvSpPr>
          <p:spPr>
            <a:xfrm>
              <a:off x="-327307" y="4036697"/>
              <a:ext cx="1886234" cy="436303"/>
            </a:xfrm>
            <a:prstGeom prst="rect">
              <a:avLst/>
            </a:prstGeom>
            <a:gradFill flip="none" rotWithShape="1">
              <a:gsLst>
                <a:gs pos="100000">
                  <a:srgbClr val="2C4F81"/>
                </a:gs>
                <a:gs pos="0">
                  <a:srgbClr val="2C4F81">
                    <a:lumMod val="60000"/>
                    <a:lumOff val="40000"/>
                  </a:srgbClr>
                </a:gs>
              </a:gsLst>
              <a:lin ang="2700000" scaled="1"/>
              <a:tileRect/>
            </a:gradFill>
            <a:ln w="19050" cap="flat" cmpd="sng" algn="ctr">
              <a:noFill/>
              <a:prstDash val="solid"/>
              <a:miter lim="800000"/>
            </a:ln>
            <a:effectLst>
              <a:innerShdw blurRad="114300">
                <a:srgbClr val="2C4F81">
                  <a:lumMod val="60000"/>
                  <a:lumOff val="40000"/>
                </a:srgbClr>
              </a:innerShdw>
            </a:effectLst>
          </p:spPr>
          <p:txBody>
            <a:bodyPr rtlCol="0" anchor="ctr"/>
            <a:lstStyle/>
            <a:p>
              <a:pPr lvl="0" algn="ctr"/>
              <a:r>
                <a:rPr lang="zh-CN" altLang="en-US" b="1" kern="0" dirty="0">
                  <a:solidFill>
                    <a:srgbClr val="FFFFFF"/>
                  </a:solidFill>
                  <a:latin typeface="微软雅黑" panose="020B0503020204020204" pitchFamily="34" charset="-122"/>
                  <a:ea typeface="微软雅黑" panose="020B0503020204020204" pitchFamily="34" charset="-122"/>
                  <a:cs typeface="OPPOSans R" panose="00020600040101010101" pitchFamily="18" charset="-122"/>
                </a:rPr>
                <a:t>改进建议</a:t>
              </a:r>
              <a:endParaRPr kumimoji="0" lang="zh-CN" altLang="en-US"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47" name="文本框 46"/>
            <p:cNvSpPr txBox="1"/>
            <p:nvPr/>
          </p:nvSpPr>
          <p:spPr>
            <a:xfrm>
              <a:off x="499557" y="4254849"/>
              <a:ext cx="11055037" cy="2811795"/>
            </a:xfrm>
            <a:prstGeom prst="rect">
              <a:avLst/>
            </a:prstGeom>
            <a:noFill/>
          </p:spPr>
          <p:txBody>
            <a:bodyPr wrap="square">
              <a:spAutoFit/>
            </a:bodyPr>
            <a:lstStyle/>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提效住院业务、平衡奉贤收支：</a:t>
              </a:r>
              <a:r>
                <a:rPr lang="zh-CN" altLang="en-US" sz="1400" b="1" dirty="0">
                  <a:latin typeface="+mn-ea"/>
                </a:rPr>
                <a:t>针对杨浦院区住院业务下降明显的科室，评估床位使用效率、转诊流程及患者来源变化，逐科分析原因，关注是否是奉贤院区分流导致，制定针对性提升计划。加强奉贤院区收支平衡管理，优化资源配置，进一步释放医疗潜能，缩小收支差。</a:t>
              </a: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优化收入结构，加强药耗占比管控：</a:t>
              </a:r>
              <a:r>
                <a:rPr lang="zh-CN" altLang="en-US" sz="1400" b="1" dirty="0">
                  <a:solidFill>
                    <a:prstClr val="black"/>
                  </a:solidFill>
                  <a:latin typeface="等线" panose="02010600030101010101" charset="-122"/>
                </a:rPr>
                <a:t>积极拓展高劳务价值诊疗项目，提升劳务收入占比；建议相关</a:t>
              </a:r>
              <a:r>
                <a:rPr lang="zh-CN" altLang="en-US" sz="1400" b="1" dirty="0">
                  <a:latin typeface="+mn-ea"/>
                </a:rPr>
                <a:t>科室持续关注</a:t>
              </a:r>
              <a:r>
                <a:rPr lang="zh-CN" altLang="en-US" sz="1400" b="1" dirty="0">
                  <a:solidFill>
                    <a:prstClr val="black"/>
                  </a:solidFill>
                  <a:latin typeface="等线" panose="02010600030101010101" charset="-122"/>
                </a:rPr>
                <a:t>药耗占比，对超标科室及时预警提醒。进一步控制检验试剂等不可收费耗材成本，降低试剂成本与检验收入比。对奉贤院区耗材使用加强管控。</a:t>
              </a:r>
              <a:endParaRPr lang="en-US" altLang="zh-CN" sz="1400" b="1" dirty="0">
                <a:solidFill>
                  <a:prstClr val="black"/>
                </a:solidFill>
                <a:latin typeface="等线" panose="02010600030101010101" charset="-122"/>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持续加强预算刚性约束，加强科室收入执行监控：</a:t>
              </a:r>
              <a:r>
                <a:rPr lang="zh-CN" altLang="en-US" sz="1400" b="1" dirty="0">
                  <a:latin typeface="+mn-ea"/>
                </a:rPr>
                <a:t>重点关注收入预算执行偏离度较大的科室，相关科室需挖掘增量，促进收入增长。同时，需关注医院运营管理相关目标下达的完成情况，负责部门应根据当前的完成度调整后续工作计划。</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加快耗材发票审核，及时推送：</a:t>
              </a:r>
              <a:r>
                <a:rPr lang="zh-CN" altLang="en-US" sz="1400" b="1" dirty="0">
                  <a:latin typeface="+mn-ea"/>
                </a:rPr>
                <a:t>相关部门应及时将发票审核后推送至财务审核，减少账面发票未达。</a:t>
              </a:r>
            </a:p>
            <a:p>
              <a:pPr marL="360045" indent="-342900">
                <a:lnSpc>
                  <a:spcPct val="160000"/>
                </a:lnSpc>
                <a:buFont typeface="Wingdings" panose="05000000000000000000" pitchFamily="2" charset="2"/>
                <a:buChar char="Ø"/>
              </a:pPr>
              <a:endParaRPr lang="zh-CN" altLang="en-US" sz="1400" b="1" dirty="0">
                <a:latin typeface="+mn-ea"/>
              </a:endParaRPr>
            </a:p>
          </p:txBody>
        </p:sp>
      </p:grpSp>
      <p:sp>
        <p:nvSpPr>
          <p:cNvPr id="48" name="鱼丸PPT4"/>
          <p:cNvSpPr/>
          <p:nvPr/>
        </p:nvSpPr>
        <p:spPr>
          <a:xfrm>
            <a:off x="-177983" y="882894"/>
            <a:ext cx="1886234" cy="436303"/>
          </a:xfrm>
          <a:prstGeom prst="rect">
            <a:avLst/>
          </a:prstGeom>
          <a:gradFill flip="none" rotWithShape="1">
            <a:gsLst>
              <a:gs pos="100000">
                <a:srgbClr val="2C4F81"/>
              </a:gs>
              <a:gs pos="0">
                <a:srgbClr val="2C4F81">
                  <a:lumMod val="60000"/>
                  <a:lumOff val="40000"/>
                </a:srgbClr>
              </a:gs>
            </a:gsLst>
            <a:lin ang="2700000" scaled="1"/>
            <a:tileRect/>
          </a:gradFill>
          <a:ln w="19050" cap="flat" cmpd="sng" algn="ctr">
            <a:noFill/>
            <a:prstDash val="solid"/>
            <a:miter lim="800000"/>
          </a:ln>
          <a:effectLst>
            <a:innerShdw blurRad="114300">
              <a:srgbClr val="2C4F81">
                <a:lumMod val="60000"/>
                <a:lumOff val="40000"/>
              </a:srgbClr>
            </a:innerShdw>
          </a:effectLst>
        </p:spPr>
        <p:txBody>
          <a:bodyPr rtlCol="0" anchor="ctr"/>
          <a:lstStyle/>
          <a:p>
            <a:pPr lvl="0" algn="ctr"/>
            <a:r>
              <a:rPr lang="zh-CN" altLang="en-US" b="1" kern="0" dirty="0">
                <a:solidFill>
                  <a:srgbClr val="FFFFFF"/>
                </a:solidFill>
                <a:latin typeface="微软雅黑" panose="020B0503020204020204" pitchFamily="34" charset="-122"/>
                <a:ea typeface="微软雅黑" panose="020B0503020204020204" pitchFamily="34" charset="-122"/>
                <a:cs typeface="OPPOSans R" panose="00020600040101010101" pitchFamily="18" charset="-122"/>
              </a:rPr>
              <a:t>重点</a:t>
            </a:r>
            <a:r>
              <a:rPr kumimoji="0" lang="zh-CN" altLang="en-US"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R" panose="00020600040101010101" pitchFamily="18" charset="-122"/>
              </a:rPr>
              <a:t>关注事项</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949039" y="2272956"/>
            <a:ext cx="6568858" cy="1721497"/>
          </a:xfrm>
          <a:prstGeom prst="rect">
            <a:avLst/>
          </a:prstGeom>
          <a:noFill/>
          <a:ln w="9525">
            <a:noFill/>
            <a:miter lim="800000"/>
          </a:ln>
        </p:spPr>
        <p:txBody>
          <a:bodyPr wrap="square">
            <a:spAutoFit/>
            <a:scene3d>
              <a:camera prst="orthographicFront"/>
              <a:lightRig rig="threePt" dir="t"/>
            </a:scene3d>
            <a:sp3d extrusionH="57150">
              <a:bevelT h="25400" prst="softRound"/>
            </a:sp3d>
          </a:bodyPr>
          <a:lstStyle/>
          <a:p>
            <a:pPr algn="ctr">
              <a:lnSpc>
                <a:spcPct val="150000"/>
              </a:lnSpc>
              <a:buFontTx/>
              <a:buNone/>
            </a:pPr>
            <a:r>
              <a:rPr lang="zh-CN" altLang="en-US" sz="8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谢 谢！</a:t>
            </a:r>
            <a:endParaRPr lang="en-US" altLang="zh-CN" sz="8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1.xml><?xml version="1.0" encoding="utf-8"?>
<p:tagLst xmlns:a="http://schemas.openxmlformats.org/drawingml/2006/main" xmlns:r="http://schemas.openxmlformats.org/officeDocument/2006/relationships" xmlns:p="http://schemas.openxmlformats.org/presentationml/2006/main">
  <p:tag name="TABLE_ENDDRAG_ORIGIN_RECT" val="716*230"/>
  <p:tag name="TABLE_ENDDRAG_RECT" val="95*123*716*230"/>
</p:tagLst>
</file>

<file path=ppt/tags/tag42.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3.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4.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2.xml><?xml version="1.0" encoding="utf-8"?>
<p:tagLst xmlns:a="http://schemas.openxmlformats.org/drawingml/2006/main" xmlns:r="http://schemas.openxmlformats.org/officeDocument/2006/relationships" xmlns:p="http://schemas.openxmlformats.org/presentationml/2006/main">
  <p:tag name="TABLE_ENDDRAG_ORIGIN_RECT" val="788*286"/>
  <p:tag name="TABLE_ENDDRAG_RECT" val="37*95*788*286"/>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61.xml><?xml version="1.0" encoding="utf-8"?>
<p:tagLst xmlns:a="http://schemas.openxmlformats.org/drawingml/2006/main" xmlns:r="http://schemas.openxmlformats.org/officeDocument/2006/relationships" xmlns:p="http://schemas.openxmlformats.org/presentationml/2006/main">
  <p:tag name="TABLE_ENDDRAG_ORIGIN_RECT" val="794*366"/>
  <p:tag name="TABLE_ENDDRAG_RECT" val="71*65*794*366"/>
</p:tagLst>
</file>

<file path=ppt/tags/tag162.xml><?xml version="1.0" encoding="utf-8"?>
<p:tagLst xmlns:a="http://schemas.openxmlformats.org/drawingml/2006/main" xmlns:r="http://schemas.openxmlformats.org/officeDocument/2006/relationships" xmlns:p="http://schemas.openxmlformats.org/presentationml/2006/main">
  <p:tag name="TABLE_ENDDRAG_ORIGIN_RECT" val="815*332"/>
  <p:tag name="TABLE_ENDDRAG_RECT" val="75*62*815*332"/>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7.xml><?xml version="1.0" encoding="utf-8"?>
<p:tagLst xmlns:a="http://schemas.openxmlformats.org/drawingml/2006/main" xmlns:r="http://schemas.openxmlformats.org/officeDocument/2006/relationships" xmlns:p="http://schemas.openxmlformats.org/presentationml/2006/main">
  <p:tag name="TABLE_ENDDRAG_ORIGIN_RECT" val="704*318"/>
  <p:tag name="TABLE_ENDDRAG_RECT" val="131*121*704*318"/>
</p:tagLst>
</file>

<file path=ppt/tags/tag218.xml><?xml version="1.0" encoding="utf-8"?>
<p:tagLst xmlns:a="http://schemas.openxmlformats.org/drawingml/2006/main" xmlns:r="http://schemas.openxmlformats.org/officeDocument/2006/relationships" xmlns:p="http://schemas.openxmlformats.org/presentationml/2006/main">
  <p:tag name="TABLE_ENDDRAG_ORIGIN_RECT" val="794*246"/>
  <p:tag name="TABLE_ENDDRAG_RECT" val="76*144*794*24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1585</TotalTime>
  <Words>11932</Words>
  <Application>Microsoft Office PowerPoint</Application>
  <PresentationFormat>宽屏</PresentationFormat>
  <Paragraphs>3190</Paragraphs>
  <Slides>73</Slides>
  <Notes>23</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73</vt:i4>
      </vt:variant>
    </vt:vector>
  </HeadingPairs>
  <TitlesOfParts>
    <vt:vector size="87" baseType="lpstr">
      <vt:lpstr>Arial Unicode MS</vt:lpstr>
      <vt:lpstr>Kozuka Gothic Pro M</vt:lpstr>
      <vt:lpstr>等线</vt:lpstr>
      <vt:lpstr>等线 Light</vt:lpstr>
      <vt:lpstr>华文楷体</vt:lpstr>
      <vt:lpstr>宋体</vt:lpstr>
      <vt:lpstr>微软雅黑</vt:lpstr>
      <vt:lpstr>Arial</vt:lpstr>
      <vt:lpstr>Arial Black</vt:lpstr>
      <vt:lpstr>Calibri</vt:lpstr>
      <vt:lpstr>Impact</vt:lpstr>
      <vt:lpstr>Wingdings</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上海交通大学医学院附属新华医院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user1</dc:creator>
  <cp:lastModifiedBy>dawei lu</cp:lastModifiedBy>
  <cp:revision>292</cp:revision>
  <dcterms:created xsi:type="dcterms:W3CDTF">2026-04-03T00:29:00Z</dcterms:created>
  <dcterms:modified xsi:type="dcterms:W3CDTF">2026-06-08T11:28:37Z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2AC89EB5F1E9401D925A6E7DD4E777E1_12</vt:lpwstr>
  </property>
</Properties>
</file>