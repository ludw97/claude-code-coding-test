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6.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7.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8.xml" ContentType="application/vnd.openxmlformats-officedocument.presentationml.notesSlide+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9.xml" ContentType="application/vnd.openxmlformats-officedocument.presentationml.notesSlid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0.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1.xml" ContentType="application/vnd.openxmlformats-officedocument.presentationml.notesSlide+xml"/>
  <Override PartName="/ppt/charts/chart22.xml" ContentType="application/vnd.openxmlformats-officedocument.drawingml.chart+xml"/>
  <Override PartName="/ppt/charts/chart23.xml" ContentType="application/vnd.openxmlformats-officedocument.drawingml.chart+xml"/>
  <Override PartName="/ppt/charts/style19.xml" ContentType="application/vnd.ms-office.chartstyle+xml"/>
  <Override PartName="/ppt/charts/colors19.xml" ContentType="application/vnd.ms-office.chartcolorstyl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charts/chart24.xml" ContentType="application/vnd.openxmlformats-officedocument.drawingml.chart+xml"/>
  <Override PartName="/ppt/charts/style20.xml" ContentType="application/vnd.ms-office.chartstyle+xml"/>
  <Override PartName="/ppt/charts/colors20.xml" ContentType="application/vnd.ms-office.chartcolorstyl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charts/chart25.xml" ContentType="application/vnd.openxmlformats-officedocument.drawingml.chart+xml"/>
  <Override PartName="/ppt/charts/style21.xml" ContentType="application/vnd.ms-office.chartstyle+xml"/>
  <Override PartName="/ppt/charts/colors21.xml" ContentType="application/vnd.ms-office.chartcolorstyl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charts/chart26.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7.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8.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9.xml" ContentType="application/vnd.openxmlformats-officedocument.drawingml.chart+xml"/>
  <Override PartName="/ppt/charts/style25.xml" ContentType="application/vnd.ms-office.chartstyle+xml"/>
  <Override PartName="/ppt/charts/colors25.xml" ContentType="application/vnd.ms-office.chartcolorstyl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charts/chart30.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1.xml" ContentType="application/vnd.openxmlformats-officedocument.drawingml.chart+xml"/>
  <Override PartName="/ppt/charts/style27.xml" ContentType="application/vnd.ms-office.chartstyle+xml"/>
  <Override PartName="/ppt/charts/colors27.xml" ContentType="application/vnd.ms-office.chartcolorstyl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charts/chart32.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3.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4.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5.xml" ContentType="application/vnd.openxmlformats-officedocument.drawingml.chart+xml"/>
  <Override PartName="/ppt/charts/style31.xml" ContentType="application/vnd.ms-office.chartstyle+xml"/>
  <Override PartName="/ppt/charts/colors31.xml" ContentType="application/vnd.ms-office.chartcolorstyle+xml"/>
  <Override PartName="/ppt/notesSlides/notesSlide12.xml" ContentType="application/vnd.openxmlformats-officedocument.presentationml.notesSlide+xml"/>
  <Override PartName="/ppt/charts/chart36.xml" ContentType="application/vnd.openxmlformats-officedocument.drawingml.chart+xml"/>
  <Override PartName="/ppt/charts/style32.xml" ContentType="application/vnd.ms-office.chartstyle+xml"/>
  <Override PartName="/ppt/charts/colors32.xml" ContentType="application/vnd.ms-office.chartcolorstyl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13.xml" ContentType="application/vnd.openxmlformats-officedocument.presentationml.notesSlide+xml"/>
  <Override PartName="/ppt/charts/chart37.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8.xml" ContentType="application/vnd.openxmlformats-officedocument.drawingml.chart+xml"/>
  <Override PartName="/ppt/charts/style34.xml" ContentType="application/vnd.ms-office.chartstyle+xml"/>
  <Override PartName="/ppt/charts/colors34.xml" ContentType="application/vnd.ms-office.chartcolorstyle+xml"/>
  <Override PartName="/ppt/tags/tag216.xml" ContentType="application/vnd.openxmlformats-officedocument.presentationml.tags+xml"/>
  <Override PartName="/ppt/notesSlides/notesSlide14.xml" ContentType="application/vnd.openxmlformats-officedocument.presentationml.notesSlide+xml"/>
  <Override PartName="/ppt/tags/tag217.xml" ContentType="application/vnd.openxmlformats-officedocument.presentationml.tags+xml"/>
  <Override PartName="/ppt/notesSlides/notesSlide15.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charts/chart39.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40.xml" ContentType="application/vnd.openxmlformats-officedocument.drawingml.chart+xml"/>
  <Override PartName="/ppt/charts/style36.xml" ContentType="application/vnd.ms-office.chartstyle+xml"/>
  <Override PartName="/ppt/charts/colors36.xml" ContentType="application/vnd.ms-office.chartcolorstyl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charts/chart41.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42.xml" ContentType="application/vnd.openxmlformats-officedocument.drawingml.chart+xml"/>
  <Override PartName="/ppt/charts/chart43.xml" ContentType="application/vnd.openxmlformats-officedocument.drawingml.chart+xml"/>
  <Override PartName="/ppt/charts/style38.xml" ContentType="application/vnd.ms-office.chartstyle+xml"/>
  <Override PartName="/ppt/charts/colors38.xml" ContentType="application/vnd.ms-office.chartcolorstyl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charts/chart44.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5.xml" ContentType="application/vnd.openxmlformats-officedocument.drawingml.chart+xml"/>
  <Override PartName="/ppt/charts/chart46.xml" ContentType="application/vnd.openxmlformats-officedocument.drawingml.chart+xml"/>
  <Override PartName="/ppt/charts/style40.xml" ContentType="application/vnd.ms-office.chartstyle+xml"/>
  <Override PartName="/ppt/charts/colors40.xml" ContentType="application/vnd.ms-office.chartcolorstyle+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notesSlides/notesSlide16.xml" ContentType="application/vnd.openxmlformats-officedocument.presentationml.notesSlide+xml"/>
  <Override PartName="/ppt/charts/chart47.xml" ContentType="application/vnd.openxmlformats-officedocument.drawingml.chart+xml"/>
  <Override PartName="/ppt/charts/style41.xml" ContentType="application/vnd.ms-office.chartstyle+xml"/>
  <Override PartName="/ppt/charts/colors41.xml" ContentType="application/vnd.ms-office.chartcolorstyle+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charts/chart48.xml" ContentType="application/vnd.openxmlformats-officedocument.drawingml.chart+xml"/>
  <Override PartName="/ppt/charts/style42.xml" ContentType="application/vnd.ms-office.chartstyle+xml"/>
  <Override PartName="/ppt/charts/colors42.xml" ContentType="application/vnd.ms-office.chartcolorstyle+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charts/chart49.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50.xml" ContentType="application/vnd.openxmlformats-officedocument.drawingml.chart+xml"/>
  <Override PartName="/ppt/charts/style44.xml" ContentType="application/vnd.ms-office.chartstyle+xml"/>
  <Override PartName="/ppt/charts/colors44.xml" ContentType="application/vnd.ms-office.chartcolorstyle+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charts/chart51.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52.xml" ContentType="application/vnd.openxmlformats-officedocument.drawingml.chart+xml"/>
  <Override PartName="/ppt/charts/style46.xml" ContentType="application/vnd.ms-office.chartstyle+xml"/>
  <Override PartName="/ppt/charts/colors46.xml" ContentType="application/vnd.ms-office.chartcolorstyle+xml"/>
  <Override PartName="/ppt/notesSlides/notesSlide17.xml" ContentType="application/vnd.openxmlformats-officedocument.presentationml.notesSlide+xml"/>
  <Override PartName="/ppt/charts/chart53.xml" ContentType="application/vnd.openxmlformats-officedocument.drawingml.chart+xml"/>
  <Override PartName="/ppt/theme/themeOverride1.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99.xml" ContentType="application/vnd.openxmlformats-officedocument.presentationml.tags+xml"/>
  <Override PartName="/ppt/tags/tag300.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82"/>
  </p:notesMasterIdLst>
  <p:sldIdLst>
    <p:sldId id="267" r:id="rId3"/>
    <p:sldId id="2447" r:id="rId4"/>
    <p:sldId id="2397" r:id="rId5"/>
    <p:sldId id="2402" r:id="rId6"/>
    <p:sldId id="269" r:id="rId7"/>
    <p:sldId id="2480" r:id="rId8"/>
    <p:sldId id="2481" r:id="rId9"/>
    <p:sldId id="2482" r:id="rId10"/>
    <p:sldId id="2483" r:id="rId11"/>
    <p:sldId id="2484" r:id="rId12"/>
    <p:sldId id="2485" r:id="rId13"/>
    <p:sldId id="2486" r:id="rId14"/>
    <p:sldId id="2487" r:id="rId15"/>
    <p:sldId id="2488" r:id="rId16"/>
    <p:sldId id="2489" r:id="rId17"/>
    <p:sldId id="2490" r:id="rId18"/>
    <p:sldId id="2491" r:id="rId19"/>
    <p:sldId id="2492" r:id="rId20"/>
    <p:sldId id="2493" r:id="rId21"/>
    <p:sldId id="2494" r:id="rId22"/>
    <p:sldId id="2495" r:id="rId23"/>
    <p:sldId id="2496" r:id="rId24"/>
    <p:sldId id="2299" r:id="rId25"/>
    <p:sldId id="2301" r:id="rId26"/>
    <p:sldId id="2499" r:id="rId27"/>
    <p:sldId id="2302" r:id="rId28"/>
    <p:sldId id="2286" r:id="rId29"/>
    <p:sldId id="2306" r:id="rId30"/>
    <p:sldId id="2307" r:id="rId31"/>
    <p:sldId id="2473" r:id="rId32"/>
    <p:sldId id="2308" r:id="rId33"/>
    <p:sldId id="2309" r:id="rId34"/>
    <p:sldId id="2474" r:id="rId35"/>
    <p:sldId id="2310" r:id="rId36"/>
    <p:sldId id="2311" r:id="rId37"/>
    <p:sldId id="2312" r:id="rId38"/>
    <p:sldId id="2313" r:id="rId39"/>
    <p:sldId id="2314" r:id="rId40"/>
    <p:sldId id="2315" r:id="rId41"/>
    <p:sldId id="2316" r:id="rId42"/>
    <p:sldId id="2303" r:id="rId43"/>
    <p:sldId id="2502" r:id="rId44"/>
    <p:sldId id="265" r:id="rId45"/>
    <p:sldId id="2298" r:id="rId46"/>
    <p:sldId id="2317" r:id="rId47"/>
    <p:sldId id="2318" r:id="rId48"/>
    <p:sldId id="2504" r:id="rId49"/>
    <p:sldId id="2505" r:id="rId50"/>
    <p:sldId id="2429" r:id="rId51"/>
    <p:sldId id="2459" r:id="rId52"/>
    <p:sldId id="2460" r:id="rId53"/>
    <p:sldId id="2461" r:id="rId54"/>
    <p:sldId id="2462" r:id="rId55"/>
    <p:sldId id="2463" r:id="rId56"/>
    <p:sldId id="2464" r:id="rId57"/>
    <p:sldId id="2465" r:id="rId58"/>
    <p:sldId id="2466" r:id="rId59"/>
    <p:sldId id="2448" r:id="rId60"/>
    <p:sldId id="2475" r:id="rId61"/>
    <p:sldId id="2476" r:id="rId62"/>
    <p:sldId id="2477" r:id="rId63"/>
    <p:sldId id="2478" r:id="rId64"/>
    <p:sldId id="2479" r:id="rId65"/>
    <p:sldId id="2449" r:id="rId66"/>
    <p:sldId id="2380" r:id="rId67"/>
    <p:sldId id="2381" r:id="rId68"/>
    <p:sldId id="2382" r:id="rId69"/>
    <p:sldId id="2383" r:id="rId70"/>
    <p:sldId id="2384" r:id="rId71"/>
    <p:sldId id="2446" r:id="rId72"/>
    <p:sldId id="2428" r:id="rId73"/>
    <p:sldId id="2425" r:id="rId74"/>
    <p:sldId id="2424" r:id="rId75"/>
    <p:sldId id="2426" r:id="rId76"/>
    <p:sldId id="2427" r:id="rId77"/>
    <p:sldId id="2467" r:id="rId78"/>
    <p:sldId id="2450" r:id="rId79"/>
    <p:sldId id="2422" r:id="rId80"/>
    <p:sldId id="2396"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p:cViewPr varScale="1">
        <p:scale>
          <a:sx n="111" d="100"/>
          <a:sy n="111" d="100"/>
        </p:scale>
        <p:origin x="64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esktop\&#25968;&#25454;&#27169;&#29256;.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Users/2le/Desktop/&#25968;&#25454;&#27169;&#29256;(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Users/2le/Desktop/&#25968;&#25454;&#27169;&#29256;(1).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Users/2le/Desktop/&#25968;&#25454;&#27169;&#29256;(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Users/2le/Desktop/&#25968;&#25454;&#27169;&#29256;(1).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Users/2le/Desktop/&#25968;&#25454;&#27169;&#29256;(1).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1" Type="http://schemas.openxmlformats.org/officeDocument/2006/relationships/oleObject" Target="/Users/2le/Desktop/&#25955;&#28857;&#22270;(1).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User\Desktop\&#25955;&#28857;&#22270;(1)(1).xlsx" TargetMode="External"/></Relationships>
</file>

<file path=ppt/charts/_rels/chart15.xml.rels><?xml version="1.0" encoding="UTF-8" standalone="yes"?>
<Relationships xmlns="http://schemas.openxmlformats.org/package/2006/relationships"><Relationship Id="rId3" Type="http://schemas.openxmlformats.org/officeDocument/2006/relationships/oleObject" Target="file:///C:\Users\User\Desktop\&#25955;&#28857;&#22270;(1)(1).xlsx" TargetMode="External"/><Relationship Id="rId2" Type="http://schemas.microsoft.com/office/2011/relationships/chartColorStyle" Target="colors13.xml"/><Relationship Id="rId1" Type="http://schemas.microsoft.com/office/2011/relationships/chartStyle" Target="style13.xml"/></Relationships>
</file>

<file path=ppt/charts/_rels/chart16.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14.xml"/><Relationship Id="rId1" Type="http://schemas.microsoft.com/office/2011/relationships/chartStyle" Target="style14.xml"/></Relationships>
</file>

<file path=ppt/charts/_rels/chart17.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1" Type="http://schemas.openxmlformats.org/officeDocument/2006/relationships/oleObject" Target="file:///C:\Users\User\Desktop\&#27178;&#21521;&#21307;&#38498;&#24213;&#31295;(1)(1).xlsm" TargetMode="External"/></Relationships>
</file>

<file path=ppt/charts/_rels/chart21.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18.xml"/><Relationship Id="rId1" Type="http://schemas.microsoft.com/office/2011/relationships/chartStyle" Target="style18.xml"/></Relationships>
</file>

<file path=ppt/charts/_rels/chart22.xml.rels><?xml version="1.0" encoding="UTF-8" standalone="yes"?>
<Relationships xmlns="http://schemas.openxmlformats.org/package/2006/relationships"><Relationship Id="rId1" Type="http://schemas.openxmlformats.org/officeDocument/2006/relationships/oleObject" Target="/Users/2le/Desktop/&#27178;&#21521;&#21307;&#38498;&#24213;&#31295;(1)(1)(1).xlsm" TargetMode="External"/></Relationships>
</file>

<file path=ppt/charts/_rels/chart23.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19.xml"/><Relationship Id="rId1" Type="http://schemas.microsoft.com/office/2011/relationships/chartStyle" Target="style19.xml"/></Relationships>
</file>

<file path=ppt/charts/_rels/chart24.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0.xml"/><Relationship Id="rId1" Type="http://schemas.microsoft.com/office/2011/relationships/chartStyle" Target="style20.xml"/></Relationships>
</file>

<file path=ppt/charts/_rels/chart25.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1.xml"/><Relationship Id="rId1" Type="http://schemas.microsoft.com/office/2011/relationships/chartStyle" Target="style21.xml"/></Relationships>
</file>

<file path=ppt/charts/_rels/chart26.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2.xml"/><Relationship Id="rId1" Type="http://schemas.microsoft.com/office/2011/relationships/chartStyle" Target="style22.xml"/></Relationships>
</file>

<file path=ppt/charts/_rels/chart27.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3.xml"/><Relationship Id="rId1" Type="http://schemas.microsoft.com/office/2011/relationships/chartStyle" Target="style23.xml"/></Relationships>
</file>

<file path=ppt/charts/_rels/chart28.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4.xml"/><Relationship Id="rId1" Type="http://schemas.microsoft.com/office/2011/relationships/chartStyle" Target="style24.xml"/></Relationships>
</file>

<file path=ppt/charts/_rels/chart29.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5.xml"/><Relationship Id="rId1" Type="http://schemas.microsoft.com/office/2011/relationships/chartStyle" Target="style25.xml"/></Relationships>
</file>

<file path=ppt/charts/_rels/chart30.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6.xml"/><Relationship Id="rId1" Type="http://schemas.microsoft.com/office/2011/relationships/chartStyle" Target="style26.xml"/></Relationships>
</file>

<file path=ppt/charts/_rels/chart31.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7.xml"/><Relationship Id="rId1" Type="http://schemas.microsoft.com/office/2011/relationships/chartStyle" Target="style27.xml"/></Relationships>
</file>

<file path=ppt/charts/_rels/chart32.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8.xml"/><Relationship Id="rId1" Type="http://schemas.microsoft.com/office/2011/relationships/chartStyle" Target="style28.xml"/></Relationships>
</file>

<file path=ppt/charts/_rels/chart33.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29.xml"/><Relationship Id="rId1" Type="http://schemas.microsoft.com/office/2011/relationships/chartStyle" Target="style29.xml"/></Relationships>
</file>

<file path=ppt/charts/_rels/chart34.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30.xml"/><Relationship Id="rId1" Type="http://schemas.microsoft.com/office/2011/relationships/chartStyle" Target="style30.xml"/></Relationships>
</file>

<file path=ppt/charts/_rels/chart35.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31.xml"/><Relationship Id="rId1" Type="http://schemas.microsoft.com/office/2011/relationships/chartStyle" Target="style31.xml"/></Relationships>
</file>

<file path=ppt/charts/_rels/chart36.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32.xml"/><Relationship Id="rId1" Type="http://schemas.microsoft.com/office/2011/relationships/chartStyle" Target="style32.xml"/></Relationships>
</file>

<file path=ppt/charts/_rels/chart37.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33.xml"/><Relationship Id="rId1" Type="http://schemas.microsoft.com/office/2011/relationships/chartStyle" Target="style33.xml"/></Relationships>
</file>

<file path=ppt/charts/_rels/chart38.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34.xml"/><Relationship Id="rId1" Type="http://schemas.microsoft.com/office/2011/relationships/chartStyle" Target="style34.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35.xml"/><Relationship Id="rId1" Type="http://schemas.microsoft.com/office/2011/relationships/chartStyle" Target="style35.xml"/></Relationships>
</file>

<file path=ppt/charts/_rels/chart40.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36.xml"/><Relationship Id="rId1" Type="http://schemas.microsoft.com/office/2011/relationships/chartStyle" Target="style36.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37.xml"/><Relationship Id="rId1" Type="http://schemas.microsoft.com/office/2011/relationships/chartStyle" Target="style37.xml"/></Relationships>
</file>

<file path=ppt/charts/_rels/chart42.xml.rels><?xml version="1.0" encoding="UTF-8" standalone="yes"?>
<Relationships xmlns="http://schemas.openxmlformats.org/package/2006/relationships"><Relationship Id="rId1" Type="http://schemas.openxmlformats.org/officeDocument/2006/relationships/oleObject" Target="file:///C:\Users\User\Desktop\&#27178;&#21521;&#21307;&#38498;&#24213;&#31295;(1)(1).xlsm" TargetMode="External"/></Relationships>
</file>

<file path=ppt/charts/_rels/chart43.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38.xml"/><Relationship Id="rId1" Type="http://schemas.microsoft.com/office/2011/relationships/chartStyle" Target="style38.xml"/></Relationships>
</file>

<file path=ppt/charts/_rels/chart44.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39.xml"/><Relationship Id="rId1" Type="http://schemas.microsoft.com/office/2011/relationships/chartStyle" Target="style39.xml"/></Relationships>
</file>

<file path=ppt/charts/_rels/chart45.xml.rels><?xml version="1.0" encoding="UTF-8" standalone="yes"?>
<Relationships xmlns="http://schemas.openxmlformats.org/package/2006/relationships"><Relationship Id="rId1" Type="http://schemas.openxmlformats.org/officeDocument/2006/relationships/oleObject" Target="/Users/2le/Desktop/&#27178;&#21521;&#21307;&#38498;&#24213;&#31295;(1)(1)(1).xlsm" TargetMode="External"/></Relationships>
</file>

<file path=ppt/charts/_rels/chart46.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40.xml"/><Relationship Id="rId1" Type="http://schemas.microsoft.com/office/2011/relationships/chartStyle" Target="style40.xml"/></Relationships>
</file>

<file path=ppt/charts/_rels/chart47.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41.xml"/><Relationship Id="rId1" Type="http://schemas.microsoft.com/office/2011/relationships/chartStyle" Target="style41.xml"/></Relationships>
</file>

<file path=ppt/charts/_rels/chart48.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4&#26376;\&#26032;&#21326;&#21307;&#38498;2026&#24180;4&#26376;&#32463;&#27982;&#36816;&#34892;&#24773;&#20917;-&#20998;&#26512;&#24213;&#31295;.xlsx" TargetMode="External"/><Relationship Id="rId2" Type="http://schemas.microsoft.com/office/2011/relationships/chartColorStyle" Target="colors42.xml"/><Relationship Id="rId1" Type="http://schemas.microsoft.com/office/2011/relationships/chartStyle" Target="style42.xml"/></Relationships>
</file>

<file path=ppt/charts/_rels/chart49.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43.xml"/><Relationship Id="rId1" Type="http://schemas.microsoft.com/office/2011/relationships/chartStyle" Target="style43.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User\Desktop\&#27178;&#21521;&#21307;&#38498;&#24213;&#31295;(1)(1).xlsm" TargetMode="External"/><Relationship Id="rId2" Type="http://schemas.microsoft.com/office/2011/relationships/chartColorStyle" Target="colors44.xml"/><Relationship Id="rId1" Type="http://schemas.microsoft.com/office/2011/relationships/chartStyle" Target="style44.xml"/></Relationships>
</file>

<file path=ppt/charts/_rels/chart51.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45.xml"/><Relationship Id="rId1" Type="http://schemas.microsoft.com/office/2011/relationships/chartStyle" Target="style45.xml"/></Relationships>
</file>

<file path=ppt/charts/_rels/chart52.xml.rels><?xml version="1.0" encoding="UTF-8" standalone="yes"?>
<Relationships xmlns="http://schemas.openxmlformats.org/package/2006/relationships"><Relationship Id="rId3" Type="http://schemas.openxmlformats.org/officeDocument/2006/relationships/oleObject" Target="/Users/2le/Desktop/&#27178;&#21521;&#21307;&#38498;&#24213;&#31295;(1)(1)(1).xlsm" TargetMode="External"/><Relationship Id="rId2" Type="http://schemas.microsoft.com/office/2011/relationships/chartColorStyle" Target="colors46.xml"/><Relationship Id="rId1" Type="http://schemas.microsoft.com/office/2011/relationships/chartStyle" Target="style46.xml"/></Relationships>
</file>

<file path=ppt/charts/_rels/chart53.xml.rels><?xml version="1.0" encoding="UTF-8" standalone="yes"?>
<Relationships xmlns="http://schemas.openxmlformats.org/package/2006/relationships"><Relationship Id="rId2" Type="http://schemas.openxmlformats.org/officeDocument/2006/relationships/oleObject" Target="file:///C:\Users\User\Desktop\4&#26376;&#20998;&#26512;&#21152;&#29677;\3&#26376;&#20998;&#26512;&#21152;&#29677;\3&#26376;&#25968;&#25454;\3&#26376;&#20998;&#26512;&#24213;&#31295;.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569379173880804E-3"/>
          <c:y val="8.3333333333333297E-3"/>
          <c:w val="0.93888888888888899"/>
          <c:h val="0.84951837270341202"/>
        </c:manualLayout>
      </c:layout>
      <c:barChart>
        <c:barDir val="col"/>
        <c:grouping val="clustered"/>
        <c:varyColors val="0"/>
        <c:ser>
          <c:idx val="0"/>
          <c:order val="0"/>
          <c:spPr>
            <a:solidFill>
              <a:srgbClr val="EE822F"/>
            </a:solidFill>
            <a:ln>
              <a:solidFill>
                <a:srgbClr val="EE822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EC38-4F6C-A8B4-4FF970EC6740}"/>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EC38-4F6C-A8B4-4FF970EC6740}"/>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[数据模版.xlsx]门诊!$B$7:$C$7</c:f>
              <c:numCache>
                <c:formatCode>yyyy"年"m"月"</c:formatCode>
                <c:ptCount val="2"/>
                <c:pt idx="0">
                  <c:v>46113</c:v>
                </c:pt>
                <c:pt idx="1">
                  <c:v>45748</c:v>
                </c:pt>
              </c:numCache>
            </c:numRef>
          </c:cat>
          <c:val>
            <c:numRef>
              <c:f>[数据模版.xlsx]门诊!$B$8:$C$8</c:f>
              <c:numCache>
                <c:formatCode>0.00_ </c:formatCode>
                <c:ptCount val="2"/>
                <c:pt idx="0">
                  <c:v>46.534599999999998</c:v>
                </c:pt>
                <c:pt idx="1">
                  <c:v>36.1768</c:v>
                </c:pt>
              </c:numCache>
            </c:numRef>
          </c:val>
          <c:extLst>
            <c:ext xmlns:c16="http://schemas.microsoft.com/office/drawing/2014/chart" uri="{C3380CC4-5D6E-409C-BE32-E72D297353CC}">
              <c16:uniqueId val="{00000004-EC38-4F6C-A8B4-4FF970EC6740}"/>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5302023791132E-2"/>
          <c:y val="8.3333333333333297E-3"/>
          <c:w val="0.93888888888888899"/>
          <c:h val="0.84951837270341202"/>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45E8-4BB1-A755-6D2A830D3696}"/>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45E8-4BB1-A755-6D2A830D3696}"/>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[数据模版.xlsx]门诊!$I$7:$J$7</c:f>
              <c:numCache>
                <c:formatCode>yyyy"年"m"月"</c:formatCode>
                <c:ptCount val="2"/>
                <c:pt idx="0">
                  <c:v>46113</c:v>
                </c:pt>
                <c:pt idx="1">
                  <c:v>45748</c:v>
                </c:pt>
              </c:numCache>
            </c:numRef>
          </c:cat>
          <c:val>
            <c:numRef>
              <c:f>[数据模版.xlsx]门诊!$I$8:$J$8</c:f>
              <c:numCache>
                <c:formatCode>0.00_ </c:formatCode>
                <c:ptCount val="2"/>
                <c:pt idx="0">
                  <c:v>40.728400000000001</c:v>
                </c:pt>
                <c:pt idx="1">
                  <c:v>31.745899999999999</c:v>
                </c:pt>
              </c:numCache>
            </c:numRef>
          </c:val>
          <c:extLst>
            <c:ext xmlns:c16="http://schemas.microsoft.com/office/drawing/2014/chart" uri="{C3380CC4-5D6E-409C-BE32-E72D297353CC}">
              <c16:uniqueId val="{00000004-45E8-4BB1-A755-6D2A830D3696}"/>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solidFill>
                  <a:schemeClr val="bg1"/>
                </a:solidFill>
              </a:ln>
              <a:effectLst/>
            </c:spPr>
            <c:extLst>
              <c:ext xmlns:c16="http://schemas.microsoft.com/office/drawing/2014/chart" uri="{C3380CC4-5D6E-409C-BE32-E72D297353CC}">
                <c16:uniqueId val="{00000001-C28F-4FF6-8E61-89A462CE12B9}"/>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C28F-4FF6-8E61-89A462CE12B9}"/>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[数据模版.xlsx]门诊!$H$114:$H$115</c:f>
              <c:strCache>
                <c:ptCount val="2"/>
                <c:pt idx="0">
                  <c:v> 医保</c:v>
                </c:pt>
                <c:pt idx="1">
                  <c:v>自费</c:v>
                </c:pt>
              </c:strCache>
            </c:strRef>
          </c:cat>
          <c:val>
            <c:numRef>
              <c:f>[数据模版.xlsx]门诊!$I$114:$I$115</c:f>
              <c:numCache>
                <c:formatCode>0.00_ </c:formatCode>
                <c:ptCount val="2"/>
                <c:pt idx="0">
                  <c:v>6.7988</c:v>
                </c:pt>
                <c:pt idx="1">
                  <c:v>1.1216999999999999</c:v>
                </c:pt>
              </c:numCache>
            </c:numRef>
          </c:val>
          <c:extLst>
            <c:ext xmlns:c16="http://schemas.microsoft.com/office/drawing/2014/chart" uri="{C3380CC4-5D6E-409C-BE32-E72D297353CC}">
              <c16:uniqueId val="{00000004-C28F-4FF6-8E61-89A462CE12B9}"/>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05407fda-d946-4847-9fe8-217e204bbde0}"/>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gap"/>
    <c:showDLblsOverMax val="0"/>
    <c:extLst>
      <c:ext uri="{0b15fc19-7d7d-44ad-8c2d-2c3a37ce22c3}">
        <chartProps xmlns="https://web.wps.cn/et/2018/main" chartId="{ed53f73f-512f-45fe-a0c6-8e89e4532129}"/>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solidFill>
                  <a:schemeClr val="bg1"/>
                </a:solidFill>
              </a:ln>
              <a:effectLst/>
            </c:spPr>
            <c:extLst>
              <c:ext xmlns:c16="http://schemas.microsoft.com/office/drawing/2014/chart" uri="{C3380CC4-5D6E-409C-BE32-E72D297353CC}">
                <c16:uniqueId val="{00000001-5925-41F8-9385-11929DF562CC}"/>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5925-41F8-9385-11929DF562CC}"/>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[数据模版.xlsx]门诊!$H$142:$H$143</c:f>
              <c:strCache>
                <c:ptCount val="2"/>
                <c:pt idx="0">
                  <c:v> 医保</c:v>
                </c:pt>
                <c:pt idx="1">
                  <c:v>自费</c:v>
                </c:pt>
              </c:strCache>
            </c:strRef>
          </c:cat>
          <c:val>
            <c:numRef>
              <c:f>[数据模版.xlsx]门诊!$I$142:$I$143</c:f>
              <c:numCache>
                <c:formatCode>0.00_ </c:formatCode>
                <c:ptCount val="2"/>
                <c:pt idx="0">
                  <c:v>27.7563</c:v>
                </c:pt>
                <c:pt idx="1">
                  <c:v>5.0515999999999996</c:v>
                </c:pt>
              </c:numCache>
            </c:numRef>
          </c:val>
          <c:extLst>
            <c:ext xmlns:c16="http://schemas.microsoft.com/office/drawing/2014/chart" uri="{C3380CC4-5D6E-409C-BE32-E72D297353CC}">
              <c16:uniqueId val="{00000004-5925-41F8-9385-11929DF562CC}"/>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499f12d9-94e1-4632-957b-4c2183eb77a9}"/>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009999"/>
              </a:solidFill>
              <a:ln>
                <a:solidFill>
                  <a:schemeClr val="bg1"/>
                </a:solidFill>
              </a:ln>
              <a:effectLst/>
            </c:spPr>
            <c:extLst>
              <c:ext xmlns:c16="http://schemas.microsoft.com/office/drawing/2014/chart" uri="{C3380CC4-5D6E-409C-BE32-E72D297353CC}">
                <c16:uniqueId val="{00000001-6021-4167-ACC3-F0D09C849D82}"/>
              </c:ext>
            </c:extLst>
          </c:dPt>
          <c:dPt>
            <c:idx val="1"/>
            <c:bubble3D val="0"/>
            <c:spPr>
              <a:solidFill>
                <a:schemeClr val="accent4">
                  <a:lumMod val="75000"/>
                </a:schemeClr>
              </a:solidFill>
              <a:ln>
                <a:solidFill>
                  <a:schemeClr val="bg1"/>
                </a:solidFill>
              </a:ln>
              <a:effectLst/>
            </c:spPr>
            <c:extLst>
              <c:ext xmlns:c16="http://schemas.microsoft.com/office/drawing/2014/chart" uri="{C3380CC4-5D6E-409C-BE32-E72D297353CC}">
                <c16:uniqueId val="{00000003-6021-4167-ACC3-F0D09C849D82}"/>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[数据模版.xlsx]门诊!$A$114:$A$115</c:f>
              <c:strCache>
                <c:ptCount val="2"/>
                <c:pt idx="0">
                  <c:v> 本地</c:v>
                </c:pt>
                <c:pt idx="1">
                  <c:v>           异地</c:v>
                </c:pt>
              </c:strCache>
            </c:strRef>
          </c:cat>
          <c:val>
            <c:numRef>
              <c:f>[数据模版.xlsx]门诊!$B$114:$B$115</c:f>
              <c:numCache>
                <c:formatCode>0.00_ </c:formatCode>
                <c:ptCount val="2"/>
                <c:pt idx="0">
                  <c:v>6.3674999999999997</c:v>
                </c:pt>
                <c:pt idx="1">
                  <c:v>1.5529999999999999</c:v>
                </c:pt>
              </c:numCache>
            </c:numRef>
          </c:val>
          <c:extLst>
            <c:ext xmlns:c16="http://schemas.microsoft.com/office/drawing/2014/chart" uri="{C3380CC4-5D6E-409C-BE32-E72D297353CC}">
              <c16:uniqueId val="{00000004-6021-4167-ACC3-F0D09C849D82}"/>
            </c:ext>
          </c:extLst>
        </c:ser>
        <c:ser>
          <c:idx val="1"/>
          <c:order val="1"/>
          <c:dPt>
            <c:idx val="0"/>
            <c:bubble3D val="0"/>
            <c:spPr>
              <a:solidFill>
                <a:schemeClr val="accent1"/>
              </a:solidFill>
              <a:ln>
                <a:solidFill>
                  <a:schemeClr val="bg1"/>
                </a:solidFill>
              </a:ln>
              <a:effectLst/>
            </c:spPr>
            <c:extLst>
              <c:ext xmlns:c16="http://schemas.microsoft.com/office/drawing/2014/chart" uri="{C3380CC4-5D6E-409C-BE32-E72D297353CC}">
                <c16:uniqueId val="{00000006-6021-4167-ACC3-F0D09C849D82}"/>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[数据模版.xlsx]门诊!$A$114:$A$115</c:f>
              <c:strCache>
                <c:ptCount val="2"/>
                <c:pt idx="0">
                  <c:v> 本地</c:v>
                </c:pt>
                <c:pt idx="1">
                  <c:v>           异地</c:v>
                </c:pt>
              </c:strCache>
            </c:strRef>
          </c:cat>
          <c:val>
            <c:numRef>
              <c:f>[数据模版.xlsx]门诊!$B$112</c:f>
              <c:numCache>
                <c:formatCode>yyyy"年"m"月"</c:formatCode>
                <c:ptCount val="1"/>
                <c:pt idx="0">
                  <c:v>46113</c:v>
                </c:pt>
              </c:numCache>
            </c:numRef>
          </c:val>
          <c:extLst>
            <c:ext xmlns:c16="http://schemas.microsoft.com/office/drawing/2014/chart" uri="{C3380CC4-5D6E-409C-BE32-E72D297353CC}">
              <c16:uniqueId val="{00000007-6021-4167-ACC3-F0D09C849D82}"/>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ef06826d-fc5a-4a45-9ef7-6938c51dc8c0}"/>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009999"/>
            </a:solidFill>
          </c:spPr>
          <c:dPt>
            <c:idx val="0"/>
            <c:bubble3D val="0"/>
            <c:spPr>
              <a:solidFill>
                <a:srgbClr val="009999"/>
              </a:solidFill>
              <a:ln>
                <a:solidFill>
                  <a:schemeClr val="bg1"/>
                </a:solidFill>
              </a:ln>
              <a:effectLst/>
            </c:spPr>
            <c:extLst>
              <c:ext xmlns:c16="http://schemas.microsoft.com/office/drawing/2014/chart" uri="{C3380CC4-5D6E-409C-BE32-E72D297353CC}">
                <c16:uniqueId val="{00000001-B9F2-4790-A3F6-344177255751}"/>
              </c:ext>
            </c:extLst>
          </c:dPt>
          <c:dPt>
            <c:idx val="1"/>
            <c:bubble3D val="0"/>
            <c:spPr>
              <a:solidFill>
                <a:schemeClr val="accent4">
                  <a:lumMod val="75000"/>
                </a:schemeClr>
              </a:solidFill>
              <a:ln>
                <a:solidFill>
                  <a:schemeClr val="bg1"/>
                </a:solidFill>
              </a:ln>
              <a:effectLst/>
            </c:spPr>
            <c:extLst>
              <c:ext xmlns:c16="http://schemas.microsoft.com/office/drawing/2014/chart" uri="{C3380CC4-5D6E-409C-BE32-E72D297353CC}">
                <c16:uniqueId val="{00000003-B9F2-4790-A3F6-344177255751}"/>
              </c:ext>
            </c:extLst>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[数据模版.xlsx]门诊!$A$142:$A$143</c:f>
              <c:strCache>
                <c:ptCount val="2"/>
                <c:pt idx="0">
                  <c:v> 本地</c:v>
                </c:pt>
                <c:pt idx="1">
                  <c:v>           异地</c:v>
                </c:pt>
              </c:strCache>
            </c:strRef>
          </c:cat>
          <c:val>
            <c:numRef>
              <c:f>[数据模版.xlsx]门诊!$B$142:$B$143</c:f>
              <c:numCache>
                <c:formatCode>0.00_ </c:formatCode>
                <c:ptCount val="2"/>
                <c:pt idx="0">
                  <c:v>27.592700000000001</c:v>
                </c:pt>
                <c:pt idx="1">
                  <c:v>5.2152000000000003</c:v>
                </c:pt>
              </c:numCache>
            </c:numRef>
          </c:val>
          <c:extLst>
            <c:ext xmlns:c16="http://schemas.microsoft.com/office/drawing/2014/chart" uri="{C3380CC4-5D6E-409C-BE32-E72D297353CC}">
              <c16:uniqueId val="{00000004-B9F2-4790-A3F6-344177255751}"/>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24f7a764-c172-436f-b4b3-d887f09be9bd}"/>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764629388816597E-3"/>
          <c:y val="4.7348356262742898E-2"/>
          <c:w val="0.93098039215686301"/>
          <c:h val="0.74505021583045905"/>
        </c:manualLayout>
      </c:layout>
      <c:barChart>
        <c:barDir val="col"/>
        <c:grouping val="clustered"/>
        <c:varyColors val="0"/>
        <c:ser>
          <c:idx val="0"/>
          <c:order val="0"/>
          <c:tx>
            <c:strRef>
              <c:f>'[数据模版(1).xlsx]门诊'!$I$44</c:f>
              <c:strCache>
                <c:ptCount val="1"/>
                <c:pt idx="0">
                  <c:v>2026年4月</c:v>
                </c:pt>
              </c:strCache>
            </c:strRef>
          </c:tx>
          <c:spPr>
            <a:solidFill>
              <a:srgbClr val="0000FF"/>
            </a:solidFill>
            <a:ln>
              <a:solidFill>
                <a:srgbClr val="0000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'[数据模版(1).xlsx]门诊'!$H$45:$H$47</c:f>
              <c:strCache>
                <c:ptCount val="3"/>
                <c:pt idx="0">
                  <c:v>专家门诊</c:v>
                </c:pt>
                <c:pt idx="1">
                  <c:v>特需门诊</c:v>
                </c:pt>
                <c:pt idx="2">
                  <c:v>普通门诊</c:v>
                </c:pt>
              </c:strCache>
            </c:strRef>
          </c:cat>
          <c:val>
            <c:numRef>
              <c:f>'[数据模版(1).xlsx]门诊'!$I$45:$I$47</c:f>
              <c:numCache>
                <c:formatCode>0.00_ </c:formatCode>
                <c:ptCount val="3"/>
                <c:pt idx="0">
                  <c:v>10.8889</c:v>
                </c:pt>
                <c:pt idx="1">
                  <c:v>3.7603</c:v>
                </c:pt>
                <c:pt idx="2">
                  <c:v>26.0792</c:v>
                </c:pt>
              </c:numCache>
            </c:numRef>
          </c:val>
          <c:extLst>
            <c:ext xmlns:c16="http://schemas.microsoft.com/office/drawing/2014/chart" uri="{C3380CC4-5D6E-409C-BE32-E72D297353CC}">
              <c16:uniqueId val="{00000000-5E21-4CF3-9BAA-06B5F08000C0}"/>
            </c:ext>
          </c:extLst>
        </c:ser>
        <c:ser>
          <c:idx val="1"/>
          <c:order val="1"/>
          <c:tx>
            <c:strRef>
              <c:f>'[数据模版(1).xlsx]门诊'!$J$44</c:f>
              <c:strCache>
                <c:ptCount val="1"/>
                <c:pt idx="0">
                  <c:v>2025年4月</c:v>
                </c:pt>
              </c:strCache>
            </c:strRef>
          </c:tx>
          <c:spPr>
            <a:solidFill>
              <a:srgbClr val="EE822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'[数据模版(1).xlsx]门诊'!$H$45:$H$47</c:f>
              <c:strCache>
                <c:ptCount val="3"/>
                <c:pt idx="0">
                  <c:v>专家门诊</c:v>
                </c:pt>
                <c:pt idx="1">
                  <c:v>特需门诊</c:v>
                </c:pt>
                <c:pt idx="2">
                  <c:v>普通门诊</c:v>
                </c:pt>
              </c:strCache>
            </c:strRef>
          </c:cat>
          <c:val>
            <c:numRef>
              <c:f>'[数据模版(1).xlsx]门诊'!$J$45:$J$47</c:f>
              <c:numCache>
                <c:formatCode>0.00_ </c:formatCode>
                <c:ptCount val="3"/>
                <c:pt idx="0">
                  <c:v>7.9683000000000002</c:v>
                </c:pt>
                <c:pt idx="1">
                  <c:v>3.4674</c:v>
                </c:pt>
                <c:pt idx="2">
                  <c:v>20.310199999999998</c:v>
                </c:pt>
              </c:numCache>
            </c:numRef>
          </c:val>
          <c:extLst>
            <c:ext xmlns:c16="http://schemas.microsoft.com/office/drawing/2014/chart" uri="{C3380CC4-5D6E-409C-BE32-E72D297353CC}">
              <c16:uniqueId val="{00000001-5E21-4CF3-9BAA-06B5F08000C0}"/>
            </c:ext>
          </c:extLst>
        </c:ser>
        <c:dLbls>
          <c:showLegendKey val="0"/>
          <c:showVal val="0"/>
          <c:showCatName val="0"/>
          <c:showSerName val="0"/>
          <c:showPercent val="0"/>
          <c:showBubbleSize val="0"/>
        </c:dLbls>
        <c:gapWidth val="199"/>
        <c:axId val="206931967"/>
        <c:axId val="206934047"/>
      </c:barChart>
      <c:catAx>
        <c:axId val="206931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cap="none" spc="0" normalizeH="0" baseline="0">
                <a:solidFill>
                  <a:schemeClr val="tx1">
                    <a:lumMod val="65000"/>
                    <a:lumOff val="35000"/>
                  </a:schemeClr>
                </a:solidFill>
                <a:latin typeface="+mn-ea"/>
                <a:ea typeface="+mn-ea"/>
                <a:cs typeface="+mn-cs"/>
              </a:defRPr>
            </a:pPr>
            <a:endParaRPr lang="zh-CN"/>
          </a:p>
        </c:txPr>
        <c:crossAx val="206934047"/>
        <c:crosses val="autoZero"/>
        <c:auto val="1"/>
        <c:lblAlgn val="ctr"/>
        <c:lblOffset val="100"/>
        <c:noMultiLvlLbl val="0"/>
      </c:catAx>
      <c:valAx>
        <c:axId val="206934047"/>
        <c:scaling>
          <c:orientation val="minMax"/>
        </c:scaling>
        <c:delete val="1"/>
        <c:axPos val="l"/>
        <c:numFmt formatCode="0.00_ " sourceLinked="1"/>
        <c:majorTickMark val="none"/>
        <c:minorTickMark val="none"/>
        <c:tickLblPos val="nextTo"/>
        <c:crossAx val="206931967"/>
        <c:crosses val="autoZero"/>
        <c:crossBetween val="between"/>
      </c:valAx>
      <c:spPr>
        <a:noFill/>
        <a:ln>
          <a:noFill/>
        </a:ln>
        <a:effectLst/>
      </c:spPr>
    </c:plotArea>
    <c:legend>
      <c:legendPos val="t"/>
      <c:layout>
        <c:manualLayout>
          <c:xMode val="edge"/>
          <c:yMode val="edge"/>
          <c:x val="0.217415223097113"/>
          <c:y val="0.895316804407714"/>
          <c:w val="0.62783189748340296"/>
          <c:h val="9.6418732782369093E-2"/>
        </c:manualLayout>
      </c:layout>
      <c:overlay val="0"/>
      <c:spPr>
        <a:noFill/>
        <a:ln>
          <a:noFill/>
        </a:ln>
        <a:effectLst>
          <a:outerShdw blurRad="50800" dist="50800" dir="5400000" algn="ctr" rotWithShape="0">
            <a:srgbClr val="000000">
              <a:alpha val="43137"/>
            </a:srgbClr>
          </a:outerShdw>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537deeea-f1f2-4884-974d-331eee72cdb6}"/>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'[数据模版(1).xlsx]门诊'!$N$8</c:f>
              <c:strCache>
                <c:ptCount val="1"/>
                <c:pt idx="0">
                  <c:v>急诊人次</c:v>
                </c:pt>
              </c:strCache>
            </c:strRef>
          </c:tx>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FC80-4004-8152-8012CBCF066A}"/>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FC80-4004-8152-8012CBCF066A}"/>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'[数据模版(1).xlsx]门诊'!$O$7:$P$7</c:f>
              <c:numCache>
                <c:formatCode>yyyy"年"m"月"</c:formatCode>
                <c:ptCount val="2"/>
                <c:pt idx="0">
                  <c:v>46113</c:v>
                </c:pt>
                <c:pt idx="1">
                  <c:v>45748</c:v>
                </c:pt>
              </c:numCache>
            </c:numRef>
          </c:cat>
          <c:val>
            <c:numRef>
              <c:f>'[数据模版(1).xlsx]门诊'!$O$8:$P$8</c:f>
              <c:numCache>
                <c:formatCode>0.00_ </c:formatCode>
                <c:ptCount val="2"/>
                <c:pt idx="0">
                  <c:v>5.8061999999999996</c:v>
                </c:pt>
                <c:pt idx="1">
                  <c:v>4.4309000000000003</c:v>
                </c:pt>
              </c:numCache>
            </c:numRef>
          </c:val>
          <c:extLst>
            <c:ext xmlns:c16="http://schemas.microsoft.com/office/drawing/2014/chart" uri="{C3380CC4-5D6E-409C-BE32-E72D297353CC}">
              <c16:uniqueId val="{00000004-FC80-4004-8152-8012CBCF066A}"/>
            </c:ext>
          </c:extLst>
        </c:ser>
        <c:dLbls>
          <c:showLegendKey val="0"/>
          <c:showVal val="0"/>
          <c:showCatName val="0"/>
          <c:showSerName val="0"/>
          <c:showPercent val="0"/>
          <c:showBubbleSize val="0"/>
        </c:dLbls>
        <c:gapWidth val="219"/>
        <c:overlap val="-27"/>
        <c:axId val="1252455167"/>
        <c:axId val="1252453503"/>
      </c:barChart>
      <c:catAx>
        <c:axId val="1252455167"/>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252453503"/>
        <c:crosses val="autoZero"/>
        <c:auto val="0"/>
        <c:lblAlgn val="ctr"/>
        <c:lblOffset val="100"/>
        <c:noMultiLvlLbl val="0"/>
      </c:catAx>
      <c:valAx>
        <c:axId val="1252453503"/>
        <c:scaling>
          <c:orientation val="minMax"/>
        </c:scaling>
        <c:delete val="1"/>
        <c:axPos val="l"/>
        <c:numFmt formatCode="0.00_ " sourceLinked="1"/>
        <c:majorTickMark val="none"/>
        <c:minorTickMark val="none"/>
        <c:tickLblPos val="nextTo"/>
        <c:crossAx val="1252455167"/>
        <c:crosses val="autoZero"/>
        <c:crossBetween val="between"/>
        <c:majorUnit val="0.8"/>
      </c:valAx>
      <c:spPr>
        <a:noFill/>
        <a:ln>
          <a:noFill/>
        </a:ln>
        <a:effectLst/>
      </c:spPr>
    </c:plotArea>
    <c:plotVisOnly val="1"/>
    <c:dispBlanksAs val="gap"/>
    <c:showDLblsOverMax val="0"/>
    <c:extLst>
      <c:ext uri="{0b15fc19-7d7d-44ad-8c2d-2c3a37ce22c3}">
        <chartProps xmlns="https://web.wps.cn/et/2018/main" chartId="{b138c035-9d23-4e56-b5bf-b37c28e7270b}"/>
      </c:ext>
    </c:extLst>
  </c:chart>
  <c:spPr>
    <a:no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7825-434B-A447-05BDC05F2EAE}"/>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7825-434B-A447-05BDC05F2EAE}"/>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'[数据模版(1).xlsx]住院'!$C$7:$D$7</c:f>
              <c:numCache>
                <c:formatCode>yyyy"年"m"月"</c:formatCode>
                <c:ptCount val="2"/>
                <c:pt idx="0">
                  <c:v>46113</c:v>
                </c:pt>
                <c:pt idx="1">
                  <c:v>45748</c:v>
                </c:pt>
              </c:numCache>
            </c:numRef>
          </c:cat>
          <c:val>
            <c:numRef>
              <c:f>'[数据模版(1).xlsx]住院'!$C$8:$D$8</c:f>
              <c:numCache>
                <c:formatCode>0.00_ </c:formatCode>
                <c:ptCount val="2"/>
                <c:pt idx="0">
                  <c:v>1.6313</c:v>
                </c:pt>
                <c:pt idx="1">
                  <c:v>1.3474999999999999</c:v>
                </c:pt>
              </c:numCache>
            </c:numRef>
          </c:val>
          <c:extLst>
            <c:ext xmlns:c16="http://schemas.microsoft.com/office/drawing/2014/chart" uri="{C3380CC4-5D6E-409C-BE32-E72D297353CC}">
              <c16:uniqueId val="{00000004-7825-434B-A447-05BDC05F2EAE}"/>
            </c:ext>
          </c:extLst>
        </c:ser>
        <c:dLbls>
          <c:showLegendKey val="0"/>
          <c:showVal val="0"/>
          <c:showCatName val="0"/>
          <c:showSerName val="0"/>
          <c:showPercent val="0"/>
          <c:showBubbleSize val="0"/>
        </c:dLbls>
        <c:gapWidth val="219"/>
        <c:overlap val="-27"/>
        <c:axId val="175373711"/>
        <c:axId val="175379535"/>
      </c:barChart>
      <c:catAx>
        <c:axId val="175373711"/>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75379535"/>
        <c:crosses val="autoZero"/>
        <c:auto val="0"/>
        <c:lblAlgn val="ctr"/>
        <c:lblOffset val="100"/>
        <c:noMultiLvlLbl val="1"/>
      </c:catAx>
      <c:valAx>
        <c:axId val="175379535"/>
        <c:scaling>
          <c:orientation val="minMax"/>
        </c:scaling>
        <c:delete val="1"/>
        <c:axPos val="l"/>
        <c:numFmt formatCode="0.00_ " sourceLinked="1"/>
        <c:majorTickMark val="none"/>
        <c:minorTickMark val="none"/>
        <c:tickLblPos val="nextTo"/>
        <c:crossAx val="175373711"/>
        <c:crosses val="autoZero"/>
        <c:crossBetween val="between"/>
        <c:majorUnit val="0.7"/>
        <c:minorUnit val="0.4"/>
      </c:valAx>
      <c:spPr>
        <a:noFill/>
        <a:ln>
          <a:noFill/>
        </a:ln>
        <a:effectLst/>
      </c:spPr>
    </c:plotArea>
    <c:plotVisOnly val="1"/>
    <c:dispBlanksAs val="gap"/>
    <c:showDLblsOverMax val="0"/>
    <c:extLst>
      <c:ext uri="{0b15fc19-7d7d-44ad-8c2d-2c3a37ce22c3}">
        <chartProps xmlns="https://web.wps.cn/et/2018/main" chartId="{7e668113-2d64-4f8f-a55b-70ab31ac459f}"/>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213991769547302E-2"/>
          <c:y val="2.3517471267904402E-2"/>
          <c:w val="0.92757201646090504"/>
          <c:h val="0.827581231759833"/>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8DF2-45FC-8530-5C60B12ED039}"/>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8DF2-45FC-8530-5C60B12ED039}"/>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'[数据模版(1).xlsx]住院'!$C$34:$D$34</c:f>
              <c:numCache>
                <c:formatCode>yyyy"年"m"月"</c:formatCode>
                <c:ptCount val="2"/>
                <c:pt idx="0">
                  <c:v>46113</c:v>
                </c:pt>
                <c:pt idx="1">
                  <c:v>45748</c:v>
                </c:pt>
              </c:numCache>
            </c:numRef>
          </c:cat>
          <c:val>
            <c:numRef>
              <c:f>'[数据模版(1).xlsx]住院'!$C$35:$D$35</c:f>
              <c:numCache>
                <c:formatCode>0.00_ </c:formatCode>
                <c:ptCount val="2"/>
                <c:pt idx="0">
                  <c:v>0.80489999999999995</c:v>
                </c:pt>
                <c:pt idx="1">
                  <c:v>0.58589999999999998</c:v>
                </c:pt>
              </c:numCache>
            </c:numRef>
          </c:val>
          <c:extLst>
            <c:ext xmlns:c16="http://schemas.microsoft.com/office/drawing/2014/chart" uri="{C3380CC4-5D6E-409C-BE32-E72D297353CC}">
              <c16:uniqueId val="{00000004-8DF2-45FC-8530-5C60B12ED039}"/>
            </c:ext>
          </c:extLst>
        </c:ser>
        <c:dLbls>
          <c:showLegendKey val="0"/>
          <c:showVal val="0"/>
          <c:showCatName val="0"/>
          <c:showSerName val="0"/>
          <c:showPercent val="0"/>
          <c:showBubbleSize val="0"/>
        </c:dLbls>
        <c:gapWidth val="219"/>
        <c:overlap val="-27"/>
        <c:axId val="175388687"/>
        <c:axId val="175372879"/>
      </c:barChart>
      <c:catAx>
        <c:axId val="175388687"/>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75372879"/>
        <c:crosses val="autoZero"/>
        <c:auto val="0"/>
        <c:lblAlgn val="ctr"/>
        <c:lblOffset val="100"/>
        <c:noMultiLvlLbl val="1"/>
      </c:catAx>
      <c:valAx>
        <c:axId val="175372879"/>
        <c:scaling>
          <c:orientation val="minMax"/>
        </c:scaling>
        <c:delete val="1"/>
        <c:axPos val="l"/>
        <c:numFmt formatCode="0.00_ " sourceLinked="1"/>
        <c:majorTickMark val="none"/>
        <c:minorTickMark val="none"/>
        <c:tickLblPos val="nextTo"/>
        <c:crossAx val="175388687"/>
        <c:crosses val="autoZero"/>
        <c:crossBetween val="between"/>
        <c:majorUnit val="0.3"/>
      </c:valAx>
      <c:spPr>
        <a:noFill/>
        <a:ln>
          <a:noFill/>
        </a:ln>
        <a:effectLst/>
      </c:spPr>
    </c:plotArea>
    <c:plotVisOnly val="1"/>
    <c:dispBlanksAs val="gap"/>
    <c:showDLblsOverMax val="0"/>
    <c:extLst>
      <c:ext uri="{0b15fc19-7d7d-44ad-8c2d-2c3a37ce22c3}">
        <chartProps xmlns="https://web.wps.cn/et/2018/main" chartId="{a68614c9-fe7f-4ed2-9929-61213ede2772}"/>
      </c:ext>
    </c:extLst>
  </c:chart>
  <c:spPr>
    <a:noFill/>
    <a:ln w="9525"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36929399677088E-2"/>
          <c:y val="5.4977398658501E-2"/>
          <c:w val="0.94795912415709904"/>
          <c:h val="0.75799358413531603"/>
        </c:manualLayout>
      </c:layout>
      <c:barChart>
        <c:barDir val="col"/>
        <c:grouping val="clustered"/>
        <c:varyColors val="0"/>
        <c:ser>
          <c:idx val="0"/>
          <c:order val="0"/>
          <c:tx>
            <c:strRef>
              <c:f>'[数据模版(1).xlsx]住院'!$C$40</c:f>
              <c:strCache>
                <c:ptCount val="1"/>
                <c:pt idx="0">
                  <c:v>2026年4月</c:v>
                </c:pt>
              </c:strCache>
            </c:strRef>
          </c:tx>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4747-48CC-B1B1-76DABDB109F9}"/>
              </c:ext>
            </c:extLst>
          </c:dPt>
          <c:dPt>
            <c:idx val="1"/>
            <c:invertIfNegative val="0"/>
            <c:bubble3D val="0"/>
            <c:spPr>
              <a:solidFill>
                <a:srgbClr val="0000FF"/>
              </a:solidFill>
              <a:ln>
                <a:solidFill>
                  <a:srgbClr val="0000FF"/>
                </a:solidFill>
              </a:ln>
              <a:effectLst/>
            </c:spPr>
            <c:extLst>
              <c:ext xmlns:c16="http://schemas.microsoft.com/office/drawing/2014/chart" uri="{C3380CC4-5D6E-409C-BE32-E72D297353CC}">
                <c16:uniqueId val="{00000003-4747-48CC-B1B1-76DABDB109F9}"/>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'[数据模版(1).xlsx]住院'!$B$41:$B$42</c:f>
              <c:strCache>
                <c:ptCount val="2"/>
                <c:pt idx="0">
                  <c:v>四级手术</c:v>
                </c:pt>
                <c:pt idx="1">
                  <c:v>微创手术</c:v>
                </c:pt>
              </c:strCache>
            </c:strRef>
          </c:cat>
          <c:val>
            <c:numRef>
              <c:f>'[数据模版(1).xlsx]住院'!$C$41:$C$42</c:f>
              <c:numCache>
                <c:formatCode>0.00_);[Red]\(0.00\)</c:formatCode>
                <c:ptCount val="2"/>
                <c:pt idx="0">
                  <c:v>0.23799999999999999</c:v>
                </c:pt>
                <c:pt idx="1">
                  <c:v>0.17929999999999999</c:v>
                </c:pt>
              </c:numCache>
            </c:numRef>
          </c:val>
          <c:extLst>
            <c:ext xmlns:c16="http://schemas.microsoft.com/office/drawing/2014/chart" uri="{C3380CC4-5D6E-409C-BE32-E72D297353CC}">
              <c16:uniqueId val="{00000004-4747-48CC-B1B1-76DABDB109F9}"/>
            </c:ext>
          </c:extLst>
        </c:ser>
        <c:ser>
          <c:idx val="1"/>
          <c:order val="1"/>
          <c:tx>
            <c:strRef>
              <c:f>'[数据模版(1).xlsx]住院'!$D$40</c:f>
              <c:strCache>
                <c:ptCount val="1"/>
                <c:pt idx="0">
                  <c:v>2025年4月</c:v>
                </c:pt>
              </c:strCache>
            </c:strRef>
          </c:tx>
          <c:spPr>
            <a:solidFill>
              <a:srgbClr val="EE822F"/>
            </a:solidFill>
            <a:ln>
              <a:solidFill>
                <a:srgbClr val="EE822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'[数据模版(1).xlsx]住院'!$B$41:$B$42</c:f>
              <c:strCache>
                <c:ptCount val="2"/>
                <c:pt idx="0">
                  <c:v>四级手术</c:v>
                </c:pt>
                <c:pt idx="1">
                  <c:v>微创手术</c:v>
                </c:pt>
              </c:strCache>
            </c:strRef>
          </c:cat>
          <c:val>
            <c:numRef>
              <c:f>'[数据模版(1).xlsx]住院'!$D$41:$D$42</c:f>
              <c:numCache>
                <c:formatCode>0.00_);[Red]\(0.00\)</c:formatCode>
                <c:ptCount val="2"/>
                <c:pt idx="0">
                  <c:v>0.18729999999999999</c:v>
                </c:pt>
                <c:pt idx="1">
                  <c:v>0.13830000000000001</c:v>
                </c:pt>
              </c:numCache>
            </c:numRef>
          </c:val>
          <c:extLst>
            <c:ext xmlns:c16="http://schemas.microsoft.com/office/drawing/2014/chart" uri="{C3380CC4-5D6E-409C-BE32-E72D297353CC}">
              <c16:uniqueId val="{00000005-4747-48CC-B1B1-76DABDB109F9}"/>
            </c:ext>
          </c:extLst>
        </c:ser>
        <c:dLbls>
          <c:showLegendKey val="0"/>
          <c:showVal val="0"/>
          <c:showCatName val="0"/>
          <c:showSerName val="0"/>
          <c:showPercent val="0"/>
          <c:showBubbleSize val="0"/>
        </c:dLbls>
        <c:gapWidth val="199"/>
        <c:axId val="206949023"/>
        <c:axId val="206943615"/>
      </c:barChart>
      <c:dateAx>
        <c:axId val="206949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1050" b="1" i="0" u="none" strike="noStrike" kern="1200" cap="none" spc="0" normalizeH="0" baseline="0">
                <a:solidFill>
                  <a:schemeClr val="tx1">
                    <a:lumMod val="65000"/>
                    <a:lumOff val="35000"/>
                  </a:schemeClr>
                </a:solidFill>
                <a:latin typeface="+mn-lt"/>
                <a:ea typeface="+mn-ea"/>
                <a:cs typeface="+mn-cs"/>
              </a:defRPr>
            </a:pPr>
            <a:endParaRPr lang="zh-CN"/>
          </a:p>
        </c:txPr>
        <c:crossAx val="206943615"/>
        <c:crosses val="autoZero"/>
        <c:auto val="0"/>
        <c:lblOffset val="100"/>
        <c:baseTimeUnit val="days"/>
      </c:dateAx>
      <c:valAx>
        <c:axId val="206943615"/>
        <c:scaling>
          <c:orientation val="minMax"/>
        </c:scaling>
        <c:delete val="1"/>
        <c:axPos val="l"/>
        <c:numFmt formatCode="0.00_);[Red]\(0.00\)" sourceLinked="1"/>
        <c:majorTickMark val="none"/>
        <c:minorTickMark val="none"/>
        <c:tickLblPos val="nextTo"/>
        <c:crossAx val="206949023"/>
        <c:crosses val="autoZero"/>
        <c:crossBetween val="between"/>
      </c:valAx>
      <c:spPr>
        <a:noFill/>
        <a:ln>
          <a:noFill/>
        </a:ln>
        <a:effectLst/>
      </c:spPr>
    </c:plotArea>
    <c:legend>
      <c:legendPos val="t"/>
      <c:layout>
        <c:manualLayout>
          <c:xMode val="edge"/>
          <c:yMode val="edge"/>
          <c:x val="0.23716202141399001"/>
          <c:y val="0.90137186377343903"/>
          <c:w val="0.570634623053071"/>
          <c:h val="9.13021289005541E-2"/>
        </c:manualLayout>
      </c:layout>
      <c:overlay val="0"/>
      <c:spPr>
        <a:noFill/>
        <a:ln>
          <a:noFill/>
        </a:ln>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0f2c0f6-aef4-437e-8935-585000454e7b}"/>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53268371904182E-2"/>
          <c:y val="2.3118957545187099E-2"/>
          <c:w val="0.92955745026390602"/>
          <c:h val="0.953762084909626"/>
        </c:manualLayout>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pPr>
                <a:solidFill>
                  <a:schemeClr val="accent2"/>
                </a:solidFill>
                <a:ln w="9525">
                  <a:noFill/>
                </a:ln>
                <a:effectLst/>
              </c:spPr>
            </c:marker>
            <c:bubble3D val="0"/>
            <c:extLst>
              <c:ext xmlns:c16="http://schemas.microsoft.com/office/drawing/2014/chart" uri="{C3380CC4-5D6E-409C-BE32-E72D297353CC}">
                <c16:uniqueId val="{00000000-0340-4AEF-91D4-1E2283D8EC14}"/>
              </c:ext>
            </c:extLst>
          </c:dPt>
          <c:dPt>
            <c:idx val="10"/>
            <c:marker>
              <c:spPr>
                <a:solidFill>
                  <a:schemeClr val="accent2"/>
                </a:solidFill>
                <a:ln w="9525">
                  <a:noFill/>
                </a:ln>
                <a:effectLst/>
              </c:spPr>
            </c:marker>
            <c:bubble3D val="0"/>
            <c:extLst>
              <c:ext xmlns:c16="http://schemas.microsoft.com/office/drawing/2014/chart" uri="{C3380CC4-5D6E-409C-BE32-E72D297353CC}">
                <c16:uniqueId val="{00000001-0340-4AEF-91D4-1E2283D8EC14}"/>
              </c:ext>
            </c:extLst>
          </c:dPt>
          <c:dPt>
            <c:idx val="11"/>
            <c:marker>
              <c:spPr>
                <a:solidFill>
                  <a:schemeClr val="accent2"/>
                </a:solidFill>
                <a:ln w="9525">
                  <a:noFill/>
                </a:ln>
                <a:effectLst/>
              </c:spPr>
            </c:marker>
            <c:bubble3D val="0"/>
            <c:extLst>
              <c:ext xmlns:c16="http://schemas.microsoft.com/office/drawing/2014/chart" uri="{C3380CC4-5D6E-409C-BE32-E72D297353CC}">
                <c16:uniqueId val="{00000002-0340-4AEF-91D4-1E2283D8EC14}"/>
              </c:ext>
            </c:extLst>
          </c:dPt>
          <c:dPt>
            <c:idx val="12"/>
            <c:marker>
              <c:spPr>
                <a:solidFill>
                  <a:schemeClr val="accent2"/>
                </a:solidFill>
                <a:ln w="9525">
                  <a:noFill/>
                </a:ln>
                <a:effectLst/>
              </c:spPr>
            </c:marker>
            <c:bubble3D val="0"/>
            <c:extLst>
              <c:ext xmlns:c16="http://schemas.microsoft.com/office/drawing/2014/chart" uri="{C3380CC4-5D6E-409C-BE32-E72D297353CC}">
                <c16:uniqueId val="{00000003-0340-4AEF-91D4-1E2283D8EC14}"/>
              </c:ext>
            </c:extLst>
          </c:dPt>
          <c:dPt>
            <c:idx val="13"/>
            <c:marker>
              <c:spPr>
                <a:solidFill>
                  <a:schemeClr val="accent2"/>
                </a:solidFill>
                <a:ln w="9525">
                  <a:noFill/>
                </a:ln>
                <a:effectLst/>
              </c:spPr>
            </c:marker>
            <c:bubble3D val="0"/>
            <c:extLst>
              <c:ext xmlns:c16="http://schemas.microsoft.com/office/drawing/2014/chart" uri="{C3380CC4-5D6E-409C-BE32-E72D297353CC}">
                <c16:uniqueId val="{00000004-0340-4AEF-91D4-1E2283D8EC14}"/>
              </c:ext>
            </c:extLst>
          </c:dPt>
          <c:dLbls>
            <c:dLbl>
              <c:idx val="0"/>
              <c:tx>
                <c:rich>
                  <a:bodyPr/>
                  <a:lstStyle/>
                  <a:p>
                    <a:fld id="{5CFEEC09-FB6D-4F00-AC64-4DCE88EC34D2}"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0340-4AEF-91D4-1E2283D8EC14}"/>
                </c:ext>
              </c:extLst>
            </c:dLbl>
            <c:dLbl>
              <c:idx val="1"/>
              <c:layout>
                <c:manualLayout>
                  <c:x val="-6.9445069366329201E-2"/>
                  <c:y val="-4.6271521435426302E-2"/>
                </c:manualLayout>
              </c:layout>
              <c:tx>
                <c:rich>
                  <a:bodyPr/>
                  <a:lstStyle/>
                  <a:p>
                    <a:fld id="{C02471D3-A976-4F4A-8BFD-AAE193660587}"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0.106576977877765"/>
                      <c:h val="4.3210362324795602E-2"/>
                    </c:manualLayout>
                  </c15:layout>
                  <c15:dlblFieldTable/>
                  <c15:showDataLabelsRange val="1"/>
                </c:ext>
                <c:ext xmlns:c16="http://schemas.microsoft.com/office/drawing/2014/chart" uri="{C3380CC4-5D6E-409C-BE32-E72D297353CC}">
                  <c16:uniqueId val="{00000006-0340-4AEF-91D4-1E2283D8EC14}"/>
                </c:ext>
              </c:extLst>
            </c:dLbl>
            <c:dLbl>
              <c:idx val="2"/>
              <c:layout>
                <c:manualLayout>
                  <c:x val="-6.2857142857142806E-2"/>
                  <c:y val="-3.3167490079351401E-2"/>
                </c:manualLayout>
              </c:layout>
              <c:tx>
                <c:rich>
                  <a:bodyPr/>
                  <a:lstStyle/>
                  <a:p>
                    <a:fld id="{CB47CAE8-37DF-4618-9E64-590DECEE91AB}"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0340-4AEF-91D4-1E2283D8EC14}"/>
                </c:ext>
              </c:extLst>
            </c:dLbl>
            <c:dLbl>
              <c:idx val="3"/>
              <c:tx>
                <c:rich>
                  <a:bodyPr/>
                  <a:lstStyle/>
                  <a:p>
                    <a:fld id="{71623999-66BC-4DC5-9586-BFE397E8C533}"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0340-4AEF-91D4-1E2283D8EC14}"/>
                </c:ext>
              </c:extLst>
            </c:dLbl>
            <c:dLbl>
              <c:idx val="4"/>
              <c:layout>
                <c:manualLayout>
                  <c:x val="-5.0476190476190501E-2"/>
                  <c:y val="2.05196205290918E-2"/>
                </c:manualLayout>
              </c:layout>
              <c:tx>
                <c:rich>
                  <a:bodyPr/>
                  <a:lstStyle/>
                  <a:p>
                    <a:fld id="{79E39F54-B43B-4BFF-8145-1BD926455E44}"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0340-4AEF-91D4-1E2283D8EC14}"/>
                </c:ext>
              </c:extLst>
            </c:dLbl>
            <c:dLbl>
              <c:idx val="5"/>
              <c:tx>
                <c:rich>
                  <a:bodyPr/>
                  <a:lstStyle/>
                  <a:p>
                    <a:fld id="{D259AA93-6637-426B-83EC-C5D4E67DCF0D}"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0340-4AEF-91D4-1E2283D8EC14}"/>
                </c:ext>
              </c:extLst>
            </c:dLbl>
            <c:dLbl>
              <c:idx val="6"/>
              <c:layout>
                <c:manualLayout>
                  <c:x val="-1.9047619047619401E-3"/>
                  <c:y val="-1.4859035555549399E-2"/>
                </c:manualLayout>
              </c:layout>
              <c:tx>
                <c:rich>
                  <a:bodyPr rot="0" spcFirstLastPara="1" vertOverflow="ellipsis" vert="horz" wrap="square" lIns="38100" tIns="19050" rIns="38100" bIns="19050" anchor="ctr" anchorCtr="1">
                    <a:spAutoFit/>
                  </a:bodyPr>
                  <a:lstStyle/>
                  <a:p>
                    <a:fld id="{B87716CB-C261-4258-BB20-C73AEBA4308A}" type="CELLRANGE">
                      <a:rPr lang="en-US" altLang="zh-CN" sz="900" b="1" i="0" u="none" strike="noStrike" kern="1200" baseline="0">
                        <a:solidFill>
                          <a:srgbClr val="5B9BD5"/>
                        </a:solidFill>
                        <a:latin typeface="微软雅黑" panose="020B0503020204020204" pitchFamily="34" charset="-122"/>
                        <a:ea typeface="微软雅黑" panose="020B0503020204020204" pitchFamily="34" charset="-122"/>
                        <a:cs typeface="+mn-cs"/>
                      </a:rPr>
                      <a:pPr/>
                      <a:t>[CELLRANGE]</a:t>
                    </a:fld>
                    <a:endParaRPr lang="zh-CN" altLang="en-US"/>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0340-4AEF-91D4-1E2283D8EC14}"/>
                </c:ext>
              </c:extLst>
            </c:dLbl>
            <c:dLbl>
              <c:idx val="7"/>
              <c:tx>
                <c:rich>
                  <a:bodyPr/>
                  <a:lstStyle/>
                  <a:p>
                    <a:fld id="{4D726C8E-4147-4695-9C17-E2C303E02AE7}"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0340-4AEF-91D4-1E2283D8EC14}"/>
                </c:ext>
              </c:extLst>
            </c:dLbl>
            <c:dLbl>
              <c:idx val="8"/>
              <c:layout>
                <c:manualLayout>
                  <c:x val="-6.6666666666666693E-2"/>
                  <c:y val="-3.0337197592579999E-2"/>
                </c:manualLayout>
              </c:layout>
              <c:tx>
                <c:rich>
                  <a:bodyPr/>
                  <a:lstStyle/>
                  <a:p>
                    <a:fld id="{54199341-3C9E-433B-9CF4-6E7BBA3ED2AF}"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0340-4AEF-91D4-1E2283D8EC14}"/>
                </c:ext>
              </c:extLst>
            </c:dLbl>
            <c:dLbl>
              <c:idx val="9"/>
              <c:tx>
                <c:rich>
                  <a:bodyPr/>
                  <a:lstStyle/>
                  <a:p>
                    <a:fld id="{8ECE4FFE-740D-45D6-8A4A-782FC09E0396}"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0340-4AEF-91D4-1E2283D8EC14}"/>
                </c:ext>
              </c:extLst>
            </c:dLbl>
            <c:dLbl>
              <c:idx val="10"/>
              <c:tx>
                <c:rich>
                  <a:bodyPr rot="0" spcFirstLastPara="1" vertOverflow="ellipsis" vert="horz" wrap="square" lIns="38100" tIns="19050" rIns="38100" bIns="19050" anchor="ctr" anchorCtr="1">
                    <a:spAutoFit/>
                  </a:bodyPr>
                  <a:lstStyle/>
                  <a:p>
                    <a:fld id="{9A6DE929-0A33-49AA-B72D-3EC2F0F9C4DD}" type="CELLRANGE">
                      <a:rPr lang="zh-CN" altLang="en-US"/>
                      <a:pPr/>
                      <a:t>[CELLRANGE]</a:t>
                    </a:fld>
                    <a:endParaRPr lang="zh-CN" altLang="en-US"/>
                  </a:p>
                </c:rich>
              </c:tx>
              <c:spPr>
                <a:noFill/>
                <a:ln>
                  <a:noFill/>
                </a:ln>
                <a:effectLst/>
              </c:spPr>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0340-4AEF-91D4-1E2283D8EC14}"/>
                </c:ext>
              </c:extLst>
            </c:dLbl>
            <c:dLbl>
              <c:idx val="11"/>
              <c:layout>
                <c:manualLayout>
                  <c:x val="-4.76190476190477E-2"/>
                  <c:y val="3.5997782566122599E-2"/>
                </c:manualLayout>
              </c:layout>
              <c:tx>
                <c:rich>
                  <a:bodyPr rot="0" spcFirstLastPara="1" vertOverflow="ellipsis" vert="horz" wrap="square" lIns="38100" tIns="19050" rIns="38100" bIns="19050" anchor="ctr" anchorCtr="0">
                    <a:spAutoFit/>
                  </a:bodyPr>
                  <a:lstStyle/>
                  <a:p>
                    <a:pPr algn="ctr" rtl="0"/>
                    <a:fld id="{45D27985-2302-48D1-AF2B-933ECDF72155}" type="CELLRANGE">
                      <a:rPr lang="en-US" altLang="zh-CN" sz="900" b="1" i="0" u="none" strike="noStrike" kern="1200" baseline="0">
                        <a:solidFill>
                          <a:srgbClr val="5B9BD5"/>
                        </a:solidFill>
                        <a:latin typeface="微软雅黑" panose="020B0503020204020204" pitchFamily="34" charset="-122"/>
                        <a:ea typeface="微软雅黑" panose="020B0503020204020204" pitchFamily="34" charset="-122"/>
                        <a:cs typeface="+mn-cs"/>
                      </a:rPr>
                      <a:pPr algn="ctr" rtl="0"/>
                      <a:t>[CELLRANGE]</a:t>
                    </a:fld>
                    <a:endParaRPr lang="zh-CN" altLang="en-US"/>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0340-4AEF-91D4-1E2283D8EC14}"/>
                </c:ext>
              </c:extLst>
            </c:dLbl>
            <c:dLbl>
              <c:idx val="12"/>
              <c:tx>
                <c:rich>
                  <a:bodyPr rot="0" spcFirstLastPara="1" vertOverflow="ellipsis" vert="horz" wrap="square" lIns="38100" tIns="19050" rIns="38100" bIns="19050" anchor="ctr" anchorCtr="1">
                    <a:spAutoFit/>
                  </a:bodyPr>
                  <a:lstStyle/>
                  <a:p>
                    <a:fld id="{8B97AC3C-334F-456A-9BED-EE316FC9CFA4}" type="CELLRANGE">
                      <a:rPr lang="zh-CN" altLang="en-US"/>
                      <a:pPr/>
                      <a:t>[CELLRANGE]</a:t>
                    </a:fld>
                    <a:endParaRPr lang="zh-CN" altLang="en-US"/>
                  </a:p>
                </c:rich>
              </c:tx>
              <c:spPr>
                <a:noFill/>
                <a:ln>
                  <a:noFill/>
                </a:ln>
                <a:effectLst/>
              </c:spPr>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0340-4AEF-91D4-1E2283D8EC14}"/>
                </c:ext>
              </c:extLst>
            </c:dLbl>
            <c:dLbl>
              <c:idx val="13"/>
              <c:tx>
                <c:rich>
                  <a:bodyPr rot="0" spcFirstLastPara="1" vertOverflow="ellipsis" vert="horz" wrap="square" lIns="38100" tIns="19050" rIns="38100" bIns="19050" anchor="ctr" anchorCtr="1">
                    <a:spAutoFit/>
                  </a:bodyPr>
                  <a:lstStyle/>
                  <a:p>
                    <a:fld id="{322B16E7-CD23-44E8-B8B2-2E1B1699A624}" type="CELLRANGE">
                      <a:rPr lang="zh-CN" altLang="en-US"/>
                      <a:pPr/>
                      <a:t>[CELLRANGE]</a:t>
                    </a:fld>
                    <a:endParaRPr lang="zh-CN" altLang="en-US"/>
                  </a:p>
                </c:rich>
              </c:tx>
              <c:spPr>
                <a:noFill/>
                <a:ln>
                  <a:noFill/>
                </a:ln>
                <a:effectLst/>
              </c:spPr>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0340-4AEF-91D4-1E2283D8EC14}"/>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'[散点图(1).xlsx]业务量散点图-儿童科'!$M$3:$M$16</c:f>
              <c:numCache>
                <c:formatCode>0.00%</c:formatCode>
                <c:ptCount val="14"/>
                <c:pt idx="0">
                  <c:v>0.14006968641115</c:v>
                </c:pt>
                <c:pt idx="1">
                  <c:v>-0.21084101156635901</c:v>
                </c:pt>
                <c:pt idx="2">
                  <c:v>0.65943654948890496</c:v>
                </c:pt>
                <c:pt idx="3">
                  <c:v>-8.9068825910931099E-2</c:v>
                </c:pt>
                <c:pt idx="4">
                  <c:v>9.2656791679798206E-2</c:v>
                </c:pt>
                <c:pt idx="5">
                  <c:v>-0.42452216876869098</c:v>
                </c:pt>
                <c:pt idx="6">
                  <c:v>1.062421185372</c:v>
                </c:pt>
                <c:pt idx="7">
                  <c:v>-2.31952045869168E-2</c:v>
                </c:pt>
                <c:pt idx="8">
                  <c:v>0.94208893485005196</c:v>
                </c:pt>
                <c:pt idx="10">
                  <c:v>-4.7189047480337899E-2</c:v>
                </c:pt>
                <c:pt idx="11">
                  <c:v>0.29874908020603402</c:v>
                </c:pt>
                <c:pt idx="12">
                  <c:v>0.154720412183664</c:v>
                </c:pt>
                <c:pt idx="13">
                  <c:v>0.14519592055823899</c:v>
                </c:pt>
              </c:numCache>
            </c:numRef>
          </c:xVal>
          <c:yVal>
            <c:numRef>
              <c:f>'[散点图(1).xlsx]业务量散点图-儿童科'!$N$3:$N$16</c:f>
              <c:numCache>
                <c:formatCode>0.00%</c:formatCode>
                <c:ptCount val="14"/>
                <c:pt idx="0">
                  <c:v>-4.6153846153846101E-2</c:v>
                </c:pt>
                <c:pt idx="1">
                  <c:v>9.3023255813953404E-2</c:v>
                </c:pt>
                <c:pt idx="2">
                  <c:v>2.1505376344085999E-2</c:v>
                </c:pt>
                <c:pt idx="3">
                  <c:v>0.29411764705882398</c:v>
                </c:pt>
                <c:pt idx="4">
                  <c:v>3.5211267605633798E-2</c:v>
                </c:pt>
                <c:pt idx="5">
                  <c:v>1.09489051094891E-2</c:v>
                </c:pt>
                <c:pt idx="6">
                  <c:v>0.53153153153153099</c:v>
                </c:pt>
                <c:pt idx="7">
                  <c:v>0.52439024390243905</c:v>
                </c:pt>
                <c:pt idx="8">
                  <c:v>-0.12676056338028199</c:v>
                </c:pt>
                <c:pt idx="10">
                  <c:v>-0.125</c:v>
                </c:pt>
                <c:pt idx="11">
                  <c:v>-4.5161290322580601E-2</c:v>
                </c:pt>
                <c:pt idx="12">
                  <c:v>0.28723404255319102</c:v>
                </c:pt>
                <c:pt idx="13">
                  <c:v>0.42727272727272703</c:v>
                </c:pt>
              </c:numCache>
            </c:numRef>
          </c:yVal>
          <c:smooth val="0"/>
          <c:extLst>
            <c:ext xmlns:c15="http://schemas.microsoft.com/office/drawing/2012/chart" uri="{02D57815-91ED-43cb-92C2-25804820EDAC}">
              <c15:datalabelsRange>
                <c15:f>'业务量散点图-儿童科'!$L$3:$L$16</c15:f>
                <c15:dlblRangeCache>
                  <c:ptCount val="14"/>
                  <c:pt idx="0">
                    <c:v>儿消化</c:v>
                  </c:pt>
                  <c:pt idx="1">
                    <c:v>儿呼吸 </c:v>
                  </c:pt>
                  <c:pt idx="2">
                    <c:v>儿肾脏</c:v>
                  </c:pt>
                  <c:pt idx="3">
                    <c:v>儿血液</c:v>
                  </c:pt>
                  <c:pt idx="4">
                    <c:v>儿内分泌</c:v>
                  </c:pt>
                  <c:pt idx="5">
                    <c:v>新生儿</c:v>
                  </c:pt>
                  <c:pt idx="6">
                    <c:v>儿心脏</c:v>
                  </c:pt>
                  <c:pt idx="7">
                    <c:v>儿神经内</c:v>
                  </c:pt>
                  <c:pt idx="8">
                    <c:v>儿感染</c:v>
                  </c:pt>
                  <c:pt idx="9">
                    <c:v>儿急危</c:v>
                  </c:pt>
                  <c:pt idx="10">
                    <c:v>儿普外</c:v>
                  </c:pt>
                  <c:pt idx="11">
                    <c:v>儿泌尿</c:v>
                  </c:pt>
                  <c:pt idx="12">
                    <c:v>儿骨</c:v>
                  </c:pt>
                  <c:pt idx="13">
                    <c:v>儿神经外</c:v>
                  </c:pt>
                </c15:dlblRangeCache>
              </c15:datalabelsRange>
            </c:ext>
            <c:ext xmlns:c16="http://schemas.microsoft.com/office/drawing/2014/chart" uri="{C3380CC4-5D6E-409C-BE32-E72D297353CC}">
              <c16:uniqueId val="{0000000E-0340-4AEF-91D4-1E2283D8EC14}"/>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1ddc55a6-ef11-45a6-809e-11d0bb31a4e6}"/>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35347129077902E-2"/>
          <c:y val="3.4047919293820901E-2"/>
          <c:w val="0.91968107876712302"/>
          <c:h val="0.94451450189155095"/>
        </c:manualLayout>
      </c:layout>
      <c:scatterChart>
        <c:scatterStyle val="lineMarker"/>
        <c:varyColors val="0"/>
        <c:ser>
          <c:idx val="0"/>
          <c:order val="0"/>
          <c:spPr>
            <a:ln w="25400" cap="rnd" cmpd="sng" algn="ctr">
              <a:noFill/>
              <a:prstDash val="solid"/>
              <a:round/>
            </a:ln>
            <a:effectLst/>
          </c:spPr>
          <c:marker>
            <c:symbol val="circle"/>
            <c:size val="7"/>
            <c:spPr>
              <a:solidFill>
                <a:schemeClr val="accent2"/>
              </a:solidFill>
              <a:ln w="9525" cap="flat" cmpd="sng" algn="ctr">
                <a:noFill/>
                <a:prstDash val="solid"/>
                <a:round/>
              </a:ln>
              <a:effectLst/>
            </c:spPr>
          </c:marker>
          <c:dLbls>
            <c:dLbl>
              <c:idx val="0"/>
              <c:tx>
                <c:rich>
                  <a:bodyPr/>
                  <a:lstStyle/>
                  <a:p>
                    <a:fld id="{93945355-835F-4ACF-9CF0-30AA50BC9765}"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1061-41C0-91CD-92339BC35BDC}"/>
                </c:ext>
              </c:extLst>
            </c:dLbl>
            <c:dLbl>
              <c:idx val="1"/>
              <c:tx>
                <c:rich>
                  <a:bodyPr rot="0" spcFirstLastPara="1" vertOverflow="ellipsis" vert="horz" wrap="square" lIns="38100" tIns="19050" rIns="38100" bIns="19050" anchor="ctr" anchorCtr="1">
                    <a:noAutofit/>
                  </a:bodyPr>
                  <a:lstStyle/>
                  <a:p>
                    <a:fld id="{3EBC5238-BFD6-4B4E-AB69-A01695BA3F8F}" type="CELLRANGE">
                      <a:rPr lang="zh-CN" altLang="en-US"/>
                      <a:pPr/>
                      <a:t>[CELLRANGE]</a:t>
                    </a:fld>
                    <a:endParaRPr lang="zh-CN" altLang="en-US"/>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1-1061-41C0-91CD-92339BC35BDC}"/>
                </c:ext>
              </c:extLst>
            </c:dLbl>
            <c:dLbl>
              <c:idx val="2"/>
              <c:tx>
                <c:rich>
                  <a:bodyPr/>
                  <a:lstStyle/>
                  <a:p>
                    <a:fld id="{53F954D0-9F4D-4B88-8195-D67A1075FECC}"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1061-41C0-91CD-92339BC35BDC}"/>
                </c:ext>
              </c:extLst>
            </c:dLbl>
            <c:dLbl>
              <c:idx val="3"/>
              <c:tx>
                <c:rich>
                  <a:bodyPr/>
                  <a:lstStyle/>
                  <a:p>
                    <a:fld id="{FC289FA4-111C-4ABE-A3B9-1E55FC88E228}"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1061-41C0-91CD-92339BC35BDC}"/>
                </c:ext>
              </c:extLst>
            </c:dLbl>
            <c:dLbl>
              <c:idx val="4"/>
              <c:tx>
                <c:rich>
                  <a:bodyPr/>
                  <a:lstStyle/>
                  <a:p>
                    <a:fld id="{5350EA3B-E1C5-4626-A62A-5DD192E32D82}"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1061-41C0-91CD-92339BC35BDC}"/>
                </c:ext>
              </c:extLst>
            </c:dLbl>
            <c:dLbl>
              <c:idx val="5"/>
              <c:tx>
                <c:rich>
                  <a:bodyPr/>
                  <a:lstStyle/>
                  <a:p>
                    <a:fld id="{05B03225-ACF0-41CA-92B8-9C6C046B82E7}"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1061-41C0-91CD-92339BC35BDC}"/>
                </c:ext>
              </c:extLst>
            </c:dLbl>
            <c:dLbl>
              <c:idx val="6"/>
              <c:tx>
                <c:rich>
                  <a:bodyPr/>
                  <a:lstStyle/>
                  <a:p>
                    <a:fld id="{6BFBEBEB-5B0F-4B0E-ADFD-A655EBBE1B53}"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1061-41C0-91CD-92339BC35BDC}"/>
                </c:ext>
              </c:extLst>
            </c:dLbl>
            <c:dLbl>
              <c:idx val="7"/>
              <c:tx>
                <c:rich>
                  <a:bodyPr/>
                  <a:lstStyle/>
                  <a:p>
                    <a:fld id="{81E5A2D8-EB68-4291-907D-ED64E3248D61}"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1061-41C0-91CD-92339BC35BDC}"/>
                </c:ext>
              </c:extLst>
            </c:dLbl>
            <c:dLbl>
              <c:idx val="8"/>
              <c:tx>
                <c:rich>
                  <a:bodyPr/>
                  <a:lstStyle/>
                  <a:p>
                    <a:fld id="{A4DBB370-00BD-4D52-8544-033004AC3CD5}"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1061-41C0-91CD-92339BC35BDC}"/>
                </c:ext>
              </c:extLst>
            </c:dLbl>
            <c:dLbl>
              <c:idx val="9"/>
              <c:tx>
                <c:rich>
                  <a:bodyPr/>
                  <a:lstStyle/>
                  <a:p>
                    <a:fld id="{5949B184-1C10-4528-ADBA-BB2B88D27EB0}"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1061-41C0-91CD-92339BC35BDC}"/>
                </c:ext>
              </c:extLst>
            </c:dLbl>
            <c:dLbl>
              <c:idx val="10"/>
              <c:tx>
                <c:rich>
                  <a:bodyPr/>
                  <a:lstStyle/>
                  <a:p>
                    <a:fld id="{CE77085A-FF31-4982-B875-9325466E9A97}"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1061-41C0-91CD-92339BC35BDC}"/>
                </c:ext>
              </c:extLst>
            </c:dLbl>
            <c:dLbl>
              <c:idx val="11"/>
              <c:tx>
                <c:rich>
                  <a:bodyPr/>
                  <a:lstStyle/>
                  <a:p>
                    <a:fld id="{CBDEBE03-2D7F-4F59-B64A-99E05CE0E0B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1061-41C0-91CD-92339BC35BDC}"/>
                </c:ext>
              </c:extLst>
            </c:dLbl>
            <c:dLbl>
              <c:idx val="12"/>
              <c:tx>
                <c:rich>
                  <a:bodyPr/>
                  <a:lstStyle/>
                  <a:p>
                    <a:fld id="{A0FC721C-6CAD-4A9B-9C6E-A33B7DA5AB7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1061-41C0-91CD-92339BC35BDC}"/>
                </c:ext>
              </c:extLst>
            </c:dLbl>
            <c:dLbl>
              <c:idx val="13"/>
              <c:tx>
                <c:rich>
                  <a:bodyPr/>
                  <a:lstStyle/>
                  <a:p>
                    <a:fld id="{A70D47F3-0665-4058-B7A0-2605A24C59A7}"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1061-41C0-91CD-92339BC35BDC}"/>
                </c:ext>
              </c:extLst>
            </c:dLbl>
            <c:dLbl>
              <c:idx val="14"/>
              <c:tx>
                <c:rich>
                  <a:bodyPr/>
                  <a:lstStyle/>
                  <a:p>
                    <a:fld id="{689D9A0E-51A4-4EFD-98BD-873FE9893D7C}"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1061-41C0-91CD-92339BC35BDC}"/>
                </c:ext>
              </c:extLst>
            </c:dLbl>
            <c:dLbl>
              <c:idx val="15"/>
              <c:tx>
                <c:rich>
                  <a:bodyPr/>
                  <a:lstStyle/>
                  <a:p>
                    <a:fld id="{30516FB1-F33E-4F60-8E09-F3947B531A0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F-1061-41C0-91CD-92339BC35BDC}"/>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'[散点图(1)(1).xlsx]业务量散点图-成人手术'!$M$3:$M$18</c:f>
              <c:numCache>
                <c:formatCode>0.00%</c:formatCode>
                <c:ptCount val="16"/>
                <c:pt idx="0">
                  <c:v>0.41162380231971801</c:v>
                </c:pt>
                <c:pt idx="1">
                  <c:v>1.0684243565599501</c:v>
                </c:pt>
                <c:pt idx="2">
                  <c:v>0.77151450470553995</c:v>
                </c:pt>
                <c:pt idx="3">
                  <c:v>0.59700063816209303</c:v>
                </c:pt>
                <c:pt idx="4">
                  <c:v>0.30267295597484301</c:v>
                </c:pt>
                <c:pt idx="5">
                  <c:v>0.26276463262764599</c:v>
                </c:pt>
                <c:pt idx="6">
                  <c:v>0.247991707696294</c:v>
                </c:pt>
                <c:pt idx="7">
                  <c:v>0.72791686348606499</c:v>
                </c:pt>
                <c:pt idx="8">
                  <c:v>0.46666666666666701</c:v>
                </c:pt>
                <c:pt idx="9">
                  <c:v>0.22412430866473501</c:v>
                </c:pt>
                <c:pt idx="10">
                  <c:v>0.361871138570168</c:v>
                </c:pt>
                <c:pt idx="11">
                  <c:v>0.338622019635344</c:v>
                </c:pt>
                <c:pt idx="12">
                  <c:v>0.17015810276679799</c:v>
                </c:pt>
                <c:pt idx="13">
                  <c:v>0.166627960984673</c:v>
                </c:pt>
                <c:pt idx="14">
                  <c:v>0.31111111111111101</c:v>
                </c:pt>
              </c:numCache>
            </c:numRef>
          </c:xVal>
          <c:yVal>
            <c:numRef>
              <c:f>'[散点图(1)(1).xlsx]业务量散点图-成人手术'!$N$3:$N$18</c:f>
              <c:numCache>
                <c:formatCode>0.00%</c:formatCode>
                <c:ptCount val="16"/>
                <c:pt idx="0">
                  <c:v>0.36213017751479298</c:v>
                </c:pt>
                <c:pt idx="1">
                  <c:v>0.57999999999999996</c:v>
                </c:pt>
                <c:pt idx="2">
                  <c:v>0.30842391304347799</c:v>
                </c:pt>
                <c:pt idx="3">
                  <c:v>0.36563071297989003</c:v>
                </c:pt>
                <c:pt idx="4">
                  <c:v>0.10122699386503101</c:v>
                </c:pt>
                <c:pt idx="5">
                  <c:v>0.59090909090909105</c:v>
                </c:pt>
                <c:pt idx="6">
                  <c:v>-0.248376623376623</c:v>
                </c:pt>
                <c:pt idx="7">
                  <c:v>1.0378006872852199</c:v>
                </c:pt>
                <c:pt idx="8">
                  <c:v>-0.35714285714285698</c:v>
                </c:pt>
                <c:pt idx="9">
                  <c:v>-0.27702702702702697</c:v>
                </c:pt>
                <c:pt idx="10">
                  <c:v>0.222689075630252</c:v>
                </c:pt>
                <c:pt idx="11">
                  <c:v>0.23037974683544299</c:v>
                </c:pt>
                <c:pt idx="12">
                  <c:v>0.193889541715629</c:v>
                </c:pt>
                <c:pt idx="13">
                  <c:v>0.20448877805486301</c:v>
                </c:pt>
                <c:pt idx="14">
                  <c:v>0.57377049180327899</c:v>
                </c:pt>
              </c:numCache>
            </c:numRef>
          </c:yVal>
          <c:smooth val="0"/>
          <c:extLst>
            <c:ext xmlns:c15="http://schemas.microsoft.com/office/drawing/2012/chart" uri="{02D57815-91ED-43cb-92C2-25804820EDAC}">
              <c15:datalabelsRange>
                <c15:f>'业务量散点图-成人手术'!$L$3:$L$18</c15:f>
                <c15:dlblRangeCache>
                  <c:ptCount val="16"/>
                  <c:pt idx="0">
                    <c:v>普外</c:v>
                  </c:pt>
                  <c:pt idx="1">
                    <c:v>神经外</c:v>
                  </c:pt>
                  <c:pt idx="2">
                    <c:v>骨科</c:v>
                  </c:pt>
                  <c:pt idx="3">
                    <c:v>泌尿</c:v>
                  </c:pt>
                  <c:pt idx="4">
                    <c:v>心胸</c:v>
                  </c:pt>
                  <c:pt idx="5">
                    <c:v>整形</c:v>
                  </c:pt>
                  <c:pt idx="6">
                    <c:v>肛肠</c:v>
                  </c:pt>
                  <c:pt idx="7">
                    <c:v>脊柱</c:v>
                  </c:pt>
                  <c:pt idx="8">
                    <c:v>移植</c:v>
                  </c:pt>
                  <c:pt idx="9">
                    <c:v>乳腺</c:v>
                  </c:pt>
                  <c:pt idx="10">
                    <c:v>介入</c:v>
                  </c:pt>
                  <c:pt idx="11">
                    <c:v>妇产科</c:v>
                  </c:pt>
                  <c:pt idx="12">
                    <c:v>眼科</c:v>
                  </c:pt>
                  <c:pt idx="13">
                    <c:v>五官</c:v>
                  </c:pt>
                  <c:pt idx="14">
                    <c:v>疼痛</c:v>
                  </c:pt>
                  <c:pt idx="15">
                    <c:v>胎儿医院（筹）</c:v>
                  </c:pt>
                </c15:dlblRangeCache>
              </c15:datalabelsRange>
            </c:ext>
            <c:ext xmlns:c16="http://schemas.microsoft.com/office/drawing/2014/chart" uri="{C3380CC4-5D6E-409C-BE32-E72D297353CC}">
              <c16:uniqueId val="{00000010-1061-41C0-91CD-92339BC35BDC}"/>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f28bfdf-8773-427a-8dbe-f189063bab8a}"/>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387387387387401E-2"/>
          <c:y val="3.0334014996591701E-2"/>
          <c:w val="0.91302310184199997"/>
          <c:h val="0.94506866416978796"/>
        </c:manualLayout>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ymbol val="circle"/>
              <c:size val="7"/>
              <c:spPr>
                <a:solidFill>
                  <a:schemeClr val="accent1"/>
                </a:solidFill>
                <a:ln w="9525">
                  <a:noFill/>
                </a:ln>
                <a:effectLst/>
              </c:spPr>
            </c:marker>
            <c:bubble3D val="0"/>
            <c:extLst>
              <c:ext xmlns:c16="http://schemas.microsoft.com/office/drawing/2014/chart" uri="{C3380CC4-5D6E-409C-BE32-E72D297353CC}">
                <c16:uniqueId val="{00000000-DA69-49A1-9B45-8E1581D3C618}"/>
              </c:ext>
            </c:extLst>
          </c:dPt>
          <c:dPt>
            <c:idx val="10"/>
            <c:marker>
              <c:symbol val="circle"/>
              <c:size val="7"/>
              <c:spPr>
                <a:solidFill>
                  <a:schemeClr val="accent1"/>
                </a:solidFill>
                <a:ln w="9525">
                  <a:noFill/>
                </a:ln>
                <a:effectLst/>
              </c:spPr>
            </c:marker>
            <c:bubble3D val="0"/>
            <c:extLst>
              <c:ext xmlns:c16="http://schemas.microsoft.com/office/drawing/2014/chart" uri="{C3380CC4-5D6E-409C-BE32-E72D297353CC}">
                <c16:uniqueId val="{00000001-DA69-49A1-9B45-8E1581D3C618}"/>
              </c:ext>
            </c:extLst>
          </c:dPt>
          <c:dPt>
            <c:idx val="11"/>
            <c:marker>
              <c:symbol val="circle"/>
              <c:size val="7"/>
              <c:spPr>
                <a:solidFill>
                  <a:schemeClr val="accent1"/>
                </a:solidFill>
                <a:ln w="9525">
                  <a:noFill/>
                </a:ln>
                <a:effectLst/>
              </c:spPr>
            </c:marker>
            <c:bubble3D val="0"/>
            <c:extLst>
              <c:ext xmlns:c16="http://schemas.microsoft.com/office/drawing/2014/chart" uri="{C3380CC4-5D6E-409C-BE32-E72D297353CC}">
                <c16:uniqueId val="{00000002-DA69-49A1-9B45-8E1581D3C618}"/>
              </c:ext>
            </c:extLst>
          </c:dPt>
          <c:dPt>
            <c:idx val="12"/>
            <c:marker>
              <c:symbol val="circle"/>
              <c:size val="7"/>
              <c:spPr>
                <a:solidFill>
                  <a:schemeClr val="accent1"/>
                </a:solidFill>
                <a:ln w="9525">
                  <a:noFill/>
                </a:ln>
                <a:effectLst/>
              </c:spPr>
            </c:marker>
            <c:bubble3D val="0"/>
            <c:extLst>
              <c:ext xmlns:c16="http://schemas.microsoft.com/office/drawing/2014/chart" uri="{C3380CC4-5D6E-409C-BE32-E72D297353CC}">
                <c16:uniqueId val="{00000003-DA69-49A1-9B45-8E1581D3C618}"/>
              </c:ext>
            </c:extLst>
          </c:dPt>
          <c:dPt>
            <c:idx val="13"/>
            <c:marker>
              <c:symbol val="circle"/>
              <c:size val="7"/>
              <c:spPr>
                <a:solidFill>
                  <a:schemeClr val="accent1"/>
                </a:solidFill>
                <a:ln w="9525">
                  <a:noFill/>
                </a:ln>
                <a:effectLst/>
              </c:spPr>
            </c:marker>
            <c:bubble3D val="0"/>
            <c:extLst>
              <c:ext xmlns:c16="http://schemas.microsoft.com/office/drawing/2014/chart" uri="{C3380CC4-5D6E-409C-BE32-E72D297353CC}">
                <c16:uniqueId val="{00000004-DA69-49A1-9B45-8E1581D3C618}"/>
              </c:ext>
            </c:extLst>
          </c:dPt>
          <c:dLbls>
            <c:dLbl>
              <c:idx val="0"/>
              <c:tx>
                <c:rich>
                  <a:bodyPr/>
                  <a:lstStyle/>
                  <a:p>
                    <a:fld id="{E9930617-FDE5-4984-92D3-A0A456F71D81}"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DA69-49A1-9B45-8E1581D3C618}"/>
                </c:ext>
              </c:extLst>
            </c:dLbl>
            <c:dLbl>
              <c:idx val="1"/>
              <c:layout>
                <c:manualLayout>
                  <c:x val="-1.6736330911655301E-2"/>
                  <c:y val="1.6317108088761599E-2"/>
                </c:manualLayout>
              </c:layout>
              <c:tx>
                <c:rich>
                  <a:bodyPr/>
                  <a:lstStyle/>
                  <a:p>
                    <a:fld id="{F73F1CDB-840B-42CC-A271-97820917EC66}"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6.2767484436179993E-2"/>
                      <c:h val="4.3210310486233201E-2"/>
                    </c:manualLayout>
                  </c15:layout>
                  <c15:dlblFieldTable/>
                  <c15:showDataLabelsRange val="1"/>
                </c:ext>
                <c:ext xmlns:c16="http://schemas.microsoft.com/office/drawing/2014/chart" uri="{C3380CC4-5D6E-409C-BE32-E72D297353CC}">
                  <c16:uniqueId val="{00000006-DA69-49A1-9B45-8E1581D3C618}"/>
                </c:ext>
              </c:extLst>
            </c:dLbl>
            <c:dLbl>
              <c:idx val="2"/>
              <c:tx>
                <c:rich>
                  <a:bodyPr/>
                  <a:lstStyle/>
                  <a:p>
                    <a:fld id="{925039B6-6A00-4AAE-B5F3-1077B581385F}"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DA69-49A1-9B45-8E1581D3C618}"/>
                </c:ext>
              </c:extLst>
            </c:dLbl>
            <c:dLbl>
              <c:idx val="3"/>
              <c:layout>
                <c:manualLayout>
                  <c:x val="-1.90204498291461E-3"/>
                  <c:y val="-8.7170474516695996E-3"/>
                </c:manualLayout>
              </c:layout>
              <c:tx>
                <c:rich>
                  <a:bodyPr/>
                  <a:lstStyle/>
                  <a:p>
                    <a:fld id="{973D76DC-F075-4731-9885-EE89D9D2CE91}"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DA69-49A1-9B45-8E1581D3C618}"/>
                </c:ext>
              </c:extLst>
            </c:dLbl>
            <c:dLbl>
              <c:idx val="4"/>
              <c:layout>
                <c:manualLayout>
                  <c:x val="-6.7522596893466305E-2"/>
                  <c:y val="1.1598023064250401E-2"/>
                </c:manualLayout>
              </c:layout>
              <c:tx>
                <c:rich>
                  <a:bodyPr/>
                  <a:lstStyle/>
                  <a:p>
                    <a:fld id="{E6F8B0D9-F997-4026-9B7A-DB75D2FA0C5E}"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DA69-49A1-9B45-8E1581D3C618}"/>
                </c:ext>
              </c:extLst>
            </c:dLbl>
            <c:dLbl>
              <c:idx val="5"/>
              <c:tx>
                <c:rich>
                  <a:bodyPr/>
                  <a:lstStyle/>
                  <a:p>
                    <a:fld id="{F3AABEA1-9C2F-43E9-A632-042524B9786D}"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DA69-49A1-9B45-8E1581D3C618}"/>
                </c:ext>
              </c:extLst>
            </c:dLbl>
            <c:dLbl>
              <c:idx val="6"/>
              <c:tx>
                <c:rich>
                  <a:bodyPr/>
                  <a:lstStyle/>
                  <a:p>
                    <a:fld id="{A8791687-8D60-4DCC-BBD8-1132683DC454}"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DA69-49A1-9B45-8E1581D3C618}"/>
                </c:ext>
              </c:extLst>
            </c:dLbl>
            <c:dLbl>
              <c:idx val="7"/>
              <c:tx>
                <c:rich>
                  <a:bodyPr/>
                  <a:lstStyle/>
                  <a:p>
                    <a:fld id="{51F2BD3D-BC2A-4152-B9C4-E643639EB4AF}"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DA69-49A1-9B45-8E1581D3C618}"/>
                </c:ext>
              </c:extLst>
            </c:dLbl>
            <c:dLbl>
              <c:idx val="8"/>
              <c:tx>
                <c:rich>
                  <a:bodyPr/>
                  <a:lstStyle/>
                  <a:p>
                    <a:fld id="{E116E3E1-FF23-48A0-895E-E634C3873193}"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DA69-49A1-9B45-8E1581D3C618}"/>
                </c:ext>
              </c:extLst>
            </c:dLbl>
            <c:dLbl>
              <c:idx val="9"/>
              <c:tx>
                <c:rich>
                  <a:bodyPr/>
                  <a:lstStyle/>
                  <a:p>
                    <a:fld id="{0441D4CE-C3B0-4ED3-B1ED-B0E6630DDE3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DA69-49A1-9B45-8E1581D3C618}"/>
                </c:ext>
              </c:extLst>
            </c:dLbl>
            <c:dLbl>
              <c:idx val="10"/>
              <c:layout>
                <c:manualLayout>
                  <c:x val="4.6490011456310201E-3"/>
                  <c:y val="2.9836829836829802E-3"/>
                </c:manualLayout>
              </c:layout>
              <c:tx>
                <c:rich>
                  <a:bodyPr/>
                  <a:lstStyle/>
                  <a:p>
                    <a:fld id="{1A042FD3-FEFB-477D-AFAC-5EC572950A7A}"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DA69-49A1-9B45-8E1581D3C618}"/>
                </c:ext>
              </c:extLst>
            </c:dLbl>
            <c:dLbl>
              <c:idx val="11"/>
              <c:tx>
                <c:rich>
                  <a:bodyPr/>
                  <a:lstStyle/>
                  <a:p>
                    <a:fld id="{07FB13D2-EBAA-4C66-8519-AC2D25AE835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DA69-49A1-9B45-8E1581D3C618}"/>
                </c:ext>
              </c:extLst>
            </c:dLbl>
            <c:dLbl>
              <c:idx val="12"/>
              <c:layout>
                <c:manualLayout>
                  <c:x val="-6.7875416726212903E-2"/>
                  <c:y val="1.23076923076922E-2"/>
                </c:manualLayout>
              </c:layout>
              <c:tx>
                <c:rich>
                  <a:bodyPr/>
                  <a:lstStyle/>
                  <a:p>
                    <a:fld id="{01F80955-E232-4FD2-AE60-2D5F3AD5632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DA69-49A1-9B45-8E1581D3C618}"/>
                </c:ext>
              </c:extLst>
            </c:dLbl>
            <c:dLbl>
              <c:idx val="13"/>
              <c:tx>
                <c:rich>
                  <a:bodyPr/>
                  <a:lstStyle/>
                  <a:p>
                    <a:fld id="{741D730D-DDC7-4FC2-9C8D-BFA90C25BAA3}"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DA69-49A1-9B45-8E1581D3C618}"/>
                </c:ext>
              </c:extLst>
            </c:dLbl>
            <c:dLbl>
              <c:idx val="14"/>
              <c:tx>
                <c:rich>
                  <a:bodyPr/>
                  <a:lstStyle/>
                  <a:p>
                    <a:fld id="{135E51EA-C9DC-406B-AE50-1264DD6A4A62}"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DA69-49A1-9B45-8E1581D3C618}"/>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'[散点图(1)(1).xlsx]业务量散点图-成人非手术'!$M$3:$M$17</c:f>
              <c:numCache>
                <c:formatCode>0.00%</c:formatCode>
                <c:ptCount val="15"/>
                <c:pt idx="0">
                  <c:v>0.333087783916513</c:v>
                </c:pt>
                <c:pt idx="1">
                  <c:v>0.55464554242749697</c:v>
                </c:pt>
                <c:pt idx="2">
                  <c:v>0.35758799262705199</c:v>
                </c:pt>
                <c:pt idx="3">
                  <c:v>0.56717837837837803</c:v>
                </c:pt>
                <c:pt idx="4">
                  <c:v>0.12828685258964101</c:v>
                </c:pt>
                <c:pt idx="5">
                  <c:v>0.34291713778064897</c:v>
                </c:pt>
                <c:pt idx="6">
                  <c:v>0.38918757467144599</c:v>
                </c:pt>
                <c:pt idx="7">
                  <c:v>2.3215067893123099E-2</c:v>
                </c:pt>
                <c:pt idx="8">
                  <c:v>0.25450533284295701</c:v>
                </c:pt>
                <c:pt idx="9">
                  <c:v>0.116345694731816</c:v>
                </c:pt>
                <c:pt idx="10">
                  <c:v>0.53190145293746105</c:v>
                </c:pt>
                <c:pt idx="11">
                  <c:v>0.42139433286815098</c:v>
                </c:pt>
                <c:pt idx="12">
                  <c:v>0.51992753623188404</c:v>
                </c:pt>
                <c:pt idx="13">
                  <c:v>8.2953616076644393E-2</c:v>
                </c:pt>
                <c:pt idx="14">
                  <c:v>-0.39842209072978302</c:v>
                </c:pt>
              </c:numCache>
            </c:numRef>
          </c:xVal>
          <c:yVal>
            <c:numRef>
              <c:f>'[散点图(1)(1).xlsx]业务量散点图-成人非手术'!$N$3:$N$17</c:f>
              <c:numCache>
                <c:formatCode>0.00%</c:formatCode>
                <c:ptCount val="15"/>
                <c:pt idx="0">
                  <c:v>0.328125</c:v>
                </c:pt>
                <c:pt idx="1">
                  <c:v>0.52272727272727304</c:v>
                </c:pt>
                <c:pt idx="2">
                  <c:v>0.485436893203884</c:v>
                </c:pt>
                <c:pt idx="3">
                  <c:v>0.40117647058823502</c:v>
                </c:pt>
                <c:pt idx="4">
                  <c:v>5.2083333333332602E-3</c:v>
                </c:pt>
                <c:pt idx="5">
                  <c:v>0.35135135135135098</c:v>
                </c:pt>
                <c:pt idx="6">
                  <c:v>-1.8348623853211E-2</c:v>
                </c:pt>
                <c:pt idx="7">
                  <c:v>-0.141025641025641</c:v>
                </c:pt>
                <c:pt idx="8">
                  <c:v>0.13636363636363599</c:v>
                </c:pt>
                <c:pt idx="9">
                  <c:v>1.53846153846153E-2</c:v>
                </c:pt>
                <c:pt idx="10">
                  <c:v>-0.12751677852349</c:v>
                </c:pt>
                <c:pt idx="11">
                  <c:v>-0.195266272189349</c:v>
                </c:pt>
                <c:pt idx="12">
                  <c:v>-7.1428571428571397E-2</c:v>
                </c:pt>
                <c:pt idx="13">
                  <c:v>0.128205128205128</c:v>
                </c:pt>
                <c:pt idx="14">
                  <c:v>-0.125</c:v>
                </c:pt>
              </c:numCache>
            </c:numRef>
          </c:yVal>
          <c:smooth val="0"/>
          <c:extLst>
            <c:ext xmlns:c15="http://schemas.microsoft.com/office/drawing/2012/chart" uri="{02D57815-91ED-43cb-92C2-25804820EDAC}">
              <c15:datalabelsRange>
                <c15:f>'业务量散点图-成人非手术'!$L$3:$L$17</c15:f>
                <c15:dlblRangeCache>
                  <c:ptCount val="15"/>
                  <c:pt idx="0">
                    <c:v>呼吸</c:v>
                  </c:pt>
                  <c:pt idx="1">
                    <c:v>消化</c:v>
                  </c:pt>
                  <c:pt idx="2">
                    <c:v>神经内</c:v>
                  </c:pt>
                  <c:pt idx="3">
                    <c:v>心血管</c:v>
                  </c:pt>
                  <c:pt idx="4">
                    <c:v>血液</c:v>
                  </c:pt>
                  <c:pt idx="5">
                    <c:v>肾脏</c:v>
                  </c:pt>
                  <c:pt idx="6">
                    <c:v>内分泌</c:v>
                  </c:pt>
                  <c:pt idx="7">
                    <c:v>老年</c:v>
                  </c:pt>
                  <c:pt idx="8">
                    <c:v>全科</c:v>
                  </c:pt>
                  <c:pt idx="9">
                    <c:v>皮肤</c:v>
                  </c:pt>
                  <c:pt idx="10">
                    <c:v>肿瘤</c:v>
                  </c:pt>
                  <c:pt idx="11">
                    <c:v>急诊</c:v>
                  </c:pt>
                  <c:pt idx="12">
                    <c:v>康复</c:v>
                  </c:pt>
                  <c:pt idx="13">
                    <c:v>中医</c:v>
                  </c:pt>
                  <c:pt idx="14">
                    <c:v>感染</c:v>
                  </c:pt>
                </c15:dlblRangeCache>
              </c15:datalabelsRange>
            </c:ext>
            <c:ext xmlns:c16="http://schemas.microsoft.com/office/drawing/2014/chart" uri="{C3380CC4-5D6E-409C-BE32-E72D297353CC}">
              <c16:uniqueId val="{0000000F-DA69-49A1-9B45-8E1581D3C618}"/>
            </c:ext>
          </c:extLst>
        </c:ser>
        <c:dLbls>
          <c:showLegendKey val="0"/>
          <c:showVal val="0"/>
          <c:showCatName val="0"/>
          <c:showSerName val="0"/>
          <c:showPercent val="0"/>
          <c:showBubbleSize val="0"/>
        </c:dLbls>
        <c:axId val="922786288"/>
        <c:axId val="1055129360"/>
      </c:scatterChart>
      <c:valAx>
        <c:axId val="922786288"/>
        <c:scaling>
          <c:orientation val="minMax"/>
          <c:min val="-0.3"/>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8da1e25-76fb-4152-8b3a-0f7446d38c2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'[横向医院底稿(1)(1)(1).xlsm]门急诊量价横向'!$C$2</c:f>
              <c:strCache>
                <c:ptCount val="1"/>
                <c:pt idx="0">
                  <c:v>门急诊人次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F0C7-4737-B5DE-13BED2140D11}"/>
              </c:ext>
            </c:extLst>
          </c:dPt>
          <c:dPt>
            <c:idx val="1"/>
            <c:invertIfNegative val="0"/>
            <c:bubble3D val="0"/>
            <c:spPr>
              <a:solidFill>
                <a:srgbClr val="002060"/>
              </a:solidFill>
              <a:ln>
                <a:noFill/>
              </a:ln>
              <a:effectLst/>
            </c:spPr>
            <c:extLst>
              <c:ext xmlns:c16="http://schemas.microsoft.com/office/drawing/2014/chart" uri="{C3380CC4-5D6E-409C-BE32-E72D297353CC}">
                <c16:uniqueId val="{00000003-F0C7-4737-B5DE-13BED2140D11}"/>
              </c:ext>
            </c:extLst>
          </c:dPt>
          <c:dPt>
            <c:idx val="2"/>
            <c:invertIfNegative val="0"/>
            <c:bubble3D val="0"/>
            <c:spPr>
              <a:solidFill>
                <a:srgbClr val="002060"/>
              </a:solidFill>
              <a:ln>
                <a:noFill/>
              </a:ln>
              <a:effectLst/>
            </c:spPr>
            <c:extLst>
              <c:ext xmlns:c16="http://schemas.microsoft.com/office/drawing/2014/chart" uri="{C3380CC4-5D6E-409C-BE32-E72D297353CC}">
                <c16:uniqueId val="{00000005-F0C7-4737-B5DE-13BED2140D11}"/>
              </c:ext>
            </c:extLst>
          </c:dPt>
          <c:dPt>
            <c:idx val="3"/>
            <c:invertIfNegative val="0"/>
            <c:bubble3D val="0"/>
            <c:spPr>
              <a:solidFill>
                <a:srgbClr val="002060"/>
              </a:solidFill>
              <a:ln>
                <a:noFill/>
              </a:ln>
              <a:effectLst/>
            </c:spPr>
            <c:extLst>
              <c:ext xmlns:c16="http://schemas.microsoft.com/office/drawing/2014/chart" uri="{C3380CC4-5D6E-409C-BE32-E72D297353CC}">
                <c16:uniqueId val="{00000007-F0C7-4737-B5DE-13BED2140D11}"/>
              </c:ext>
            </c:extLst>
          </c:dPt>
          <c:dPt>
            <c:idx val="4"/>
            <c:invertIfNegative val="0"/>
            <c:bubble3D val="0"/>
            <c:spPr>
              <a:solidFill>
                <a:srgbClr val="002060"/>
              </a:solidFill>
              <a:ln>
                <a:noFill/>
              </a:ln>
              <a:effectLst/>
            </c:spPr>
            <c:extLst>
              <c:ext xmlns:c16="http://schemas.microsoft.com/office/drawing/2014/chart" uri="{C3380CC4-5D6E-409C-BE32-E72D297353CC}">
                <c16:uniqueId val="{00000009-F0C7-4737-B5DE-13BED2140D11}"/>
              </c:ext>
            </c:extLst>
          </c:dPt>
          <c:dPt>
            <c:idx val="6"/>
            <c:invertIfNegative val="0"/>
            <c:bubble3D val="0"/>
            <c:spPr>
              <a:solidFill>
                <a:srgbClr val="002060"/>
              </a:solidFill>
              <a:ln>
                <a:noFill/>
              </a:ln>
              <a:effectLst/>
            </c:spPr>
            <c:extLst>
              <c:ext xmlns:c16="http://schemas.microsoft.com/office/drawing/2014/chart" uri="{C3380CC4-5D6E-409C-BE32-E72D297353CC}">
                <c16:uniqueId val="{0000000B-F0C7-4737-B5DE-13BED2140D11}"/>
              </c:ext>
            </c:extLst>
          </c:dPt>
          <c:dPt>
            <c:idx val="7"/>
            <c:invertIfNegative val="0"/>
            <c:bubble3D val="0"/>
            <c:spPr>
              <a:solidFill>
                <a:srgbClr val="002060"/>
              </a:solidFill>
              <a:ln>
                <a:noFill/>
              </a:ln>
              <a:effectLst/>
            </c:spPr>
            <c:extLst>
              <c:ext xmlns:c16="http://schemas.microsoft.com/office/drawing/2014/chart" uri="{C3380CC4-5D6E-409C-BE32-E72D297353CC}">
                <c16:uniqueId val="{0000000D-F0C7-4737-B5DE-13BED2140D11}"/>
              </c:ext>
            </c:extLst>
          </c:dPt>
          <c:dPt>
            <c:idx val="10"/>
            <c:invertIfNegative val="0"/>
            <c:bubble3D val="0"/>
            <c:spPr>
              <a:solidFill>
                <a:srgbClr val="002060"/>
              </a:solidFill>
              <a:ln>
                <a:noFill/>
              </a:ln>
              <a:effectLst/>
            </c:spPr>
            <c:extLst>
              <c:ext xmlns:c16="http://schemas.microsoft.com/office/drawing/2014/chart" uri="{C3380CC4-5D6E-409C-BE32-E72D297353CC}">
                <c16:uniqueId val="{0000000F-F0C7-4737-B5DE-13BED2140D11}"/>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'[横向医院底稿(1)(1)(1).xlsm]门急诊量价横向'!$A$3:$B$13</c:f>
              <c:multiLvlStrCache>
                <c:ptCount val="11"/>
                <c:lvl>
                  <c:pt idx="0">
                    <c:v>新华</c:v>
                  </c:pt>
                  <c:pt idx="1">
                    <c:v>华东</c:v>
                  </c:pt>
                  <c:pt idx="2">
                    <c:v>仁济</c:v>
                  </c:pt>
                  <c:pt idx="3">
                    <c:v>十院</c:v>
                  </c:pt>
                  <c:pt idx="4">
                    <c:v>一院</c:v>
                  </c:pt>
                  <c:pt idx="5">
                    <c:v>中山</c:v>
                  </c:pt>
                  <c:pt idx="6">
                    <c:v>同济</c:v>
                  </c:pt>
                  <c:pt idx="7">
                    <c:v>六院</c:v>
                  </c:pt>
                  <c:pt idx="8">
                    <c:v>九院</c:v>
                  </c:pt>
                  <c:pt idx="9">
                    <c:v>瑞金</c:v>
                  </c:pt>
                  <c:pt idx="10">
                    <c:v>华山</c:v>
                  </c:pt>
                </c:lvl>
                <c:lvl/>
              </c:multiLvlStrCache>
            </c:multiLvlStrRef>
          </c:cat>
          <c:val>
            <c:numRef>
              <c:f>'[横向医院底稿(1)(1)(1).xlsm]门急诊量价横向'!$C$3:$C$13</c:f>
              <c:numCache>
                <c:formatCode>#,##0.00_ </c:formatCode>
                <c:ptCount val="11"/>
                <c:pt idx="0">
                  <c:v>46.534599999999998</c:v>
                </c:pt>
                <c:pt idx="1">
                  <c:v>15.1631</c:v>
                </c:pt>
                <c:pt idx="2">
                  <c:v>70.760999999999996</c:v>
                </c:pt>
                <c:pt idx="3">
                  <c:v>28.353899999999999</c:v>
                </c:pt>
                <c:pt idx="4">
                  <c:v>44.228400000000001</c:v>
                </c:pt>
                <c:pt idx="5">
                  <c:v>57.5122</c:v>
                </c:pt>
                <c:pt idx="6">
                  <c:v>19.3429</c:v>
                </c:pt>
                <c:pt idx="7">
                  <c:v>54.366799999999998</c:v>
                </c:pt>
                <c:pt idx="8">
                  <c:v>42.674500000000002</c:v>
                </c:pt>
                <c:pt idx="9">
                  <c:v>61.491999999999997</c:v>
                </c:pt>
                <c:pt idx="10">
                  <c:v>56.964500000000001</c:v>
                </c:pt>
              </c:numCache>
            </c:numRef>
          </c:val>
          <c:extLst>
            <c:ext xmlns:c16="http://schemas.microsoft.com/office/drawing/2014/chart" uri="{C3380CC4-5D6E-409C-BE32-E72D297353CC}">
              <c16:uniqueId val="{00000010-F0C7-4737-B5DE-13BED2140D11}"/>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'[横向医院底稿(1)(1)(1).xlsm]门急诊量价横向'!$D$2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'[横向医院底稿(1)(1)(1).xlsm]门急诊量价横向'!$A$3:$B$13</c:f>
              <c:multiLvlStrCache>
                <c:ptCount val="11"/>
                <c:lvl>
                  <c:pt idx="0">
                    <c:v>新华</c:v>
                  </c:pt>
                  <c:pt idx="1">
                    <c:v>华东</c:v>
                  </c:pt>
                  <c:pt idx="2">
                    <c:v>仁济</c:v>
                  </c:pt>
                  <c:pt idx="3">
                    <c:v>十院</c:v>
                  </c:pt>
                  <c:pt idx="4">
                    <c:v>一院</c:v>
                  </c:pt>
                  <c:pt idx="5">
                    <c:v>中山</c:v>
                  </c:pt>
                  <c:pt idx="6">
                    <c:v>同济</c:v>
                  </c:pt>
                  <c:pt idx="7">
                    <c:v>六院</c:v>
                  </c:pt>
                  <c:pt idx="8">
                    <c:v>九院</c:v>
                  </c:pt>
                  <c:pt idx="9">
                    <c:v>瑞金</c:v>
                  </c:pt>
                  <c:pt idx="10">
                    <c:v>华山</c:v>
                  </c:pt>
                </c:lvl>
                <c:lvl/>
              </c:multiLvlStrCache>
            </c:multiLvlStrRef>
          </c:cat>
          <c:val>
            <c:numRef>
              <c:f>'[横向医院底稿(1)(1)(1).xlsm]门急诊量价横向'!$D$3:$D$13</c:f>
              <c:numCache>
                <c:formatCode>0.0%</c:formatCode>
                <c:ptCount val="11"/>
                <c:pt idx="0">
                  <c:v>0.28631056367616797</c:v>
                </c:pt>
                <c:pt idx="1">
                  <c:v>0.133249129310474</c:v>
                </c:pt>
                <c:pt idx="2">
                  <c:v>0.10494830582713</c:v>
                </c:pt>
                <c:pt idx="3">
                  <c:v>8.6389621137812594E-2</c:v>
                </c:pt>
                <c:pt idx="4">
                  <c:v>8.3731916728741099E-2</c:v>
                </c:pt>
                <c:pt idx="5">
                  <c:v>8.0800411932512306E-2</c:v>
                </c:pt>
                <c:pt idx="6">
                  <c:v>7.3454573707080598E-2</c:v>
                </c:pt>
                <c:pt idx="7">
                  <c:v>4.1282172092684803E-2</c:v>
                </c:pt>
                <c:pt idx="8">
                  <c:v>3.06580590313754E-2</c:v>
                </c:pt>
                <c:pt idx="9">
                  <c:v>1.7265994246322899E-2</c:v>
                </c:pt>
                <c:pt idx="10">
                  <c:v>-7.8371097826350794E-2</c:v>
                </c:pt>
              </c:numCache>
            </c:numRef>
          </c:val>
          <c:smooth val="0"/>
          <c:extLst>
            <c:ext xmlns:c16="http://schemas.microsoft.com/office/drawing/2014/chart" uri="{C3380CC4-5D6E-409C-BE32-E72D297353CC}">
              <c16:uniqueId val="{00000011-F0C7-4737-B5DE-13BED2140D11}"/>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9686427-ee3d-4c3f-adaf-7e444ccfb8cd}"/>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'[横向医院底稿(1)(1)(1).xlsm]住院量价横向'!$C$2</c:f>
              <c:strCache>
                <c:ptCount val="1"/>
                <c:pt idx="0">
                  <c:v>住院人次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B8E4-4DEB-8A73-7FCA4142BFDB}"/>
              </c:ext>
            </c:extLst>
          </c:dPt>
          <c:dPt>
            <c:idx val="2"/>
            <c:invertIfNegative val="0"/>
            <c:bubble3D val="0"/>
            <c:spPr>
              <a:solidFill>
                <a:srgbClr val="002060"/>
              </a:solidFill>
              <a:ln>
                <a:noFill/>
              </a:ln>
              <a:effectLst/>
            </c:spPr>
            <c:extLst>
              <c:ext xmlns:c16="http://schemas.microsoft.com/office/drawing/2014/chart" uri="{C3380CC4-5D6E-409C-BE32-E72D297353CC}">
                <c16:uniqueId val="{00000003-B8E4-4DEB-8A73-7FCA4142BFDB}"/>
              </c:ext>
            </c:extLst>
          </c:dPt>
          <c:dPt>
            <c:idx val="3"/>
            <c:invertIfNegative val="0"/>
            <c:bubble3D val="0"/>
            <c:spPr>
              <a:solidFill>
                <a:srgbClr val="002060"/>
              </a:solidFill>
              <a:ln>
                <a:noFill/>
              </a:ln>
              <a:effectLst/>
            </c:spPr>
            <c:extLst>
              <c:ext xmlns:c16="http://schemas.microsoft.com/office/drawing/2014/chart" uri="{C3380CC4-5D6E-409C-BE32-E72D297353CC}">
                <c16:uniqueId val="{00000005-B8E4-4DEB-8A73-7FCA4142BFDB}"/>
              </c:ext>
            </c:extLst>
          </c:dPt>
          <c:dPt>
            <c:idx val="4"/>
            <c:invertIfNegative val="0"/>
            <c:bubble3D val="0"/>
            <c:spPr>
              <a:solidFill>
                <a:srgbClr val="002060"/>
              </a:solidFill>
              <a:ln>
                <a:noFill/>
              </a:ln>
              <a:effectLst/>
            </c:spPr>
            <c:extLst>
              <c:ext xmlns:c16="http://schemas.microsoft.com/office/drawing/2014/chart" uri="{C3380CC4-5D6E-409C-BE32-E72D297353CC}">
                <c16:uniqueId val="{00000007-B8E4-4DEB-8A73-7FCA4142BFDB}"/>
              </c:ext>
            </c:extLst>
          </c:dPt>
          <c:dPt>
            <c:idx val="5"/>
            <c:invertIfNegative val="0"/>
            <c:bubble3D val="0"/>
            <c:spPr>
              <a:solidFill>
                <a:srgbClr val="002060"/>
              </a:solidFill>
              <a:ln>
                <a:noFill/>
              </a:ln>
              <a:effectLst/>
            </c:spPr>
            <c:extLst>
              <c:ext xmlns:c16="http://schemas.microsoft.com/office/drawing/2014/chart" uri="{C3380CC4-5D6E-409C-BE32-E72D297353CC}">
                <c16:uniqueId val="{00000009-B8E4-4DEB-8A73-7FCA4142BFDB}"/>
              </c:ext>
            </c:extLst>
          </c:dPt>
          <c:dPt>
            <c:idx val="6"/>
            <c:invertIfNegative val="0"/>
            <c:bubble3D val="0"/>
            <c:spPr>
              <a:solidFill>
                <a:srgbClr val="002060"/>
              </a:solidFill>
              <a:ln>
                <a:noFill/>
              </a:ln>
              <a:effectLst/>
            </c:spPr>
            <c:extLst>
              <c:ext xmlns:c16="http://schemas.microsoft.com/office/drawing/2014/chart" uri="{C3380CC4-5D6E-409C-BE32-E72D297353CC}">
                <c16:uniqueId val="{0000000B-B8E4-4DEB-8A73-7FCA4142BFDB}"/>
              </c:ext>
            </c:extLst>
          </c:dPt>
          <c:dPt>
            <c:idx val="7"/>
            <c:invertIfNegative val="0"/>
            <c:bubble3D val="0"/>
            <c:spPr>
              <a:solidFill>
                <a:srgbClr val="002060"/>
              </a:solidFill>
              <a:ln>
                <a:noFill/>
              </a:ln>
              <a:effectLst/>
            </c:spPr>
            <c:extLst>
              <c:ext xmlns:c16="http://schemas.microsoft.com/office/drawing/2014/chart" uri="{C3380CC4-5D6E-409C-BE32-E72D297353CC}">
                <c16:uniqueId val="{0000000D-B8E4-4DEB-8A73-7FCA4142BFDB}"/>
              </c:ext>
            </c:extLst>
          </c:dPt>
          <c:dPt>
            <c:idx val="10"/>
            <c:invertIfNegative val="0"/>
            <c:bubble3D val="0"/>
            <c:spPr>
              <a:solidFill>
                <a:srgbClr val="002060"/>
              </a:solidFill>
              <a:ln>
                <a:noFill/>
              </a:ln>
              <a:effectLst/>
            </c:spPr>
            <c:extLst>
              <c:ext xmlns:c16="http://schemas.microsoft.com/office/drawing/2014/chart" uri="{C3380CC4-5D6E-409C-BE32-E72D297353CC}">
                <c16:uniqueId val="{0000000F-B8E4-4DEB-8A73-7FCA4142BFDB}"/>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'[横向医院底稿(1)(1)(1).xlsm]住院量价横向'!$A$3:$B$13</c:f>
              <c:multiLvlStrCache>
                <c:ptCount val="11"/>
                <c:lvl>
                  <c:pt idx="0">
                    <c:v>新华</c:v>
                  </c:pt>
                  <c:pt idx="1">
                    <c:v>华东</c:v>
                  </c:pt>
                  <c:pt idx="2">
                    <c:v>瑞金</c:v>
                  </c:pt>
                  <c:pt idx="3">
                    <c:v>十院</c:v>
                  </c:pt>
                  <c:pt idx="4">
                    <c:v>一院</c:v>
                  </c:pt>
                  <c:pt idx="5">
                    <c:v>仁济</c:v>
                  </c:pt>
                  <c:pt idx="6">
                    <c:v>六院</c:v>
                  </c:pt>
                  <c:pt idx="7">
                    <c:v>同济</c:v>
                  </c:pt>
                  <c:pt idx="8">
                    <c:v>中山</c:v>
                  </c:pt>
                  <c:pt idx="9">
                    <c:v>九院</c:v>
                  </c:pt>
                  <c:pt idx="10">
                    <c:v>华山</c:v>
                  </c:pt>
                </c:lvl>
                <c:lvl/>
              </c:multiLvlStrCache>
            </c:multiLvlStrRef>
          </c:cat>
          <c:val>
            <c:numRef>
              <c:f>'[横向医院底稿(1)(1)(1).xlsm]住院量价横向'!$C$3:$C$13</c:f>
              <c:numCache>
                <c:formatCode>#,##0.00_ </c:formatCode>
                <c:ptCount val="11"/>
                <c:pt idx="0">
                  <c:v>1.6313</c:v>
                </c:pt>
                <c:pt idx="1">
                  <c:v>0.78979999999999995</c:v>
                </c:pt>
                <c:pt idx="2">
                  <c:v>2.2713000000000001</c:v>
                </c:pt>
                <c:pt idx="3">
                  <c:v>1.3328</c:v>
                </c:pt>
                <c:pt idx="4">
                  <c:v>1.5323</c:v>
                </c:pt>
                <c:pt idx="5">
                  <c:v>2.4779</c:v>
                </c:pt>
                <c:pt idx="6">
                  <c:v>1.8952</c:v>
                </c:pt>
                <c:pt idx="7">
                  <c:v>0.85660000000000003</c:v>
                </c:pt>
                <c:pt idx="8">
                  <c:v>2.5512999999999999</c:v>
                </c:pt>
                <c:pt idx="9">
                  <c:v>1.4663999999999999</c:v>
                </c:pt>
                <c:pt idx="10">
                  <c:v>1.6241000000000001</c:v>
                </c:pt>
              </c:numCache>
            </c:numRef>
          </c:val>
          <c:extLst>
            <c:ext xmlns:c16="http://schemas.microsoft.com/office/drawing/2014/chart" uri="{C3380CC4-5D6E-409C-BE32-E72D297353CC}">
              <c16:uniqueId val="{00000010-B8E4-4DEB-8A73-7FCA4142BFDB}"/>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'[横向医院底稿(1)(1)(1).xlsm]住院量价横向'!$D$2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'[横向医院底稿(1)(1)(1).xlsm]住院量价横向'!$A$3:$B$13</c:f>
              <c:multiLvlStrCache>
                <c:ptCount val="11"/>
                <c:lvl>
                  <c:pt idx="0">
                    <c:v>新华</c:v>
                  </c:pt>
                  <c:pt idx="1">
                    <c:v>华东</c:v>
                  </c:pt>
                  <c:pt idx="2">
                    <c:v>瑞金</c:v>
                  </c:pt>
                  <c:pt idx="3">
                    <c:v>十院</c:v>
                  </c:pt>
                  <c:pt idx="4">
                    <c:v>一院</c:v>
                  </c:pt>
                  <c:pt idx="5">
                    <c:v>仁济</c:v>
                  </c:pt>
                  <c:pt idx="6">
                    <c:v>六院</c:v>
                  </c:pt>
                  <c:pt idx="7">
                    <c:v>同济</c:v>
                  </c:pt>
                  <c:pt idx="8">
                    <c:v>中山</c:v>
                  </c:pt>
                  <c:pt idx="9">
                    <c:v>九院</c:v>
                  </c:pt>
                  <c:pt idx="10">
                    <c:v>华山</c:v>
                  </c:pt>
                </c:lvl>
                <c:lvl/>
              </c:multiLvlStrCache>
            </c:multiLvlStrRef>
          </c:cat>
          <c:val>
            <c:numRef>
              <c:f>'[横向医院底稿(1)(1)(1).xlsm]住院量价横向'!$D$3:$D$13</c:f>
              <c:numCache>
                <c:formatCode>0.0%</c:formatCode>
                <c:ptCount val="11"/>
                <c:pt idx="0">
                  <c:v>0.21061224489795899</c:v>
                </c:pt>
                <c:pt idx="1">
                  <c:v>0.18963699352312099</c:v>
                </c:pt>
                <c:pt idx="2">
                  <c:v>0.149850655596618</c:v>
                </c:pt>
                <c:pt idx="3">
                  <c:v>0.13275539690634</c:v>
                </c:pt>
                <c:pt idx="4">
                  <c:v>0.100078971929069</c:v>
                </c:pt>
                <c:pt idx="5">
                  <c:v>8.7991218441273195E-2</c:v>
                </c:pt>
                <c:pt idx="6">
                  <c:v>7.6084487849193694E-2</c:v>
                </c:pt>
                <c:pt idx="7">
                  <c:v>7.2627097420485898E-2</c:v>
                </c:pt>
                <c:pt idx="8">
                  <c:v>5.67014579191518E-2</c:v>
                </c:pt>
                <c:pt idx="9">
                  <c:v>1.2217850486643001E-2</c:v>
                </c:pt>
                <c:pt idx="10">
                  <c:v>-9.1056637564360804E-2</c:v>
                </c:pt>
              </c:numCache>
            </c:numRef>
          </c:val>
          <c:smooth val="0"/>
          <c:extLst>
            <c:ext xmlns:c16="http://schemas.microsoft.com/office/drawing/2014/chart" uri="{C3380CC4-5D6E-409C-BE32-E72D297353CC}">
              <c16:uniqueId val="{00000011-B8E4-4DEB-8A73-7FCA4142BFDB}"/>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67c18cae-4e55-4e49-aa42-9d2cfc703a50}"/>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'[横向医院底稿(1)(1).xlsm]住院量价横向'!$C$2</c:f>
              <c:strCache>
                <c:ptCount val="1"/>
                <c:pt idx="0">
                  <c:v>住院人次</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E169-4D18-9C20-DA969DA8CB2C}"/>
              </c:ext>
            </c:extLst>
          </c:dPt>
          <c:dPt>
            <c:idx val="2"/>
            <c:invertIfNegative val="0"/>
            <c:bubble3D val="0"/>
            <c:spPr>
              <a:solidFill>
                <a:srgbClr val="002060"/>
              </a:solidFill>
              <a:ln>
                <a:noFill/>
              </a:ln>
              <a:effectLst/>
            </c:spPr>
            <c:extLst>
              <c:ext xmlns:c16="http://schemas.microsoft.com/office/drawing/2014/chart" uri="{C3380CC4-5D6E-409C-BE32-E72D297353CC}">
                <c16:uniqueId val="{00000003-E169-4D18-9C20-DA969DA8CB2C}"/>
              </c:ext>
            </c:extLst>
          </c:dPt>
          <c:dPt>
            <c:idx val="3"/>
            <c:invertIfNegative val="0"/>
            <c:bubble3D val="0"/>
            <c:spPr>
              <a:solidFill>
                <a:srgbClr val="002060"/>
              </a:solidFill>
              <a:ln>
                <a:noFill/>
              </a:ln>
              <a:effectLst/>
            </c:spPr>
            <c:extLst>
              <c:ext xmlns:c16="http://schemas.microsoft.com/office/drawing/2014/chart" uri="{C3380CC4-5D6E-409C-BE32-E72D297353CC}">
                <c16:uniqueId val="{00000005-E169-4D18-9C20-DA969DA8CB2C}"/>
              </c:ext>
            </c:extLst>
          </c:dPt>
          <c:dPt>
            <c:idx val="4"/>
            <c:invertIfNegative val="0"/>
            <c:bubble3D val="0"/>
            <c:spPr>
              <a:solidFill>
                <a:srgbClr val="002060"/>
              </a:solidFill>
              <a:ln>
                <a:noFill/>
              </a:ln>
              <a:effectLst/>
            </c:spPr>
            <c:extLst>
              <c:ext xmlns:c16="http://schemas.microsoft.com/office/drawing/2014/chart" uri="{C3380CC4-5D6E-409C-BE32-E72D297353CC}">
                <c16:uniqueId val="{00000007-E169-4D18-9C20-DA969DA8CB2C}"/>
              </c:ext>
            </c:extLst>
          </c:dPt>
          <c:dPt>
            <c:idx val="5"/>
            <c:invertIfNegative val="0"/>
            <c:bubble3D val="0"/>
            <c:spPr>
              <a:solidFill>
                <a:srgbClr val="002060"/>
              </a:solidFill>
              <a:ln>
                <a:noFill/>
              </a:ln>
              <a:effectLst/>
            </c:spPr>
            <c:extLst>
              <c:ext xmlns:c16="http://schemas.microsoft.com/office/drawing/2014/chart" uri="{C3380CC4-5D6E-409C-BE32-E72D297353CC}">
                <c16:uniqueId val="{00000009-E169-4D18-9C20-DA969DA8CB2C}"/>
              </c:ext>
            </c:extLst>
          </c:dPt>
          <c:dPt>
            <c:idx val="6"/>
            <c:invertIfNegative val="0"/>
            <c:bubble3D val="0"/>
            <c:spPr>
              <a:solidFill>
                <a:srgbClr val="002060"/>
              </a:solidFill>
              <a:ln>
                <a:noFill/>
              </a:ln>
              <a:effectLst/>
            </c:spPr>
            <c:extLst>
              <c:ext xmlns:c16="http://schemas.microsoft.com/office/drawing/2014/chart" uri="{C3380CC4-5D6E-409C-BE32-E72D297353CC}">
                <c16:uniqueId val="{0000000B-E169-4D18-9C20-DA969DA8CB2C}"/>
              </c:ext>
            </c:extLst>
          </c:dPt>
          <c:dPt>
            <c:idx val="7"/>
            <c:invertIfNegative val="0"/>
            <c:bubble3D val="0"/>
            <c:spPr>
              <a:solidFill>
                <a:srgbClr val="002060"/>
              </a:solidFill>
              <a:ln>
                <a:noFill/>
              </a:ln>
              <a:effectLst/>
            </c:spPr>
            <c:extLst>
              <c:ext xmlns:c16="http://schemas.microsoft.com/office/drawing/2014/chart" uri="{C3380CC4-5D6E-409C-BE32-E72D297353CC}">
                <c16:uniqueId val="{0000000D-E169-4D18-9C20-DA969DA8CB2C}"/>
              </c:ext>
            </c:extLst>
          </c:dPt>
          <c:dPt>
            <c:idx val="9"/>
            <c:invertIfNegative val="0"/>
            <c:bubble3D val="0"/>
            <c:spPr>
              <a:solidFill>
                <a:srgbClr val="C00000"/>
              </a:solidFill>
              <a:ln>
                <a:noFill/>
              </a:ln>
              <a:effectLst/>
            </c:spPr>
            <c:extLst>
              <c:ext xmlns:c16="http://schemas.microsoft.com/office/drawing/2014/chart" uri="{C3380CC4-5D6E-409C-BE32-E72D297353CC}">
                <c16:uniqueId val="{0000000F-E169-4D18-9C20-DA969DA8CB2C}"/>
              </c:ext>
            </c:extLst>
          </c:dPt>
          <c:dPt>
            <c:idx val="10"/>
            <c:invertIfNegative val="0"/>
            <c:bubble3D val="0"/>
            <c:spPr>
              <a:solidFill>
                <a:srgbClr val="002060"/>
              </a:solidFill>
              <a:ln>
                <a:noFill/>
              </a:ln>
              <a:effectLst/>
            </c:spPr>
            <c:extLst>
              <c:ext xmlns:c16="http://schemas.microsoft.com/office/drawing/2014/chart" uri="{C3380CC4-5D6E-409C-BE32-E72D297353CC}">
                <c16:uniqueId val="{00000011-E169-4D18-9C20-DA969DA8CB2C}"/>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'[横向医院底稿(1)(1).xlsm]住院量价横向'!$A$3:$B$13</c:f>
              <c:multiLvlStrCache>
                <c:ptCount val="11"/>
                <c:lvl>
                  <c:pt idx="0">
                    <c:v>华东</c:v>
                  </c:pt>
                  <c:pt idx="1">
                    <c:v>瑞金</c:v>
                  </c:pt>
                  <c:pt idx="2">
                    <c:v>十院</c:v>
                  </c:pt>
                  <c:pt idx="3">
                    <c:v>一院</c:v>
                  </c:pt>
                  <c:pt idx="4">
                    <c:v>仁济</c:v>
                  </c:pt>
                  <c:pt idx="5">
                    <c:v>六院</c:v>
                  </c:pt>
                  <c:pt idx="6">
                    <c:v>同济</c:v>
                  </c:pt>
                  <c:pt idx="7">
                    <c:v>中山</c:v>
                  </c:pt>
                  <c:pt idx="8">
                    <c:v>九院</c:v>
                  </c:pt>
                  <c:pt idx="9">
                    <c:v>新华</c:v>
                  </c:pt>
                  <c:pt idx="10">
                    <c:v>华山</c:v>
                  </c:pt>
                </c:lvl>
                <c:lvl>
                  <c:pt idx="0">
                    <c:v>2026年4月</c:v>
                  </c:pt>
                </c:lvl>
              </c:multiLvlStrCache>
            </c:multiLvlStrRef>
          </c:cat>
          <c:val>
            <c:numRef>
              <c:f>'[横向医院底稿(1)(1).xlsm]住院量价横向'!$C$3:$C$13</c:f>
              <c:numCache>
                <c:formatCode>#,##0.00_ </c:formatCode>
                <c:ptCount val="11"/>
                <c:pt idx="0">
                  <c:v>0.78979999999999995</c:v>
                </c:pt>
                <c:pt idx="1">
                  <c:v>2.2713000000000001</c:v>
                </c:pt>
                <c:pt idx="2">
                  <c:v>1.3328</c:v>
                </c:pt>
                <c:pt idx="3">
                  <c:v>1.5323</c:v>
                </c:pt>
                <c:pt idx="4">
                  <c:v>2.4779</c:v>
                </c:pt>
                <c:pt idx="5">
                  <c:v>1.8952</c:v>
                </c:pt>
                <c:pt idx="6">
                  <c:v>0.85660000000000003</c:v>
                </c:pt>
                <c:pt idx="7">
                  <c:v>2.5512999999999999</c:v>
                </c:pt>
                <c:pt idx="8">
                  <c:v>1.4663999999999999</c:v>
                </c:pt>
                <c:pt idx="9">
                  <c:v>1.2686999999999999</c:v>
                </c:pt>
                <c:pt idx="10">
                  <c:v>1.6241000000000001</c:v>
                </c:pt>
              </c:numCache>
            </c:numRef>
          </c:val>
          <c:extLst>
            <c:ext xmlns:c16="http://schemas.microsoft.com/office/drawing/2014/chart" uri="{C3380CC4-5D6E-409C-BE32-E72D297353CC}">
              <c16:uniqueId val="{00000012-E169-4D18-9C20-DA969DA8CB2C}"/>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'[横向医院底稿(1)(1).xlsm]住院量价横向'!$D$2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'[横向医院底稿(1)(1).xlsm]住院量价横向'!$A$3:$B$13</c:f>
              <c:multiLvlStrCache>
                <c:ptCount val="11"/>
                <c:lvl>
                  <c:pt idx="0">
                    <c:v>华东</c:v>
                  </c:pt>
                  <c:pt idx="1">
                    <c:v>瑞金</c:v>
                  </c:pt>
                  <c:pt idx="2">
                    <c:v>十院</c:v>
                  </c:pt>
                  <c:pt idx="3">
                    <c:v>一院</c:v>
                  </c:pt>
                  <c:pt idx="4">
                    <c:v>仁济</c:v>
                  </c:pt>
                  <c:pt idx="5">
                    <c:v>六院</c:v>
                  </c:pt>
                  <c:pt idx="6">
                    <c:v>同济</c:v>
                  </c:pt>
                  <c:pt idx="7">
                    <c:v>中山</c:v>
                  </c:pt>
                  <c:pt idx="8">
                    <c:v>九院</c:v>
                  </c:pt>
                  <c:pt idx="9">
                    <c:v>新华</c:v>
                  </c:pt>
                  <c:pt idx="10">
                    <c:v>华山</c:v>
                  </c:pt>
                </c:lvl>
                <c:lvl>
                  <c:pt idx="0">
                    <c:v>2026年4月</c:v>
                  </c:pt>
                </c:lvl>
              </c:multiLvlStrCache>
            </c:multiLvlStrRef>
          </c:cat>
          <c:val>
            <c:numRef>
              <c:f>'[横向医院底稿(1)(1).xlsm]住院量价横向'!$D$3:$D$13</c:f>
              <c:numCache>
                <c:formatCode>0.0%</c:formatCode>
                <c:ptCount val="11"/>
                <c:pt idx="0">
                  <c:v>0.18963699352312099</c:v>
                </c:pt>
                <c:pt idx="1">
                  <c:v>0.149850655596618</c:v>
                </c:pt>
                <c:pt idx="2">
                  <c:v>0.13275539690634</c:v>
                </c:pt>
                <c:pt idx="3">
                  <c:v>0.100078971929069</c:v>
                </c:pt>
                <c:pt idx="4">
                  <c:v>8.7991218441273195E-2</c:v>
                </c:pt>
                <c:pt idx="5">
                  <c:v>7.6084487849193694E-2</c:v>
                </c:pt>
                <c:pt idx="6">
                  <c:v>7.2627097420485898E-2</c:v>
                </c:pt>
                <c:pt idx="7">
                  <c:v>5.67014579191518E-2</c:v>
                </c:pt>
                <c:pt idx="8">
                  <c:v>1.2217850486643001E-2</c:v>
                </c:pt>
                <c:pt idx="9">
                  <c:v>-5.8478664192949899E-2</c:v>
                </c:pt>
                <c:pt idx="10">
                  <c:v>-9.1056637564360804E-2</c:v>
                </c:pt>
              </c:numCache>
            </c:numRef>
          </c:val>
          <c:smooth val="0"/>
          <c:extLst>
            <c:ext xmlns:c16="http://schemas.microsoft.com/office/drawing/2014/chart" uri="{C3380CC4-5D6E-409C-BE32-E72D297353CC}">
              <c16:uniqueId val="{00000013-E169-4D18-9C20-DA969DA8CB2C}"/>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67c18cae-4e55-4e49-aa42-9d2cfc703a50}"/>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513166779203198E-3"/>
          <c:y val="4.20241638942392E-2"/>
          <c:w val="0.94058068872383505"/>
          <c:h val="0.781649448432849"/>
        </c:manualLayout>
      </c:layout>
      <c:barChart>
        <c:barDir val="col"/>
        <c:grouping val="clustered"/>
        <c:varyColors val="0"/>
        <c:ser>
          <c:idx val="0"/>
          <c:order val="0"/>
          <c:tx>
            <c:strRef>
              <c:f>'[横向医院底稿(1)(1)(1).xlsm]门急诊量价横向'!$C$2</c:f>
              <c:strCache>
                <c:ptCount val="1"/>
                <c:pt idx="0">
                  <c:v>门急诊人次</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79C9-4A01-ADF8-EB3E1CDABE05}"/>
              </c:ext>
            </c:extLst>
          </c:dPt>
          <c:dPt>
            <c:idx val="1"/>
            <c:invertIfNegative val="0"/>
            <c:bubble3D val="0"/>
            <c:spPr>
              <a:solidFill>
                <a:srgbClr val="002060"/>
              </a:solidFill>
              <a:ln>
                <a:noFill/>
              </a:ln>
              <a:effectLst/>
            </c:spPr>
            <c:extLst>
              <c:ext xmlns:c16="http://schemas.microsoft.com/office/drawing/2014/chart" uri="{C3380CC4-5D6E-409C-BE32-E72D297353CC}">
                <c16:uniqueId val="{00000003-79C9-4A01-ADF8-EB3E1CDABE05}"/>
              </c:ext>
            </c:extLst>
          </c:dPt>
          <c:dPt>
            <c:idx val="2"/>
            <c:invertIfNegative val="0"/>
            <c:bubble3D val="0"/>
            <c:spPr>
              <a:solidFill>
                <a:srgbClr val="002060"/>
              </a:solidFill>
              <a:ln>
                <a:noFill/>
              </a:ln>
              <a:effectLst/>
            </c:spPr>
            <c:extLst>
              <c:ext xmlns:c16="http://schemas.microsoft.com/office/drawing/2014/chart" uri="{C3380CC4-5D6E-409C-BE32-E72D297353CC}">
                <c16:uniqueId val="{00000005-79C9-4A01-ADF8-EB3E1CDABE05}"/>
              </c:ext>
            </c:extLst>
          </c:dPt>
          <c:dPt>
            <c:idx val="3"/>
            <c:invertIfNegative val="0"/>
            <c:bubble3D val="0"/>
            <c:spPr>
              <a:solidFill>
                <a:srgbClr val="002060"/>
              </a:solidFill>
              <a:ln>
                <a:noFill/>
              </a:ln>
              <a:effectLst/>
            </c:spPr>
            <c:extLst>
              <c:ext xmlns:c16="http://schemas.microsoft.com/office/drawing/2014/chart" uri="{C3380CC4-5D6E-409C-BE32-E72D297353CC}">
                <c16:uniqueId val="{00000007-79C9-4A01-ADF8-EB3E1CDABE05}"/>
              </c:ext>
            </c:extLst>
          </c:dPt>
          <c:dPt>
            <c:idx val="4"/>
            <c:invertIfNegative val="0"/>
            <c:bubble3D val="0"/>
            <c:spPr>
              <a:solidFill>
                <a:srgbClr val="002060"/>
              </a:solidFill>
              <a:ln>
                <a:noFill/>
              </a:ln>
              <a:effectLst/>
            </c:spPr>
            <c:extLst>
              <c:ext xmlns:c16="http://schemas.microsoft.com/office/drawing/2014/chart" uri="{C3380CC4-5D6E-409C-BE32-E72D297353CC}">
                <c16:uniqueId val="{00000009-79C9-4A01-ADF8-EB3E1CDABE05}"/>
              </c:ext>
            </c:extLst>
          </c:dPt>
          <c:dPt>
            <c:idx val="6"/>
            <c:invertIfNegative val="0"/>
            <c:bubble3D val="0"/>
            <c:spPr>
              <a:solidFill>
                <a:srgbClr val="002060"/>
              </a:solidFill>
              <a:ln>
                <a:noFill/>
              </a:ln>
              <a:effectLst/>
            </c:spPr>
            <c:extLst>
              <c:ext xmlns:c16="http://schemas.microsoft.com/office/drawing/2014/chart" uri="{C3380CC4-5D6E-409C-BE32-E72D297353CC}">
                <c16:uniqueId val="{0000000B-79C9-4A01-ADF8-EB3E1CDABE05}"/>
              </c:ext>
            </c:extLst>
          </c:dPt>
          <c:dPt>
            <c:idx val="7"/>
            <c:invertIfNegative val="0"/>
            <c:bubble3D val="0"/>
            <c:spPr>
              <a:solidFill>
                <a:srgbClr val="002060"/>
              </a:solidFill>
              <a:ln>
                <a:noFill/>
              </a:ln>
              <a:effectLst/>
            </c:spPr>
            <c:extLst>
              <c:ext xmlns:c16="http://schemas.microsoft.com/office/drawing/2014/chart" uri="{C3380CC4-5D6E-409C-BE32-E72D297353CC}">
                <c16:uniqueId val="{0000000D-79C9-4A01-ADF8-EB3E1CDABE05}"/>
              </c:ext>
            </c:extLst>
          </c:dPt>
          <c:dPt>
            <c:idx val="8"/>
            <c:invertIfNegative val="0"/>
            <c:bubble3D val="0"/>
            <c:spPr>
              <a:solidFill>
                <a:srgbClr val="C00000"/>
              </a:solidFill>
              <a:ln>
                <a:noFill/>
              </a:ln>
              <a:effectLst/>
            </c:spPr>
            <c:extLst>
              <c:ext xmlns:c16="http://schemas.microsoft.com/office/drawing/2014/chart" uri="{C3380CC4-5D6E-409C-BE32-E72D297353CC}">
                <c16:uniqueId val="{0000000F-79C9-4A01-ADF8-EB3E1CDABE05}"/>
              </c:ext>
            </c:extLst>
          </c:dPt>
          <c:dPt>
            <c:idx val="10"/>
            <c:invertIfNegative val="0"/>
            <c:bubble3D val="0"/>
            <c:spPr>
              <a:solidFill>
                <a:srgbClr val="002060"/>
              </a:solidFill>
              <a:ln>
                <a:noFill/>
              </a:ln>
              <a:effectLst/>
            </c:spPr>
            <c:extLst>
              <c:ext xmlns:c16="http://schemas.microsoft.com/office/drawing/2014/chart" uri="{C3380CC4-5D6E-409C-BE32-E72D297353CC}">
                <c16:uniqueId val="{00000011-79C9-4A01-ADF8-EB3E1CDABE05}"/>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'[横向医院底稿(1)(1)(1).xlsm]门急诊量价横向'!$A$3:$B$13</c:f>
              <c:multiLvlStrCache>
                <c:ptCount val="11"/>
                <c:lvl>
                  <c:pt idx="0">
                    <c:v>华东</c:v>
                  </c:pt>
                  <c:pt idx="1">
                    <c:v>仁济</c:v>
                  </c:pt>
                  <c:pt idx="2">
                    <c:v>十院</c:v>
                  </c:pt>
                  <c:pt idx="3">
                    <c:v>一院</c:v>
                  </c:pt>
                  <c:pt idx="4">
                    <c:v>中山</c:v>
                  </c:pt>
                  <c:pt idx="5">
                    <c:v>同济</c:v>
                  </c:pt>
                  <c:pt idx="6">
                    <c:v>六院</c:v>
                  </c:pt>
                  <c:pt idx="7">
                    <c:v>九院</c:v>
                  </c:pt>
                  <c:pt idx="8">
                    <c:v>新华</c:v>
                  </c:pt>
                  <c:pt idx="9">
                    <c:v>瑞金</c:v>
                  </c:pt>
                  <c:pt idx="10">
                    <c:v>华山</c:v>
                  </c:pt>
                </c:lvl>
                <c:lvl/>
              </c:multiLvlStrCache>
            </c:multiLvlStrRef>
          </c:cat>
          <c:val>
            <c:numRef>
              <c:f>'[横向医院底稿(1)(1)(1).xlsm]门急诊量价横向'!$C$3:$C$13</c:f>
              <c:numCache>
                <c:formatCode>#,##0.00_ </c:formatCode>
                <c:ptCount val="11"/>
                <c:pt idx="0">
                  <c:v>15.1631</c:v>
                </c:pt>
                <c:pt idx="1">
                  <c:v>70.760999999999996</c:v>
                </c:pt>
                <c:pt idx="2">
                  <c:v>28.353899999999999</c:v>
                </c:pt>
                <c:pt idx="3">
                  <c:v>44.228400000000001</c:v>
                </c:pt>
                <c:pt idx="4">
                  <c:v>57.5122</c:v>
                </c:pt>
                <c:pt idx="5">
                  <c:v>19.3429</c:v>
                </c:pt>
                <c:pt idx="6">
                  <c:v>54.366799999999998</c:v>
                </c:pt>
                <c:pt idx="7">
                  <c:v>42.674500000000002</c:v>
                </c:pt>
                <c:pt idx="8">
                  <c:v>36.847200000000001</c:v>
                </c:pt>
                <c:pt idx="9">
                  <c:v>61.491999999999997</c:v>
                </c:pt>
                <c:pt idx="10">
                  <c:v>56.964500000000001</c:v>
                </c:pt>
              </c:numCache>
            </c:numRef>
          </c:val>
          <c:extLst>
            <c:ext xmlns:c16="http://schemas.microsoft.com/office/drawing/2014/chart" uri="{C3380CC4-5D6E-409C-BE32-E72D297353CC}">
              <c16:uniqueId val="{00000012-79C9-4A01-ADF8-EB3E1CDABE05}"/>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'[横向医院底稿(1)(1)(1).xlsm]门急诊量价横向'!$D$2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'[横向医院底稿(1)(1)(1).xlsm]门急诊量价横向'!$A$3:$B$13</c:f>
              <c:multiLvlStrCache>
                <c:ptCount val="11"/>
                <c:lvl>
                  <c:pt idx="0">
                    <c:v>华东</c:v>
                  </c:pt>
                  <c:pt idx="1">
                    <c:v>仁济</c:v>
                  </c:pt>
                  <c:pt idx="2">
                    <c:v>十院</c:v>
                  </c:pt>
                  <c:pt idx="3">
                    <c:v>一院</c:v>
                  </c:pt>
                  <c:pt idx="4">
                    <c:v>中山</c:v>
                  </c:pt>
                  <c:pt idx="5">
                    <c:v>同济</c:v>
                  </c:pt>
                  <c:pt idx="6">
                    <c:v>六院</c:v>
                  </c:pt>
                  <c:pt idx="7">
                    <c:v>九院</c:v>
                  </c:pt>
                  <c:pt idx="8">
                    <c:v>新华</c:v>
                  </c:pt>
                  <c:pt idx="9">
                    <c:v>瑞金</c:v>
                  </c:pt>
                  <c:pt idx="10">
                    <c:v>华山</c:v>
                  </c:pt>
                </c:lvl>
                <c:lvl/>
              </c:multiLvlStrCache>
            </c:multiLvlStrRef>
          </c:cat>
          <c:val>
            <c:numRef>
              <c:f>'[横向医院底稿(1)(1)(1).xlsm]门急诊量价横向'!$D$3:$D$13</c:f>
              <c:numCache>
                <c:formatCode>0.0%</c:formatCode>
                <c:ptCount val="11"/>
                <c:pt idx="0">
                  <c:v>0.133249129310474</c:v>
                </c:pt>
                <c:pt idx="1">
                  <c:v>0.10494830582713</c:v>
                </c:pt>
                <c:pt idx="2">
                  <c:v>8.6389621137812594E-2</c:v>
                </c:pt>
                <c:pt idx="3">
                  <c:v>8.3731916728741099E-2</c:v>
                </c:pt>
                <c:pt idx="4">
                  <c:v>8.0800411932512306E-2</c:v>
                </c:pt>
                <c:pt idx="5">
                  <c:v>7.3454573707080598E-2</c:v>
                </c:pt>
                <c:pt idx="6">
                  <c:v>4.1282172092684803E-2</c:v>
                </c:pt>
                <c:pt idx="7">
                  <c:v>3.06580590313754E-2</c:v>
                </c:pt>
                <c:pt idx="8">
                  <c:v>1.85312133743172E-2</c:v>
                </c:pt>
                <c:pt idx="9">
                  <c:v>1.7265994246322899E-2</c:v>
                </c:pt>
                <c:pt idx="10">
                  <c:v>-7.8371097826350794E-2</c:v>
                </c:pt>
              </c:numCache>
            </c:numRef>
          </c:val>
          <c:smooth val="0"/>
          <c:extLst>
            <c:ext xmlns:c16="http://schemas.microsoft.com/office/drawing/2014/chart" uri="{C3380CC4-5D6E-409C-BE32-E72D297353CC}">
              <c16:uniqueId val="{00000013-79C9-4A01-ADF8-EB3E1CDABE05}"/>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9686427-ee3d-4c3f-adaf-7e444ccfb8cd}"/>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'[横向医院底稿(1)(1).xlsm]儿科横向本期'!$C$70</c:f>
              <c:strCache>
                <c:ptCount val="1"/>
                <c:pt idx="0">
                  <c:v>门急诊人次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7FDE-4869-B4F1-07051D27AA94}"/>
              </c:ext>
            </c:extLst>
          </c:dPt>
          <c:dPt>
            <c:idx val="1"/>
            <c:invertIfNegative val="0"/>
            <c:bubble3D val="0"/>
            <c:extLst>
              <c:ext xmlns:c16="http://schemas.microsoft.com/office/drawing/2014/chart" uri="{C3380CC4-5D6E-409C-BE32-E72D297353CC}">
                <c16:uniqueId val="{00000002-7FDE-4869-B4F1-07051D27AA94}"/>
              </c:ext>
            </c:extLst>
          </c:dPt>
          <c:dPt>
            <c:idx val="3"/>
            <c:invertIfNegative val="0"/>
            <c:bubble3D val="0"/>
            <c:extLst>
              <c:ext xmlns:c16="http://schemas.microsoft.com/office/drawing/2014/chart" uri="{C3380CC4-5D6E-409C-BE32-E72D297353CC}">
                <c16:uniqueId val="{00000003-7FDE-4869-B4F1-07051D27AA94}"/>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'[横向医院底稿(1)(1).xlsm]儿科横向本期'!$A$71:$B$74</c:f>
              <c:multiLvlStrCache>
                <c:ptCount val="4"/>
                <c:lvl>
                  <c:pt idx="0">
                    <c:v>新华儿科</c:v>
                  </c:pt>
                  <c:pt idx="1">
                    <c:v>儿中心</c:v>
                  </c:pt>
                  <c:pt idx="2">
                    <c:v>儿科</c:v>
                  </c:pt>
                  <c:pt idx="3">
                    <c:v>儿童</c:v>
                  </c:pt>
                </c:lvl>
                <c:lvl>
                  <c:pt idx="0">
                    <c:v>2026年4月</c:v>
                  </c:pt>
                </c:lvl>
              </c:multiLvlStrCache>
            </c:multiLvlStrRef>
          </c:cat>
          <c:val>
            <c:numRef>
              <c:f>'[横向医院底稿(1)(1).xlsm]儿科横向本期'!$C$71:$C$74</c:f>
              <c:numCache>
                <c:formatCode>#,##0.0_ </c:formatCode>
                <c:ptCount val="4"/>
                <c:pt idx="0">
                  <c:v>9.3130000000000006</c:v>
                </c:pt>
                <c:pt idx="1">
                  <c:v>17.7392</c:v>
                </c:pt>
                <c:pt idx="2">
                  <c:v>19.200099999999999</c:v>
                </c:pt>
                <c:pt idx="3">
                  <c:v>19.279</c:v>
                </c:pt>
              </c:numCache>
            </c:numRef>
          </c:val>
          <c:extLst>
            <c:ext xmlns:c16="http://schemas.microsoft.com/office/drawing/2014/chart" uri="{C3380CC4-5D6E-409C-BE32-E72D297353CC}">
              <c16:uniqueId val="{00000004-7FDE-4869-B4F1-07051D27AA94}"/>
            </c:ext>
          </c:extLst>
        </c:ser>
        <c:dLbls>
          <c:showLegendKey val="0"/>
          <c:showVal val="0"/>
          <c:showCatName val="0"/>
          <c:showSerName val="0"/>
          <c:showPercent val="0"/>
          <c:showBubbleSize val="0"/>
        </c:dLbls>
        <c:gapWidth val="80"/>
        <c:overlap val="-27"/>
        <c:axId val="450579392"/>
        <c:axId val="450578560"/>
      </c:barChart>
      <c:lineChart>
        <c:grouping val="standard"/>
        <c:varyColors val="0"/>
        <c:ser>
          <c:idx val="1"/>
          <c:order val="1"/>
          <c:tx>
            <c:strRef>
              <c:f>'[横向医院底稿(1)(1).xlsm]儿科横向本期'!$D$70</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6.5077663518224402E-2"/>
                  <c:y val="-0.1440635114956919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FDE-4869-B4F1-07051D27AA94}"/>
                </c:ext>
              </c:extLst>
            </c:dLbl>
            <c:dLbl>
              <c:idx val="1"/>
              <c:layout>
                <c:manualLayout>
                  <c:x val="-6.7790096082779E-2"/>
                  <c:y val="-0.21944631479369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FDE-4869-B4F1-07051D27AA94}"/>
                </c:ext>
              </c:extLst>
            </c:dLbl>
            <c:dLbl>
              <c:idx val="3"/>
              <c:layout>
                <c:manualLayout>
                  <c:x val="-7.6903236319406904E-2"/>
                  <c:y val="-0.3466547953590610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FDE-4869-B4F1-07051D27AA94}"/>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'[横向医院底稿(1)(1).xlsm]儿科横向本期'!$A$71:$B$74</c:f>
              <c:multiLvlStrCache>
                <c:ptCount val="4"/>
                <c:lvl>
                  <c:pt idx="0">
                    <c:v>新华儿科</c:v>
                  </c:pt>
                  <c:pt idx="1">
                    <c:v>儿中心</c:v>
                  </c:pt>
                  <c:pt idx="2">
                    <c:v>儿科</c:v>
                  </c:pt>
                  <c:pt idx="3">
                    <c:v>儿童</c:v>
                  </c:pt>
                </c:lvl>
                <c:lvl>
                  <c:pt idx="0">
                    <c:v>2026年4月</c:v>
                  </c:pt>
                </c:lvl>
              </c:multiLvlStrCache>
            </c:multiLvlStrRef>
          </c:cat>
          <c:val>
            <c:numRef>
              <c:f>'[横向医院底稿(1)(1).xlsm]儿科横向本期'!$D$71:$D$74</c:f>
              <c:numCache>
                <c:formatCode>0.0%</c:formatCode>
                <c:ptCount val="4"/>
                <c:pt idx="0">
                  <c:v>0.124364654891403</c:v>
                </c:pt>
                <c:pt idx="1">
                  <c:v>3.05100499593354E-2</c:v>
                </c:pt>
                <c:pt idx="2">
                  <c:v>-1.7591166553246801E-2</c:v>
                </c:pt>
                <c:pt idx="3">
                  <c:v>-3.0348448879410898E-2</c:v>
                </c:pt>
              </c:numCache>
            </c:numRef>
          </c:val>
          <c:smooth val="0"/>
          <c:extLst>
            <c:ext xmlns:c16="http://schemas.microsoft.com/office/drawing/2014/chart" uri="{C3380CC4-5D6E-409C-BE32-E72D297353CC}">
              <c16:uniqueId val="{00000008-7FDE-4869-B4F1-07051D27AA94}"/>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00c94b81-f35f-4a7d-89d1-17f33abebf0c}"/>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'[横向医院底稿(1)(1).xlsm]儿科横向本期'!$C$92</c:f>
              <c:strCache>
                <c:ptCount val="1"/>
                <c:pt idx="0">
                  <c:v>住院人次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112D-41DE-B69E-BEB4EBDF035A}"/>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112D-41DE-B69E-BEB4EBDF035A}"/>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112D-41DE-B69E-BEB4EBDF035A}"/>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'[横向医院底稿(1)(1).xlsm]儿科横向本期'!$A$93:$B$96</c:f>
              <c:multiLvlStrCache>
                <c:ptCount val="4"/>
                <c:lvl>
                  <c:pt idx="0">
                    <c:v>新华儿科</c:v>
                  </c:pt>
                  <c:pt idx="1">
                    <c:v>儿童</c:v>
                  </c:pt>
                  <c:pt idx="2">
                    <c:v>儿中心</c:v>
                  </c:pt>
                  <c:pt idx="3">
                    <c:v>儿科</c:v>
                  </c:pt>
                </c:lvl>
                <c:lvl>
                  <c:pt idx="0">
                    <c:v>2026年4月</c:v>
                  </c:pt>
                </c:lvl>
              </c:multiLvlStrCache>
            </c:multiLvlStrRef>
          </c:cat>
          <c:val>
            <c:numRef>
              <c:f>'[横向医院底稿(1)(1).xlsm]儿科横向本期'!$C$93:$C$96</c:f>
              <c:numCache>
                <c:formatCode>#,##0_ </c:formatCode>
                <c:ptCount val="4"/>
                <c:pt idx="0">
                  <c:v>2963</c:v>
                </c:pt>
                <c:pt idx="1">
                  <c:v>3956</c:v>
                </c:pt>
                <c:pt idx="2">
                  <c:v>5419</c:v>
                </c:pt>
                <c:pt idx="3">
                  <c:v>5146</c:v>
                </c:pt>
              </c:numCache>
            </c:numRef>
          </c:val>
          <c:extLst>
            <c:ext xmlns:c16="http://schemas.microsoft.com/office/drawing/2014/chart" uri="{C3380CC4-5D6E-409C-BE32-E72D297353CC}">
              <c16:uniqueId val="{00000006-112D-41DE-B69E-BEB4EBDF035A}"/>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'[横向医院底稿(1)(1).xlsm]儿科横向本期'!$D$92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12D-41DE-B69E-BEB4EBDF035A}"/>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'[横向医院底稿(1)(1).xlsm]儿科横向本期'!$A$93:$B$96</c:f>
              <c:multiLvlStrCache>
                <c:ptCount val="4"/>
                <c:lvl>
                  <c:pt idx="0">
                    <c:v>新华儿科</c:v>
                  </c:pt>
                  <c:pt idx="1">
                    <c:v>儿童</c:v>
                  </c:pt>
                  <c:pt idx="2">
                    <c:v>儿中心</c:v>
                  </c:pt>
                  <c:pt idx="3">
                    <c:v>儿科</c:v>
                  </c:pt>
                </c:lvl>
                <c:lvl>
                  <c:pt idx="0">
                    <c:v>2026年4月</c:v>
                  </c:pt>
                </c:lvl>
              </c:multiLvlStrCache>
            </c:multiLvlStrRef>
          </c:cat>
          <c:val>
            <c:numRef>
              <c:f>'[横向医院底稿(1)(1).xlsm]儿科横向本期'!$D$93:$D$96</c:f>
              <c:numCache>
                <c:formatCode>0.0%</c:formatCode>
                <c:ptCount val="4"/>
                <c:pt idx="0">
                  <c:v>0.15516569200779701</c:v>
                </c:pt>
                <c:pt idx="1">
                  <c:v>7.8222949032434E-2</c:v>
                </c:pt>
                <c:pt idx="2">
                  <c:v>6.1092617975328202E-2</c:v>
                </c:pt>
                <c:pt idx="3">
                  <c:v>3.8756560355268199E-2</c:v>
                </c:pt>
              </c:numCache>
            </c:numRef>
          </c:val>
          <c:smooth val="0"/>
          <c:extLst>
            <c:ext xmlns:c16="http://schemas.microsoft.com/office/drawing/2014/chart" uri="{C3380CC4-5D6E-409C-BE32-E72D297353CC}">
              <c16:uniqueId val="{00000008-112D-41DE-B69E-BEB4EBDF035A}"/>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'[横向医院底稿(1)(1)(1).xlsm]儿科横向本期'!$C$70</c:f>
              <c:strCache>
                <c:ptCount val="1"/>
                <c:pt idx="0">
                  <c:v>门急诊人次</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chemeClr val="bg1"/>
                </a:solidFill>
              </a:ln>
              <a:effectLst/>
            </c:spPr>
            <c:extLst>
              <c:ext xmlns:c16="http://schemas.microsoft.com/office/drawing/2014/chart" uri="{C3380CC4-5D6E-409C-BE32-E72D297353CC}">
                <c16:uniqueId val="{00000001-0CC7-4CB8-BA6A-5C818DA06462}"/>
              </c:ext>
            </c:extLst>
          </c:dPt>
          <c:dPt>
            <c:idx val="1"/>
            <c:invertIfNegative val="0"/>
            <c:bubble3D val="0"/>
            <c:extLst>
              <c:ext xmlns:c16="http://schemas.microsoft.com/office/drawing/2014/chart" uri="{C3380CC4-5D6E-409C-BE32-E72D297353CC}">
                <c16:uniqueId val="{00000002-0CC7-4CB8-BA6A-5C818DA06462}"/>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4-0CC7-4CB8-BA6A-5C818DA06462}"/>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'[横向医院底稿(1)(1)(1).xlsm]儿科横向本期'!$A$71:$B$74</c:f>
              <c:multiLvlStrCache>
                <c:ptCount val="4"/>
                <c:lvl>
                  <c:pt idx="0">
                    <c:v>儿中心</c:v>
                  </c:pt>
                  <c:pt idx="1">
                    <c:v>儿科</c:v>
                  </c:pt>
                  <c:pt idx="2">
                    <c:v>儿童</c:v>
                  </c:pt>
                  <c:pt idx="3">
                    <c:v>新华儿科</c:v>
                  </c:pt>
                </c:lvl>
                <c:lvl/>
              </c:multiLvlStrCache>
            </c:multiLvlStrRef>
          </c:cat>
          <c:val>
            <c:numRef>
              <c:f>'[横向医院底稿(1)(1)(1).xlsm]儿科横向本期'!$C$71:$C$74</c:f>
              <c:numCache>
                <c:formatCode>#,##0.0_ </c:formatCode>
                <c:ptCount val="4"/>
                <c:pt idx="0">
                  <c:v>17.7392</c:v>
                </c:pt>
                <c:pt idx="1">
                  <c:v>19.200099999999999</c:v>
                </c:pt>
                <c:pt idx="2">
                  <c:v>19.279</c:v>
                </c:pt>
                <c:pt idx="3">
                  <c:v>7.9090999999999996</c:v>
                </c:pt>
              </c:numCache>
            </c:numRef>
          </c:val>
          <c:extLst>
            <c:ext xmlns:c16="http://schemas.microsoft.com/office/drawing/2014/chart" uri="{C3380CC4-5D6E-409C-BE32-E72D297353CC}">
              <c16:uniqueId val="{00000005-0CC7-4CB8-BA6A-5C818DA06462}"/>
            </c:ext>
          </c:extLst>
        </c:ser>
        <c:dLbls>
          <c:showLegendKey val="0"/>
          <c:showVal val="0"/>
          <c:showCatName val="0"/>
          <c:showSerName val="0"/>
          <c:showPercent val="0"/>
          <c:showBubbleSize val="0"/>
        </c:dLbls>
        <c:gapWidth val="80"/>
        <c:overlap val="-27"/>
        <c:axId val="450579392"/>
        <c:axId val="450578560"/>
      </c:barChart>
      <c:lineChart>
        <c:grouping val="standard"/>
        <c:varyColors val="0"/>
        <c:ser>
          <c:idx val="1"/>
          <c:order val="1"/>
          <c:tx>
            <c:strRef>
              <c:f>'[横向医院底稿(1)(1)(1).xlsm]儿科横向本期'!$D$70</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6.5077663518224402E-2"/>
                  <c:y val="-0.1440635114956919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CC7-4CB8-BA6A-5C818DA06462}"/>
                </c:ext>
              </c:extLst>
            </c:dLbl>
            <c:dLbl>
              <c:idx val="1"/>
              <c:layout>
                <c:manualLayout>
                  <c:x val="-6.7790096082779E-2"/>
                  <c:y val="-0.21944631479369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CC7-4CB8-BA6A-5C818DA06462}"/>
                </c:ext>
              </c:extLst>
            </c:dLbl>
            <c:dLbl>
              <c:idx val="3"/>
              <c:layout>
                <c:manualLayout>
                  <c:x val="-7.6903236319406904E-2"/>
                  <c:y val="-0.3466547953590610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CC7-4CB8-BA6A-5C818DA06462}"/>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'[横向医院底稿(1)(1)(1).xlsm]儿科横向本期'!$A$71:$B$74</c:f>
              <c:multiLvlStrCache>
                <c:ptCount val="4"/>
                <c:lvl>
                  <c:pt idx="0">
                    <c:v>儿中心</c:v>
                  </c:pt>
                  <c:pt idx="1">
                    <c:v>儿科</c:v>
                  </c:pt>
                  <c:pt idx="2">
                    <c:v>儿童</c:v>
                  </c:pt>
                  <c:pt idx="3">
                    <c:v>新华儿科</c:v>
                  </c:pt>
                </c:lvl>
                <c:lvl/>
              </c:multiLvlStrCache>
            </c:multiLvlStrRef>
          </c:cat>
          <c:val>
            <c:numRef>
              <c:f>'[横向医院底稿(1)(1)(1).xlsm]儿科横向本期'!$D$71:$D$74</c:f>
              <c:numCache>
                <c:formatCode>0.0%</c:formatCode>
                <c:ptCount val="4"/>
                <c:pt idx="0">
                  <c:v>3.05100499593354E-2</c:v>
                </c:pt>
                <c:pt idx="1">
                  <c:v>-1.7591166553246801E-2</c:v>
                </c:pt>
                <c:pt idx="2">
                  <c:v>-3.0348448879410898E-2</c:v>
                </c:pt>
                <c:pt idx="3">
                  <c:v>-4.5129121442972903E-2</c:v>
                </c:pt>
              </c:numCache>
            </c:numRef>
          </c:val>
          <c:smooth val="0"/>
          <c:extLst>
            <c:ext xmlns:c16="http://schemas.microsoft.com/office/drawing/2014/chart" uri="{C3380CC4-5D6E-409C-BE32-E72D297353CC}">
              <c16:uniqueId val="{00000009-0CC7-4CB8-BA6A-5C818DA06462}"/>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00c94b81-f35f-4a7d-89d1-17f33abebf0c}"/>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'[横向医院底稿(1)(1)(1).xlsm]儿科横向本期'!$C$92</c:f>
              <c:strCache>
                <c:ptCount val="1"/>
                <c:pt idx="0">
                  <c:v>住院人次</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C37A-4465-964C-6B02B7362550}"/>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C37A-4465-964C-6B02B7362550}"/>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5-C37A-4465-964C-6B02B7362550}"/>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'[横向医院底稿(1)(1)(1).xlsm]儿科横向本期'!$A$93:$B$96</c:f>
              <c:multiLvlStrCache>
                <c:ptCount val="4"/>
                <c:lvl>
                  <c:pt idx="0">
                    <c:v>儿童</c:v>
                  </c:pt>
                  <c:pt idx="1">
                    <c:v>儿中心</c:v>
                  </c:pt>
                  <c:pt idx="2">
                    <c:v>儿科</c:v>
                  </c:pt>
                  <c:pt idx="3">
                    <c:v>新华儿科</c:v>
                  </c:pt>
                </c:lvl>
                <c:lvl/>
              </c:multiLvlStrCache>
            </c:multiLvlStrRef>
          </c:cat>
          <c:val>
            <c:numRef>
              <c:f>'[横向医院底稿(1)(1)(1).xlsm]儿科横向本期'!$C$93:$C$96</c:f>
              <c:numCache>
                <c:formatCode>#,##0_ </c:formatCode>
                <c:ptCount val="4"/>
                <c:pt idx="0">
                  <c:v>3956</c:v>
                </c:pt>
                <c:pt idx="1">
                  <c:v>5419</c:v>
                </c:pt>
                <c:pt idx="2">
                  <c:v>5146</c:v>
                </c:pt>
                <c:pt idx="3">
                  <c:v>2491</c:v>
                </c:pt>
              </c:numCache>
            </c:numRef>
          </c:val>
          <c:extLst>
            <c:ext xmlns:c16="http://schemas.microsoft.com/office/drawing/2014/chart" uri="{C3380CC4-5D6E-409C-BE32-E72D297353CC}">
              <c16:uniqueId val="{00000006-C37A-4465-964C-6B02B7362550}"/>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'[横向医院底稿(1)(1)(1).xlsm]儿科横向本期'!$D$92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7A-4465-964C-6B02B7362550}"/>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'[横向医院底稿(1)(1)(1).xlsm]儿科横向本期'!$A$93:$B$96</c:f>
              <c:multiLvlStrCache>
                <c:ptCount val="4"/>
                <c:lvl>
                  <c:pt idx="0">
                    <c:v>儿童</c:v>
                  </c:pt>
                  <c:pt idx="1">
                    <c:v>儿中心</c:v>
                  </c:pt>
                  <c:pt idx="2">
                    <c:v>儿科</c:v>
                  </c:pt>
                  <c:pt idx="3">
                    <c:v>新华儿科</c:v>
                  </c:pt>
                </c:lvl>
                <c:lvl/>
              </c:multiLvlStrCache>
            </c:multiLvlStrRef>
          </c:cat>
          <c:val>
            <c:numRef>
              <c:f>'[横向医院底稿(1)(1)(1).xlsm]儿科横向本期'!$D$93:$D$96</c:f>
              <c:numCache>
                <c:formatCode>0.0%</c:formatCode>
                <c:ptCount val="4"/>
                <c:pt idx="0">
                  <c:v>7.8222949032434E-2</c:v>
                </c:pt>
                <c:pt idx="1">
                  <c:v>6.1092617975328202E-2</c:v>
                </c:pt>
                <c:pt idx="2">
                  <c:v>3.8756560355268199E-2</c:v>
                </c:pt>
                <c:pt idx="3">
                  <c:v>-2.8849902534113001E-2</c:v>
                </c:pt>
              </c:numCache>
            </c:numRef>
          </c:val>
          <c:smooth val="0"/>
          <c:extLst>
            <c:ext xmlns:c16="http://schemas.microsoft.com/office/drawing/2014/chart" uri="{C3380CC4-5D6E-409C-BE32-E72D297353CC}">
              <c16:uniqueId val="{00000008-C37A-4465-964C-6B02B7362550}"/>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'[新华医院2026年4月经济运行情况-分析底稿.xlsx]门急诊收入'!$A$32</c:f>
              <c:strCache>
                <c:ptCount val="1"/>
                <c:pt idx="0">
                  <c:v>门急诊收入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8B4-420D-A1A7-D73FFAC6D875}"/>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8B4-420D-A1A7-D73FFAC6D875}"/>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'[新华医院2026年4月经济运行情况-分析底稿.xlsx]门急诊收入'!$B$31:$C$31</c:f>
              <c:strCache>
                <c:ptCount val="2"/>
                <c:pt idx="0">
                  <c:v>2026年4月</c:v>
                </c:pt>
                <c:pt idx="1">
                  <c:v>2025年4月</c:v>
                </c:pt>
              </c:strCache>
            </c:strRef>
          </c:cat>
          <c:val>
            <c:numRef>
              <c:f>'[新华医院2026年4月经济运行情况-分析底稿.xlsx]门急诊收入'!$B$32:$C$32</c:f>
              <c:numCache>
                <c:formatCode>0.00_ </c:formatCode>
                <c:ptCount val="2"/>
                <c:pt idx="0">
                  <c:v>2.4815185340000001</c:v>
                </c:pt>
                <c:pt idx="1">
                  <c:v>1.8599362592999999</c:v>
                </c:pt>
              </c:numCache>
            </c:numRef>
          </c:val>
          <c:extLst>
            <c:ext xmlns:c16="http://schemas.microsoft.com/office/drawing/2014/chart" uri="{C3380CC4-5D6E-409C-BE32-E72D297353CC}">
              <c16:uniqueId val="{00000004-88B4-420D-A1A7-D73FFAC6D875}"/>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'[新华医院2026年4月经济运行情况-分析底稿.xlsx]门诊收入+急诊收入'!$J$32</c:f>
              <c:strCache>
                <c:ptCount val="1"/>
                <c:pt idx="0">
                  <c:v>门诊收入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6FD4-4218-AFAA-20D65478A62A}"/>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6FD4-4218-AFAA-20D65478A62A}"/>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'[新华医院2026年4月经济运行情况-分析底稿.xlsx]门诊收入+急诊收入'!$K$31:$L$31</c:f>
              <c:strCache>
                <c:ptCount val="2"/>
                <c:pt idx="0">
                  <c:v>2026年4月</c:v>
                </c:pt>
                <c:pt idx="1">
                  <c:v>2025年4月</c:v>
                </c:pt>
              </c:strCache>
            </c:strRef>
          </c:cat>
          <c:val>
            <c:numRef>
              <c:f>'[新华医院2026年4月经济运行情况-分析底稿.xlsx]门诊收入+急诊收入'!$K$32:$L$32</c:f>
              <c:numCache>
                <c:formatCode>0.00_ </c:formatCode>
                <c:ptCount val="2"/>
                <c:pt idx="0">
                  <c:v>2.1837789452999998</c:v>
                </c:pt>
                <c:pt idx="1">
                  <c:v>1.6446671031</c:v>
                </c:pt>
              </c:numCache>
            </c:numRef>
          </c:val>
          <c:extLst>
            <c:ext xmlns:c16="http://schemas.microsoft.com/office/drawing/2014/chart" uri="{C3380CC4-5D6E-409C-BE32-E72D297353CC}">
              <c16:uniqueId val="{00000004-6FD4-4218-AFAA-20D65478A62A}"/>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'[新华医院2026年4月经济运行情况-分析底稿.xlsx]门诊收入+急诊收入'!$O$42</c:f>
              <c:strCache>
                <c:ptCount val="1"/>
                <c:pt idx="0">
                  <c:v>2026年4月</c:v>
                </c:pt>
              </c:strCache>
            </c:strRef>
          </c:tx>
          <c:dPt>
            <c:idx val="0"/>
            <c:bubble3D val="0"/>
            <c:spPr>
              <a:solidFill>
                <a:schemeClr val="accent1"/>
              </a:solidFill>
              <a:ln>
                <a:solidFill>
                  <a:schemeClr val="bg1"/>
                </a:solidFill>
              </a:ln>
              <a:effectLst/>
            </c:spPr>
            <c:extLst>
              <c:ext xmlns:c16="http://schemas.microsoft.com/office/drawing/2014/chart" uri="{C3380CC4-5D6E-409C-BE32-E72D297353CC}">
                <c16:uniqueId val="{00000001-E009-4889-8850-68EC5FB50364}"/>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E009-4889-8850-68EC5FB50364}"/>
              </c:ext>
            </c:extLst>
          </c:dPt>
          <c:dLbls>
            <c:dLbl>
              <c:idx val="0"/>
              <c:layout>
                <c:manualLayout>
                  <c:x val="-6.4226854095976699E-2"/>
                  <c:y val="-0.245500848896435"/>
                </c:manualLayout>
              </c:layout>
              <c:tx>
                <c:rich>
                  <a:bodyPr/>
                  <a:lstStyle/>
                  <a:p>
                    <a:r>
                      <a:rPr lang="en-US" altLang="zh-CN"/>
                      <a:t>3,155.72</a:t>
                    </a:r>
                  </a:p>
                  <a:p>
                    <a:r>
                      <a:rPr lang="en-US" altLang="zh-CN" b="1"/>
                      <a:t>88%</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6030053320407198"/>
                      <c:h val="0.184040747028862"/>
                    </c:manualLayout>
                  </c15:layout>
                  <c15:showDataLabelsRange val="0"/>
                </c:ext>
                <c:ext xmlns:c16="http://schemas.microsoft.com/office/drawing/2014/chart" uri="{C3380CC4-5D6E-409C-BE32-E72D297353CC}">
                  <c16:uniqueId val="{00000001-E009-4889-8850-68EC5FB50364}"/>
                </c:ext>
              </c:extLst>
            </c:dLbl>
            <c:dLbl>
              <c:idx val="1"/>
              <c:layout>
                <c:manualLayout>
                  <c:x val="0.10891063051183"/>
                  <c:y val="0.12733900430851999"/>
                </c:manualLayout>
              </c:layout>
              <c:tx>
                <c:rich>
                  <a:bodyPr/>
                  <a:lstStyle/>
                  <a:p>
                    <a:r>
                      <a:rPr lang="en-US" altLang="zh-CN"/>
                      <a:t>413.89</a:t>
                    </a:r>
                  </a:p>
                  <a:p>
                    <a:r>
                      <a:rPr lang="en-US" altLang="zh-CN" b="1"/>
                      <a:t>12%</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45474543973415"/>
                      <c:h val="0.22930556203504701"/>
                    </c:manualLayout>
                  </c15:layout>
                  <c15:showDataLabelsRange val="0"/>
                </c:ext>
                <c:ext xmlns:c16="http://schemas.microsoft.com/office/drawing/2014/chart" uri="{C3380CC4-5D6E-409C-BE32-E72D297353CC}">
                  <c16:uniqueId val="{00000003-E009-4889-8850-68EC5FB50364}"/>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'[新华医院2026年4月经济运行情况-分析底稿.xlsx]门诊收入+急诊收入'!$N$43:$N$44</c:f>
              <c:strCache>
                <c:ptCount val="2"/>
                <c:pt idx="0">
                  <c:v>医保</c:v>
                </c:pt>
                <c:pt idx="1">
                  <c:v>自费</c:v>
                </c:pt>
              </c:strCache>
            </c:strRef>
          </c:cat>
          <c:val>
            <c:numRef>
              <c:f>'[新华医院2026年4月经济运行情况-分析底稿.xlsx]门诊收入+急诊收入'!$O$43:$O$44</c:f>
              <c:numCache>
                <c:formatCode>_(* #,##0.00_);_(* \(#,##0.00\);_(* "-"??_);_(@_)</c:formatCode>
                <c:ptCount val="2"/>
                <c:pt idx="0">
                  <c:v>3155.72</c:v>
                </c:pt>
                <c:pt idx="1">
                  <c:v>413.89</c:v>
                </c:pt>
              </c:numCache>
            </c:numRef>
          </c:val>
          <c:extLst>
            <c:ext xmlns:c16="http://schemas.microsoft.com/office/drawing/2014/chart" uri="{C3380CC4-5D6E-409C-BE32-E72D297353CC}">
              <c16:uniqueId val="{00000004-E009-4889-8850-68EC5FB50364}"/>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49fbc658-7b32-4811-b98d-189211f3d2e2}"/>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'[新华医院2026年4月经济运行情况-分析底稿.xlsx]门诊收入+急诊收入'!$O$42</c:f>
              <c:strCache>
                <c:ptCount val="1"/>
                <c:pt idx="0">
                  <c:v>2026年4月</c:v>
                </c:pt>
              </c:strCache>
            </c:strRef>
          </c:tx>
          <c:spPr>
            <a:solidFill>
              <a:schemeClr val="accent4">
                <a:lumMod val="75000"/>
              </a:schemeClr>
            </a:solidFill>
          </c:spPr>
          <c:dPt>
            <c:idx val="0"/>
            <c:bubble3D val="0"/>
            <c:spPr>
              <a:solidFill>
                <a:srgbClr val="009999"/>
              </a:solidFill>
              <a:ln>
                <a:solidFill>
                  <a:schemeClr val="bg1"/>
                </a:solidFill>
              </a:ln>
              <a:effectLst/>
            </c:spPr>
            <c:extLst>
              <c:ext xmlns:c16="http://schemas.microsoft.com/office/drawing/2014/chart" uri="{C3380CC4-5D6E-409C-BE32-E72D297353CC}">
                <c16:uniqueId val="{00000001-EF2E-4C31-BDF6-BE1725595E57}"/>
              </c:ext>
            </c:extLst>
          </c:dPt>
          <c:dPt>
            <c:idx val="1"/>
            <c:bubble3D val="0"/>
            <c:spPr>
              <a:solidFill>
                <a:srgbClr val="BF9000"/>
              </a:solidFill>
              <a:ln>
                <a:solidFill>
                  <a:schemeClr val="bg1"/>
                </a:solidFill>
              </a:ln>
              <a:effectLst/>
            </c:spPr>
            <c:extLst>
              <c:ext xmlns:c16="http://schemas.microsoft.com/office/drawing/2014/chart" uri="{C3380CC4-5D6E-409C-BE32-E72D297353CC}">
                <c16:uniqueId val="{00000003-EF2E-4C31-BDF6-BE1725595E57}"/>
              </c:ext>
            </c:extLst>
          </c:dPt>
          <c:dLbls>
            <c:dLbl>
              <c:idx val="0"/>
              <c:layout>
                <c:manualLayout>
                  <c:x val="-0.111925708699902"/>
                  <c:y val="-0.25467673121102702"/>
                </c:manualLayout>
              </c:layout>
              <c:tx>
                <c:rich>
                  <a:bodyPr/>
                  <a:lstStyle/>
                  <a:p>
                    <a:r>
                      <a:rPr lang="en-US" altLang="zh-CN"/>
                      <a:t>3,039.44</a:t>
                    </a:r>
                  </a:p>
                  <a:p>
                    <a:r>
                      <a:rPr lang="en-US" altLang="zh-CN" b="1"/>
                      <a:t>85%</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1402737047898299"/>
                      <c:h val="0.25664588119461801"/>
                    </c:manualLayout>
                  </c15:layout>
                  <c15:showDataLabelsRange val="0"/>
                </c:ext>
                <c:ext xmlns:c16="http://schemas.microsoft.com/office/drawing/2014/chart" uri="{C3380CC4-5D6E-409C-BE32-E72D297353CC}">
                  <c16:uniqueId val="{00000001-EF2E-4C31-BDF6-BE1725595E57}"/>
                </c:ext>
              </c:extLst>
            </c:dLbl>
            <c:dLbl>
              <c:idx val="1"/>
              <c:layout>
                <c:manualLayout>
                  <c:x val="0.100670127234976"/>
                  <c:y val="0.13594728927438299"/>
                </c:manualLayout>
              </c:layout>
              <c:tx>
                <c:rich>
                  <a:bodyPr/>
                  <a:lstStyle/>
                  <a:p>
                    <a:r>
                      <a:rPr lang="en-US" altLang="zh-CN"/>
                      <a:t>530.17</a:t>
                    </a:r>
                  </a:p>
                  <a:p>
                    <a:r>
                      <a:rPr lang="en-US" altLang="zh-CN" b="1"/>
                      <a:t>15%</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2695371011673801"/>
                      <c:h val="0.22930556203504701"/>
                    </c:manualLayout>
                  </c15:layout>
                  <c15:showDataLabelsRange val="0"/>
                </c:ext>
                <c:ext xmlns:c16="http://schemas.microsoft.com/office/drawing/2014/chart" uri="{C3380CC4-5D6E-409C-BE32-E72D297353CC}">
                  <c16:uniqueId val="{00000003-EF2E-4C31-BDF6-BE1725595E57}"/>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'[新华医院2026年4月经济运行情况-分析底稿.xlsx]门诊收入+急诊收入'!$N$45:$N$46</c:f>
              <c:strCache>
                <c:ptCount val="2"/>
                <c:pt idx="0">
                  <c:v>本地</c:v>
                </c:pt>
                <c:pt idx="1">
                  <c:v>异地</c:v>
                </c:pt>
              </c:strCache>
            </c:strRef>
          </c:cat>
          <c:val>
            <c:numRef>
              <c:f>'[新华医院2026年4月经济运行情况-分析底稿.xlsx]门诊收入+急诊收入'!$O$45:$O$46</c:f>
              <c:numCache>
                <c:formatCode>_(* #,##0.00_);_(* \(#,##0.00\);_(* "-"??_);_(@_)</c:formatCode>
                <c:ptCount val="2"/>
                <c:pt idx="0">
                  <c:v>3039.44</c:v>
                </c:pt>
                <c:pt idx="1">
                  <c:v>530.16999999999996</c:v>
                </c:pt>
              </c:numCache>
            </c:numRef>
          </c:val>
          <c:extLst>
            <c:ext xmlns:c16="http://schemas.microsoft.com/office/drawing/2014/chart" uri="{C3380CC4-5D6E-409C-BE32-E72D297353CC}">
              <c16:uniqueId val="{00000004-EF2E-4C31-BDF6-BE1725595E57}"/>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19e2af81-b1aa-4d31-80c7-03a0efde77e4}"/>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'[新华医院2026年4月经济运行情况-分析底稿.xlsx]门诊收入+急诊收入'!$S$42</c:f>
              <c:strCache>
                <c:ptCount val="1"/>
                <c:pt idx="0">
                  <c:v>2026年4月</c:v>
                </c:pt>
              </c:strCache>
            </c:strRef>
          </c:tx>
          <c:dPt>
            <c:idx val="0"/>
            <c:bubble3D val="0"/>
            <c:spPr>
              <a:solidFill>
                <a:schemeClr val="accent1"/>
              </a:solidFill>
              <a:ln>
                <a:solidFill>
                  <a:schemeClr val="bg1"/>
                </a:solidFill>
              </a:ln>
              <a:effectLst/>
            </c:spPr>
            <c:extLst>
              <c:ext xmlns:c16="http://schemas.microsoft.com/office/drawing/2014/chart" uri="{C3380CC4-5D6E-409C-BE32-E72D297353CC}">
                <c16:uniqueId val="{00000001-CCEC-48BD-B3E7-9CA8D975DA75}"/>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CCEC-48BD-B3E7-9CA8D975DA75}"/>
              </c:ext>
            </c:extLst>
          </c:dPt>
          <c:dLbls>
            <c:dLbl>
              <c:idx val="0"/>
              <c:layout>
                <c:manualLayout>
                  <c:x val="-0.162710653175131"/>
                  <c:y val="-0.245500848896435"/>
                </c:manualLayout>
              </c:layout>
              <c:tx>
                <c:rich>
                  <a:bodyPr/>
                  <a:lstStyle/>
                  <a:p>
                    <a:r>
                      <a:rPr lang="en-US" altLang="zh-CN"/>
                      <a:t>15,305.95</a:t>
                    </a:r>
                  </a:p>
                  <a:p>
                    <a:r>
                      <a:rPr lang="en-US" altLang="zh-CN" b="1"/>
                      <a:t>84%</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3278704644060603"/>
                      <c:h val="0.18403241260761399"/>
                    </c:manualLayout>
                  </c15:layout>
                  <c15:showDataLabelsRange val="0"/>
                </c:ext>
                <c:ext xmlns:c16="http://schemas.microsoft.com/office/drawing/2014/chart" uri="{C3380CC4-5D6E-409C-BE32-E72D297353CC}">
                  <c16:uniqueId val="{00000001-CCEC-48BD-B3E7-9CA8D975DA75}"/>
                </c:ext>
              </c:extLst>
            </c:dLbl>
            <c:dLbl>
              <c:idx val="1"/>
              <c:layout>
                <c:manualLayout>
                  <c:x val="0.110848028475033"/>
                  <c:y val="0.119864176570458"/>
                </c:manualLayout>
              </c:layout>
              <c:tx>
                <c:rich>
                  <a:bodyPr/>
                  <a:lstStyle/>
                  <a:p>
                    <a:r>
                      <a:rPr lang="en-US" altLang="zh-CN"/>
                      <a:t>2,962.23</a:t>
                    </a:r>
                  </a:p>
                  <a:p>
                    <a:r>
                      <a:rPr lang="en-US" altLang="zh-CN" b="1"/>
                      <a:t>16%</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51269649334946"/>
                      <c:h val="0.26553480475382002"/>
                    </c:manualLayout>
                  </c15:layout>
                  <c15:showDataLabelsRange val="0"/>
                </c:ext>
                <c:ext xmlns:c16="http://schemas.microsoft.com/office/drawing/2014/chart" uri="{C3380CC4-5D6E-409C-BE32-E72D297353CC}">
                  <c16:uniqueId val="{00000003-CCEC-48BD-B3E7-9CA8D975DA75}"/>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'[新华医院2026年4月经济运行情况-分析底稿.xlsx]门诊收入+急诊收入'!$R$43:$R$44</c:f>
              <c:strCache>
                <c:ptCount val="2"/>
                <c:pt idx="0">
                  <c:v>医保</c:v>
                </c:pt>
                <c:pt idx="1">
                  <c:v>自费</c:v>
                </c:pt>
              </c:strCache>
            </c:strRef>
          </c:cat>
          <c:val>
            <c:numRef>
              <c:f>'[新华医院2026年4月经济运行情况-分析底稿.xlsx]门诊收入+急诊收入'!$S$43:$S$44</c:f>
              <c:numCache>
                <c:formatCode>_(* #,##0.00_);_(* \(#,##0.00\);_(* "-"??_);_(@_)</c:formatCode>
                <c:ptCount val="2"/>
                <c:pt idx="0">
                  <c:v>15305.95</c:v>
                </c:pt>
                <c:pt idx="1">
                  <c:v>2962.23</c:v>
                </c:pt>
              </c:numCache>
            </c:numRef>
          </c:val>
          <c:extLst>
            <c:ext xmlns:c16="http://schemas.microsoft.com/office/drawing/2014/chart" uri="{C3380CC4-5D6E-409C-BE32-E72D297353CC}">
              <c16:uniqueId val="{00000004-CCEC-48BD-B3E7-9CA8D975DA75}"/>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112cbc69-6563-4a5d-97a2-90aca61059c2}"/>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'[新华医院2026年4月经济运行情况-分析底稿.xlsx]门诊收入+急诊收入'!$S$42</c:f>
              <c:strCache>
                <c:ptCount val="1"/>
                <c:pt idx="0">
                  <c:v>2026年4月</c:v>
                </c:pt>
              </c:strCache>
            </c:strRef>
          </c:tx>
          <c:spPr>
            <a:solidFill>
              <a:schemeClr val="accent4">
                <a:lumMod val="75000"/>
              </a:schemeClr>
            </a:solidFill>
          </c:spPr>
          <c:dPt>
            <c:idx val="0"/>
            <c:bubble3D val="0"/>
            <c:spPr>
              <a:solidFill>
                <a:srgbClr val="009999"/>
              </a:solidFill>
              <a:ln>
                <a:solidFill>
                  <a:schemeClr val="bg1"/>
                </a:solidFill>
              </a:ln>
              <a:effectLst/>
            </c:spPr>
            <c:extLst>
              <c:ext xmlns:c16="http://schemas.microsoft.com/office/drawing/2014/chart" uri="{C3380CC4-5D6E-409C-BE32-E72D297353CC}">
                <c16:uniqueId val="{00000001-8A4E-4084-A5CD-157D5B324964}"/>
              </c:ext>
            </c:extLst>
          </c:dPt>
          <c:dPt>
            <c:idx val="1"/>
            <c:bubble3D val="0"/>
            <c:spPr>
              <a:solidFill>
                <a:schemeClr val="accent4">
                  <a:lumMod val="75000"/>
                </a:schemeClr>
              </a:solidFill>
              <a:ln>
                <a:solidFill>
                  <a:schemeClr val="bg1"/>
                </a:solidFill>
              </a:ln>
              <a:effectLst/>
            </c:spPr>
            <c:extLst>
              <c:ext xmlns:c16="http://schemas.microsoft.com/office/drawing/2014/chart" uri="{C3380CC4-5D6E-409C-BE32-E72D297353CC}">
                <c16:uniqueId val="{00000003-8A4E-4084-A5CD-157D5B324964}"/>
              </c:ext>
            </c:extLst>
          </c:dPt>
          <c:dLbls>
            <c:dLbl>
              <c:idx val="0"/>
              <c:layout>
                <c:manualLayout>
                  <c:x val="-0.19381700774937799"/>
                  <c:y val="-0.219888414834263"/>
                </c:manualLayout>
              </c:layout>
              <c:tx>
                <c:rich>
                  <a:bodyPr/>
                  <a:lstStyle/>
                  <a:p>
                    <a:r>
                      <a:rPr lang="en-US" altLang="zh-CN"/>
                      <a:t>14,555.48</a:t>
                    </a:r>
                  </a:p>
                  <a:p>
                    <a:r>
                      <a:rPr lang="en-US" altLang="zh-CN" b="1"/>
                      <a:t>80%</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1402737047898299"/>
                      <c:h val="0.25664588119461801"/>
                    </c:manualLayout>
                  </c15:layout>
                  <c15:showDataLabelsRange val="0"/>
                </c:ext>
                <c:ext xmlns:c16="http://schemas.microsoft.com/office/drawing/2014/chart" uri="{C3380CC4-5D6E-409C-BE32-E72D297353CC}">
                  <c16:uniqueId val="{00000001-8A4E-4084-A5CD-157D5B324964}"/>
                </c:ext>
              </c:extLst>
            </c:dLbl>
            <c:dLbl>
              <c:idx val="1"/>
              <c:layout>
                <c:manualLayout>
                  <c:x val="0.14286506200322799"/>
                  <c:y val="0.14473252379389601"/>
                </c:manualLayout>
              </c:layout>
              <c:tx>
                <c:rich>
                  <a:bodyPr/>
                  <a:lstStyle/>
                  <a:p>
                    <a:r>
                      <a:rPr lang="en-US" altLang="zh-CN"/>
                      <a:t>3,712.70</a:t>
                    </a:r>
                  </a:p>
                  <a:p>
                    <a:r>
                      <a:rPr lang="en-US" altLang="zh-CN" b="1"/>
                      <a:t>20%</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4811113819156699"/>
                      <c:h val="0.25664588119461801"/>
                    </c:manualLayout>
                  </c15:layout>
                  <c15:showDataLabelsRange val="0"/>
                </c:ext>
                <c:ext xmlns:c16="http://schemas.microsoft.com/office/drawing/2014/chart" uri="{C3380CC4-5D6E-409C-BE32-E72D297353CC}">
                  <c16:uniqueId val="{00000003-8A4E-4084-A5CD-157D5B324964}"/>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'[新华医院2026年4月经济运行情况-分析底稿.xlsx]门诊收入+急诊收入'!$R$45:$R$46</c:f>
              <c:strCache>
                <c:ptCount val="2"/>
                <c:pt idx="0">
                  <c:v>本地</c:v>
                </c:pt>
                <c:pt idx="1">
                  <c:v>异地</c:v>
                </c:pt>
              </c:strCache>
            </c:strRef>
          </c:cat>
          <c:val>
            <c:numRef>
              <c:f>'[新华医院2026年4月经济运行情况-分析底稿.xlsx]门诊收入+急诊收入'!$S$45:$S$46</c:f>
              <c:numCache>
                <c:formatCode>_(* #,##0.00_);_(* \(#,##0.00\);_(* "-"??_);_(@_)</c:formatCode>
                <c:ptCount val="2"/>
                <c:pt idx="0">
                  <c:v>14555.48</c:v>
                </c:pt>
                <c:pt idx="1">
                  <c:v>3712.7</c:v>
                </c:pt>
              </c:numCache>
            </c:numRef>
          </c:val>
          <c:extLst>
            <c:ext xmlns:c16="http://schemas.microsoft.com/office/drawing/2014/chart" uri="{C3380CC4-5D6E-409C-BE32-E72D297353CC}">
              <c16:uniqueId val="{00000004-8A4E-4084-A5CD-157D5B324964}"/>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b145db3a-8011-4cbe-94ad-3d967fb5a41e}"/>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'[新华医院2026年4月经济运行情况-分析底稿.xlsx]门诊收入+急诊收入'!$A$32</c:f>
              <c:strCache>
                <c:ptCount val="1"/>
                <c:pt idx="0">
                  <c:v>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99A7-4916-92C6-05CA567DBD9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99A7-4916-92C6-05CA567DBD9D}"/>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'[新华医院2026年4月经济运行情况-分析底稿.xlsx]门诊收入+急诊收入'!$B$31:$C$31</c:f>
              <c:strCache>
                <c:ptCount val="2"/>
                <c:pt idx="0">
                  <c:v>2026年4月</c:v>
                </c:pt>
                <c:pt idx="1">
                  <c:v>2025年4月</c:v>
                </c:pt>
              </c:strCache>
            </c:strRef>
          </c:cat>
          <c:val>
            <c:numRef>
              <c:f>'[新华医院2026年4月经济运行情况-分析底稿.xlsx]门诊收入+急诊收入'!$B$32:$C$32</c:f>
              <c:numCache>
                <c:formatCode>0.00_ </c:formatCode>
                <c:ptCount val="2"/>
                <c:pt idx="0">
                  <c:v>0.29773868869999998</c:v>
                </c:pt>
                <c:pt idx="1">
                  <c:v>0.21526915620000001</c:v>
                </c:pt>
              </c:numCache>
            </c:numRef>
          </c:val>
          <c:extLst>
            <c:ext xmlns:c16="http://schemas.microsoft.com/office/drawing/2014/chart" uri="{C3380CC4-5D6E-409C-BE32-E72D297353CC}">
              <c16:uniqueId val="{00000004-99A7-4916-92C6-05CA567DBD9D}"/>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'[新华医院2026年4月经济运行情况-分析底稿.xlsx]住院收入'!$A$32</c:f>
              <c:strCache>
                <c:ptCount val="1"/>
                <c:pt idx="0">
                  <c:v>住院收入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6307-4954-B580-7752EAAB84C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6307-4954-B580-7752EAAB84CD}"/>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'[新华医院2026年4月经济运行情况-分析底稿.xlsx]住院收入'!$B$31:$C$31</c:f>
              <c:strCache>
                <c:ptCount val="2"/>
                <c:pt idx="0">
                  <c:v>2026年4月</c:v>
                </c:pt>
                <c:pt idx="1">
                  <c:v>2025年4月</c:v>
                </c:pt>
              </c:strCache>
            </c:strRef>
          </c:cat>
          <c:val>
            <c:numRef>
              <c:f>'[新华医院2026年4月经济运行情况-分析底稿.xlsx]住院收入'!$B$32:$C$32</c:f>
              <c:numCache>
                <c:formatCode>0.00_ </c:formatCode>
                <c:ptCount val="2"/>
                <c:pt idx="0" formatCode="0.00">
                  <c:v>4.2522687227000002</c:v>
                </c:pt>
                <c:pt idx="1">
                  <c:v>3.2736346724000001</c:v>
                </c:pt>
              </c:numCache>
            </c:numRef>
          </c:val>
          <c:extLst>
            <c:ext xmlns:c16="http://schemas.microsoft.com/office/drawing/2014/chart" uri="{C3380CC4-5D6E-409C-BE32-E72D297353CC}">
              <c16:uniqueId val="{00000004-6307-4954-B580-7752EAAB84CD}"/>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'[新华医院2026年4月经济运行情况-分析底稿.xlsx]住院收入'!$J$46</c:f>
              <c:strCache>
                <c:ptCount val="1"/>
                <c:pt idx="0">
                  <c:v>2026年4月</c:v>
                </c:pt>
              </c:strCache>
            </c:strRef>
          </c:tx>
          <c:dPt>
            <c:idx val="0"/>
            <c:bubble3D val="0"/>
            <c:spPr>
              <a:solidFill>
                <a:schemeClr val="accent1"/>
              </a:solidFill>
              <a:ln>
                <a:solidFill>
                  <a:schemeClr val="bg1"/>
                </a:solidFill>
              </a:ln>
              <a:effectLst/>
            </c:spPr>
            <c:extLst>
              <c:ext xmlns:c16="http://schemas.microsoft.com/office/drawing/2014/chart" uri="{C3380CC4-5D6E-409C-BE32-E72D297353CC}">
                <c16:uniqueId val="{00000001-1455-4C3F-9A8B-8C8FACD89417}"/>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1455-4C3F-9A8B-8C8FACD89417}"/>
              </c:ext>
            </c:extLst>
          </c:dPt>
          <c:dLbls>
            <c:dLbl>
              <c:idx val="0"/>
              <c:layout>
                <c:manualLayout>
                  <c:x val="-0.106711733462096"/>
                  <c:y val="-0.25798776342624102"/>
                </c:manualLayout>
              </c:layout>
              <c:tx>
                <c:rich>
                  <a:bodyPr/>
                  <a:lstStyle/>
                  <a:p>
                    <a:r>
                      <a:rPr lang="en-US" altLang="zh-CN" b="0"/>
                      <a:t>29,822.57</a:t>
                    </a:r>
                  </a:p>
                  <a:p>
                    <a:r>
                      <a:rPr lang="en-US" altLang="zh-CN" b="1"/>
                      <a:t>92%</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3220666344761002"/>
                      <c:h val="0.18422841604350801"/>
                    </c:manualLayout>
                  </c15:layout>
                  <c15:showDataLabelsRange val="0"/>
                </c:ext>
                <c:ext xmlns:c16="http://schemas.microsoft.com/office/drawing/2014/chart" uri="{C3380CC4-5D6E-409C-BE32-E72D297353CC}">
                  <c16:uniqueId val="{00000001-1455-4C3F-9A8B-8C8FACD89417}"/>
                </c:ext>
              </c:extLst>
            </c:dLbl>
            <c:dLbl>
              <c:idx val="1"/>
              <c:layout>
                <c:manualLayout>
                  <c:x val="-0.10732747737591899"/>
                  <c:y val="0"/>
                </c:manualLayout>
              </c:layout>
              <c:tx>
                <c:rich>
                  <a:bodyPr/>
                  <a:lstStyle/>
                  <a:p>
                    <a:r>
                      <a:rPr lang="en-US" altLang="zh-CN" b="0"/>
                      <a:t>2,556.45</a:t>
                    </a:r>
                  </a:p>
                  <a:p>
                    <a:r>
                      <a:rPr lang="en-US" altLang="zh-CN" b="1"/>
                      <a:t>8%</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4596813133751803"/>
                      <c:h val="0.26580557443915698"/>
                    </c:manualLayout>
                  </c15:layout>
                  <c15:showDataLabelsRange val="0"/>
                </c:ext>
                <c:ext xmlns:c16="http://schemas.microsoft.com/office/drawing/2014/chart" uri="{C3380CC4-5D6E-409C-BE32-E72D297353CC}">
                  <c16:uniqueId val="{00000003-1455-4C3F-9A8B-8C8FACD89417}"/>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'[新华医院2026年4月经济运行情况-分析底稿.xlsx]住院收入'!$I$47:$I$48</c:f>
              <c:strCache>
                <c:ptCount val="2"/>
                <c:pt idx="0">
                  <c:v>医保</c:v>
                </c:pt>
                <c:pt idx="1">
                  <c:v>自费</c:v>
                </c:pt>
              </c:strCache>
            </c:strRef>
          </c:cat>
          <c:val>
            <c:numRef>
              <c:f>'[新华医院2026年4月经济运行情况-分析底稿.xlsx]住院收入'!$J$47:$J$48</c:f>
              <c:numCache>
                <c:formatCode>_(* #,##0.00_);_(* \(#,##0.00\);_(* "-"??_);_(@_)</c:formatCode>
                <c:ptCount val="2"/>
                <c:pt idx="0">
                  <c:v>29822.57</c:v>
                </c:pt>
                <c:pt idx="1">
                  <c:v>2556.4499999999998</c:v>
                </c:pt>
              </c:numCache>
            </c:numRef>
          </c:val>
          <c:extLst>
            <c:ext xmlns:c16="http://schemas.microsoft.com/office/drawing/2014/chart" uri="{C3380CC4-5D6E-409C-BE32-E72D297353CC}">
              <c16:uniqueId val="{00000004-1455-4C3F-9A8B-8C8FACD89417}"/>
            </c:ext>
          </c:extLst>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0" vertOverflow="ellipsis" vert="horz" wrap="square" anchor="ctr" anchorCtr="1"/>
          <a:lstStyle/>
          <a:p>
            <a:pPr>
              <a:defRPr lang="zh-CN" sz="900" b="1" i="0" u="none" strike="noStrike" kern="1200" baseline="0">
                <a:solidFill>
                  <a:schemeClr val="tx1">
                    <a:lumMod val="65000"/>
                    <a:lumOff val="35000"/>
                  </a:schemeClr>
                </a:solidFill>
                <a:latin typeface="+mn-lt"/>
                <a:ea typeface="+mn-ea"/>
                <a:cs typeface="+mn-cs"/>
              </a:defRPr>
            </a:pPr>
            <a:endParaRPr lang="zh-CN"/>
          </a:p>
        </c:txPr>
      </c:legendEntry>
      <c:legendEntry>
        <c:idx val="1"/>
        <c:txPr>
          <a:bodyPr rot="0" spcFirstLastPara="0" vertOverflow="ellipsis" vert="horz" wrap="square" anchor="ctr" anchorCtr="1"/>
          <a:lstStyle/>
          <a:p>
            <a:pPr>
              <a:defRPr lang="zh-CN" sz="900" b="1" i="0" u="none" strike="noStrike" kern="1200" baseline="0">
                <a:solidFill>
                  <a:schemeClr val="tx1">
                    <a:lumMod val="65000"/>
                    <a:lumOff val="35000"/>
                  </a:schemeClr>
                </a:solidFill>
                <a:latin typeface="+mn-lt"/>
                <a:ea typeface="+mn-ea"/>
                <a:cs typeface="+mn-cs"/>
              </a:defRPr>
            </a:pPr>
            <a:endParaRPr lang="zh-CN"/>
          </a:p>
        </c:txPr>
      </c:legendEntry>
      <c:overlay val="0"/>
      <c:spPr>
        <a:noFill/>
        <a:ln>
          <a:noFill/>
        </a:ln>
        <a:effectLst/>
      </c:spPr>
      <c:txPr>
        <a:bodyPr rot="0" spcFirstLastPara="0" vertOverflow="ellipsis" vert="horz" wrap="square" anchor="ctr" anchorCtr="1"/>
        <a:lstStyle/>
        <a:p>
          <a:pPr>
            <a:defRPr lang="zh-CN" sz="900" b="1"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4d9879b9-6f9b-4d25-bf78-811456f4ab27}"/>
      </c:ext>
    </c:extLst>
  </c:chart>
  <c:spPr>
    <a:solidFill>
      <a:schemeClr val="bg1"/>
    </a:solidFill>
    <a:ln w="9525" cap="flat" cmpd="sng" algn="ctr">
      <a:noFill/>
      <a:round/>
    </a:ln>
    <a:effectLst/>
  </c:spPr>
  <c:txPr>
    <a:bodyPr/>
    <a:lstStyle/>
    <a:p>
      <a:pPr>
        <a:defRPr lang="zh-CN" b="1"/>
      </a:pPr>
      <a:endParaRPr lang="zh-CN"/>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'[新华医院2026年4月经济运行情况-分析底稿.xlsx]住院收入'!$J$46</c:f>
              <c:strCache>
                <c:ptCount val="1"/>
                <c:pt idx="0">
                  <c:v>2026年4月</c:v>
                </c:pt>
              </c:strCache>
            </c:strRef>
          </c:tx>
          <c:spPr>
            <a:solidFill>
              <a:schemeClr val="accent4">
                <a:lumMod val="75000"/>
              </a:schemeClr>
            </a:solidFill>
          </c:spPr>
          <c:dPt>
            <c:idx val="0"/>
            <c:bubble3D val="0"/>
            <c:spPr>
              <a:solidFill>
                <a:srgbClr val="009999"/>
              </a:solidFill>
              <a:ln>
                <a:solidFill>
                  <a:schemeClr val="bg1"/>
                </a:solidFill>
              </a:ln>
              <a:effectLst/>
            </c:spPr>
            <c:extLst>
              <c:ext xmlns:c16="http://schemas.microsoft.com/office/drawing/2014/chart" uri="{C3380CC4-5D6E-409C-BE32-E72D297353CC}">
                <c16:uniqueId val="{00000001-7E1C-435F-BB29-53C07914A760}"/>
              </c:ext>
            </c:extLst>
          </c:dPt>
          <c:dPt>
            <c:idx val="1"/>
            <c:bubble3D val="0"/>
            <c:spPr>
              <a:solidFill>
                <a:srgbClr val="BF9000"/>
              </a:solidFill>
              <a:ln>
                <a:solidFill>
                  <a:schemeClr val="bg1"/>
                </a:solidFill>
              </a:ln>
              <a:effectLst/>
            </c:spPr>
            <c:extLst>
              <c:ext xmlns:c16="http://schemas.microsoft.com/office/drawing/2014/chart" uri="{C3380CC4-5D6E-409C-BE32-E72D297353CC}">
                <c16:uniqueId val="{00000003-7E1C-435F-BB29-53C07914A760}"/>
              </c:ext>
            </c:extLst>
          </c:dPt>
          <c:dLbls>
            <c:dLbl>
              <c:idx val="0"/>
              <c:layout>
                <c:manualLayout>
                  <c:x val="-0.15410112682183799"/>
                  <c:y val="-1.98968302899541E-2"/>
                </c:manualLayout>
              </c:layout>
              <c:tx>
                <c:rich>
                  <a:bodyPr/>
                  <a:lstStyle/>
                  <a:p>
                    <a:r>
                      <a:rPr lang="en-US" altLang="zh-CN"/>
                      <a:t>18,203.65</a:t>
                    </a:r>
                  </a:p>
                  <a:p>
                    <a:r>
                      <a:rPr lang="en-US" altLang="zh-CN" b="1"/>
                      <a:t>56%</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8452778864338599"/>
                      <c:h val="0.25693982207516802"/>
                    </c:manualLayout>
                  </c15:layout>
                  <c15:showDataLabelsRange val="0"/>
                </c:ext>
                <c:ext xmlns:c16="http://schemas.microsoft.com/office/drawing/2014/chart" uri="{C3380CC4-5D6E-409C-BE32-E72D297353CC}">
                  <c16:uniqueId val="{00000001-7E1C-435F-BB29-53C07914A760}"/>
                </c:ext>
              </c:extLst>
            </c:dLbl>
            <c:dLbl>
              <c:idx val="1"/>
              <c:layout>
                <c:manualLayout>
                  <c:x val="0.19157605056347299"/>
                  <c:y val="4.3835101378902598E-2"/>
                </c:manualLayout>
              </c:layout>
              <c:tx>
                <c:rich>
                  <a:bodyPr/>
                  <a:lstStyle/>
                  <a:p>
                    <a:r>
                      <a:rPr lang="en-US" altLang="zh-CN"/>
                      <a:t>14,175.36</a:t>
                    </a:r>
                  </a:p>
                  <a:p>
                    <a:r>
                      <a:rPr lang="en-US" altLang="zh-CN" b="1"/>
                      <a:t>44%</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2312925170068002"/>
                      <c:h val="0.256898817345598"/>
                    </c:manualLayout>
                  </c15:layout>
                  <c15:showDataLabelsRange val="0"/>
                </c:ext>
                <c:ext xmlns:c16="http://schemas.microsoft.com/office/drawing/2014/chart" uri="{C3380CC4-5D6E-409C-BE32-E72D297353CC}">
                  <c16:uniqueId val="{00000003-7E1C-435F-BB29-53C07914A760}"/>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'[新华医院2026年4月经济运行情况-分析底稿.xlsx]住院收入'!$I$49:$I$50</c:f>
              <c:strCache>
                <c:ptCount val="2"/>
                <c:pt idx="0">
                  <c:v>本地</c:v>
                </c:pt>
                <c:pt idx="1">
                  <c:v>异地</c:v>
                </c:pt>
              </c:strCache>
            </c:strRef>
          </c:cat>
          <c:val>
            <c:numRef>
              <c:f>'[新华医院2026年4月经济运行情况-分析底稿.xlsx]住院收入'!$J$49:$J$50</c:f>
              <c:numCache>
                <c:formatCode>_(* #,##0.00_);_(* \(#,##0.00\);_(* "-"??_);_(@_)</c:formatCode>
                <c:ptCount val="2"/>
                <c:pt idx="0">
                  <c:v>18203.650000000001</c:v>
                </c:pt>
                <c:pt idx="1">
                  <c:v>14175.36</c:v>
                </c:pt>
              </c:numCache>
            </c:numRef>
          </c:val>
          <c:extLst>
            <c:ext xmlns:c16="http://schemas.microsoft.com/office/drawing/2014/chart" uri="{C3380CC4-5D6E-409C-BE32-E72D297353CC}">
              <c16:uniqueId val="{00000004-7E1C-435F-BB29-53C07914A760}"/>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11832db6-1728-41e9-b8cc-4a3cf6ea684b}"/>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'[新华医院2026年4月经济运行情况-分析底稿.xlsx]住院收入'!$F$46</c:f>
              <c:strCache>
                <c:ptCount val="1"/>
                <c:pt idx="0">
                  <c:v>2026年4月</c:v>
                </c:pt>
              </c:strCache>
            </c:strRef>
          </c:tx>
          <c:dPt>
            <c:idx val="0"/>
            <c:bubble3D val="0"/>
            <c:spPr>
              <a:solidFill>
                <a:schemeClr val="accent1"/>
              </a:solidFill>
              <a:ln>
                <a:solidFill>
                  <a:schemeClr val="bg1"/>
                </a:solidFill>
              </a:ln>
              <a:effectLst/>
            </c:spPr>
            <c:extLst>
              <c:ext xmlns:c16="http://schemas.microsoft.com/office/drawing/2014/chart" uri="{C3380CC4-5D6E-409C-BE32-E72D297353CC}">
                <c16:uniqueId val="{00000001-2AB7-4EEC-BF21-8072230E1091}"/>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2AB7-4EEC-BF21-8072230E1091}"/>
              </c:ext>
            </c:extLst>
          </c:dPt>
          <c:dLbls>
            <c:dLbl>
              <c:idx val="0"/>
              <c:layout>
                <c:manualLayout>
                  <c:x val="-6.4226854095976699E-2"/>
                  <c:y val="-0.245500848896435"/>
                </c:manualLayout>
              </c:layout>
              <c:tx>
                <c:rich>
                  <a:bodyPr/>
                  <a:lstStyle/>
                  <a:p>
                    <a:r>
                      <a:rPr lang="en-US" altLang="zh-CN"/>
                      <a:t>9,488.54</a:t>
                    </a:r>
                  </a:p>
                  <a:p>
                    <a:r>
                      <a:rPr lang="en-US" altLang="zh-CN" b="1"/>
                      <a:t>94%</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6030053320407198"/>
                      <c:h val="0.184040747028862"/>
                    </c:manualLayout>
                  </c15:layout>
                  <c15:showDataLabelsRange val="0"/>
                </c:ext>
                <c:ext xmlns:c16="http://schemas.microsoft.com/office/drawing/2014/chart" uri="{C3380CC4-5D6E-409C-BE32-E72D297353CC}">
                  <c16:uniqueId val="{00000001-2AB7-4EEC-BF21-8072230E1091}"/>
                </c:ext>
              </c:extLst>
            </c:dLbl>
            <c:dLbl>
              <c:idx val="1"/>
              <c:layout>
                <c:manualLayout>
                  <c:x val="-0.16676328446043001"/>
                  <c:y val="2.9777278660786499E-2"/>
                </c:manualLayout>
              </c:layout>
              <c:tx>
                <c:rich>
                  <a:bodyPr/>
                  <a:lstStyle/>
                  <a:p>
                    <a:r>
                      <a:rPr lang="en-US" altLang="zh-CN"/>
                      <a:t>655.12</a:t>
                    </a:r>
                  </a:p>
                  <a:p>
                    <a:r>
                      <a:rPr lang="en-US" altLang="zh-CN" b="1"/>
                      <a:t>6%</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237243062259337"/>
                      <c:h val="0.22930556203504701"/>
                    </c:manualLayout>
                  </c15:layout>
                  <c15:showDataLabelsRange val="0"/>
                </c:ext>
                <c:ext xmlns:c16="http://schemas.microsoft.com/office/drawing/2014/chart" uri="{C3380CC4-5D6E-409C-BE32-E72D297353CC}">
                  <c16:uniqueId val="{00000003-2AB7-4EEC-BF21-8072230E1091}"/>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'[新华医院2026年4月经济运行情况-分析底稿.xlsx]住院收入'!$E$47:$E$48</c:f>
              <c:strCache>
                <c:ptCount val="2"/>
                <c:pt idx="0">
                  <c:v>医保</c:v>
                </c:pt>
                <c:pt idx="1">
                  <c:v>自费</c:v>
                </c:pt>
              </c:strCache>
            </c:strRef>
          </c:cat>
          <c:val>
            <c:numRef>
              <c:f>'[新华医院2026年4月经济运行情况-分析底稿.xlsx]住院收入'!$F$47:$F$48</c:f>
              <c:numCache>
                <c:formatCode>_(* #,##0.00_);_(* \(#,##0.00\);_(* "-"??_);_(@_)</c:formatCode>
                <c:ptCount val="2"/>
                <c:pt idx="0">
                  <c:v>9488.5400000000009</c:v>
                </c:pt>
                <c:pt idx="1">
                  <c:v>655.12</c:v>
                </c:pt>
              </c:numCache>
            </c:numRef>
          </c:val>
          <c:extLst>
            <c:ext xmlns:c16="http://schemas.microsoft.com/office/drawing/2014/chart" uri="{C3380CC4-5D6E-409C-BE32-E72D297353CC}">
              <c16:uniqueId val="{00000004-2AB7-4EEC-BF21-8072230E1091}"/>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4d9879b9-6f9b-4d25-bf78-811456f4ab27}"/>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'[新华医院2026年4月经济运行情况-分析底稿.xlsx]住院收入'!$F$46</c:f>
              <c:strCache>
                <c:ptCount val="1"/>
                <c:pt idx="0">
                  <c:v>2026年4月</c:v>
                </c:pt>
              </c:strCache>
            </c:strRef>
          </c:tx>
          <c:spPr>
            <a:solidFill>
              <a:schemeClr val="accent4">
                <a:lumMod val="75000"/>
              </a:schemeClr>
            </a:solidFill>
          </c:spPr>
          <c:dPt>
            <c:idx val="0"/>
            <c:bubble3D val="0"/>
            <c:spPr>
              <a:solidFill>
                <a:srgbClr val="009999"/>
              </a:solidFill>
              <a:ln>
                <a:solidFill>
                  <a:schemeClr val="bg1"/>
                </a:solidFill>
              </a:ln>
              <a:effectLst/>
            </c:spPr>
            <c:extLst>
              <c:ext xmlns:c16="http://schemas.microsoft.com/office/drawing/2014/chart" uri="{C3380CC4-5D6E-409C-BE32-E72D297353CC}">
                <c16:uniqueId val="{00000001-3E7D-4F4D-9643-2DB81C511151}"/>
              </c:ext>
            </c:extLst>
          </c:dPt>
          <c:dPt>
            <c:idx val="1"/>
            <c:bubble3D val="0"/>
            <c:spPr>
              <a:solidFill>
                <a:srgbClr val="BF9000"/>
              </a:solidFill>
              <a:ln>
                <a:solidFill>
                  <a:schemeClr val="bg1"/>
                </a:solidFill>
              </a:ln>
              <a:effectLst/>
            </c:spPr>
            <c:extLst>
              <c:ext xmlns:c16="http://schemas.microsoft.com/office/drawing/2014/chart" uri="{C3380CC4-5D6E-409C-BE32-E72D297353CC}">
                <c16:uniqueId val="{00000003-3E7D-4F4D-9643-2DB81C511151}"/>
              </c:ext>
            </c:extLst>
          </c:dPt>
          <c:dLbls>
            <c:dLbl>
              <c:idx val="0"/>
              <c:layout>
                <c:manualLayout>
                  <c:x val="-0.23542332521249101"/>
                  <c:y val="-0.119081421396296"/>
                </c:manualLayout>
              </c:layout>
              <c:tx>
                <c:rich>
                  <a:bodyPr/>
                  <a:lstStyle/>
                  <a:p>
                    <a:r>
                      <a:rPr lang="en-US" altLang="zh-CN"/>
                      <a:t>6,970.46</a:t>
                    </a:r>
                  </a:p>
                  <a:p>
                    <a:r>
                      <a:rPr lang="en-US" altLang="zh-CN" b="1"/>
                      <a:t>69%</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1402737047898299"/>
                      <c:h val="0.25664588119461801"/>
                    </c:manualLayout>
                  </c15:layout>
                  <c15:showDataLabelsRange val="0"/>
                </c:ext>
                <c:ext xmlns:c16="http://schemas.microsoft.com/office/drawing/2014/chart" uri="{C3380CC4-5D6E-409C-BE32-E72D297353CC}">
                  <c16:uniqueId val="{00000001-3E7D-4F4D-9643-2DB81C511151}"/>
                </c:ext>
              </c:extLst>
            </c:dLbl>
            <c:dLbl>
              <c:idx val="1"/>
              <c:layout>
                <c:manualLayout>
                  <c:x val="0.144502854883958"/>
                  <c:y val="0.15828988249831"/>
                </c:manualLayout>
              </c:layout>
              <c:tx>
                <c:rich>
                  <a:bodyPr/>
                  <a:lstStyle/>
                  <a:p>
                    <a:r>
                      <a:rPr lang="en-US" altLang="zh-CN"/>
                      <a:t>3,173.21</a:t>
                    </a:r>
                  </a:p>
                  <a:p>
                    <a:r>
                      <a:rPr lang="en-US" altLang="zh-CN" b="1"/>
                      <a:t>31%</a:t>
                    </a:r>
                  </a:p>
                </c:rich>
              </c:tx>
              <c:dLblPos val="bestFit"/>
              <c:showLegendKey val="0"/>
              <c:showVal val="1"/>
              <c:showCatName val="0"/>
              <c:showSerName val="0"/>
              <c:showPercent val="1"/>
              <c:showBubbleSize val="0"/>
              <c:separator>
</c:separator>
              <c:extLst>
                <c:ext xmlns:c15="http://schemas.microsoft.com/office/drawing/2012/chart" uri="{CE6537A1-D6FC-4f65-9D91-7224C49458BB}">
                  <c15:layout>
                    <c:manualLayout>
                      <c:w val="0.34484028752193602"/>
                      <c:h val="0.25693982207516802"/>
                    </c:manualLayout>
                  </c15:layout>
                  <c15:showDataLabelsRange val="0"/>
                </c:ext>
                <c:ext xmlns:c16="http://schemas.microsoft.com/office/drawing/2014/chart" uri="{C3380CC4-5D6E-409C-BE32-E72D297353CC}">
                  <c16:uniqueId val="{00000003-3E7D-4F4D-9643-2DB81C511151}"/>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'[新华医院2026年4月经济运行情况-分析底稿.xlsx]住院收入'!$E$49:$E$50</c:f>
              <c:strCache>
                <c:ptCount val="2"/>
                <c:pt idx="0">
                  <c:v>本地</c:v>
                </c:pt>
                <c:pt idx="1">
                  <c:v>异地</c:v>
                </c:pt>
              </c:strCache>
            </c:strRef>
          </c:cat>
          <c:val>
            <c:numRef>
              <c:f>'[新华医院2026年4月经济运行情况-分析底稿.xlsx]住院收入'!$F$49:$F$50</c:f>
              <c:numCache>
                <c:formatCode>_(* #,##0.00_);_(* \(#,##0.00\);_(* "-"??_);_(@_)</c:formatCode>
                <c:ptCount val="2"/>
                <c:pt idx="0">
                  <c:v>6970.46</c:v>
                </c:pt>
                <c:pt idx="1">
                  <c:v>3173.21</c:v>
                </c:pt>
              </c:numCache>
            </c:numRef>
          </c:val>
          <c:extLst>
            <c:ext xmlns:c16="http://schemas.microsoft.com/office/drawing/2014/chart" uri="{C3380CC4-5D6E-409C-BE32-E72D297353CC}">
              <c16:uniqueId val="{00000004-3E7D-4F4D-9643-2DB81C511151}"/>
            </c:ext>
          </c:extLst>
        </c:ser>
        <c:dLbls>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11832db6-1728-41e9-b8cc-4a3cf6ea684b}"/>
      </c:ext>
    </c:extLst>
  </c:chart>
  <c:spPr>
    <a:solidFill>
      <a:schemeClr val="bg1"/>
    </a:solidFill>
    <a:ln w="9525" cap="flat" cmpd="sng" algn="ctr">
      <a:noFill/>
      <a:round/>
    </a:ln>
    <a:effectLst/>
  </c:spPr>
  <c:txPr>
    <a:bodyPr/>
    <a:lstStyle/>
    <a:p>
      <a:pPr>
        <a:defRPr lang="zh-CN"/>
      </a:pPr>
      <a:endParaRPr lang="zh-CN"/>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'[新华医院2026年4月经济运行情况-分析底稿.xlsx]医疗收入情况'!$B$63</c:f>
              <c:strCache>
                <c:ptCount val="1"/>
                <c:pt idx="0">
                  <c:v>医疗收入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4DB-409E-AE5D-8858CA737E5A}"/>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4DB-409E-AE5D-8858CA737E5A}"/>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'[新华医院2026年4月经济运行情况-分析底稿.xlsx]医疗收入情况'!$C$62:$D$62</c:f>
              <c:strCache>
                <c:ptCount val="2"/>
                <c:pt idx="0">
                  <c:v>2026年4月</c:v>
                </c:pt>
                <c:pt idx="1">
                  <c:v>2025年4月</c:v>
                </c:pt>
              </c:strCache>
            </c:strRef>
          </c:cat>
          <c:val>
            <c:numRef>
              <c:f>'[新华医院2026年4月经济运行情况-分析底稿.xlsx]医疗收入情况'!$C$63:$D$63</c:f>
              <c:numCache>
                <c:formatCode>_(* #,##0.00_);_(* \(#,##0.00\);_(* "-"??_);_(@_)</c:formatCode>
                <c:ptCount val="2"/>
                <c:pt idx="0">
                  <c:v>6.7252722066999997</c:v>
                </c:pt>
                <c:pt idx="1">
                  <c:v>5.1335709316999996</c:v>
                </c:pt>
              </c:numCache>
            </c:numRef>
          </c:val>
          <c:extLst>
            <c:ext xmlns:c16="http://schemas.microsoft.com/office/drawing/2014/chart" uri="{C3380CC4-5D6E-409C-BE32-E72D297353CC}">
              <c16:uniqueId val="{00000004-84DB-409E-AE5D-8858CA737E5A}"/>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'[新华医院2026年4月经济运行情况-分析底稿.xlsx]医疗收入情况'!$B$54</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'[新华医院2026年4月经济运行情况-分析底稿.xlsx]医疗收入情况'!$C$53:$D$53</c:f>
              <c:strCache>
                <c:ptCount val="2"/>
                <c:pt idx="0">
                  <c:v>2026年4月 全院</c:v>
                </c:pt>
                <c:pt idx="1">
                  <c:v>2025年4月 全院</c:v>
                </c:pt>
              </c:strCache>
            </c:strRef>
          </c:cat>
          <c:val>
            <c:numRef>
              <c:f>'[新华医院2026年4月经济运行情况-分析底稿.xlsx]医疗收入情况'!$C$54:$D$54</c:f>
              <c:numCache>
                <c:formatCode>0.0%</c:formatCode>
                <c:ptCount val="2"/>
                <c:pt idx="0">
                  <c:v>0.244265843944419</c:v>
                </c:pt>
                <c:pt idx="1">
                  <c:v>0.25992313468592299</c:v>
                </c:pt>
              </c:numCache>
            </c:numRef>
          </c:val>
          <c:extLst>
            <c:ext xmlns:c16="http://schemas.microsoft.com/office/drawing/2014/chart" uri="{C3380CC4-5D6E-409C-BE32-E72D297353CC}">
              <c16:uniqueId val="{00000000-6D36-4748-BD9E-0D39E6A02F94}"/>
            </c:ext>
          </c:extLst>
        </c:ser>
        <c:ser>
          <c:idx val="1"/>
          <c:order val="1"/>
          <c:tx>
            <c:strRef>
              <c:f>'[新华医院2026年4月经济运行情况-分析底稿.xlsx]医疗收入情况'!$B$55</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'[新华医院2026年4月经济运行情况-分析底稿.xlsx]医疗收入情况'!$C$53:$D$53</c:f>
              <c:strCache>
                <c:ptCount val="2"/>
                <c:pt idx="0">
                  <c:v>2026年4月 全院</c:v>
                </c:pt>
                <c:pt idx="1">
                  <c:v>2025年4月 全院</c:v>
                </c:pt>
              </c:strCache>
            </c:strRef>
          </c:cat>
          <c:val>
            <c:numRef>
              <c:f>'[新华医院2026年4月经济运行情况-分析底稿.xlsx]医疗收入情况'!$C$55:$D$55</c:f>
              <c:numCache>
                <c:formatCode>0.0%</c:formatCode>
                <c:ptCount val="2"/>
                <c:pt idx="0">
                  <c:v>0.28513505078284102</c:v>
                </c:pt>
                <c:pt idx="1">
                  <c:v>0.26611286462688599</c:v>
                </c:pt>
              </c:numCache>
            </c:numRef>
          </c:val>
          <c:extLst>
            <c:ext xmlns:c16="http://schemas.microsoft.com/office/drawing/2014/chart" uri="{C3380CC4-5D6E-409C-BE32-E72D297353CC}">
              <c16:uniqueId val="{00000001-6D36-4748-BD9E-0D39E6A02F94}"/>
            </c:ext>
          </c:extLst>
        </c:ser>
        <c:ser>
          <c:idx val="2"/>
          <c:order val="2"/>
          <c:tx>
            <c:strRef>
              <c:f>'[新华医院2026年4月经济运行情况-分析底稿.xlsx]医疗收入情况'!$B$56</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'[新华医院2026年4月经济运行情况-分析底稿.xlsx]医疗收入情况'!$C$53:$D$53</c:f>
              <c:strCache>
                <c:ptCount val="2"/>
                <c:pt idx="0">
                  <c:v>2026年4月 全院</c:v>
                </c:pt>
                <c:pt idx="1">
                  <c:v>2025年4月 全院</c:v>
                </c:pt>
              </c:strCache>
            </c:strRef>
          </c:cat>
          <c:val>
            <c:numRef>
              <c:f>'[新华医院2026年4月经济运行情况-分析底稿.xlsx]医疗收入情况'!$C$56:$D$56</c:f>
              <c:numCache>
                <c:formatCode>0.0%</c:formatCode>
                <c:ptCount val="2"/>
                <c:pt idx="0">
                  <c:v>0.22601804496951999</c:v>
                </c:pt>
                <c:pt idx="1">
                  <c:v>0.22409354293640599</c:v>
                </c:pt>
              </c:numCache>
            </c:numRef>
          </c:val>
          <c:extLst>
            <c:ext xmlns:c16="http://schemas.microsoft.com/office/drawing/2014/chart" uri="{C3380CC4-5D6E-409C-BE32-E72D297353CC}">
              <c16:uniqueId val="{00000002-6D36-4748-BD9E-0D39E6A02F94}"/>
            </c:ext>
          </c:extLst>
        </c:ser>
        <c:ser>
          <c:idx val="3"/>
          <c:order val="3"/>
          <c:tx>
            <c:strRef>
              <c:f>'[新华医院2026年4月经济运行情况-分析底稿.xlsx]医疗收入情况'!$B$57</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'[新华医院2026年4月经济运行情况-分析底稿.xlsx]医疗收入情况'!$C$53:$D$53</c:f>
              <c:strCache>
                <c:ptCount val="2"/>
                <c:pt idx="0">
                  <c:v>2026年4月 全院</c:v>
                </c:pt>
                <c:pt idx="1">
                  <c:v>2025年4月 全院</c:v>
                </c:pt>
              </c:strCache>
            </c:strRef>
          </c:cat>
          <c:val>
            <c:numRef>
              <c:f>'[新华医院2026年4月经济运行情况-分析底稿.xlsx]医疗收入情况'!$C$57:$D$57</c:f>
              <c:numCache>
                <c:formatCode>0.0%</c:formatCode>
                <c:ptCount val="2"/>
                <c:pt idx="0">
                  <c:v>0.24458106030321999</c:v>
                </c:pt>
                <c:pt idx="1">
                  <c:v>0.24987045775078401</c:v>
                </c:pt>
              </c:numCache>
            </c:numRef>
          </c:val>
          <c:extLst>
            <c:ext xmlns:c16="http://schemas.microsoft.com/office/drawing/2014/chart" uri="{C3380CC4-5D6E-409C-BE32-E72D297353CC}">
              <c16:uniqueId val="{00000003-6D36-4748-BD9E-0D39E6A02F94}"/>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'[新华医院2026年4月经济运行情况-分析底稿.xlsx]医疗收入情况'!$B$47</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'[新华医院2026年4月经济运行情况-分析底稿.xlsx]医疗收入情况'!$C$46:$D$46</c:f>
              <c:strCache>
                <c:ptCount val="2"/>
                <c:pt idx="0">
                  <c:v>2026年4月 杨浦</c:v>
                </c:pt>
                <c:pt idx="1">
                  <c:v>2026年4月 奉贤</c:v>
                </c:pt>
              </c:strCache>
            </c:strRef>
          </c:cat>
          <c:val>
            <c:numRef>
              <c:f>'[新华医院2026年4月经济运行情况-分析底稿.xlsx]医疗收入情况'!$C$47:$D$47</c:f>
              <c:numCache>
                <c:formatCode>0.0%</c:formatCode>
                <c:ptCount val="2"/>
                <c:pt idx="0">
                  <c:v>0.25993086087307499</c:v>
                </c:pt>
                <c:pt idx="1">
                  <c:v>0.187658131849956</c:v>
                </c:pt>
              </c:numCache>
            </c:numRef>
          </c:val>
          <c:extLst>
            <c:ext xmlns:c16="http://schemas.microsoft.com/office/drawing/2014/chart" uri="{C3380CC4-5D6E-409C-BE32-E72D297353CC}">
              <c16:uniqueId val="{00000000-ECD1-4FA7-90B3-9C9A26F6DDDA}"/>
            </c:ext>
          </c:extLst>
        </c:ser>
        <c:ser>
          <c:idx val="1"/>
          <c:order val="1"/>
          <c:tx>
            <c:strRef>
              <c:f>'[新华医院2026年4月经济运行情况-分析底稿.xlsx]医疗收入情况'!$B$48</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'[新华医院2026年4月经济运行情况-分析底稿.xlsx]医疗收入情况'!$C$46:$D$46</c:f>
              <c:strCache>
                <c:ptCount val="2"/>
                <c:pt idx="0">
                  <c:v>2026年4月 杨浦</c:v>
                </c:pt>
                <c:pt idx="1">
                  <c:v>2026年4月 奉贤</c:v>
                </c:pt>
              </c:strCache>
            </c:strRef>
          </c:cat>
          <c:val>
            <c:numRef>
              <c:f>'[新华医院2026年4月经济运行情况-分析底稿.xlsx]医疗收入情况'!$C$48:$D$48</c:f>
              <c:numCache>
                <c:formatCode>0.0%</c:formatCode>
                <c:ptCount val="2"/>
                <c:pt idx="0">
                  <c:v>0.25875732240840299</c:v>
                </c:pt>
                <c:pt idx="1">
                  <c:v>0.38045463200809998</c:v>
                </c:pt>
              </c:numCache>
            </c:numRef>
          </c:val>
          <c:extLst>
            <c:ext xmlns:c16="http://schemas.microsoft.com/office/drawing/2014/chart" uri="{C3380CC4-5D6E-409C-BE32-E72D297353CC}">
              <c16:uniqueId val="{00000001-ECD1-4FA7-90B3-9C9A26F6DDDA}"/>
            </c:ext>
          </c:extLst>
        </c:ser>
        <c:ser>
          <c:idx val="2"/>
          <c:order val="2"/>
          <c:tx>
            <c:strRef>
              <c:f>'[新华医院2026年4月经济运行情况-分析底稿.xlsx]医疗收入情况'!$B$49</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'[新华医院2026年4月经济运行情况-分析底稿.xlsx]医疗收入情况'!$C$46:$D$46</c:f>
              <c:strCache>
                <c:ptCount val="2"/>
                <c:pt idx="0">
                  <c:v>2026年4月 杨浦</c:v>
                </c:pt>
                <c:pt idx="1">
                  <c:v>2026年4月 奉贤</c:v>
                </c:pt>
              </c:strCache>
            </c:strRef>
          </c:cat>
          <c:val>
            <c:numRef>
              <c:f>'[新华医院2026年4月经济运行情况-分析底稿.xlsx]医疗收入情况'!$C$49:$D$49</c:f>
              <c:numCache>
                <c:formatCode>0.0%</c:formatCode>
                <c:ptCount val="2"/>
                <c:pt idx="0">
                  <c:v>0.228541680352812</c:v>
                </c:pt>
                <c:pt idx="1">
                  <c:v>0.21689853837342499</c:v>
                </c:pt>
              </c:numCache>
            </c:numRef>
          </c:val>
          <c:extLst>
            <c:ext xmlns:c16="http://schemas.microsoft.com/office/drawing/2014/chart" uri="{C3380CC4-5D6E-409C-BE32-E72D297353CC}">
              <c16:uniqueId val="{00000002-ECD1-4FA7-90B3-9C9A26F6DDDA}"/>
            </c:ext>
          </c:extLst>
        </c:ser>
        <c:ser>
          <c:idx val="3"/>
          <c:order val="3"/>
          <c:tx>
            <c:strRef>
              <c:f>'[新华医院2026年4月经济运行情况-分析底稿.xlsx]医疗收入情况'!$B$50</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'[新华医院2026年4月经济运行情况-分析底稿.xlsx]医疗收入情况'!$C$46:$D$46</c:f>
              <c:strCache>
                <c:ptCount val="2"/>
                <c:pt idx="0">
                  <c:v>2026年4月 杨浦</c:v>
                </c:pt>
                <c:pt idx="1">
                  <c:v>2026年4月 奉贤</c:v>
                </c:pt>
              </c:strCache>
            </c:strRef>
          </c:cat>
          <c:val>
            <c:numRef>
              <c:f>'[新华医院2026年4月经济运行情况-分析底稿.xlsx]医疗收入情况'!$C$50:$D$50</c:f>
              <c:numCache>
                <c:formatCode>0.0%</c:formatCode>
                <c:ptCount val="2"/>
                <c:pt idx="0">
                  <c:v>0.252770136365709</c:v>
                </c:pt>
                <c:pt idx="1">
                  <c:v>0.214988697768519</c:v>
                </c:pt>
              </c:numCache>
            </c:numRef>
          </c:val>
          <c:extLst>
            <c:ext xmlns:c16="http://schemas.microsoft.com/office/drawing/2014/chart" uri="{C3380CC4-5D6E-409C-BE32-E72D297353CC}">
              <c16:uniqueId val="{00000003-ECD1-4FA7-90B3-9C9A26F6DDDA}"/>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1475760506013E-2"/>
          <c:y val="7.5573865607392E-3"/>
          <c:w val="0.92828035859820701"/>
          <c:h val="0.71519706836726804"/>
        </c:manualLayout>
      </c:layout>
      <c:barChart>
        <c:barDir val="col"/>
        <c:grouping val="clustered"/>
        <c:varyColors val="0"/>
        <c:ser>
          <c:idx val="0"/>
          <c:order val="0"/>
          <c:tx>
            <c:strRef>
              <c:f>'[横向医院底稿(1)(1).xlsm]医疗收入'!$C$2</c:f>
              <c:strCache>
                <c:ptCount val="1"/>
                <c:pt idx="0">
                  <c:v>医疗收入</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ABA6-40D1-BA79-3F07CAACB48D}"/>
              </c:ext>
            </c:extLst>
          </c:dPt>
          <c:dPt>
            <c:idx val="1"/>
            <c:invertIfNegative val="0"/>
            <c:bubble3D val="0"/>
            <c:spPr>
              <a:solidFill>
                <a:srgbClr val="002060"/>
              </a:solidFill>
              <a:ln>
                <a:noFill/>
              </a:ln>
              <a:effectLst/>
            </c:spPr>
            <c:extLst>
              <c:ext xmlns:c16="http://schemas.microsoft.com/office/drawing/2014/chart" uri="{C3380CC4-5D6E-409C-BE32-E72D297353CC}">
                <c16:uniqueId val="{00000003-ABA6-40D1-BA79-3F07CAACB48D}"/>
              </c:ext>
            </c:extLst>
          </c:dPt>
          <c:dPt>
            <c:idx val="3"/>
            <c:invertIfNegative val="0"/>
            <c:bubble3D val="0"/>
            <c:spPr>
              <a:solidFill>
                <a:srgbClr val="002060"/>
              </a:solidFill>
              <a:ln>
                <a:noFill/>
              </a:ln>
              <a:effectLst/>
            </c:spPr>
            <c:extLst>
              <c:ext xmlns:c16="http://schemas.microsoft.com/office/drawing/2014/chart" uri="{C3380CC4-5D6E-409C-BE32-E72D297353CC}">
                <c16:uniqueId val="{00000005-ABA6-40D1-BA79-3F07CAACB48D}"/>
              </c:ext>
            </c:extLst>
          </c:dPt>
          <c:dPt>
            <c:idx val="4"/>
            <c:invertIfNegative val="0"/>
            <c:bubble3D val="0"/>
            <c:spPr>
              <a:solidFill>
                <a:srgbClr val="002060"/>
              </a:solidFill>
              <a:ln>
                <a:noFill/>
              </a:ln>
              <a:effectLst/>
            </c:spPr>
            <c:extLst>
              <c:ext xmlns:c16="http://schemas.microsoft.com/office/drawing/2014/chart" uri="{C3380CC4-5D6E-409C-BE32-E72D297353CC}">
                <c16:uniqueId val="{00000007-ABA6-40D1-BA79-3F07CAACB48D}"/>
              </c:ext>
            </c:extLst>
          </c:dPt>
          <c:dPt>
            <c:idx val="5"/>
            <c:invertIfNegative val="0"/>
            <c:bubble3D val="0"/>
            <c:spPr>
              <a:solidFill>
                <a:srgbClr val="002060"/>
              </a:solidFill>
              <a:ln>
                <a:noFill/>
              </a:ln>
              <a:effectLst/>
            </c:spPr>
            <c:extLst>
              <c:ext xmlns:c16="http://schemas.microsoft.com/office/drawing/2014/chart" uri="{C3380CC4-5D6E-409C-BE32-E72D297353CC}">
                <c16:uniqueId val="{00000009-ABA6-40D1-BA79-3F07CAACB48D}"/>
              </c:ext>
            </c:extLst>
          </c:dPt>
          <c:dPt>
            <c:idx val="6"/>
            <c:invertIfNegative val="0"/>
            <c:bubble3D val="0"/>
            <c:spPr>
              <a:solidFill>
                <a:srgbClr val="002060"/>
              </a:solidFill>
              <a:ln>
                <a:noFill/>
              </a:ln>
              <a:effectLst/>
            </c:spPr>
            <c:extLst>
              <c:ext xmlns:c16="http://schemas.microsoft.com/office/drawing/2014/chart" uri="{C3380CC4-5D6E-409C-BE32-E72D297353CC}">
                <c16:uniqueId val="{0000000B-ABA6-40D1-BA79-3F07CAACB48D}"/>
              </c:ext>
            </c:extLst>
          </c:dPt>
          <c:dPt>
            <c:idx val="7"/>
            <c:invertIfNegative val="0"/>
            <c:bubble3D val="0"/>
            <c:spPr>
              <a:solidFill>
                <a:srgbClr val="002060"/>
              </a:solidFill>
              <a:ln>
                <a:noFill/>
              </a:ln>
              <a:effectLst/>
            </c:spPr>
            <c:extLst>
              <c:ext xmlns:c16="http://schemas.microsoft.com/office/drawing/2014/chart" uri="{C3380CC4-5D6E-409C-BE32-E72D297353CC}">
                <c16:uniqueId val="{0000000D-ABA6-40D1-BA79-3F07CAACB48D}"/>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'[横向医院底稿(1)(1).xlsm]医疗收入'!$A$3:$B$13</c:f>
              <c:multiLvlStrCache>
                <c:ptCount val="11"/>
                <c:lvl>
                  <c:pt idx="0">
                    <c:v>新华</c:v>
                  </c:pt>
                  <c:pt idx="1">
                    <c:v>瑞金</c:v>
                  </c:pt>
                  <c:pt idx="2">
                    <c:v>十院</c:v>
                  </c:pt>
                  <c:pt idx="3">
                    <c:v>仁济</c:v>
                  </c:pt>
                  <c:pt idx="4">
                    <c:v>华东</c:v>
                  </c:pt>
                  <c:pt idx="5">
                    <c:v>六院</c:v>
                  </c:pt>
                  <c:pt idx="6">
                    <c:v>一院</c:v>
                  </c:pt>
                  <c:pt idx="7">
                    <c:v>同济</c:v>
                  </c:pt>
                  <c:pt idx="8">
                    <c:v>中山</c:v>
                  </c:pt>
                  <c:pt idx="9">
                    <c:v>九院</c:v>
                  </c:pt>
                  <c:pt idx="10">
                    <c:v>华山</c:v>
                  </c:pt>
                </c:lvl>
                <c:lvl>
                  <c:pt idx="0">
                    <c:v>2026年4月</c:v>
                  </c:pt>
                </c:lvl>
              </c:multiLvlStrCache>
            </c:multiLvlStrRef>
          </c:cat>
          <c:val>
            <c:numRef>
              <c:f>'[横向医院底稿(1)(1).xlsm]医疗收入'!$C$3:$C$13</c:f>
              <c:numCache>
                <c:formatCode>#,##0.00_ </c:formatCode>
                <c:ptCount val="11"/>
                <c:pt idx="0">
                  <c:v>6.7337872567000003</c:v>
                </c:pt>
                <c:pt idx="1">
                  <c:v>12.1187251825</c:v>
                </c:pt>
                <c:pt idx="2">
                  <c:v>4.5999697212999999</c:v>
                </c:pt>
                <c:pt idx="3">
                  <c:v>10.975443585600001</c:v>
                </c:pt>
                <c:pt idx="4">
                  <c:v>2.4122184235000002</c:v>
                </c:pt>
                <c:pt idx="5">
                  <c:v>8.8907985792000002</c:v>
                </c:pt>
                <c:pt idx="6">
                  <c:v>6.8049548055000004</c:v>
                </c:pt>
                <c:pt idx="7">
                  <c:v>2.7121985253999998</c:v>
                </c:pt>
                <c:pt idx="8">
                  <c:v>12.1016177222</c:v>
                </c:pt>
                <c:pt idx="9">
                  <c:v>6.9943579642999998</c:v>
                </c:pt>
                <c:pt idx="10">
                  <c:v>8.5750563127999992</c:v>
                </c:pt>
              </c:numCache>
            </c:numRef>
          </c:val>
          <c:extLst>
            <c:ext xmlns:c16="http://schemas.microsoft.com/office/drawing/2014/chart" uri="{C3380CC4-5D6E-409C-BE32-E72D297353CC}">
              <c16:uniqueId val="{0000000E-ABA6-40D1-BA79-3F07CAACB48D}"/>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'[横向医院底稿(1)(1).xlsm]医疗收入'!$D$2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Pt>
            <c:idx val="6"/>
            <c:marker>
              <c:symbol val="circle"/>
              <c:size val="5"/>
              <c:spPr>
                <a:solidFill>
                  <a:schemeClr val="accent2"/>
                </a:solidFill>
                <a:ln w="9525">
                  <a:solidFill>
                    <a:schemeClr val="accent2"/>
                  </a:solidFill>
                </a:ln>
                <a:effectLst/>
              </c:spPr>
            </c:marker>
            <c:bubble3D val="0"/>
            <c:spPr>
              <a:ln w="28575" cap="rnd">
                <a:solidFill>
                  <a:schemeClr val="accent2"/>
                </a:solidFill>
                <a:round/>
              </a:ln>
              <a:effectLst/>
            </c:spPr>
            <c:extLst>
              <c:ext xmlns:c16="http://schemas.microsoft.com/office/drawing/2014/chart" uri="{C3380CC4-5D6E-409C-BE32-E72D297353CC}">
                <c16:uniqueId val="{00000010-ABA6-40D1-BA79-3F07CAACB48D}"/>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'[横向医院底稿(1)(1).xlsm]医疗收入'!$A$3:$B$13</c:f>
              <c:multiLvlStrCache>
                <c:ptCount val="11"/>
                <c:lvl>
                  <c:pt idx="0">
                    <c:v>新华</c:v>
                  </c:pt>
                  <c:pt idx="1">
                    <c:v>瑞金</c:v>
                  </c:pt>
                  <c:pt idx="2">
                    <c:v>十院</c:v>
                  </c:pt>
                  <c:pt idx="3">
                    <c:v>仁济</c:v>
                  </c:pt>
                  <c:pt idx="4">
                    <c:v>华东</c:v>
                  </c:pt>
                  <c:pt idx="5">
                    <c:v>六院</c:v>
                  </c:pt>
                  <c:pt idx="6">
                    <c:v>一院</c:v>
                  </c:pt>
                  <c:pt idx="7">
                    <c:v>同济</c:v>
                  </c:pt>
                  <c:pt idx="8">
                    <c:v>中山</c:v>
                  </c:pt>
                  <c:pt idx="9">
                    <c:v>九院</c:v>
                  </c:pt>
                  <c:pt idx="10">
                    <c:v>华山</c:v>
                  </c:pt>
                </c:lvl>
                <c:lvl>
                  <c:pt idx="0">
                    <c:v>2026年4月</c:v>
                  </c:pt>
                </c:lvl>
              </c:multiLvlStrCache>
            </c:multiLvlStrRef>
          </c:cat>
          <c:val>
            <c:numRef>
              <c:f>'[横向医院底稿(1)(1).xlsm]医疗收入'!$D$3:$D$13</c:f>
              <c:numCache>
                <c:formatCode>0.0%</c:formatCode>
                <c:ptCount val="11"/>
                <c:pt idx="0">
                  <c:v>0.31171602502238799</c:v>
                </c:pt>
                <c:pt idx="1">
                  <c:v>0.16852490234689599</c:v>
                </c:pt>
                <c:pt idx="2">
                  <c:v>0.13649002882452299</c:v>
                </c:pt>
                <c:pt idx="3">
                  <c:v>0.129030038195628</c:v>
                </c:pt>
                <c:pt idx="4">
                  <c:v>0.12146068293684301</c:v>
                </c:pt>
                <c:pt idx="5">
                  <c:v>9.3815486878718393E-2</c:v>
                </c:pt>
                <c:pt idx="6">
                  <c:v>9.1445729074423707E-2</c:v>
                </c:pt>
                <c:pt idx="7">
                  <c:v>8.5098868584914306E-2</c:v>
                </c:pt>
                <c:pt idx="8">
                  <c:v>3.9018061785701899E-2</c:v>
                </c:pt>
                <c:pt idx="9">
                  <c:v>-1.59891505286349E-2</c:v>
                </c:pt>
                <c:pt idx="10">
                  <c:v>-6.1879428676041202E-2</c:v>
                </c:pt>
              </c:numCache>
            </c:numRef>
          </c:val>
          <c:smooth val="0"/>
          <c:extLst>
            <c:ext xmlns:c16="http://schemas.microsoft.com/office/drawing/2014/chart" uri="{C3380CC4-5D6E-409C-BE32-E72D297353CC}">
              <c16:uniqueId val="{00000011-ABA6-40D1-BA79-3F07CAACB48D}"/>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0"/>
        <c:lblAlgn val="ctr"/>
        <c:lblOffset val="100"/>
        <c:noMultiLvlLbl val="0"/>
      </c:catAx>
      <c:valAx>
        <c:axId val="450578560"/>
        <c:scaling>
          <c:orientation val="minMax"/>
        </c:scaling>
        <c:delete val="0"/>
        <c:axPos val="r"/>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max"/>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b7583e5a-6792-4f71-9d77-561dc0885b20}"/>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382585402565197E-2"/>
          <c:y val="0.10425241273874999"/>
          <c:w val="0.92828035859820701"/>
          <c:h val="0.71519706836726804"/>
        </c:manualLayout>
      </c:layout>
      <c:barChart>
        <c:barDir val="col"/>
        <c:grouping val="clustered"/>
        <c:varyColors val="0"/>
        <c:ser>
          <c:idx val="0"/>
          <c:order val="0"/>
          <c:tx>
            <c:strRef>
              <c:f>'[横向医院底稿(1)(1)(1).xlsm]医疗收入'!$C$2</c:f>
              <c:strCache>
                <c:ptCount val="1"/>
                <c:pt idx="0">
                  <c:v>医疗收入</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1FD2-447B-B918-EDC0AFA0E658}"/>
              </c:ext>
            </c:extLst>
          </c:dPt>
          <c:dPt>
            <c:idx val="1"/>
            <c:invertIfNegative val="0"/>
            <c:bubble3D val="0"/>
            <c:spPr>
              <a:solidFill>
                <a:srgbClr val="002060"/>
              </a:solidFill>
              <a:ln>
                <a:noFill/>
              </a:ln>
              <a:effectLst/>
            </c:spPr>
            <c:extLst>
              <c:ext xmlns:c16="http://schemas.microsoft.com/office/drawing/2014/chart" uri="{C3380CC4-5D6E-409C-BE32-E72D297353CC}">
                <c16:uniqueId val="{00000003-1FD2-447B-B918-EDC0AFA0E658}"/>
              </c:ext>
            </c:extLst>
          </c:dPt>
          <c:dPt>
            <c:idx val="3"/>
            <c:invertIfNegative val="0"/>
            <c:bubble3D val="0"/>
            <c:spPr>
              <a:solidFill>
                <a:srgbClr val="002060"/>
              </a:solidFill>
              <a:ln>
                <a:noFill/>
              </a:ln>
              <a:effectLst/>
            </c:spPr>
            <c:extLst>
              <c:ext xmlns:c16="http://schemas.microsoft.com/office/drawing/2014/chart" uri="{C3380CC4-5D6E-409C-BE32-E72D297353CC}">
                <c16:uniqueId val="{00000005-1FD2-447B-B918-EDC0AFA0E658}"/>
              </c:ext>
            </c:extLst>
          </c:dPt>
          <c:dPt>
            <c:idx val="4"/>
            <c:invertIfNegative val="0"/>
            <c:bubble3D val="0"/>
            <c:spPr>
              <a:solidFill>
                <a:srgbClr val="002060"/>
              </a:solidFill>
              <a:ln>
                <a:noFill/>
              </a:ln>
              <a:effectLst/>
            </c:spPr>
            <c:extLst>
              <c:ext xmlns:c16="http://schemas.microsoft.com/office/drawing/2014/chart" uri="{C3380CC4-5D6E-409C-BE32-E72D297353CC}">
                <c16:uniqueId val="{00000007-1FD2-447B-B918-EDC0AFA0E658}"/>
              </c:ext>
            </c:extLst>
          </c:dPt>
          <c:dPt>
            <c:idx val="5"/>
            <c:invertIfNegative val="0"/>
            <c:bubble3D val="0"/>
            <c:spPr>
              <a:solidFill>
                <a:srgbClr val="002060"/>
              </a:solidFill>
              <a:ln>
                <a:noFill/>
              </a:ln>
              <a:effectLst/>
            </c:spPr>
            <c:extLst>
              <c:ext xmlns:c16="http://schemas.microsoft.com/office/drawing/2014/chart" uri="{C3380CC4-5D6E-409C-BE32-E72D297353CC}">
                <c16:uniqueId val="{00000009-1FD2-447B-B918-EDC0AFA0E658}"/>
              </c:ext>
            </c:extLst>
          </c:dPt>
          <c:dPt>
            <c:idx val="6"/>
            <c:invertIfNegative val="0"/>
            <c:bubble3D val="0"/>
            <c:spPr>
              <a:solidFill>
                <a:srgbClr val="002060"/>
              </a:solidFill>
              <a:ln>
                <a:noFill/>
              </a:ln>
              <a:effectLst/>
            </c:spPr>
            <c:extLst>
              <c:ext xmlns:c16="http://schemas.microsoft.com/office/drawing/2014/chart" uri="{C3380CC4-5D6E-409C-BE32-E72D297353CC}">
                <c16:uniqueId val="{0000000B-1FD2-447B-B918-EDC0AFA0E658}"/>
              </c:ext>
            </c:extLst>
          </c:dPt>
          <c:dPt>
            <c:idx val="7"/>
            <c:invertIfNegative val="0"/>
            <c:bubble3D val="0"/>
            <c:spPr>
              <a:solidFill>
                <a:srgbClr val="002060"/>
              </a:solidFill>
              <a:ln>
                <a:noFill/>
              </a:ln>
              <a:effectLst/>
            </c:spPr>
            <c:extLst>
              <c:ext xmlns:c16="http://schemas.microsoft.com/office/drawing/2014/chart" uri="{C3380CC4-5D6E-409C-BE32-E72D297353CC}">
                <c16:uniqueId val="{0000000D-1FD2-447B-B918-EDC0AFA0E658}"/>
              </c:ext>
            </c:extLst>
          </c:dPt>
          <c:dPt>
            <c:idx val="8"/>
            <c:invertIfNegative val="0"/>
            <c:bubble3D val="0"/>
            <c:spPr>
              <a:solidFill>
                <a:srgbClr val="C00000"/>
              </a:solidFill>
              <a:ln>
                <a:noFill/>
              </a:ln>
              <a:effectLst/>
            </c:spPr>
            <c:extLst>
              <c:ext xmlns:c16="http://schemas.microsoft.com/office/drawing/2014/chart" uri="{C3380CC4-5D6E-409C-BE32-E72D297353CC}">
                <c16:uniqueId val="{0000000F-1FD2-447B-B918-EDC0AFA0E658}"/>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'[横向医院底稿(1)(1)(1).xlsm]医疗收入'!$A$3:$B$13</c:f>
              <c:multiLvlStrCache>
                <c:ptCount val="11"/>
                <c:lvl>
                  <c:pt idx="0">
                    <c:v>瑞金</c:v>
                  </c:pt>
                  <c:pt idx="1">
                    <c:v>十院</c:v>
                  </c:pt>
                  <c:pt idx="2">
                    <c:v>仁济</c:v>
                  </c:pt>
                  <c:pt idx="3">
                    <c:v>华东</c:v>
                  </c:pt>
                  <c:pt idx="4">
                    <c:v>六院</c:v>
                  </c:pt>
                  <c:pt idx="5">
                    <c:v>一院</c:v>
                  </c:pt>
                  <c:pt idx="6">
                    <c:v>同济</c:v>
                  </c:pt>
                  <c:pt idx="7">
                    <c:v>中山</c:v>
                  </c:pt>
                  <c:pt idx="8">
                    <c:v>新华</c:v>
                  </c:pt>
                  <c:pt idx="9">
                    <c:v>九院</c:v>
                  </c:pt>
                  <c:pt idx="10">
                    <c:v>华山</c:v>
                  </c:pt>
                </c:lvl>
                <c:lvl/>
              </c:multiLvlStrCache>
            </c:multiLvlStrRef>
          </c:cat>
          <c:val>
            <c:numRef>
              <c:f>'[横向医院底稿(1)(1)(1).xlsm]医疗收入'!$C$3:$C$13</c:f>
              <c:numCache>
                <c:formatCode>#,##0.00_ </c:formatCode>
                <c:ptCount val="11"/>
                <c:pt idx="0">
                  <c:v>12.1187251825</c:v>
                </c:pt>
                <c:pt idx="1">
                  <c:v>4.5999697212999999</c:v>
                </c:pt>
                <c:pt idx="2">
                  <c:v>10.975443585600001</c:v>
                </c:pt>
                <c:pt idx="3">
                  <c:v>2.4122184235000002</c:v>
                </c:pt>
                <c:pt idx="4">
                  <c:v>8.8907985792000002</c:v>
                </c:pt>
                <c:pt idx="5">
                  <c:v>6.8049548055000004</c:v>
                </c:pt>
                <c:pt idx="6">
                  <c:v>2.7121985253999998</c:v>
                </c:pt>
                <c:pt idx="7">
                  <c:v>12.1016177222</c:v>
                </c:pt>
                <c:pt idx="8">
                  <c:v>5.2742479146000001</c:v>
                </c:pt>
                <c:pt idx="9">
                  <c:v>6.9943579642999998</c:v>
                </c:pt>
                <c:pt idx="10">
                  <c:v>8.5750563127999992</c:v>
                </c:pt>
              </c:numCache>
            </c:numRef>
          </c:val>
          <c:extLst>
            <c:ext xmlns:c16="http://schemas.microsoft.com/office/drawing/2014/chart" uri="{C3380CC4-5D6E-409C-BE32-E72D297353CC}">
              <c16:uniqueId val="{00000010-1FD2-447B-B918-EDC0AFA0E658}"/>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'[横向医院底稿(1)(1)(1).xlsm]医疗收入'!$D$2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Pt>
            <c:idx val="6"/>
            <c:marker>
              <c:symbol val="circle"/>
              <c:size val="5"/>
              <c:spPr>
                <a:solidFill>
                  <a:schemeClr val="accent2"/>
                </a:solidFill>
                <a:ln w="9525">
                  <a:solidFill>
                    <a:schemeClr val="accent2"/>
                  </a:solidFill>
                </a:ln>
                <a:effectLst/>
              </c:spPr>
            </c:marker>
            <c:bubble3D val="0"/>
            <c:spPr>
              <a:ln w="28575" cap="rnd">
                <a:solidFill>
                  <a:schemeClr val="accent2"/>
                </a:solidFill>
                <a:round/>
              </a:ln>
              <a:effectLst/>
            </c:spPr>
            <c:extLst>
              <c:ext xmlns:c16="http://schemas.microsoft.com/office/drawing/2014/chart" uri="{C3380CC4-5D6E-409C-BE32-E72D297353CC}">
                <c16:uniqueId val="{00000012-1FD2-447B-B918-EDC0AFA0E658}"/>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'[横向医院底稿(1)(1)(1).xlsm]医疗收入'!$A$3:$B$13</c:f>
              <c:multiLvlStrCache>
                <c:ptCount val="11"/>
                <c:lvl>
                  <c:pt idx="0">
                    <c:v>瑞金</c:v>
                  </c:pt>
                  <c:pt idx="1">
                    <c:v>十院</c:v>
                  </c:pt>
                  <c:pt idx="2">
                    <c:v>仁济</c:v>
                  </c:pt>
                  <c:pt idx="3">
                    <c:v>华东</c:v>
                  </c:pt>
                  <c:pt idx="4">
                    <c:v>六院</c:v>
                  </c:pt>
                  <c:pt idx="5">
                    <c:v>一院</c:v>
                  </c:pt>
                  <c:pt idx="6">
                    <c:v>同济</c:v>
                  </c:pt>
                  <c:pt idx="7">
                    <c:v>中山</c:v>
                  </c:pt>
                  <c:pt idx="8">
                    <c:v>新华</c:v>
                  </c:pt>
                  <c:pt idx="9">
                    <c:v>九院</c:v>
                  </c:pt>
                  <c:pt idx="10">
                    <c:v>华山</c:v>
                  </c:pt>
                </c:lvl>
                <c:lvl/>
              </c:multiLvlStrCache>
            </c:multiLvlStrRef>
          </c:cat>
          <c:val>
            <c:numRef>
              <c:f>'[横向医院底稿(1)(1)(1).xlsm]医疗收入'!$D$3:$D$13</c:f>
              <c:numCache>
                <c:formatCode>0.0%</c:formatCode>
                <c:ptCount val="11"/>
                <c:pt idx="0">
                  <c:v>0.16852490234689599</c:v>
                </c:pt>
                <c:pt idx="1">
                  <c:v>0.13649002882452299</c:v>
                </c:pt>
                <c:pt idx="2">
                  <c:v>0.129030038195628</c:v>
                </c:pt>
                <c:pt idx="3">
                  <c:v>0.12146068293684301</c:v>
                </c:pt>
                <c:pt idx="4">
                  <c:v>9.3815486878718393E-2</c:v>
                </c:pt>
                <c:pt idx="5">
                  <c:v>9.1445729074423707E-2</c:v>
                </c:pt>
                <c:pt idx="6">
                  <c:v>8.5098868584914306E-2</c:v>
                </c:pt>
                <c:pt idx="7">
                  <c:v>3.9018061785701899E-2</c:v>
                </c:pt>
                <c:pt idx="8">
                  <c:v>2.7403338684055999E-2</c:v>
                </c:pt>
                <c:pt idx="9">
                  <c:v>-1.59891505286349E-2</c:v>
                </c:pt>
                <c:pt idx="10">
                  <c:v>-6.1879428676041202E-2</c:v>
                </c:pt>
              </c:numCache>
            </c:numRef>
          </c:val>
          <c:smooth val="0"/>
          <c:extLst>
            <c:ext xmlns:c16="http://schemas.microsoft.com/office/drawing/2014/chart" uri="{C3380CC4-5D6E-409C-BE32-E72D297353CC}">
              <c16:uniqueId val="{00000013-1FD2-447B-B918-EDC0AFA0E658}"/>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0"/>
        <c:lblAlgn val="ctr"/>
        <c:lblOffset val="100"/>
        <c:noMultiLvlLbl val="0"/>
      </c:catAx>
      <c:valAx>
        <c:axId val="450578560"/>
        <c:scaling>
          <c:orientation val="minMax"/>
        </c:scaling>
        <c:delete val="0"/>
        <c:axPos val="r"/>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max"/>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b7583e5a-6792-4f71-9d77-561dc0885b20}"/>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'[横向医院底稿(1)(1).xlsm]儿科横向本期'!$C$2</c:f>
              <c:strCache>
                <c:ptCount val="1"/>
                <c:pt idx="0">
                  <c:v>医疗收入</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9713-4B40-A404-A4E018FDDFDE}"/>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9713-4B40-A404-A4E018FDDFDE}"/>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9713-4B40-A404-A4E018FDDFDE}"/>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'[横向医院底稿(1)(1).xlsm]儿科横向本期'!$A$3:$B$6</c:f>
              <c:multiLvlStrCache>
                <c:ptCount val="4"/>
                <c:lvl>
                  <c:pt idx="0">
                    <c:v>新华儿科</c:v>
                  </c:pt>
                  <c:pt idx="1">
                    <c:v>儿中心</c:v>
                  </c:pt>
                  <c:pt idx="2">
                    <c:v>儿童</c:v>
                  </c:pt>
                  <c:pt idx="3">
                    <c:v>儿科</c:v>
                  </c:pt>
                </c:lvl>
                <c:lvl>
                  <c:pt idx="0">
                    <c:v>2026年4月</c:v>
                  </c:pt>
                </c:lvl>
              </c:multiLvlStrCache>
            </c:multiLvlStrRef>
          </c:cat>
          <c:val>
            <c:numRef>
              <c:f>'[横向医院底稿(1)(1).xlsm]儿科横向本期'!$C$3:$C$6</c:f>
              <c:numCache>
                <c:formatCode>#,##0.00_ </c:formatCode>
                <c:ptCount val="4"/>
                <c:pt idx="0">
                  <c:v>1.0991982254999999</c:v>
                </c:pt>
                <c:pt idx="1">
                  <c:v>2.0490944990000002</c:v>
                </c:pt>
                <c:pt idx="2">
                  <c:v>1.4722596603</c:v>
                </c:pt>
                <c:pt idx="3">
                  <c:v>1.8014855819</c:v>
                </c:pt>
              </c:numCache>
            </c:numRef>
          </c:val>
          <c:extLst>
            <c:ext xmlns:c16="http://schemas.microsoft.com/office/drawing/2014/chart" uri="{C3380CC4-5D6E-409C-BE32-E72D297353CC}">
              <c16:uniqueId val="{00000006-9713-4B40-A404-A4E018FDDFDE}"/>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'[横向医院底稿(1)(1).xlsm]儿科横向本期'!$D$2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9.0459387927936896E-2"/>
                  <c:y val="-7.48346632993294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13-4B40-A404-A4E018FDDFDE}"/>
                </c:ext>
              </c:extLst>
            </c:dLbl>
            <c:dLbl>
              <c:idx val="1"/>
              <c:layout>
                <c:manualLayout>
                  <c:x val="-7.5847679956119796E-2"/>
                  <c:y val="-0.14237927576126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713-4B40-A404-A4E018FDDFDE}"/>
                </c:ext>
              </c:extLst>
            </c:dLbl>
            <c:dLbl>
              <c:idx val="3"/>
              <c:layout>
                <c:manualLayout>
                  <c:x val="-6.8379087942361499E-2"/>
                  <c:y val="-0.12684420544992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713-4B40-A404-A4E018FDDFDE}"/>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'[横向医院底稿(1)(1).xlsm]儿科横向本期'!$A$3:$B$6</c:f>
              <c:multiLvlStrCache>
                <c:ptCount val="4"/>
                <c:lvl>
                  <c:pt idx="0">
                    <c:v>新华儿科</c:v>
                  </c:pt>
                  <c:pt idx="1">
                    <c:v>儿中心</c:v>
                  </c:pt>
                  <c:pt idx="2">
                    <c:v>儿童</c:v>
                  </c:pt>
                  <c:pt idx="3">
                    <c:v>儿科</c:v>
                  </c:pt>
                </c:lvl>
                <c:lvl>
                  <c:pt idx="0">
                    <c:v>2026年4月</c:v>
                  </c:pt>
                </c:lvl>
              </c:multiLvlStrCache>
            </c:multiLvlStrRef>
          </c:cat>
          <c:val>
            <c:numRef>
              <c:f>'[横向医院底稿(1)(1).xlsm]儿科横向本期'!$D$3:$D$6</c:f>
              <c:numCache>
                <c:formatCode>0.0%</c:formatCode>
                <c:ptCount val="4"/>
                <c:pt idx="0">
                  <c:v>0.21634248902445399</c:v>
                </c:pt>
                <c:pt idx="1">
                  <c:v>0.122488382342375</c:v>
                </c:pt>
                <c:pt idx="2">
                  <c:v>0.10562544818769901</c:v>
                </c:pt>
                <c:pt idx="3">
                  <c:v>4.9008500860023403E-2</c:v>
                </c:pt>
              </c:numCache>
            </c:numRef>
          </c:val>
          <c:smooth val="0"/>
          <c:extLst>
            <c:ext xmlns:c16="http://schemas.microsoft.com/office/drawing/2014/chart" uri="{C3380CC4-5D6E-409C-BE32-E72D297353CC}">
              <c16:uniqueId val="{0000000A-9713-4B40-A404-A4E018FDDFDE}"/>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min val="-0.3"/>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02c02c4-baee-4ec7-ad27-d489ee26c4cf}"/>
      </c:ext>
    </c:extLst>
  </c:chart>
  <c:spPr>
    <a:solidFill>
      <a:schemeClr val="bg1"/>
    </a:solidFill>
    <a:ln w="9525" cap="flat" cmpd="sng" algn="ctr">
      <a:noFill/>
      <a:round/>
    </a:ln>
    <a:effectLst/>
  </c:spPr>
  <c:txPr>
    <a:bodyPr/>
    <a:lstStyle/>
    <a:p>
      <a:pPr>
        <a:defRPr lang="zh-CN" sz="1000">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'[横向医院底稿(1)(1).xlsm]儿科横向本期'!$C$25</c:f>
              <c:strCache>
                <c:ptCount val="1"/>
                <c:pt idx="0">
                  <c:v>门急诊收入</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A13E-4D98-98D0-92DEC6F36B55}"/>
              </c:ext>
            </c:extLst>
          </c:dPt>
          <c:dPt>
            <c:idx val="1"/>
            <c:invertIfNegative val="0"/>
            <c:bubble3D val="0"/>
            <c:extLst>
              <c:ext xmlns:c16="http://schemas.microsoft.com/office/drawing/2014/chart" uri="{C3380CC4-5D6E-409C-BE32-E72D297353CC}">
                <c16:uniqueId val="{00000002-A13E-4D98-98D0-92DEC6F36B55}"/>
              </c:ext>
            </c:extLst>
          </c:dPt>
          <c:dPt>
            <c:idx val="3"/>
            <c:invertIfNegative val="0"/>
            <c:bubble3D val="0"/>
            <c:extLst>
              <c:ext xmlns:c16="http://schemas.microsoft.com/office/drawing/2014/chart" uri="{C3380CC4-5D6E-409C-BE32-E72D297353CC}">
                <c16:uniqueId val="{00000003-A13E-4D98-98D0-92DEC6F36B55}"/>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'[横向医院底稿(1)(1).xlsm]儿科横向本期'!$A$26:$B$29</c:f>
              <c:multiLvlStrCache>
                <c:ptCount val="4"/>
                <c:lvl>
                  <c:pt idx="0">
                    <c:v>新华儿科</c:v>
                  </c:pt>
                  <c:pt idx="1">
                    <c:v>儿中心</c:v>
                  </c:pt>
                  <c:pt idx="2">
                    <c:v>儿童</c:v>
                  </c:pt>
                  <c:pt idx="3">
                    <c:v>儿科</c:v>
                  </c:pt>
                </c:lvl>
                <c:lvl>
                  <c:pt idx="0">
                    <c:v>2026年4月</c:v>
                  </c:pt>
                </c:lvl>
              </c:multiLvlStrCache>
            </c:multiLvlStrRef>
          </c:cat>
          <c:val>
            <c:numRef>
              <c:f>'[横向医院底稿(1)(1).xlsm]儿科横向本期'!$C$26:$C$29</c:f>
              <c:numCache>
                <c:formatCode>#,##0.00_ </c:formatCode>
                <c:ptCount val="4"/>
                <c:pt idx="0">
                  <c:v>0.45729665819999998</c:v>
                </c:pt>
                <c:pt idx="1">
                  <c:v>0.74773672040000005</c:v>
                </c:pt>
                <c:pt idx="2">
                  <c:v>0.77701885169999996</c:v>
                </c:pt>
                <c:pt idx="3">
                  <c:v>0.84300378470000004</c:v>
                </c:pt>
              </c:numCache>
            </c:numRef>
          </c:val>
          <c:extLst>
            <c:ext xmlns:c16="http://schemas.microsoft.com/office/drawing/2014/chart" uri="{C3380CC4-5D6E-409C-BE32-E72D297353CC}">
              <c16:uniqueId val="{00000004-A13E-4D98-98D0-92DEC6F36B55}"/>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'[横向医院底稿(1)(1).xlsm]儿科横向本期'!$D$25</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9.2517270531401005E-2"/>
                  <c:y val="-0.118514743589744"/>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0.10693768115942"/>
                      <c:h val="0.109388461538462"/>
                    </c:manualLayout>
                  </c15:layout>
                </c:ext>
                <c:ext xmlns:c16="http://schemas.microsoft.com/office/drawing/2014/chart" uri="{C3380CC4-5D6E-409C-BE32-E72D297353CC}">
                  <c16:uniqueId val="{00000005-A13E-4D98-98D0-92DEC6F36B55}"/>
                </c:ext>
              </c:extLst>
            </c:dLbl>
            <c:dLbl>
              <c:idx val="1"/>
              <c:layout>
                <c:manualLayout>
                  <c:x val="-0.115213647342995"/>
                  <c:y val="-0.38420170940170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0.17275072463768101"/>
                      <c:h val="0.17684615384615399"/>
                    </c:manualLayout>
                  </c15:layout>
                </c:ext>
                <c:ext xmlns:c16="http://schemas.microsoft.com/office/drawing/2014/chart" uri="{C3380CC4-5D6E-409C-BE32-E72D297353CC}">
                  <c16:uniqueId val="{00000006-A13E-4D98-98D0-92DEC6F36B55}"/>
                </c:ext>
              </c:extLst>
            </c:dLbl>
            <c:dLbl>
              <c:idx val="3"/>
              <c:layout>
                <c:manualLayout>
                  <c:x val="-6.87939099504256E-2"/>
                  <c:y val="-0.19130002940503801"/>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A13E-4D98-98D0-92DEC6F36B55}"/>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'[横向医院底稿(1)(1).xlsm]儿科横向本期'!$A$26:$B$29</c:f>
              <c:multiLvlStrCache>
                <c:ptCount val="4"/>
                <c:lvl>
                  <c:pt idx="0">
                    <c:v>新华儿科</c:v>
                  </c:pt>
                  <c:pt idx="1">
                    <c:v>儿中心</c:v>
                  </c:pt>
                  <c:pt idx="2">
                    <c:v>儿童</c:v>
                  </c:pt>
                  <c:pt idx="3">
                    <c:v>儿科</c:v>
                  </c:pt>
                </c:lvl>
                <c:lvl>
                  <c:pt idx="0">
                    <c:v>2026年4月</c:v>
                  </c:pt>
                </c:lvl>
              </c:multiLvlStrCache>
            </c:multiLvlStrRef>
          </c:cat>
          <c:val>
            <c:numRef>
              <c:f>'[横向医院底稿(1)(1).xlsm]儿科横向本期'!$D$26:$D$29</c:f>
              <c:numCache>
                <c:formatCode>0.0%</c:formatCode>
                <c:ptCount val="4"/>
                <c:pt idx="0">
                  <c:v>0.114826499519982</c:v>
                </c:pt>
                <c:pt idx="1">
                  <c:v>9.11849835630483E-2</c:v>
                </c:pt>
                <c:pt idx="2">
                  <c:v>3.7808230312976102E-2</c:v>
                </c:pt>
                <c:pt idx="3">
                  <c:v>8.7898636160137506E-3</c:v>
                </c:pt>
              </c:numCache>
            </c:numRef>
          </c:val>
          <c:smooth val="0"/>
          <c:extLst>
            <c:ext xmlns:c16="http://schemas.microsoft.com/office/drawing/2014/chart" uri="{C3380CC4-5D6E-409C-BE32-E72D297353CC}">
              <c16:uniqueId val="{00000008-A13E-4D98-98D0-92DEC6F36B55}"/>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scaling>
        <c:delete val="0"/>
        <c:axPos val="r"/>
        <c:numFmt formatCode="0.0%" sourceLinked="1"/>
        <c:majorTickMark val="out"/>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5f143d1c-9ffb-4f06-9a15-afeb4cec736f}"/>
      </c:ext>
    </c:extLst>
  </c:chart>
  <c:spPr>
    <a:solidFill>
      <a:schemeClr val="bg1"/>
    </a:solidFill>
    <a:ln w="9525" cap="flat" cmpd="sng" algn="ctr">
      <a:noFill/>
      <a:prstDash val="solid"/>
      <a:round/>
    </a:ln>
    <a:effectLst/>
  </c:spPr>
  <c:txPr>
    <a:bodyPr/>
    <a:lstStyle/>
    <a:p>
      <a:pPr>
        <a:defRPr lang="zh-CN" sz="10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'[横向医院底稿(1)(1).xlsm]儿科横向本期'!$C$48</c:f>
              <c:strCache>
                <c:ptCount val="1"/>
                <c:pt idx="0">
                  <c:v>住院收入</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F6FC-4F96-BF54-84F11B26A6FD}"/>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F6FC-4F96-BF54-84F11B26A6FD}"/>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F6FC-4F96-BF54-84F11B26A6FD}"/>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'[横向医院底稿(1)(1).xlsm]儿科横向本期'!$A$49:$B$52</c:f>
              <c:multiLvlStrCache>
                <c:ptCount val="4"/>
                <c:lvl>
                  <c:pt idx="0">
                    <c:v>新华儿科</c:v>
                  </c:pt>
                  <c:pt idx="1">
                    <c:v>儿童</c:v>
                  </c:pt>
                  <c:pt idx="2">
                    <c:v>儿中心</c:v>
                  </c:pt>
                  <c:pt idx="3">
                    <c:v>儿科</c:v>
                  </c:pt>
                </c:lvl>
                <c:lvl>
                  <c:pt idx="0">
                    <c:v>2026年4月</c:v>
                  </c:pt>
                </c:lvl>
              </c:multiLvlStrCache>
            </c:multiLvlStrRef>
          </c:cat>
          <c:val>
            <c:numRef>
              <c:f>'[横向医院底稿(1)(1).xlsm]儿科横向本期'!$C$49:$C$52</c:f>
              <c:numCache>
                <c:formatCode>#,##0.00_ </c:formatCode>
                <c:ptCount val="4"/>
                <c:pt idx="0">
                  <c:v>0.64190156730000003</c:v>
                </c:pt>
                <c:pt idx="1">
                  <c:v>0.69524080860000004</c:v>
                </c:pt>
                <c:pt idx="2">
                  <c:v>1.3013577785999999</c:v>
                </c:pt>
                <c:pt idx="3">
                  <c:v>0.95848179720000004</c:v>
                </c:pt>
              </c:numCache>
            </c:numRef>
          </c:val>
          <c:extLst>
            <c:ext xmlns:c16="http://schemas.microsoft.com/office/drawing/2014/chart" uri="{C3380CC4-5D6E-409C-BE32-E72D297353CC}">
              <c16:uniqueId val="{00000006-F6FC-4F96-BF54-84F11B26A6FD}"/>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'[横向医院底稿(1)(1).xlsm]儿科横向本期'!$D$48</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9.2372739279504207E-2"/>
                  <c:y val="8.7198929873348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6FC-4F96-BF54-84F11B26A6FD}"/>
                </c:ext>
              </c:extLst>
            </c:dLbl>
            <c:dLbl>
              <c:idx val="1"/>
              <c:layout>
                <c:manualLayout>
                  <c:x val="-7.0141586150694796E-2"/>
                  <c:y val="-0.10949533966376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6FC-4F96-BF54-84F11B26A6FD}"/>
                </c:ext>
              </c:extLst>
            </c:dLbl>
            <c:dLbl>
              <c:idx val="3"/>
              <c:layout>
                <c:manualLayout>
                  <c:x val="-6.7964159146347194E-2"/>
                  <c:y val="-0.10256672698407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6FC-4F96-BF54-84F11B26A6FD}"/>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'[横向医院底稿(1)(1).xlsm]儿科横向本期'!$A$49:$B$52</c:f>
              <c:multiLvlStrCache>
                <c:ptCount val="4"/>
                <c:lvl>
                  <c:pt idx="0">
                    <c:v>新华儿科</c:v>
                  </c:pt>
                  <c:pt idx="1">
                    <c:v>儿童</c:v>
                  </c:pt>
                  <c:pt idx="2">
                    <c:v>儿中心</c:v>
                  </c:pt>
                  <c:pt idx="3">
                    <c:v>儿科</c:v>
                  </c:pt>
                </c:lvl>
                <c:lvl>
                  <c:pt idx="0">
                    <c:v>2026年4月</c:v>
                  </c:pt>
                </c:lvl>
              </c:multiLvlStrCache>
            </c:multiLvlStrRef>
          </c:cat>
          <c:val>
            <c:numRef>
              <c:f>'[横向医院底稿(1)(1).xlsm]儿科横向本期'!$D$49:$D$52</c:f>
              <c:numCache>
                <c:formatCode>0.0%</c:formatCode>
                <c:ptCount val="4"/>
                <c:pt idx="0">
                  <c:v>0.30072288138974501</c:v>
                </c:pt>
                <c:pt idx="1">
                  <c:v>0.19273442501187399</c:v>
                </c:pt>
                <c:pt idx="2">
                  <c:v>0.141300827271128</c:v>
                </c:pt>
                <c:pt idx="3">
                  <c:v>8.7128526861123295E-2</c:v>
                </c:pt>
              </c:numCache>
            </c:numRef>
          </c:val>
          <c:smooth val="0"/>
          <c:extLst>
            <c:ext xmlns:c16="http://schemas.microsoft.com/office/drawing/2014/chart" uri="{C3380CC4-5D6E-409C-BE32-E72D297353CC}">
              <c16:uniqueId val="{0000000A-F6FC-4F96-BF54-84F11B26A6FD}"/>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30e5b99-998d-4cb9-8e21-5eb52d9e5184}"/>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'[横向医院底稿(1)(1)(1).xlsm]儿科横向本期'!$C$2</c:f>
              <c:strCache>
                <c:ptCount val="1"/>
                <c:pt idx="0">
                  <c:v>医疗收入</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7BD9-4F51-8550-643759A22449}"/>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7BD9-4F51-8550-643759A22449}"/>
              </c:ext>
            </c:extLst>
          </c:dPt>
          <c:dPt>
            <c:idx val="2"/>
            <c:invertIfNegative val="0"/>
            <c:bubble3D val="0"/>
            <c:spPr>
              <a:solidFill>
                <a:srgbClr val="C00000"/>
              </a:solidFill>
              <a:ln>
                <a:solidFill>
                  <a:srgbClr val="C00000"/>
                </a:solidFill>
              </a:ln>
              <a:effectLst/>
            </c:spPr>
            <c:extLst>
              <c:ext xmlns:c16="http://schemas.microsoft.com/office/drawing/2014/chart" uri="{C3380CC4-5D6E-409C-BE32-E72D297353CC}">
                <c16:uniqueId val="{00000005-7BD9-4F51-8550-643759A22449}"/>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7-7BD9-4F51-8550-643759A22449}"/>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'[横向医院底稿(1)(1)(1).xlsm]儿科横向本期'!$A$3:$B$6</c:f>
              <c:multiLvlStrCache>
                <c:ptCount val="4"/>
                <c:lvl>
                  <c:pt idx="0">
                    <c:v>儿中心</c:v>
                  </c:pt>
                  <c:pt idx="1">
                    <c:v>儿童</c:v>
                  </c:pt>
                  <c:pt idx="2">
                    <c:v>新华儿科</c:v>
                  </c:pt>
                  <c:pt idx="3">
                    <c:v>儿科</c:v>
                  </c:pt>
                </c:lvl>
                <c:lvl/>
              </c:multiLvlStrCache>
            </c:multiLvlStrRef>
          </c:cat>
          <c:val>
            <c:numRef>
              <c:f>'[横向医院底稿(1)(1)(1).xlsm]儿科横向本期'!$C$3:$C$6</c:f>
              <c:numCache>
                <c:formatCode>#,##0.00_ </c:formatCode>
                <c:ptCount val="4"/>
                <c:pt idx="0">
                  <c:v>2.0490944990000002</c:v>
                </c:pt>
                <c:pt idx="1">
                  <c:v>1.4722596603</c:v>
                </c:pt>
                <c:pt idx="2">
                  <c:v>0.97010380799999996</c:v>
                </c:pt>
                <c:pt idx="3">
                  <c:v>1.8014855819</c:v>
                </c:pt>
              </c:numCache>
            </c:numRef>
          </c:val>
          <c:extLst>
            <c:ext xmlns:c16="http://schemas.microsoft.com/office/drawing/2014/chart" uri="{C3380CC4-5D6E-409C-BE32-E72D297353CC}">
              <c16:uniqueId val="{00000008-7BD9-4F51-8550-643759A22449}"/>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'[横向医院底稿(1)(1)(1).xlsm]儿科横向本期'!$D$2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9.0459387927936896E-2"/>
                  <c:y val="-7.48346632993294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BD9-4F51-8550-643759A22449}"/>
                </c:ext>
              </c:extLst>
            </c:dLbl>
            <c:dLbl>
              <c:idx val="1"/>
              <c:layout>
                <c:manualLayout>
                  <c:x val="-7.5847679956119796E-2"/>
                  <c:y val="-0.14237927576126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BD9-4F51-8550-643759A22449}"/>
                </c:ext>
              </c:extLst>
            </c:dLbl>
            <c:dLbl>
              <c:idx val="3"/>
              <c:layout>
                <c:manualLayout>
                  <c:x val="-6.8379087942361499E-2"/>
                  <c:y val="-0.126844205449929"/>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BD9-4F51-8550-643759A22449}"/>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'[横向医院底稿(1)(1)(1).xlsm]儿科横向本期'!$A$3:$B$6</c:f>
              <c:multiLvlStrCache>
                <c:ptCount val="4"/>
                <c:lvl>
                  <c:pt idx="0">
                    <c:v>儿中心</c:v>
                  </c:pt>
                  <c:pt idx="1">
                    <c:v>儿童</c:v>
                  </c:pt>
                  <c:pt idx="2">
                    <c:v>新华儿科</c:v>
                  </c:pt>
                  <c:pt idx="3">
                    <c:v>儿科</c:v>
                  </c:pt>
                </c:lvl>
                <c:lvl/>
              </c:multiLvlStrCache>
            </c:multiLvlStrRef>
          </c:cat>
          <c:val>
            <c:numRef>
              <c:f>'[横向医院底稿(1)(1)(1).xlsm]儿科横向本期'!$D$3:$D$6</c:f>
              <c:numCache>
                <c:formatCode>0.0%</c:formatCode>
                <c:ptCount val="4"/>
                <c:pt idx="0">
                  <c:v>0.122488382342375</c:v>
                </c:pt>
                <c:pt idx="1">
                  <c:v>0.10562544818769901</c:v>
                </c:pt>
                <c:pt idx="2">
                  <c:v>7.34901613383485E-2</c:v>
                </c:pt>
                <c:pt idx="3">
                  <c:v>4.9008500860023403E-2</c:v>
                </c:pt>
              </c:numCache>
            </c:numRef>
          </c:val>
          <c:smooth val="0"/>
          <c:extLst>
            <c:ext xmlns:c16="http://schemas.microsoft.com/office/drawing/2014/chart" uri="{C3380CC4-5D6E-409C-BE32-E72D297353CC}">
              <c16:uniqueId val="{0000000C-7BD9-4F51-8550-643759A22449}"/>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min val="-0.3"/>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02c02c4-baee-4ec7-ad27-d489ee26c4cf}"/>
      </c:ext>
    </c:extLst>
  </c:chart>
  <c:spPr>
    <a:solidFill>
      <a:schemeClr val="bg1"/>
    </a:solidFill>
    <a:ln w="9525" cap="flat" cmpd="sng" algn="ctr">
      <a:noFill/>
      <a:round/>
    </a:ln>
    <a:effectLst/>
  </c:spPr>
  <c:txPr>
    <a:bodyPr/>
    <a:lstStyle/>
    <a:p>
      <a:pPr>
        <a:defRPr lang="zh-CN" sz="1000">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'[横向医院底稿(1)(1)(1).xlsm]儿科横向本期'!$C$25</c:f>
              <c:strCache>
                <c:ptCount val="1"/>
                <c:pt idx="0">
                  <c:v>门急诊收入</c:v>
                </c:pt>
              </c:strCache>
            </c:strRef>
          </c:tx>
          <c:spPr>
            <a:solidFill>
              <a:srgbClr val="002060"/>
            </a:solidFill>
            <a:ln>
              <a:solidFill>
                <a:srgbClr val="002060"/>
              </a:solidFill>
            </a:ln>
            <a:effectLst/>
          </c:spPr>
          <c:invertIfNegative val="0"/>
          <c:dPt>
            <c:idx val="1"/>
            <c:invertIfNegative val="0"/>
            <c:bubble3D val="0"/>
            <c:extLst>
              <c:ext xmlns:c16="http://schemas.microsoft.com/office/drawing/2014/chart" uri="{C3380CC4-5D6E-409C-BE32-E72D297353CC}">
                <c16:uniqueId val="{00000000-3B66-4D06-B3FA-CB90F0F1DC52}"/>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2-3B66-4D06-B3FA-CB90F0F1DC52}"/>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'[横向医院底稿(1)(1)(1).xlsm]儿科横向本期'!$A$26:$B$29</c:f>
              <c:multiLvlStrCache>
                <c:ptCount val="4"/>
                <c:lvl>
                  <c:pt idx="0">
                    <c:v>儿中心</c:v>
                  </c:pt>
                  <c:pt idx="1">
                    <c:v>儿童</c:v>
                  </c:pt>
                  <c:pt idx="2">
                    <c:v>儿科</c:v>
                  </c:pt>
                  <c:pt idx="3">
                    <c:v>新华儿科</c:v>
                  </c:pt>
                </c:lvl>
                <c:lvl/>
              </c:multiLvlStrCache>
            </c:multiLvlStrRef>
          </c:cat>
          <c:val>
            <c:numRef>
              <c:f>'[横向医院底稿(1)(1)(1).xlsm]儿科横向本期'!$C$26:$C$29</c:f>
              <c:numCache>
                <c:formatCode>#,##0.00_ </c:formatCode>
                <c:ptCount val="4"/>
                <c:pt idx="0">
                  <c:v>0.74773672040000005</c:v>
                </c:pt>
                <c:pt idx="1">
                  <c:v>0.77701885169999996</c:v>
                </c:pt>
                <c:pt idx="2">
                  <c:v>0.84300378470000004</c:v>
                </c:pt>
                <c:pt idx="3">
                  <c:v>0.40814631270000001</c:v>
                </c:pt>
              </c:numCache>
            </c:numRef>
          </c:val>
          <c:extLst>
            <c:ext xmlns:c16="http://schemas.microsoft.com/office/drawing/2014/chart" uri="{C3380CC4-5D6E-409C-BE32-E72D297353CC}">
              <c16:uniqueId val="{00000003-3B66-4D06-B3FA-CB90F0F1DC52}"/>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'[横向医院底稿(1)(1)(1).xlsm]儿科横向本期'!$D$25</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9.2517270531401005E-2"/>
                  <c:y val="-0.118514743589744"/>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0.10693768115942"/>
                      <c:h val="0.109388461538462"/>
                    </c:manualLayout>
                  </c15:layout>
                </c:ext>
                <c:ext xmlns:c16="http://schemas.microsoft.com/office/drawing/2014/chart" uri="{C3380CC4-5D6E-409C-BE32-E72D297353CC}">
                  <c16:uniqueId val="{00000004-3B66-4D06-B3FA-CB90F0F1DC52}"/>
                </c:ext>
              </c:extLst>
            </c:dLbl>
            <c:dLbl>
              <c:idx val="1"/>
              <c:layout>
                <c:manualLayout>
                  <c:x val="-0.115213647342995"/>
                  <c:y val="-0.38420170940170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0.17275072463768101"/>
                      <c:h val="0.17684615384615399"/>
                    </c:manualLayout>
                  </c15:layout>
                </c:ext>
                <c:ext xmlns:c16="http://schemas.microsoft.com/office/drawing/2014/chart" uri="{C3380CC4-5D6E-409C-BE32-E72D297353CC}">
                  <c16:uniqueId val="{00000005-3B66-4D06-B3FA-CB90F0F1DC52}"/>
                </c:ext>
              </c:extLst>
            </c:dLbl>
            <c:dLbl>
              <c:idx val="3"/>
              <c:layout>
                <c:manualLayout>
                  <c:x val="-6.87939099504256E-2"/>
                  <c:y val="-0.19130002940503801"/>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B66-4D06-B3FA-CB90F0F1DC52}"/>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'[横向医院底稿(1)(1)(1).xlsm]儿科横向本期'!$A$26:$B$29</c:f>
              <c:multiLvlStrCache>
                <c:ptCount val="4"/>
                <c:lvl>
                  <c:pt idx="0">
                    <c:v>儿中心</c:v>
                  </c:pt>
                  <c:pt idx="1">
                    <c:v>儿童</c:v>
                  </c:pt>
                  <c:pt idx="2">
                    <c:v>儿科</c:v>
                  </c:pt>
                  <c:pt idx="3">
                    <c:v>新华儿科</c:v>
                  </c:pt>
                </c:lvl>
                <c:lvl/>
              </c:multiLvlStrCache>
            </c:multiLvlStrRef>
          </c:cat>
          <c:val>
            <c:numRef>
              <c:f>'[横向医院底稿(1)(1)(1).xlsm]儿科横向本期'!$D$26:$D$29</c:f>
              <c:numCache>
                <c:formatCode>0.0%</c:formatCode>
                <c:ptCount val="4"/>
                <c:pt idx="0">
                  <c:v>9.11849835630483E-2</c:v>
                </c:pt>
                <c:pt idx="1">
                  <c:v>3.7808230312976102E-2</c:v>
                </c:pt>
                <c:pt idx="2">
                  <c:v>8.7898636160137506E-3</c:v>
                </c:pt>
                <c:pt idx="3">
                  <c:v>-4.9952980843172004E-3</c:v>
                </c:pt>
              </c:numCache>
            </c:numRef>
          </c:val>
          <c:smooth val="0"/>
          <c:extLst>
            <c:ext xmlns:c16="http://schemas.microsoft.com/office/drawing/2014/chart" uri="{C3380CC4-5D6E-409C-BE32-E72D297353CC}">
              <c16:uniqueId val="{00000007-3B66-4D06-B3FA-CB90F0F1DC52}"/>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scaling>
        <c:delete val="0"/>
        <c:axPos val="r"/>
        <c:numFmt formatCode="0.0%" sourceLinked="1"/>
        <c:majorTickMark val="out"/>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5f143d1c-9ffb-4f06-9a15-afeb4cec736f}"/>
      </c:ext>
    </c:extLst>
  </c:chart>
  <c:spPr>
    <a:solidFill>
      <a:schemeClr val="bg1"/>
    </a:solidFill>
    <a:ln w="9525" cap="flat" cmpd="sng" algn="ctr">
      <a:noFill/>
      <a:prstDash val="solid"/>
      <a:round/>
    </a:ln>
    <a:effectLst/>
  </c:spPr>
  <c:txPr>
    <a:bodyPr/>
    <a:lstStyle/>
    <a:p>
      <a:pPr>
        <a:defRPr lang="zh-CN" sz="1000">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'[横向医院底稿(1)(1)(1).xlsm]儿科横向本期'!$C$48</c:f>
              <c:strCache>
                <c:ptCount val="1"/>
                <c:pt idx="0">
                  <c:v>住院收入</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7EA1-407E-8F9A-BC982781A001}"/>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7EA1-407E-8F9A-BC982781A001}"/>
              </c:ext>
            </c:extLst>
          </c:dPt>
          <c:dPt>
            <c:idx val="2"/>
            <c:invertIfNegative val="0"/>
            <c:bubble3D val="0"/>
            <c:spPr>
              <a:solidFill>
                <a:srgbClr val="C00000"/>
              </a:solidFill>
              <a:ln>
                <a:solidFill>
                  <a:srgbClr val="C00000"/>
                </a:solidFill>
              </a:ln>
              <a:effectLst/>
            </c:spPr>
            <c:extLst>
              <c:ext xmlns:c16="http://schemas.microsoft.com/office/drawing/2014/chart" uri="{C3380CC4-5D6E-409C-BE32-E72D297353CC}">
                <c16:uniqueId val="{00000005-7EA1-407E-8F9A-BC982781A001}"/>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7-7EA1-407E-8F9A-BC982781A001}"/>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'[横向医院底稿(1)(1)(1).xlsm]儿科横向本期'!$A$49:$B$52</c:f>
              <c:multiLvlStrCache>
                <c:ptCount val="4"/>
                <c:lvl>
                  <c:pt idx="0">
                    <c:v>儿童</c:v>
                  </c:pt>
                  <c:pt idx="1">
                    <c:v>儿中心</c:v>
                  </c:pt>
                  <c:pt idx="2">
                    <c:v>新华儿科</c:v>
                  </c:pt>
                  <c:pt idx="3">
                    <c:v>儿科</c:v>
                  </c:pt>
                </c:lvl>
                <c:lvl/>
              </c:multiLvlStrCache>
            </c:multiLvlStrRef>
          </c:cat>
          <c:val>
            <c:numRef>
              <c:f>'[横向医院底稿(1)(1)(1).xlsm]儿科横向本期'!$C$49:$C$52</c:f>
              <c:numCache>
                <c:formatCode>#,##0.00_ </c:formatCode>
                <c:ptCount val="4"/>
                <c:pt idx="0">
                  <c:v>0.69524080860000004</c:v>
                </c:pt>
                <c:pt idx="1">
                  <c:v>1.3013577785999999</c:v>
                </c:pt>
                <c:pt idx="2">
                  <c:v>0.56195749530000005</c:v>
                </c:pt>
                <c:pt idx="3">
                  <c:v>0.95848179720000004</c:v>
                </c:pt>
              </c:numCache>
            </c:numRef>
          </c:val>
          <c:extLst>
            <c:ext xmlns:c16="http://schemas.microsoft.com/office/drawing/2014/chart" uri="{C3380CC4-5D6E-409C-BE32-E72D297353CC}">
              <c16:uniqueId val="{00000008-7EA1-407E-8F9A-BC982781A001}"/>
            </c:ext>
          </c:extLst>
        </c:ser>
        <c:dLbls>
          <c:showLegendKey val="0"/>
          <c:showVal val="0"/>
          <c:showCatName val="0"/>
          <c:showSerName val="0"/>
          <c:showPercent val="0"/>
          <c:showBubbleSize val="0"/>
        </c:dLbls>
        <c:gapWidth val="80"/>
        <c:overlap val="-27"/>
        <c:axId val="335546640"/>
        <c:axId val="335545808"/>
      </c:barChart>
      <c:lineChart>
        <c:grouping val="standard"/>
        <c:varyColors val="0"/>
        <c:ser>
          <c:idx val="1"/>
          <c:order val="1"/>
          <c:tx>
            <c:strRef>
              <c:f>'[横向医院底稿(1)(1)(1).xlsm]儿科横向本期'!$D$48</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9.2372739279504207E-2"/>
                  <c:y val="8.7198929873348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EA1-407E-8F9A-BC982781A001}"/>
                </c:ext>
              </c:extLst>
            </c:dLbl>
            <c:dLbl>
              <c:idx val="1"/>
              <c:layout>
                <c:manualLayout>
                  <c:x val="-7.0141586150694796E-2"/>
                  <c:y val="-0.109495339663765"/>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EA1-407E-8F9A-BC982781A001}"/>
                </c:ext>
              </c:extLst>
            </c:dLbl>
            <c:dLbl>
              <c:idx val="3"/>
              <c:layout>
                <c:manualLayout>
                  <c:x val="-6.7964159146347194E-2"/>
                  <c:y val="-0.10256672698407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EA1-407E-8F9A-BC982781A001}"/>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'[横向医院底稿(1)(1)(1).xlsm]儿科横向本期'!$A$49:$B$52</c:f>
              <c:multiLvlStrCache>
                <c:ptCount val="4"/>
                <c:lvl>
                  <c:pt idx="0">
                    <c:v>儿童</c:v>
                  </c:pt>
                  <c:pt idx="1">
                    <c:v>儿中心</c:v>
                  </c:pt>
                  <c:pt idx="2">
                    <c:v>新华儿科</c:v>
                  </c:pt>
                  <c:pt idx="3">
                    <c:v>儿科</c:v>
                  </c:pt>
                </c:lvl>
                <c:lvl/>
              </c:multiLvlStrCache>
            </c:multiLvlStrRef>
          </c:cat>
          <c:val>
            <c:numRef>
              <c:f>'[横向医院底稿(1)(1)(1).xlsm]儿科横向本期'!$D$49:$D$52</c:f>
              <c:numCache>
                <c:formatCode>0.0%</c:formatCode>
                <c:ptCount val="4"/>
                <c:pt idx="0">
                  <c:v>0.19273442501187399</c:v>
                </c:pt>
                <c:pt idx="1">
                  <c:v>0.141300827271128</c:v>
                </c:pt>
                <c:pt idx="2">
                  <c:v>0.138727508611241</c:v>
                </c:pt>
                <c:pt idx="3">
                  <c:v>8.7128526861123295E-2</c:v>
                </c:pt>
              </c:numCache>
            </c:numRef>
          </c:val>
          <c:smooth val="0"/>
          <c:extLst>
            <c:ext xmlns:c16="http://schemas.microsoft.com/office/drawing/2014/chart" uri="{C3380CC4-5D6E-409C-BE32-E72D297353CC}">
              <c16:uniqueId val="{0000000C-7EA1-407E-8F9A-BC982781A001}"/>
            </c:ext>
          </c:extLst>
        </c:ser>
        <c:dLbls>
          <c:showLegendKey val="0"/>
          <c:showVal val="0"/>
          <c:showCatName val="0"/>
          <c:showSerName val="0"/>
          <c:showPercent val="0"/>
          <c:showBubbleSize val="0"/>
        </c:dLbls>
        <c:marker val="1"/>
        <c:smooth val="0"/>
        <c:axId val="464684704"/>
        <c:axId val="465328896"/>
      </c:lineChart>
      <c:catAx>
        <c:axId val="335546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5808"/>
        <c:crosses val="autoZero"/>
        <c:auto val="1"/>
        <c:lblAlgn val="ctr"/>
        <c:lblOffset val="100"/>
        <c:noMultiLvlLbl val="0"/>
      </c:catAx>
      <c:valAx>
        <c:axId val="335545808"/>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335546640"/>
        <c:crosses val="autoZero"/>
        <c:crossBetween val="between"/>
      </c:valAx>
      <c:catAx>
        <c:axId val="464684704"/>
        <c:scaling>
          <c:orientation val="minMax"/>
        </c:scaling>
        <c:delete val="1"/>
        <c:axPos val="b"/>
        <c:numFmt formatCode="General" sourceLinked="1"/>
        <c:majorTickMark val="out"/>
        <c:minorTickMark val="none"/>
        <c:tickLblPos val="nextTo"/>
        <c:crossAx val="465328896"/>
        <c:crosses val="autoZero"/>
        <c:auto val="1"/>
        <c:lblAlgn val="ctr"/>
        <c:lblOffset val="100"/>
        <c:noMultiLvlLbl val="0"/>
      </c:catAx>
      <c:valAx>
        <c:axId val="465328896"/>
        <c:scaling>
          <c:orientation val="minMax"/>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64684704"/>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30e5b99-998d-4cb9-8e21-5eb52d9e5184}"/>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'[新华医院2026年4月经济运行情况-分析底稿.xlsx]门急诊收入均次'!$B$29</c:f>
              <c:strCache>
                <c:ptCount val="1"/>
                <c:pt idx="0">
                  <c:v>门急诊收入均次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1B77-4776-A0DD-58346BABC663}"/>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1B77-4776-A0DD-58346BABC663}"/>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'[新华医院2026年4月经济运行情况-分析底稿.xlsx]门急诊收入均次'!$C$28:$D$28</c:f>
              <c:strCache>
                <c:ptCount val="2"/>
                <c:pt idx="0">
                  <c:v>2026年4月</c:v>
                </c:pt>
                <c:pt idx="1">
                  <c:v>2025年4月</c:v>
                </c:pt>
              </c:strCache>
            </c:strRef>
          </c:cat>
          <c:val>
            <c:numRef>
              <c:f>'[新华医院2026年4月经济运行情况-分析底稿.xlsx]门急诊收入均次'!$C$29:$D$29</c:f>
              <c:numCache>
                <c:formatCode>0.00_ </c:formatCode>
                <c:ptCount val="2"/>
                <c:pt idx="0">
                  <c:v>533.26310616186697</c:v>
                </c:pt>
                <c:pt idx="1">
                  <c:v>514.12404062824805</c:v>
                </c:pt>
              </c:numCache>
            </c:numRef>
          </c:val>
          <c:extLst>
            <c:ext xmlns:c16="http://schemas.microsoft.com/office/drawing/2014/chart" uri="{C3380CC4-5D6E-409C-BE32-E72D297353CC}">
              <c16:uniqueId val="{00000004-1B77-4776-A0DD-58346BABC663}"/>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'[新华医院2026年4月经济运行情况-分析底稿.xlsx]住院收入均次'!$B$25</c:f>
              <c:strCache>
                <c:ptCount val="1"/>
                <c:pt idx="0">
                  <c:v>住院收入均次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BDBF-4FBE-8CB7-69B44F34955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BDBF-4FBE-8CB7-69B44F349556}"/>
              </c:ext>
            </c:extLst>
          </c:dPt>
          <c:dLbls>
            <c:dLbl>
              <c:idx val="0"/>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1-BDBF-4FBE-8CB7-69B44F349556}"/>
                </c:ext>
              </c:extLst>
            </c:dLbl>
            <c:dLbl>
              <c:idx val="1"/>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3-BDBF-4FBE-8CB7-69B44F349556}"/>
                </c:ext>
              </c:extLst>
            </c:dLbl>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'[新华医院2026年4月经济运行情况-分析底稿.xlsx]住院收入均次'!$C$24:$D$24</c:f>
              <c:strCache>
                <c:ptCount val="2"/>
                <c:pt idx="0">
                  <c:v>2026年4月</c:v>
                </c:pt>
                <c:pt idx="1">
                  <c:v>2025年4月</c:v>
                </c:pt>
              </c:strCache>
            </c:strRef>
          </c:cat>
          <c:val>
            <c:numRef>
              <c:f>'[新华医院2026年4月经济运行情况-分析底稿.xlsx]住院收入均次'!$C$25:$D$25</c:f>
              <c:numCache>
                <c:formatCode>_(* #,##0.00_);_(* \(#,##0.00\);_(* "-"??_);_(@_)</c:formatCode>
                <c:ptCount val="2"/>
                <c:pt idx="0">
                  <c:v>26066.748744559602</c:v>
                </c:pt>
                <c:pt idx="1">
                  <c:v>24294.134860111299</c:v>
                </c:pt>
              </c:numCache>
            </c:numRef>
          </c:val>
          <c:extLst>
            <c:ext xmlns:c16="http://schemas.microsoft.com/office/drawing/2014/chart" uri="{C3380CC4-5D6E-409C-BE32-E72D297353CC}">
              <c16:uniqueId val="{00000004-BDBF-4FBE-8CB7-69B44F349556}"/>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730973860744806E-2"/>
          <c:y val="4.1988239617787602E-2"/>
          <c:w val="0.82500578302104999"/>
          <c:h val="0.85859977949283395"/>
        </c:manualLayout>
      </c:layout>
      <c:barChart>
        <c:barDir val="col"/>
        <c:grouping val="clustered"/>
        <c:varyColors val="0"/>
        <c:ser>
          <c:idx val="0"/>
          <c:order val="0"/>
          <c:tx>
            <c:strRef>
              <c:f>'[横向医院底稿(1)(1).xlsm]门急诊均次'!$C$2</c:f>
              <c:strCache>
                <c:ptCount val="1"/>
                <c:pt idx="0">
                  <c:v>门急诊均次</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5293-45BB-BEE4-9AD08C94ED13}"/>
              </c:ext>
            </c:extLst>
          </c:dPt>
          <c:dPt>
            <c:idx val="1"/>
            <c:invertIfNegative val="0"/>
            <c:bubble3D val="0"/>
            <c:spPr>
              <a:solidFill>
                <a:srgbClr val="002060"/>
              </a:solidFill>
              <a:ln>
                <a:noFill/>
              </a:ln>
              <a:effectLst/>
            </c:spPr>
            <c:extLst>
              <c:ext xmlns:c16="http://schemas.microsoft.com/office/drawing/2014/chart" uri="{C3380CC4-5D6E-409C-BE32-E72D297353CC}">
                <c16:uniqueId val="{00000003-5293-45BB-BEE4-9AD08C94ED13}"/>
              </c:ext>
            </c:extLst>
          </c:dPt>
          <c:dPt>
            <c:idx val="2"/>
            <c:invertIfNegative val="0"/>
            <c:bubble3D val="0"/>
            <c:spPr>
              <a:solidFill>
                <a:srgbClr val="C00000"/>
              </a:solidFill>
              <a:ln>
                <a:noFill/>
              </a:ln>
              <a:effectLst/>
            </c:spPr>
            <c:extLst>
              <c:ext xmlns:c16="http://schemas.microsoft.com/office/drawing/2014/chart" uri="{C3380CC4-5D6E-409C-BE32-E72D297353CC}">
                <c16:uniqueId val="{00000005-5293-45BB-BEE4-9AD08C94ED13}"/>
              </c:ext>
            </c:extLst>
          </c:dPt>
          <c:dPt>
            <c:idx val="3"/>
            <c:invertIfNegative val="0"/>
            <c:bubble3D val="0"/>
            <c:spPr>
              <a:solidFill>
                <a:srgbClr val="002060"/>
              </a:solidFill>
              <a:ln>
                <a:noFill/>
              </a:ln>
              <a:effectLst/>
            </c:spPr>
            <c:extLst>
              <c:ext xmlns:c16="http://schemas.microsoft.com/office/drawing/2014/chart" uri="{C3380CC4-5D6E-409C-BE32-E72D297353CC}">
                <c16:uniqueId val="{00000007-5293-45BB-BEE4-9AD08C94ED13}"/>
              </c:ext>
            </c:extLst>
          </c:dPt>
          <c:dPt>
            <c:idx val="4"/>
            <c:invertIfNegative val="0"/>
            <c:bubble3D val="0"/>
            <c:spPr>
              <a:solidFill>
                <a:srgbClr val="002060"/>
              </a:solidFill>
              <a:ln>
                <a:noFill/>
              </a:ln>
              <a:effectLst/>
            </c:spPr>
            <c:extLst>
              <c:ext xmlns:c16="http://schemas.microsoft.com/office/drawing/2014/chart" uri="{C3380CC4-5D6E-409C-BE32-E72D297353CC}">
                <c16:uniqueId val="{00000009-5293-45BB-BEE4-9AD08C94ED13}"/>
              </c:ext>
            </c:extLst>
          </c:dPt>
          <c:dPt>
            <c:idx val="6"/>
            <c:invertIfNegative val="0"/>
            <c:bubble3D val="0"/>
            <c:spPr>
              <a:solidFill>
                <a:srgbClr val="002060"/>
              </a:solidFill>
              <a:ln>
                <a:noFill/>
              </a:ln>
              <a:effectLst/>
            </c:spPr>
            <c:extLst>
              <c:ext xmlns:c16="http://schemas.microsoft.com/office/drawing/2014/chart" uri="{C3380CC4-5D6E-409C-BE32-E72D297353CC}">
                <c16:uniqueId val="{0000000B-5293-45BB-BEE4-9AD08C94ED13}"/>
              </c:ext>
            </c:extLst>
          </c:dPt>
          <c:dPt>
            <c:idx val="7"/>
            <c:invertIfNegative val="0"/>
            <c:bubble3D val="0"/>
            <c:spPr>
              <a:solidFill>
                <a:srgbClr val="002060"/>
              </a:solidFill>
              <a:ln>
                <a:noFill/>
              </a:ln>
              <a:effectLst/>
            </c:spPr>
            <c:extLst>
              <c:ext xmlns:c16="http://schemas.microsoft.com/office/drawing/2014/chart" uri="{C3380CC4-5D6E-409C-BE32-E72D297353CC}">
                <c16:uniqueId val="{0000000D-5293-45BB-BEE4-9AD08C94ED13}"/>
              </c:ext>
            </c:extLst>
          </c:dPt>
          <c:dPt>
            <c:idx val="10"/>
            <c:invertIfNegative val="0"/>
            <c:bubble3D val="0"/>
            <c:spPr>
              <a:solidFill>
                <a:srgbClr val="002060"/>
              </a:solidFill>
              <a:ln>
                <a:noFill/>
              </a:ln>
              <a:effectLst/>
            </c:spPr>
            <c:extLst>
              <c:ext xmlns:c16="http://schemas.microsoft.com/office/drawing/2014/chart" uri="{C3380CC4-5D6E-409C-BE32-E72D297353CC}">
                <c16:uniqueId val="{0000000F-5293-45BB-BEE4-9AD08C94ED13}"/>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'[横向医院底稿(1)(1).xlsm]门急诊均次'!$B$3:$B$13</c:f>
              <c:strCache>
                <c:ptCount val="11"/>
                <c:pt idx="0">
                  <c:v>瑞金</c:v>
                </c:pt>
                <c:pt idx="1">
                  <c:v>华山</c:v>
                </c:pt>
                <c:pt idx="2">
                  <c:v>新华</c:v>
                </c:pt>
                <c:pt idx="3">
                  <c:v>华东</c:v>
                </c:pt>
                <c:pt idx="4">
                  <c:v>九院</c:v>
                </c:pt>
                <c:pt idx="5">
                  <c:v>六院</c:v>
                </c:pt>
                <c:pt idx="6">
                  <c:v>仁济</c:v>
                </c:pt>
                <c:pt idx="7">
                  <c:v>中山</c:v>
                </c:pt>
                <c:pt idx="8">
                  <c:v>一院</c:v>
                </c:pt>
                <c:pt idx="9">
                  <c:v>十院</c:v>
                </c:pt>
                <c:pt idx="10">
                  <c:v>同济</c:v>
                </c:pt>
              </c:strCache>
            </c:strRef>
          </c:cat>
          <c:val>
            <c:numRef>
              <c:f>'[横向医院底稿(1)(1).xlsm]门急诊均次'!$C$3:$C$13</c:f>
              <c:numCache>
                <c:formatCode>#,##0_ </c:formatCode>
                <c:ptCount val="11"/>
                <c:pt idx="0">
                  <c:v>699.767970272556</c:v>
                </c:pt>
                <c:pt idx="1">
                  <c:v>570.30923871885102</c:v>
                </c:pt>
                <c:pt idx="2">
                  <c:v>533.26310616186697</c:v>
                </c:pt>
                <c:pt idx="3">
                  <c:v>492.04016038936601</c:v>
                </c:pt>
                <c:pt idx="4">
                  <c:v>826.426107769277</c:v>
                </c:pt>
                <c:pt idx="5">
                  <c:v>515.07598258496</c:v>
                </c:pt>
                <c:pt idx="6">
                  <c:v>649.71619755232405</c:v>
                </c:pt>
                <c:pt idx="7">
                  <c:v>705.52989327481805</c:v>
                </c:pt>
                <c:pt idx="8">
                  <c:v>575.51460111602501</c:v>
                </c:pt>
                <c:pt idx="9">
                  <c:v>515.24822648736199</c:v>
                </c:pt>
                <c:pt idx="10">
                  <c:v>444.264994028817</c:v>
                </c:pt>
              </c:numCache>
            </c:numRef>
          </c:val>
          <c:extLst>
            <c:ext xmlns:c16="http://schemas.microsoft.com/office/drawing/2014/chart" uri="{C3380CC4-5D6E-409C-BE32-E72D297353CC}">
              <c16:uniqueId val="{00000010-5293-45BB-BEE4-9AD08C94ED13}"/>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'[横向医院底稿(1)(1).xlsm]门急诊均次'!$D$2</c:f>
              <c:strCache>
                <c:ptCount val="1"/>
                <c:pt idx="0">
                  <c:v>增幅</c:v>
                </c:pt>
              </c:strCache>
            </c:strRef>
          </c:tx>
          <c:spPr>
            <a:ln w="28575" cap="rnd" cmpd="sng">
              <a:solidFill>
                <a:schemeClr val="accent2"/>
              </a:solidFill>
              <a:prstDash val="solid"/>
              <a:round/>
            </a:ln>
            <a:effectLst/>
          </c:spPr>
          <c:marker>
            <c:symbol val="circle"/>
            <c:size val="6"/>
            <c:spPr>
              <a:solidFill>
                <a:schemeClr val="accent2"/>
              </a:solidFill>
              <a:ln w="12700" cmpd="sng">
                <a:noFill/>
                <a:prstDash val="solid"/>
              </a:ln>
              <a:effectLst/>
            </c:spPr>
          </c:marker>
          <c:dLbls>
            <c:dLbl>
              <c:idx val="0"/>
              <c:layout>
                <c:manualLayout>
                  <c:x val="-4.8577376821651599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293-45BB-BEE4-9AD08C94ED13}"/>
                </c:ext>
              </c:extLst>
            </c:dLbl>
            <c:dLbl>
              <c:idx val="1"/>
              <c:layout>
                <c:manualLayout>
                  <c:x val="-5.03122831367106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5293-45BB-BEE4-9AD08C94ED13}"/>
                </c:ext>
              </c:extLst>
            </c:dLbl>
            <c:dLbl>
              <c:idx val="2"/>
              <c:layout>
                <c:manualLayout>
                  <c:x val="-4.8577376821651599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5293-45BB-BEE4-9AD08C94ED13}"/>
                </c:ext>
              </c:extLst>
            </c:dLbl>
            <c:dLbl>
              <c:idx val="3"/>
              <c:layout>
                <c:manualLayout>
                  <c:x val="-5.03122831367106E-2"/>
                  <c:y val="4.96141124586549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5293-45BB-BEE4-9AD08C94ED13}"/>
                </c:ext>
              </c:extLst>
            </c:dLbl>
            <c:dLbl>
              <c:idx val="4"/>
              <c:layout>
                <c:manualLayout>
                  <c:x val="-5.03122831367106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5293-45BB-BEE4-9AD08C94ED13}"/>
                </c:ext>
              </c:extLst>
            </c:dLbl>
            <c:dLbl>
              <c:idx val="5"/>
              <c:layout>
                <c:manualLayout>
                  <c:x val="-4.8577376821651599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5293-45BB-BEE4-9AD08C94ED13}"/>
                </c:ext>
              </c:extLst>
            </c:dLbl>
            <c:dLbl>
              <c:idx val="6"/>
              <c:layout>
                <c:manualLayout>
                  <c:x val="-5.03122831367106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5293-45BB-BEE4-9AD08C94ED13}"/>
                </c:ext>
              </c:extLst>
            </c:dLbl>
            <c:dLbl>
              <c:idx val="7"/>
              <c:layout>
                <c:manualLayout>
                  <c:x val="-5.3782095766828603E-2"/>
                  <c:y val="5.23704520396912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5293-45BB-BEE4-9AD08C94ED13}"/>
                </c:ext>
              </c:extLst>
            </c:dLbl>
            <c:dLbl>
              <c:idx val="8"/>
              <c:layout>
                <c:manualLayout>
                  <c:x val="-6.0721721027064503E-2"/>
                  <c:y val="-6.33958103638368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5293-45BB-BEE4-9AD08C94ED13}"/>
                </c:ext>
              </c:extLst>
            </c:dLbl>
            <c:dLbl>
              <c:idx val="9"/>
              <c:layout>
                <c:manualLayout>
                  <c:x val="-5.03122831367106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5293-45BB-BEE4-9AD08C94ED13}"/>
                </c:ext>
              </c:extLst>
            </c:dLbl>
            <c:dLbl>
              <c:idx val="10"/>
              <c:layout>
                <c:manualLayout>
                  <c:x val="-4.51075641915337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5293-45BB-BEE4-9AD08C94ED13}"/>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'[横向医院底稿(1)(1).xlsm]门急诊均次'!$B$3:$B$13</c:f>
              <c:strCache>
                <c:ptCount val="11"/>
                <c:pt idx="0">
                  <c:v>瑞金</c:v>
                </c:pt>
                <c:pt idx="1">
                  <c:v>华山</c:v>
                </c:pt>
                <c:pt idx="2">
                  <c:v>新华</c:v>
                </c:pt>
                <c:pt idx="3">
                  <c:v>华东</c:v>
                </c:pt>
                <c:pt idx="4">
                  <c:v>九院</c:v>
                </c:pt>
                <c:pt idx="5">
                  <c:v>六院</c:v>
                </c:pt>
                <c:pt idx="6">
                  <c:v>仁济</c:v>
                </c:pt>
                <c:pt idx="7">
                  <c:v>中山</c:v>
                </c:pt>
                <c:pt idx="8">
                  <c:v>一院</c:v>
                </c:pt>
                <c:pt idx="9">
                  <c:v>十院</c:v>
                </c:pt>
                <c:pt idx="10">
                  <c:v>同济</c:v>
                </c:pt>
              </c:strCache>
            </c:strRef>
          </c:cat>
          <c:val>
            <c:numRef>
              <c:f>'[横向医院底稿(1)(1).xlsm]门急诊均次'!$D$3:$D$13</c:f>
              <c:numCache>
                <c:formatCode>0.0%</c:formatCode>
                <c:ptCount val="11"/>
                <c:pt idx="0">
                  <c:v>6.8608952859730898E-2</c:v>
                </c:pt>
                <c:pt idx="1">
                  <c:v>5.30008861630962E-2</c:v>
                </c:pt>
                <c:pt idx="2">
                  <c:v>3.7226552390413802E-2</c:v>
                </c:pt>
                <c:pt idx="3">
                  <c:v>2.0883522903138801E-2</c:v>
                </c:pt>
                <c:pt idx="4">
                  <c:v>4.5776915522486297E-3</c:v>
                </c:pt>
                <c:pt idx="5">
                  <c:v>2.1980349096446502E-3</c:v>
                </c:pt>
                <c:pt idx="6">
                  <c:v>-1.34956409193688E-2</c:v>
                </c:pt>
                <c:pt idx="7">
                  <c:v>-1.3698534640152899E-2</c:v>
                </c:pt>
                <c:pt idx="8">
                  <c:v>-1.54392080163318E-2</c:v>
                </c:pt>
                <c:pt idx="9">
                  <c:v>-2.72549919932671E-2</c:v>
                </c:pt>
                <c:pt idx="10">
                  <c:v>-6.8431475381620505E-2</c:v>
                </c:pt>
              </c:numCache>
            </c:numRef>
          </c:val>
          <c:smooth val="0"/>
          <c:extLst>
            <c:ext xmlns:c16="http://schemas.microsoft.com/office/drawing/2014/chart" uri="{C3380CC4-5D6E-409C-BE32-E72D297353CC}">
              <c16:uniqueId val="{0000001C-5293-45BB-BEE4-9AD08C94ED13}"/>
            </c:ext>
          </c:extLst>
        </c:ser>
        <c:dLbls>
          <c:showLegendKey val="0"/>
          <c:showVal val="1"/>
          <c:showCatName val="0"/>
          <c:showSerName val="0"/>
          <c:showPercent val="0"/>
          <c:showBubbleSize val="0"/>
        </c:dLbls>
        <c:marker val="1"/>
        <c:smooth val="0"/>
        <c:axId val="524320348"/>
        <c:axId val="338517435"/>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524320348"/>
        <c:scaling>
          <c:orientation val="minMax"/>
        </c:scaling>
        <c:delete val="1"/>
        <c:axPos val="b"/>
        <c:numFmt formatCode="General" sourceLinked="1"/>
        <c:majorTickMark val="none"/>
        <c:minorTickMark val="none"/>
        <c:tickLblPos val="nextTo"/>
        <c:crossAx val="338517435"/>
        <c:crosses val="autoZero"/>
        <c:auto val="1"/>
        <c:lblAlgn val="ctr"/>
        <c:lblOffset val="100"/>
        <c:noMultiLvlLbl val="0"/>
      </c:catAx>
      <c:valAx>
        <c:axId val="338517435"/>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524320348"/>
        <c:crosses val="max"/>
        <c:crossBetween val="between"/>
      </c:valAx>
      <c:spPr>
        <a:noFill/>
        <a:ln>
          <a:noFill/>
        </a:ln>
        <a:effectLst/>
      </c:spPr>
    </c:plotArea>
    <c:plotVisOnly val="1"/>
    <c:dispBlanksAs val="gap"/>
    <c:showDLblsOverMax val="0"/>
    <c:extLst>
      <c:ext uri="{0b15fc19-7d7d-44ad-8c2d-2c3a37ce22c3}">
        <chartProps xmlns="https://web.wps.cn/et/2018/main" chartId="{22f0a48d-477d-49f3-ad1c-661246b4d91a}"/>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'[横向医院底稿(1)(1).xlsm]住院均次'!$C$2</c:f>
              <c:strCache>
                <c:ptCount val="1"/>
                <c:pt idx="0">
                  <c:v>住院均次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04DF-40B4-9DE0-FCA6FC139316}"/>
              </c:ext>
            </c:extLst>
          </c:dPt>
          <c:dPt>
            <c:idx val="1"/>
            <c:invertIfNegative val="0"/>
            <c:bubble3D val="0"/>
            <c:spPr>
              <a:solidFill>
                <a:srgbClr val="002060"/>
              </a:solidFill>
              <a:ln>
                <a:noFill/>
              </a:ln>
              <a:effectLst/>
            </c:spPr>
            <c:extLst>
              <c:ext xmlns:c16="http://schemas.microsoft.com/office/drawing/2014/chart" uri="{C3380CC4-5D6E-409C-BE32-E72D297353CC}">
                <c16:uniqueId val="{00000003-04DF-40B4-9DE0-FCA6FC139316}"/>
              </c:ext>
            </c:extLst>
          </c:dPt>
          <c:dPt>
            <c:idx val="2"/>
            <c:invertIfNegative val="0"/>
            <c:bubble3D val="0"/>
            <c:spPr>
              <a:solidFill>
                <a:srgbClr val="002060"/>
              </a:solidFill>
              <a:ln>
                <a:noFill/>
              </a:ln>
              <a:effectLst/>
            </c:spPr>
            <c:extLst>
              <c:ext xmlns:c16="http://schemas.microsoft.com/office/drawing/2014/chart" uri="{C3380CC4-5D6E-409C-BE32-E72D297353CC}">
                <c16:uniqueId val="{00000005-04DF-40B4-9DE0-FCA6FC139316}"/>
              </c:ext>
            </c:extLst>
          </c:dPt>
          <c:dPt>
            <c:idx val="3"/>
            <c:invertIfNegative val="0"/>
            <c:bubble3D val="0"/>
            <c:spPr>
              <a:solidFill>
                <a:srgbClr val="002060"/>
              </a:solidFill>
              <a:ln>
                <a:noFill/>
              </a:ln>
              <a:effectLst/>
            </c:spPr>
            <c:extLst>
              <c:ext xmlns:c16="http://schemas.microsoft.com/office/drawing/2014/chart" uri="{C3380CC4-5D6E-409C-BE32-E72D297353CC}">
                <c16:uniqueId val="{00000007-04DF-40B4-9DE0-FCA6FC139316}"/>
              </c:ext>
            </c:extLst>
          </c:dPt>
          <c:dPt>
            <c:idx val="4"/>
            <c:invertIfNegative val="0"/>
            <c:bubble3D val="0"/>
            <c:spPr>
              <a:solidFill>
                <a:srgbClr val="002060"/>
              </a:solidFill>
              <a:ln>
                <a:noFill/>
              </a:ln>
              <a:effectLst/>
            </c:spPr>
            <c:extLst>
              <c:ext xmlns:c16="http://schemas.microsoft.com/office/drawing/2014/chart" uri="{C3380CC4-5D6E-409C-BE32-E72D297353CC}">
                <c16:uniqueId val="{00000009-04DF-40B4-9DE0-FCA6FC139316}"/>
              </c:ext>
            </c:extLst>
          </c:dPt>
          <c:dPt>
            <c:idx val="6"/>
            <c:invertIfNegative val="0"/>
            <c:bubble3D val="0"/>
            <c:spPr>
              <a:solidFill>
                <a:srgbClr val="002060"/>
              </a:solidFill>
              <a:ln>
                <a:noFill/>
              </a:ln>
              <a:effectLst/>
            </c:spPr>
            <c:extLst>
              <c:ext xmlns:c16="http://schemas.microsoft.com/office/drawing/2014/chart" uri="{C3380CC4-5D6E-409C-BE32-E72D297353CC}">
                <c16:uniqueId val="{0000000B-04DF-40B4-9DE0-FCA6FC139316}"/>
              </c:ext>
            </c:extLst>
          </c:dPt>
          <c:dPt>
            <c:idx val="7"/>
            <c:invertIfNegative val="0"/>
            <c:bubble3D val="0"/>
            <c:spPr>
              <a:solidFill>
                <a:srgbClr val="002060"/>
              </a:solidFill>
              <a:ln>
                <a:noFill/>
              </a:ln>
              <a:effectLst/>
            </c:spPr>
            <c:extLst>
              <c:ext xmlns:c16="http://schemas.microsoft.com/office/drawing/2014/chart" uri="{C3380CC4-5D6E-409C-BE32-E72D297353CC}">
                <c16:uniqueId val="{0000000D-04DF-40B4-9DE0-FCA6FC139316}"/>
              </c:ext>
            </c:extLst>
          </c:dPt>
          <c:dPt>
            <c:idx val="10"/>
            <c:invertIfNegative val="0"/>
            <c:bubble3D val="0"/>
            <c:spPr>
              <a:solidFill>
                <a:srgbClr val="002060"/>
              </a:solidFill>
              <a:ln>
                <a:noFill/>
              </a:ln>
              <a:effectLst/>
            </c:spPr>
            <c:extLst>
              <c:ext xmlns:c16="http://schemas.microsoft.com/office/drawing/2014/chart" uri="{C3380CC4-5D6E-409C-BE32-E72D297353CC}">
                <c16:uniqueId val="{0000000F-04DF-40B4-9DE0-FCA6FC139316}"/>
              </c:ext>
            </c:extLst>
          </c:dPt>
          <c:dLbls>
            <c:spPr>
              <a:noFill/>
              <a:ln>
                <a:noFill/>
              </a:ln>
              <a:effectLst/>
            </c:spPr>
            <c:txPr>
              <a:bodyPr rot="0" spcFirstLastPara="1" vertOverflow="ellipsis" vert="horz" wrap="square" lIns="38100" tIns="19050" rIns="38100" bIns="19050" anchor="ctr" anchorCtr="1">
                <a:spAutoFit/>
              </a:bodyPr>
              <a:lstStyle/>
              <a:p>
                <a:pPr>
                  <a:defRPr lang="zh-CN" sz="700" b="1" i="0" u="none" strike="noStrike" kern="1200" cap="none" spc="0" normalizeH="0" baseline="0">
                    <a:solidFill>
                      <a:schemeClr val="bg1"/>
                    </a:solidFill>
                    <a:uFill>
                      <a:solidFill>
                        <a:schemeClr val="bg1"/>
                      </a:solidFill>
                    </a:u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'[横向医院底稿(1)(1).xlsm]住院均次'!$B$3:$B$13</c:f>
              <c:strCache>
                <c:ptCount val="11"/>
                <c:pt idx="0">
                  <c:v>新华</c:v>
                </c:pt>
                <c:pt idx="1">
                  <c:v>仁济</c:v>
                </c:pt>
                <c:pt idx="2">
                  <c:v>瑞金</c:v>
                </c:pt>
                <c:pt idx="3">
                  <c:v>同济</c:v>
                </c:pt>
                <c:pt idx="4">
                  <c:v>十院</c:v>
                </c:pt>
                <c:pt idx="5">
                  <c:v>六院</c:v>
                </c:pt>
                <c:pt idx="6">
                  <c:v>华山</c:v>
                </c:pt>
                <c:pt idx="7">
                  <c:v>一院</c:v>
                </c:pt>
                <c:pt idx="8">
                  <c:v>中山</c:v>
                </c:pt>
                <c:pt idx="9">
                  <c:v>华东</c:v>
                </c:pt>
                <c:pt idx="10">
                  <c:v>九院</c:v>
                </c:pt>
              </c:strCache>
            </c:strRef>
          </c:cat>
          <c:val>
            <c:numRef>
              <c:f>'[横向医院底稿(1)(1).xlsm]住院均次'!$C$3:$C$13</c:f>
              <c:numCache>
                <c:formatCode>#,##0_ </c:formatCode>
                <c:ptCount val="11"/>
                <c:pt idx="0">
                  <c:v>26066.748744559602</c:v>
                </c:pt>
                <c:pt idx="1">
                  <c:v>25739.484241091199</c:v>
                </c:pt>
                <c:pt idx="2">
                  <c:v>34410.7426570686</c:v>
                </c:pt>
                <c:pt idx="3">
                  <c:v>21630.413146159201</c:v>
                </c:pt>
                <c:pt idx="4">
                  <c:v>23552.2212815126</c:v>
                </c:pt>
                <c:pt idx="5">
                  <c:v>32136.425106585099</c:v>
                </c:pt>
                <c:pt idx="6">
                  <c:v>32795.506741579899</c:v>
                </c:pt>
                <c:pt idx="7">
                  <c:v>27798.3802590876</c:v>
                </c:pt>
                <c:pt idx="8">
                  <c:v>31528.8679865167</c:v>
                </c:pt>
                <c:pt idx="9">
                  <c:v>21095.631905545699</c:v>
                </c:pt>
                <c:pt idx="10">
                  <c:v>23647.2031553464</c:v>
                </c:pt>
              </c:numCache>
            </c:numRef>
          </c:val>
          <c:extLst>
            <c:ext xmlns:c16="http://schemas.microsoft.com/office/drawing/2014/chart" uri="{C3380CC4-5D6E-409C-BE32-E72D297353CC}">
              <c16:uniqueId val="{00000010-04DF-40B4-9DE0-FCA6FC139316}"/>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'[横向医院底稿(1)(1).xlsm]住院均次'!$D$2</c:f>
              <c:strCache>
                <c:ptCount val="1"/>
                <c:pt idx="0">
                  <c:v>增幅</c:v>
                </c:pt>
              </c:strCache>
            </c:strRef>
          </c:tx>
          <c:spPr>
            <a:ln w="28575" cap="rnd">
              <a:solidFill>
                <a:schemeClr val="accent2"/>
              </a:solidFill>
              <a:round/>
            </a:ln>
            <a:effectLst/>
          </c:spPr>
          <c:marker>
            <c:symbol val="circle"/>
            <c:size val="6"/>
            <c:spPr>
              <a:solidFill>
                <a:schemeClr val="accent2"/>
              </a:solidFill>
              <a:ln w="9525">
                <a:solidFill>
                  <a:schemeClr val="accent2"/>
                </a:solidFill>
              </a:ln>
              <a:effectLst/>
            </c:spPr>
          </c:marker>
          <c:dLbls>
            <c:dLbl>
              <c:idx val="0"/>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4DF-40B4-9DE0-FCA6FC139316}"/>
                </c:ext>
              </c:extLst>
            </c:dLbl>
            <c:dLbl>
              <c:idx val="1"/>
              <c:layout>
                <c:manualLayout>
                  <c:x val="-4.6301400066144902E-2"/>
                  <c:y val="7.44211686879824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04DF-40B4-9DE0-FCA6FC139316}"/>
                </c:ext>
              </c:extLst>
            </c:dLbl>
            <c:dLbl>
              <c:idx val="2"/>
              <c:layout>
                <c:manualLayout>
                  <c:x val="-4.2994157204277399E-2"/>
                  <c:y val="7.71775082690187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04DF-40B4-9DE0-FCA6FC139316}"/>
                </c:ext>
              </c:extLst>
            </c:dLbl>
            <c:dLbl>
              <c:idx val="3"/>
              <c:layout>
                <c:manualLayout>
                  <c:x val="-4.6301400066144902E-2"/>
                  <c:y val="8.820286659316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04DF-40B4-9DE0-FCA6FC139316}"/>
                </c:ext>
              </c:extLst>
            </c:dLbl>
            <c:dLbl>
              <c:idx val="4"/>
              <c:layout>
                <c:manualLayout>
                  <c:x val="-4.13405357733436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04DF-40B4-9DE0-FCA6FC139316}"/>
                </c:ext>
              </c:extLst>
            </c:dLbl>
            <c:dLbl>
              <c:idx val="5"/>
              <c:layout>
                <c:manualLayout>
                  <c:x val="-4.79550214970786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04DF-40B4-9DE0-FCA6FC139316}"/>
                </c:ext>
              </c:extLst>
            </c:dLbl>
            <c:dLbl>
              <c:idx val="6"/>
              <c:layout>
                <c:manualLayout>
                  <c:x val="-4.63014000661449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04DF-40B4-9DE0-FCA6FC139316}"/>
                </c:ext>
              </c:extLst>
            </c:dLbl>
            <c:dLbl>
              <c:idx val="7"/>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04DF-40B4-9DE0-FCA6FC139316}"/>
                </c:ext>
              </c:extLst>
            </c:dLbl>
            <c:dLbl>
              <c:idx val="8"/>
              <c:layout>
                <c:manualLayout>
                  <c:x val="-4.7955021497078601E-2"/>
                  <c:y val="-9.09592061742006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04DF-40B4-9DE0-FCA6FC139316}"/>
                </c:ext>
              </c:extLst>
            </c:dLbl>
            <c:dLbl>
              <c:idx val="9"/>
              <c:layout>
                <c:manualLayout>
                  <c:x val="-4.7955021497078601E-2"/>
                  <c:y val="-9.64718853362734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04DF-40B4-9DE0-FCA6FC139316}"/>
                </c:ext>
              </c:extLst>
            </c:dLbl>
            <c:dLbl>
              <c:idx val="10"/>
              <c:layout>
                <c:manualLayout>
                  <c:x val="-4.7955021497078601E-2"/>
                  <c:y val="-4.68577728776184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04DF-40B4-9DE0-FCA6FC139316}"/>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'[横向医院底稿(1)(1).xlsm]住院均次'!$B$3:$B$13</c:f>
              <c:strCache>
                <c:ptCount val="11"/>
                <c:pt idx="0">
                  <c:v>新华</c:v>
                </c:pt>
                <c:pt idx="1">
                  <c:v>仁济</c:v>
                </c:pt>
                <c:pt idx="2">
                  <c:v>瑞金</c:v>
                </c:pt>
                <c:pt idx="3">
                  <c:v>同济</c:v>
                </c:pt>
                <c:pt idx="4">
                  <c:v>十院</c:v>
                </c:pt>
                <c:pt idx="5">
                  <c:v>六院</c:v>
                </c:pt>
                <c:pt idx="6">
                  <c:v>华山</c:v>
                </c:pt>
                <c:pt idx="7">
                  <c:v>一院</c:v>
                </c:pt>
                <c:pt idx="8">
                  <c:v>中山</c:v>
                </c:pt>
                <c:pt idx="9">
                  <c:v>华东</c:v>
                </c:pt>
                <c:pt idx="10">
                  <c:v>九院</c:v>
                </c:pt>
              </c:strCache>
            </c:strRef>
          </c:cat>
          <c:val>
            <c:numRef>
              <c:f>'[横向医院底稿(1)(1).xlsm]住院均次'!$D$3:$D$13</c:f>
              <c:numCache>
                <c:formatCode>0.0%</c:formatCode>
                <c:ptCount val="11"/>
                <c:pt idx="0">
                  <c:v>7.2964684466237106E-2</c:v>
                </c:pt>
                <c:pt idx="1">
                  <c:v>6.5186955147044798E-2</c:v>
                </c:pt>
                <c:pt idx="2">
                  <c:v>5.99745839184034E-2</c:v>
                </c:pt>
                <c:pt idx="3">
                  <c:v>5.3196687141637597E-2</c:v>
                </c:pt>
                <c:pt idx="4">
                  <c:v>3.9798341171477701E-2</c:v>
                </c:pt>
                <c:pt idx="5">
                  <c:v>3.94885184958369E-2</c:v>
                </c:pt>
                <c:pt idx="6">
                  <c:v>1.15303654218426E-2</c:v>
                </c:pt>
                <c:pt idx="7">
                  <c:v>5.9242223600821696E-3</c:v>
                </c:pt>
                <c:pt idx="8">
                  <c:v>-2.9128346809992201E-2</c:v>
                </c:pt>
                <c:pt idx="9">
                  <c:v>-7.0069981842488596E-2</c:v>
                </c:pt>
                <c:pt idx="10">
                  <c:v>-7.4560367964815494E-2</c:v>
                </c:pt>
              </c:numCache>
            </c:numRef>
          </c:val>
          <c:smooth val="0"/>
          <c:extLst>
            <c:ext xmlns:c16="http://schemas.microsoft.com/office/drawing/2014/chart" uri="{C3380CC4-5D6E-409C-BE32-E72D297353CC}">
              <c16:uniqueId val="{0000001C-04DF-40B4-9DE0-FCA6FC139316}"/>
            </c:ext>
          </c:extLst>
        </c:ser>
        <c:dLbls>
          <c:showLegendKey val="0"/>
          <c:showVal val="1"/>
          <c:showCatName val="0"/>
          <c:showSerName val="0"/>
          <c:showPercent val="0"/>
          <c:showBubbleSize val="0"/>
        </c:dLbls>
        <c:marker val="1"/>
        <c:smooth val="0"/>
        <c:axId val="204748680"/>
        <c:axId val="315939152"/>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204748680"/>
        <c:scaling>
          <c:orientation val="minMax"/>
        </c:scaling>
        <c:delete val="1"/>
        <c:axPos val="b"/>
        <c:numFmt formatCode="General" sourceLinked="1"/>
        <c:majorTickMark val="none"/>
        <c:minorTickMark val="none"/>
        <c:tickLblPos val="nextTo"/>
        <c:crossAx val="315939152"/>
        <c:crosses val="autoZero"/>
        <c:auto val="1"/>
        <c:lblAlgn val="ctr"/>
        <c:lblOffset val="100"/>
        <c:noMultiLvlLbl val="0"/>
      </c:catAx>
      <c:valAx>
        <c:axId val="315939152"/>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04748680"/>
        <c:crosses val="max"/>
        <c:crossBetween val="between"/>
      </c:valAx>
      <c:spPr>
        <a:noFill/>
        <a:ln>
          <a:noFill/>
        </a:ln>
        <a:effectLst/>
      </c:spPr>
    </c:plotArea>
    <c:plotVisOnly val="1"/>
    <c:dispBlanksAs val="gap"/>
    <c:showDLblsOverMax val="0"/>
    <c:extLst>
      <c:ext uri="{0b15fc19-7d7d-44ad-8c2d-2c3a37ce22c3}">
        <chartProps xmlns="https://web.wps.cn/et/2018/main" chartId="{fab1aae5-3edb-4ba4-8c72-acd5810df30c}"/>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'[横向医院底稿(1)(1)(1).xlsm]儿科横向本期'!$C$92</c:f>
              <c:strCache>
                <c:ptCount val="1"/>
                <c:pt idx="0">
                  <c:v>住院均次费用</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8366-487B-896E-19A08149DFCF}"/>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8366-487B-896E-19A08149DFCF}"/>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8366-487B-896E-19A08149DFCF}"/>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'[横向医院底稿(1)(1)(1).xlsm]儿科横向本期'!$A$93:$B$96</c:f>
              <c:multiLvlStrCache>
                <c:ptCount val="4"/>
                <c:lvl>
                  <c:pt idx="0">
                    <c:v>新华儿科</c:v>
                  </c:pt>
                  <c:pt idx="1">
                    <c:v>儿童</c:v>
                  </c:pt>
                  <c:pt idx="2">
                    <c:v>儿中心</c:v>
                  </c:pt>
                  <c:pt idx="3">
                    <c:v>儿科</c:v>
                  </c:pt>
                </c:lvl>
                <c:lvl/>
              </c:multiLvlStrCache>
            </c:multiLvlStrRef>
          </c:cat>
          <c:val>
            <c:numRef>
              <c:f>'[横向医院底稿(1)(1)(1).xlsm]儿科横向本期'!$C$93:$C$96</c:f>
              <c:numCache>
                <c:formatCode>#,##0_ </c:formatCode>
                <c:ptCount val="4"/>
                <c:pt idx="0">
                  <c:v>21663.907097536299</c:v>
                </c:pt>
                <c:pt idx="1">
                  <c:v>17574.337932254799</c:v>
                </c:pt>
                <c:pt idx="2">
                  <c:v>24014.721878575401</c:v>
                </c:pt>
                <c:pt idx="3">
                  <c:v>18625.763645549901</c:v>
                </c:pt>
              </c:numCache>
            </c:numRef>
          </c:val>
          <c:extLst>
            <c:ext xmlns:c16="http://schemas.microsoft.com/office/drawing/2014/chart" uri="{C3380CC4-5D6E-409C-BE32-E72D297353CC}">
              <c16:uniqueId val="{00000006-8366-487B-896E-19A08149DFCF}"/>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'[横向医院底稿(1)(1)(1).xlsm]儿科横向本期'!$D$92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366-487B-896E-19A08149DFCF}"/>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'[横向医院底稿(1)(1)(1).xlsm]儿科横向本期'!$A$93:$B$96</c:f>
              <c:multiLvlStrCache>
                <c:ptCount val="4"/>
                <c:lvl>
                  <c:pt idx="0">
                    <c:v>新华儿科</c:v>
                  </c:pt>
                  <c:pt idx="1">
                    <c:v>儿童</c:v>
                  </c:pt>
                  <c:pt idx="2">
                    <c:v>儿中心</c:v>
                  </c:pt>
                  <c:pt idx="3">
                    <c:v>儿科</c:v>
                  </c:pt>
                </c:lvl>
                <c:lvl/>
              </c:multiLvlStrCache>
            </c:multiLvlStrRef>
          </c:cat>
          <c:val>
            <c:numRef>
              <c:f>'[横向医院底稿(1)(1)(1).xlsm]儿科横向本期'!$D$93:$D$96</c:f>
              <c:numCache>
                <c:formatCode>0.00%</c:formatCode>
                <c:ptCount val="4"/>
                <c:pt idx="0">
                  <c:v>0.12600546431478099</c:v>
                </c:pt>
                <c:pt idx="1">
                  <c:v>0.1062038941781</c:v>
                </c:pt>
                <c:pt idx="2">
                  <c:v>7.5590205734203705E-2</c:v>
                </c:pt>
                <c:pt idx="3">
                  <c:v>4.6567182679752198E-2</c:v>
                </c:pt>
              </c:numCache>
            </c:numRef>
          </c:val>
          <c:smooth val="0"/>
          <c:extLst>
            <c:ext xmlns:c16="http://schemas.microsoft.com/office/drawing/2014/chart" uri="{C3380CC4-5D6E-409C-BE32-E72D297353CC}">
              <c16:uniqueId val="{00000008-8366-487B-896E-19A08149DFCF}"/>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'[横向医院底稿(1)(1)(1).xlsm]儿科横向本期'!$C$92</c:f>
              <c:strCache>
                <c:ptCount val="1"/>
                <c:pt idx="0">
                  <c:v>门急诊均次费用</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1EBA-4C3D-8EFA-DB7954834926}"/>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1EBA-4C3D-8EFA-DB7954834926}"/>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5-1EBA-4C3D-8EFA-DB7954834926}"/>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'[横向医院底稿(1)(1)(1).xlsm]儿科横向本期'!$A$93:$B$96</c:f>
              <c:multiLvlStrCache>
                <c:ptCount val="4"/>
                <c:lvl>
                  <c:pt idx="0">
                    <c:v>儿童</c:v>
                  </c:pt>
                  <c:pt idx="1">
                    <c:v>儿中心</c:v>
                  </c:pt>
                  <c:pt idx="2">
                    <c:v>儿科</c:v>
                  </c:pt>
                  <c:pt idx="3">
                    <c:v>新华儿科</c:v>
                  </c:pt>
                </c:lvl>
                <c:lvl/>
              </c:multiLvlStrCache>
            </c:multiLvlStrRef>
          </c:cat>
          <c:val>
            <c:numRef>
              <c:f>'[横向医院底稿(1)(1)(1).xlsm]儿科横向本期'!$C$93:$C$96</c:f>
              <c:numCache>
                <c:formatCode>#,##0_ </c:formatCode>
                <c:ptCount val="4"/>
                <c:pt idx="0">
                  <c:v>403.03898111935302</c:v>
                </c:pt>
                <c:pt idx="1">
                  <c:v>421.51659623883802</c:v>
                </c:pt>
                <c:pt idx="2">
                  <c:v>439.06218441570599</c:v>
                </c:pt>
                <c:pt idx="3">
                  <c:v>491.03045012348298</c:v>
                </c:pt>
              </c:numCache>
            </c:numRef>
          </c:val>
          <c:extLst>
            <c:ext xmlns:c16="http://schemas.microsoft.com/office/drawing/2014/chart" uri="{C3380CC4-5D6E-409C-BE32-E72D297353CC}">
              <c16:uniqueId val="{00000006-1EBA-4C3D-8EFA-DB7954834926}"/>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'[横向医院底稿(1)(1)(1).xlsm]儿科横向本期'!$D$92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EBA-4C3D-8EFA-DB7954834926}"/>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'[横向医院底稿(1)(1)(1).xlsm]儿科横向本期'!$A$93:$B$96</c:f>
              <c:multiLvlStrCache>
                <c:ptCount val="4"/>
                <c:lvl>
                  <c:pt idx="0">
                    <c:v>儿童</c:v>
                  </c:pt>
                  <c:pt idx="1">
                    <c:v>儿中心</c:v>
                  </c:pt>
                  <c:pt idx="2">
                    <c:v>儿科</c:v>
                  </c:pt>
                  <c:pt idx="3">
                    <c:v>新华儿科</c:v>
                  </c:pt>
                </c:lvl>
                <c:lvl/>
              </c:multiLvlStrCache>
            </c:multiLvlStrRef>
          </c:cat>
          <c:val>
            <c:numRef>
              <c:f>'[横向医院底稿(1)(1)(1).xlsm]儿科横向本期'!$D$93:$D$96</c:f>
              <c:numCache>
                <c:formatCode>0.00%</c:formatCode>
                <c:ptCount val="4"/>
                <c:pt idx="0">
                  <c:v>7.02898676474253E-2</c:v>
                </c:pt>
                <c:pt idx="1">
                  <c:v>5.8878546217096199E-2</c:v>
                </c:pt>
                <c:pt idx="2">
                  <c:v>2.6853413030401702E-2</c:v>
                </c:pt>
                <c:pt idx="3">
                  <c:v>-8.4831512000370594E-3</c:v>
                </c:pt>
              </c:numCache>
            </c:numRef>
          </c:val>
          <c:smooth val="0"/>
          <c:extLst>
            <c:ext xmlns:c16="http://schemas.microsoft.com/office/drawing/2014/chart" uri="{C3380CC4-5D6E-409C-BE32-E72D297353CC}">
              <c16:uniqueId val="{00000008-1EBA-4C3D-8EFA-DB7954834926}"/>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floor>
    <c:sideWall>
      <c:thickness val="0"/>
    </c:sideWall>
    <c:backWall>
      <c:thickness val="0"/>
    </c:backWall>
    <c:plotArea>
      <c:layout/>
      <c:pie3DChart>
        <c:varyColors val="1"/>
        <c:ser>
          <c:idx val="0"/>
          <c:order val="0"/>
          <c:explosion val="25"/>
          <c:dLbls>
            <c:dLbl>
              <c:idx val="0"/>
              <c:layout>
                <c:manualLayout>
                  <c:x val="-9.0045960658145574E-2"/>
                  <c:y val="3.9802163535725597E-2"/>
                </c:manualLayout>
              </c:layout>
              <c:tx>
                <c:rich>
                  <a:bodyPr/>
                  <a:lstStyle/>
                  <a:p>
                    <a:r>
                      <a:rPr lang="zh-CN" altLang="en-US"/>
                      <a:t>人员经费</a:t>
                    </a:r>
                  </a:p>
                  <a:p>
                    <a:r>
                      <a:rPr lang="en-US" altLang="zh-CN"/>
                      <a:t>-2.9%</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13A-4244-A68B-51E1177755C5}"/>
                </c:ext>
              </c:extLst>
            </c:dLbl>
            <c:dLbl>
              <c:idx val="1"/>
              <c:tx>
                <c:rich>
                  <a:bodyPr/>
                  <a:lstStyle/>
                  <a:p>
                    <a:r>
                      <a:rPr lang="zh-CN" altLang="en-US"/>
                      <a:t>药品费</a:t>
                    </a:r>
                  </a:p>
                  <a:p>
                    <a:r>
                      <a:rPr lang="en-US" altLang="zh-CN"/>
                      <a:t>+0.2%</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13A-4244-A68B-51E1177755C5}"/>
                </c:ext>
              </c:extLst>
            </c:dLbl>
            <c:dLbl>
              <c:idx val="2"/>
              <c:tx>
                <c:rich>
                  <a:bodyPr/>
                  <a:lstStyle/>
                  <a:p>
                    <a:r>
                      <a:rPr lang="zh-CN" altLang="en-US"/>
                      <a:t>耗材费</a:t>
                    </a:r>
                  </a:p>
                  <a:p>
                    <a:r>
                      <a:rPr lang="en-US" altLang="zh-CN"/>
                      <a:t>+2.4%</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13A-4244-A68B-51E1177755C5}"/>
                </c:ext>
              </c:extLst>
            </c:dLbl>
            <c:dLbl>
              <c:idx val="3"/>
              <c:layout>
                <c:manualLayout>
                  <c:x val="1.1288057742782152E-2"/>
                  <c:y val="5.6712962962962965E-2"/>
                </c:manualLayout>
              </c:layout>
              <c:tx>
                <c:rich>
                  <a:bodyPr/>
                  <a:lstStyle/>
                  <a:p>
                    <a:r>
                      <a:rPr lang="zh-CN" altLang="en-US"/>
                      <a:t>折旧</a:t>
                    </a:r>
                    <a:r>
                      <a:rPr lang="en-US" altLang="zh-CN"/>
                      <a:t>/</a:t>
                    </a:r>
                    <a:r>
                      <a:rPr lang="zh-CN" altLang="en-US"/>
                      <a:t>摊销</a:t>
                    </a:r>
                  </a:p>
                  <a:p>
                    <a:r>
                      <a:rPr lang="en-US" altLang="zh-CN"/>
                      <a:t>-0.3%</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13A-4244-A68B-51E1177755C5}"/>
                </c:ext>
              </c:extLst>
            </c:dLbl>
            <c:dLbl>
              <c:idx val="4"/>
              <c:layout>
                <c:manualLayout>
                  <c:x val="0.1034363517060367"/>
                  <c:y val="2.8935185185185185E-2"/>
                </c:manualLayout>
              </c:layout>
              <c:tx>
                <c:rich>
                  <a:bodyPr/>
                  <a:lstStyle/>
                  <a:p>
                    <a:r>
                      <a:rPr lang="zh-CN" altLang="en-US"/>
                      <a:t>其他费用</a:t>
                    </a:r>
                  </a:p>
                  <a:p>
                    <a:r>
                      <a:rPr lang="en-US" altLang="zh-CN"/>
                      <a:t>+0.5%</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13A-4244-A68B-51E1177755C5}"/>
                </c:ext>
              </c:extLst>
            </c:dLbl>
            <c:spPr>
              <a:noFill/>
              <a:ln>
                <a:noFill/>
              </a:ln>
              <a:effectLst/>
            </c:spPr>
            <c:txPr>
              <a:bodyPr wrap="square" lIns="38100" tIns="19050" rIns="38100" bIns="19050" anchor="ctr">
                <a:spAutoFit/>
              </a:bodyPr>
              <a:lstStyle/>
              <a:p>
                <a:pPr>
                  <a:defRPr sz="1200" b="1">
                    <a:solidFill>
                      <a:schemeClr val="bg1"/>
                    </a:solidFill>
                    <a:latin typeface="黑体" panose="02010609060101010101" pitchFamily="49" charset="-122"/>
                    <a:ea typeface="黑体" panose="02010609060101010101" pitchFamily="49" charset="-122"/>
                  </a:defRPr>
                </a:pPr>
                <a:endParaRPr lang="zh-CN"/>
              </a:p>
            </c:txPr>
            <c:dLblPos val="bestFit"/>
            <c:showLegendKey val="0"/>
            <c:showVal val="1"/>
            <c:showCatName val="0"/>
            <c:showSerName val="0"/>
            <c:showPercent val="0"/>
            <c:showBubbleSize val="0"/>
            <c:showLeaderLines val="1"/>
            <c:extLst>
              <c:ext xmlns:c15="http://schemas.microsoft.com/office/drawing/2012/chart" uri="{CE6537A1-D6FC-4f65-9D91-7224C49458BB}"/>
            </c:extLst>
          </c:dLbls>
          <c:cat>
            <c:strRef>
              <c:f>'C:\Users\ludw\Desktop\3月分析加班\[卢大伟-2602.xlsx]医疗成本结构分析'!$K$14:$K$18</c:f>
              <c:strCache>
                <c:ptCount val="5"/>
                <c:pt idx="0">
                  <c:v>人员经费</c:v>
                </c:pt>
                <c:pt idx="1">
                  <c:v>药品费</c:v>
                </c:pt>
                <c:pt idx="2">
                  <c:v>耗材费</c:v>
                </c:pt>
                <c:pt idx="3">
                  <c:v>折旧/摊销</c:v>
                </c:pt>
                <c:pt idx="4">
                  <c:v>其他费用</c:v>
                </c:pt>
              </c:strCache>
            </c:strRef>
          </c:cat>
          <c:val>
            <c:numRef>
              <c:f>'C:\Users\ludw\Desktop\3月分析加班\[卢大伟-2602.xlsx]医疗成本结构分析'!$L$14:$L$18</c:f>
              <c:numCache>
                <c:formatCode>General</c:formatCode>
                <c:ptCount val="5"/>
                <c:pt idx="0">
                  <c:v>0.28926025661333754</c:v>
                </c:pt>
                <c:pt idx="1">
                  <c:v>0.25303342309520038</c:v>
                </c:pt>
                <c:pt idx="2">
                  <c:v>0.35097418026294946</c:v>
                </c:pt>
                <c:pt idx="3">
                  <c:v>1.7487723744653887E-2</c:v>
                </c:pt>
                <c:pt idx="4">
                  <c:v>8.7660383335973383E-2</c:v>
                </c:pt>
              </c:numCache>
            </c:numRef>
          </c:val>
          <c:extLst>
            <c:ext xmlns:c16="http://schemas.microsoft.com/office/drawing/2014/chart" uri="{C3380CC4-5D6E-409C-BE32-E72D297353CC}">
              <c16:uniqueId val="{00000005-413A-4244-A68B-51E1177755C5}"/>
            </c:ext>
          </c:extLst>
        </c:ser>
        <c:dLbls>
          <c:dLblPos val="bestFit"/>
          <c:showLegendKey val="0"/>
          <c:showVal val="1"/>
          <c:showCatName val="0"/>
          <c:showSerName val="0"/>
          <c:showPercent val="0"/>
          <c:showBubbleSize val="0"/>
          <c:showLeaderLines val="1"/>
        </c:dLbls>
      </c:pie3DChart>
    </c:plotArea>
    <c:plotVisOnly val="1"/>
    <c:dispBlanksAs val="zero"/>
    <c:showDLblsOverMax val="0"/>
  </c:chart>
  <c:spPr>
    <a:solidFill>
      <a:srgbClr val="5B9BD5"/>
    </a:solidFill>
  </c:spPr>
  <c:txPr>
    <a:bodyPr/>
    <a:lstStyle/>
    <a:p>
      <a:pPr>
        <a:defRPr lang="zh-CN"/>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B49E5-29C3-49CA-94AB-7F4A2BA00F45}" type="datetimeFigureOut">
              <a:rPr lang="zh-CN" altLang="en-US" smtClean="0"/>
              <a:t>2026/5/13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3838C-FAF3-45C8-A47F-E8BF4A36855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t>26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2026/5/13</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2026/5/13</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userDrawn="1"/>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userDrawn="1"/>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userDrawn="1"/>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userDrawn="1"/>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5AF994-963F-4769-9F07-013A87F493FB}" type="datetimeFigureOut">
              <a:rPr lang="zh-CN" altLang="en-US" smtClean="0"/>
              <a:t>2026/5/13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5D045-7837-4394-9E05-F728532F20A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81187E-FD4E-43BF-B6ED-2074EFF5072B}" type="datetimeFigureOut">
              <a:rPr lang="zh-CN" altLang="en-US" smtClean="0"/>
              <a:t>2026/5/13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62B3D9-A23E-4CE0-B9F9-C27610EE0DC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1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chart" Target="../charts/chart1.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3" Type="http://schemas.openxmlformats.org/officeDocument/2006/relationships/tags" Target="../tags/tag23.xml"/><Relationship Id="rId21" Type="http://schemas.openxmlformats.org/officeDocument/2006/relationships/slideLayout" Target="../slideLayouts/slideLayout12.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chart" Target="../charts/chart2.xml"/><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4.xml"/></Relationships>
</file>

<file path=ppt/slides/_rels/slide13.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chart" Target="../charts/chart3.xml"/><Relationship Id="rId3" Type="http://schemas.openxmlformats.org/officeDocument/2006/relationships/tags" Target="../tags/tag47.xml"/><Relationship Id="rId21" Type="http://schemas.openxmlformats.org/officeDocument/2006/relationships/chart" Target="../charts/chart6.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slideLayout" Target="../slideLayouts/slideLayout12.xml"/><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chart" Target="../charts/chart5.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19" Type="http://schemas.openxmlformats.org/officeDocument/2006/relationships/chart" Target="../charts/chart4.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tags" Target="../tags/tag78.xml"/><Relationship Id="rId3" Type="http://schemas.openxmlformats.org/officeDocument/2006/relationships/tags" Target="../tags/tag63.xml"/><Relationship Id="rId21" Type="http://schemas.openxmlformats.org/officeDocument/2006/relationships/slideLayout" Target="../slideLayouts/slideLayout12.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tags" Target="../tags/tag77.xml"/><Relationship Id="rId2" Type="http://schemas.openxmlformats.org/officeDocument/2006/relationships/tags" Target="../tags/tag62.xml"/><Relationship Id="rId16" Type="http://schemas.openxmlformats.org/officeDocument/2006/relationships/tags" Target="../tags/tag76.xml"/><Relationship Id="rId20" Type="http://schemas.openxmlformats.org/officeDocument/2006/relationships/tags" Target="../tags/tag80.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23" Type="http://schemas.openxmlformats.org/officeDocument/2006/relationships/chart" Target="../charts/chart9.xml"/><Relationship Id="rId10" Type="http://schemas.openxmlformats.org/officeDocument/2006/relationships/tags" Target="../tags/tag70.xml"/><Relationship Id="rId19" Type="http://schemas.openxmlformats.org/officeDocument/2006/relationships/tags" Target="../tags/tag79.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 Id="rId2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slideLayout" Target="../slideLayouts/slideLayout12.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tags" Target="../tags/tag97.xml"/><Relationship Id="rId2" Type="http://schemas.openxmlformats.org/officeDocument/2006/relationships/tags" Target="../tags/tag82.xml"/><Relationship Id="rId16" Type="http://schemas.openxmlformats.org/officeDocument/2006/relationships/tags" Target="../tags/tag96.xml"/><Relationship Id="rId20" Type="http://schemas.openxmlformats.org/officeDocument/2006/relationships/chart" Target="../charts/chart1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tags" Target="../tags/tag95.xml"/><Relationship Id="rId10" Type="http://schemas.openxmlformats.org/officeDocument/2006/relationships/tags" Target="../tags/tag90.xml"/><Relationship Id="rId19" Type="http://schemas.openxmlformats.org/officeDocument/2006/relationships/chart" Target="../charts/chart11.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13.xml"/></Relationships>
</file>

<file path=ppt/slides/_rels/slide2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17.xml"/></Relationships>
</file>

<file path=ppt/slides/_rels/slide2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chart" Target="../charts/chart19.xml"/></Relationships>
</file>

<file path=ppt/slides/_rels/slide25.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chart" Target="../charts/chart21.xml"/></Relationships>
</file>

<file path=ppt/slides/_rels/slide26.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chart" Target="../charts/char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3" Type="http://schemas.openxmlformats.org/officeDocument/2006/relationships/tags" Target="../tags/tag100.xml"/><Relationship Id="rId21" Type="http://schemas.openxmlformats.org/officeDocument/2006/relationships/slideLayout" Target="../slideLayouts/slideLayout12.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10" Type="http://schemas.openxmlformats.org/officeDocument/2006/relationships/tags" Target="../tags/tag107.xml"/><Relationship Id="rId19" Type="http://schemas.openxmlformats.org/officeDocument/2006/relationships/tags" Target="../tags/tag116.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chart" Target="../charts/chart24.xml"/></Relationships>
</file>

<file path=ppt/slides/_rels/slide29.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tags" Target="../tags/tag135.xml"/><Relationship Id="rId3" Type="http://schemas.openxmlformats.org/officeDocument/2006/relationships/tags" Target="../tags/tag120.xml"/><Relationship Id="rId21" Type="http://schemas.openxmlformats.org/officeDocument/2006/relationships/slideLayout" Target="../slideLayouts/slideLayout12.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 Type="http://schemas.openxmlformats.org/officeDocument/2006/relationships/tags" Target="../tags/tag119.xml"/><Relationship Id="rId16" Type="http://schemas.openxmlformats.org/officeDocument/2006/relationships/tags" Target="../tags/tag133.xml"/><Relationship Id="rId20" Type="http://schemas.openxmlformats.org/officeDocument/2006/relationships/tags" Target="../tags/tag137.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10" Type="http://schemas.openxmlformats.org/officeDocument/2006/relationships/tags" Target="../tags/tag127.xml"/><Relationship Id="rId19" Type="http://schemas.openxmlformats.org/officeDocument/2006/relationships/tags" Target="../tags/tag136.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 Id="rId22" Type="http://schemas.openxmlformats.org/officeDocument/2006/relationships/chart" Target="../charts/chart25.xml"/></Relationships>
</file>

<file path=ppt/slides/_rels/slide30.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tags" Target="../tags/tag155.xml"/><Relationship Id="rId3" Type="http://schemas.openxmlformats.org/officeDocument/2006/relationships/tags" Target="../tags/tag140.xml"/><Relationship Id="rId21" Type="http://schemas.openxmlformats.org/officeDocument/2006/relationships/slideLayout" Target="../slideLayouts/slideLayout12.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5" Type="http://schemas.openxmlformats.org/officeDocument/2006/relationships/chart" Target="../charts/chart29.xml"/><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tags" Target="../tags/tag157.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24" Type="http://schemas.openxmlformats.org/officeDocument/2006/relationships/chart" Target="../charts/chart28.xml"/><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chart" Target="../charts/chart27.xml"/><Relationship Id="rId10" Type="http://schemas.openxmlformats.org/officeDocument/2006/relationships/tags" Target="../tags/tag147.xml"/><Relationship Id="rId19" Type="http://schemas.openxmlformats.org/officeDocument/2006/relationships/tags" Target="../tags/tag156.xml"/><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chart" Target="../charts/chart26.xml"/></Relationships>
</file>

<file path=ppt/slides/_rels/slide31.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tags" Target="../tags/tag175.xml"/><Relationship Id="rId3" Type="http://schemas.openxmlformats.org/officeDocument/2006/relationships/tags" Target="../tags/tag160.xml"/><Relationship Id="rId21" Type="http://schemas.openxmlformats.org/officeDocument/2006/relationships/slideLayout" Target="../slideLayouts/slideLayout12.xml"/><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tags" Target="../tags/tag174.xml"/><Relationship Id="rId2" Type="http://schemas.openxmlformats.org/officeDocument/2006/relationships/tags" Target="../tags/tag159.xml"/><Relationship Id="rId16" Type="http://schemas.openxmlformats.org/officeDocument/2006/relationships/tags" Target="../tags/tag173.xml"/><Relationship Id="rId20" Type="http://schemas.openxmlformats.org/officeDocument/2006/relationships/tags" Target="../tags/tag177.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tags" Target="../tags/tag172.xml"/><Relationship Id="rId10" Type="http://schemas.openxmlformats.org/officeDocument/2006/relationships/tags" Target="../tags/tag167.xml"/><Relationship Id="rId19" Type="http://schemas.openxmlformats.org/officeDocument/2006/relationships/tags" Target="../tags/tag176.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 Id="rId22" Type="http://schemas.openxmlformats.org/officeDocument/2006/relationships/chart" Target="../charts/chart30.xml"/></Relationships>
</file>

<file path=ppt/slides/_rels/slide32.xml.rels><?xml version="1.0" encoding="UTF-8" standalone="yes"?>
<Relationships xmlns="http://schemas.openxmlformats.org/package/2006/relationships"><Relationship Id="rId2" Type="http://schemas.openxmlformats.org/officeDocument/2006/relationships/chart" Target="../charts/chart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tags" Target="../tags/tag195.xml"/><Relationship Id="rId3" Type="http://schemas.openxmlformats.org/officeDocument/2006/relationships/tags" Target="../tags/tag180.xml"/><Relationship Id="rId21" Type="http://schemas.openxmlformats.org/officeDocument/2006/relationships/slideLayout" Target="../slideLayouts/slideLayout12.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5" Type="http://schemas.openxmlformats.org/officeDocument/2006/relationships/chart" Target="../charts/chart35.xml"/><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tags" Target="../tags/tag197.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chart" Target="../charts/chart34.xml"/><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chart" Target="../charts/chart33.xml"/><Relationship Id="rId10" Type="http://schemas.openxmlformats.org/officeDocument/2006/relationships/tags" Target="../tags/tag187.xml"/><Relationship Id="rId19" Type="http://schemas.openxmlformats.org/officeDocument/2006/relationships/tags" Target="../tags/tag196.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32.xml"/></Relationships>
</file>

<file path=ppt/slides/_rels/slide34.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18" Type="http://schemas.openxmlformats.org/officeDocument/2006/relationships/tags" Target="../tags/tag215.xml"/><Relationship Id="rId3" Type="http://schemas.openxmlformats.org/officeDocument/2006/relationships/tags" Target="../tags/tag200.xml"/><Relationship Id="rId21" Type="http://schemas.openxmlformats.org/officeDocument/2006/relationships/chart" Target="../charts/chart37.xml"/><Relationship Id="rId7" Type="http://schemas.openxmlformats.org/officeDocument/2006/relationships/tags" Target="../tags/tag204.xml"/><Relationship Id="rId12" Type="http://schemas.openxmlformats.org/officeDocument/2006/relationships/tags" Target="../tags/tag209.xml"/><Relationship Id="rId17" Type="http://schemas.openxmlformats.org/officeDocument/2006/relationships/tags" Target="../tags/tag214.xml"/><Relationship Id="rId2" Type="http://schemas.openxmlformats.org/officeDocument/2006/relationships/tags" Target="../tags/tag199.xml"/><Relationship Id="rId16" Type="http://schemas.openxmlformats.org/officeDocument/2006/relationships/tags" Target="../tags/tag213.xml"/><Relationship Id="rId20" Type="http://schemas.openxmlformats.org/officeDocument/2006/relationships/notesSlide" Target="../notesSlides/notesSlide13.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tags" Target="../tags/tag212.xml"/><Relationship Id="rId10" Type="http://schemas.openxmlformats.org/officeDocument/2006/relationships/tags" Target="../tags/tag207.xml"/><Relationship Id="rId19" Type="http://schemas.openxmlformats.org/officeDocument/2006/relationships/slideLayout" Target="../slideLayouts/slideLayout12.xml"/><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tags" Target="../tags/tag211.xml"/><Relationship Id="rId22"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21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chart" Target="../charts/chart39.xml"/><Relationship Id="rId3" Type="http://schemas.openxmlformats.org/officeDocument/2006/relationships/tags" Target="../tags/tag220.xml"/><Relationship Id="rId7" Type="http://schemas.openxmlformats.org/officeDocument/2006/relationships/slideLayout" Target="../slideLayouts/slideLayout12.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9" Type="http://schemas.openxmlformats.org/officeDocument/2006/relationships/chart" Target="../charts/chart40.xml"/></Relationships>
</file>

<file path=ppt/slides/_rels/slide42.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slideLayout" Target="../slideLayouts/slideLayout12.xml"/><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tags" Target="../tags/tag235.xml"/><Relationship Id="rId2" Type="http://schemas.openxmlformats.org/officeDocument/2006/relationships/tags" Target="../tags/tag225.xml"/><Relationship Id="rId16" Type="http://schemas.openxmlformats.org/officeDocument/2006/relationships/chart" Target="../charts/chart43.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tags" Target="../tags/tag234.xml"/><Relationship Id="rId5" Type="http://schemas.openxmlformats.org/officeDocument/2006/relationships/tags" Target="../tags/tag228.xml"/><Relationship Id="rId15" Type="http://schemas.openxmlformats.org/officeDocument/2006/relationships/chart" Target="../charts/chart42.xml"/><Relationship Id="rId10" Type="http://schemas.openxmlformats.org/officeDocument/2006/relationships/tags" Target="../tags/tag233.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chart" Target="../charts/chart41.xml"/></Relationships>
</file>

<file path=ppt/slides/_rels/slide43.xml.rels><?xml version="1.0" encoding="UTF-8" standalone="yes"?>
<Relationships xmlns="http://schemas.openxmlformats.org/package/2006/relationships"><Relationship Id="rId8" Type="http://schemas.openxmlformats.org/officeDocument/2006/relationships/tags" Target="../tags/tag243.xml"/><Relationship Id="rId13" Type="http://schemas.openxmlformats.org/officeDocument/2006/relationships/chart" Target="../charts/chart46.xml"/><Relationship Id="rId3" Type="http://schemas.openxmlformats.org/officeDocument/2006/relationships/tags" Target="../tags/tag238.xml"/><Relationship Id="rId7" Type="http://schemas.openxmlformats.org/officeDocument/2006/relationships/tags" Target="../tags/tag242.xml"/><Relationship Id="rId12" Type="http://schemas.openxmlformats.org/officeDocument/2006/relationships/chart" Target="../charts/chart45.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chart" Target="../charts/chart44.xml"/><Relationship Id="rId5" Type="http://schemas.openxmlformats.org/officeDocument/2006/relationships/tags" Target="../tags/tag240.xml"/><Relationship Id="rId10" Type="http://schemas.openxmlformats.org/officeDocument/2006/relationships/slideLayout" Target="../slideLayouts/slideLayout12.xml"/><Relationship Id="rId4" Type="http://schemas.openxmlformats.org/officeDocument/2006/relationships/tags" Target="../tags/tag239.xml"/><Relationship Id="rId9" Type="http://schemas.openxmlformats.org/officeDocument/2006/relationships/tags" Target="../tags/tag2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8" Type="http://schemas.openxmlformats.org/officeDocument/2006/relationships/tags" Target="../tags/tag252.xml"/><Relationship Id="rId13" Type="http://schemas.openxmlformats.org/officeDocument/2006/relationships/tags" Target="../tags/tag257.xml"/><Relationship Id="rId18" Type="http://schemas.openxmlformats.org/officeDocument/2006/relationships/tags" Target="../tags/tag262.xml"/><Relationship Id="rId3" Type="http://schemas.openxmlformats.org/officeDocument/2006/relationships/tags" Target="../tags/tag247.xml"/><Relationship Id="rId21" Type="http://schemas.openxmlformats.org/officeDocument/2006/relationships/slideLayout" Target="../slideLayouts/slideLayout12.xml"/><Relationship Id="rId7" Type="http://schemas.openxmlformats.org/officeDocument/2006/relationships/tags" Target="../tags/tag251.xml"/><Relationship Id="rId12" Type="http://schemas.openxmlformats.org/officeDocument/2006/relationships/tags" Target="../tags/tag256.xml"/><Relationship Id="rId17" Type="http://schemas.openxmlformats.org/officeDocument/2006/relationships/tags" Target="../tags/tag261.xml"/><Relationship Id="rId2" Type="http://schemas.openxmlformats.org/officeDocument/2006/relationships/tags" Target="../tags/tag246.xml"/><Relationship Id="rId16" Type="http://schemas.openxmlformats.org/officeDocument/2006/relationships/tags" Target="../tags/tag260.xml"/><Relationship Id="rId20" Type="http://schemas.openxmlformats.org/officeDocument/2006/relationships/tags" Target="../tags/tag264.xml"/><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tags" Target="../tags/tag255.xml"/><Relationship Id="rId5" Type="http://schemas.openxmlformats.org/officeDocument/2006/relationships/tags" Target="../tags/tag249.xml"/><Relationship Id="rId15" Type="http://schemas.openxmlformats.org/officeDocument/2006/relationships/tags" Target="../tags/tag259.xml"/><Relationship Id="rId23" Type="http://schemas.openxmlformats.org/officeDocument/2006/relationships/chart" Target="../charts/chart47.xml"/><Relationship Id="rId10" Type="http://schemas.openxmlformats.org/officeDocument/2006/relationships/tags" Target="../tags/tag254.xml"/><Relationship Id="rId19" Type="http://schemas.openxmlformats.org/officeDocument/2006/relationships/tags" Target="../tags/tag263.xml"/><Relationship Id="rId4" Type="http://schemas.openxmlformats.org/officeDocument/2006/relationships/tags" Target="../tags/tag248.xml"/><Relationship Id="rId9" Type="http://schemas.openxmlformats.org/officeDocument/2006/relationships/tags" Target="../tags/tag253.xml"/><Relationship Id="rId14" Type="http://schemas.openxmlformats.org/officeDocument/2006/relationships/tags" Target="../tags/tag258.xml"/><Relationship Id="rId22" Type="http://schemas.openxmlformats.org/officeDocument/2006/relationships/notesSlide" Target="../notesSlides/notesSlide16.xml"/></Relationships>
</file>

<file path=ppt/slides/_rels/slide46.xml.rels><?xml version="1.0" encoding="UTF-8" standalone="yes"?>
<Relationships xmlns="http://schemas.openxmlformats.org/package/2006/relationships"><Relationship Id="rId8" Type="http://schemas.openxmlformats.org/officeDocument/2006/relationships/tags" Target="../tags/tag272.xml"/><Relationship Id="rId13" Type="http://schemas.openxmlformats.org/officeDocument/2006/relationships/tags" Target="../tags/tag277.xml"/><Relationship Id="rId18" Type="http://schemas.openxmlformats.org/officeDocument/2006/relationships/tags" Target="../tags/tag282.xml"/><Relationship Id="rId3" Type="http://schemas.openxmlformats.org/officeDocument/2006/relationships/tags" Target="../tags/tag267.xml"/><Relationship Id="rId21" Type="http://schemas.openxmlformats.org/officeDocument/2006/relationships/slideLayout" Target="../slideLayouts/slideLayout12.xml"/><Relationship Id="rId7" Type="http://schemas.openxmlformats.org/officeDocument/2006/relationships/tags" Target="../tags/tag271.xml"/><Relationship Id="rId12" Type="http://schemas.openxmlformats.org/officeDocument/2006/relationships/tags" Target="../tags/tag276.xml"/><Relationship Id="rId17" Type="http://schemas.openxmlformats.org/officeDocument/2006/relationships/tags" Target="../tags/tag281.xml"/><Relationship Id="rId2" Type="http://schemas.openxmlformats.org/officeDocument/2006/relationships/tags" Target="../tags/tag266.xml"/><Relationship Id="rId16" Type="http://schemas.openxmlformats.org/officeDocument/2006/relationships/tags" Target="../tags/tag280.xml"/><Relationship Id="rId20" Type="http://schemas.openxmlformats.org/officeDocument/2006/relationships/tags" Target="../tags/tag284.xml"/><Relationship Id="rId1" Type="http://schemas.openxmlformats.org/officeDocument/2006/relationships/tags" Target="../tags/tag265.xml"/><Relationship Id="rId6" Type="http://schemas.openxmlformats.org/officeDocument/2006/relationships/tags" Target="../tags/tag270.xml"/><Relationship Id="rId11" Type="http://schemas.openxmlformats.org/officeDocument/2006/relationships/tags" Target="../tags/tag275.xml"/><Relationship Id="rId5" Type="http://schemas.openxmlformats.org/officeDocument/2006/relationships/tags" Target="../tags/tag269.xml"/><Relationship Id="rId15" Type="http://schemas.openxmlformats.org/officeDocument/2006/relationships/tags" Target="../tags/tag279.xml"/><Relationship Id="rId10" Type="http://schemas.openxmlformats.org/officeDocument/2006/relationships/tags" Target="../tags/tag274.xml"/><Relationship Id="rId19" Type="http://schemas.openxmlformats.org/officeDocument/2006/relationships/tags" Target="../tags/tag283.xml"/><Relationship Id="rId4" Type="http://schemas.openxmlformats.org/officeDocument/2006/relationships/tags" Target="../tags/tag268.xml"/><Relationship Id="rId9" Type="http://schemas.openxmlformats.org/officeDocument/2006/relationships/tags" Target="../tags/tag273.xml"/><Relationship Id="rId14" Type="http://schemas.openxmlformats.org/officeDocument/2006/relationships/tags" Target="../tags/tag278.xml"/><Relationship Id="rId22" Type="http://schemas.openxmlformats.org/officeDocument/2006/relationships/chart" Target="../charts/chart48.xml"/></Relationships>
</file>

<file path=ppt/slides/_rels/slide47.xml.rels><?xml version="1.0" encoding="UTF-8" standalone="yes"?>
<Relationships xmlns="http://schemas.openxmlformats.org/package/2006/relationships"><Relationship Id="rId8" Type="http://schemas.openxmlformats.org/officeDocument/2006/relationships/tags" Target="../tags/tag292.xml"/><Relationship Id="rId3" Type="http://schemas.openxmlformats.org/officeDocument/2006/relationships/tags" Target="../tags/tag287.xml"/><Relationship Id="rId7" Type="http://schemas.openxmlformats.org/officeDocument/2006/relationships/tags" Target="../tags/tag291.xml"/><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chart" Target="../charts/chart50.xml"/><Relationship Id="rId5" Type="http://schemas.openxmlformats.org/officeDocument/2006/relationships/tags" Target="../tags/tag289.xml"/><Relationship Id="rId10" Type="http://schemas.openxmlformats.org/officeDocument/2006/relationships/chart" Target="../charts/chart49.xml"/><Relationship Id="rId4" Type="http://schemas.openxmlformats.org/officeDocument/2006/relationships/tags" Target="../tags/tag288.xml"/><Relationship Id="rId9"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chart" Target="../charts/chart51.xml"/><Relationship Id="rId3" Type="http://schemas.openxmlformats.org/officeDocument/2006/relationships/tags" Target="../tags/tag295.xml"/><Relationship Id="rId7" Type="http://schemas.openxmlformats.org/officeDocument/2006/relationships/slideLayout" Target="../slideLayouts/slideLayout12.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9" Type="http://schemas.openxmlformats.org/officeDocument/2006/relationships/chart" Target="../charts/chart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3" Type="http://schemas.openxmlformats.org/officeDocument/2006/relationships/chart" Target="../charts/chart53.xml"/><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299.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30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3316778" y="2385974"/>
            <a:ext cx="10246822" cy="1830245"/>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新华医院</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2026</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年</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4</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月</a:t>
            </a:r>
            <a:endPar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运营分析</a:t>
            </a:r>
          </a:p>
        </p:txBody>
      </p:sp>
      <p:sp>
        <p:nvSpPr>
          <p:cNvPr id="6" name="TextBox 3"/>
          <p:cNvSpPr txBox="1"/>
          <p:nvPr/>
        </p:nvSpPr>
        <p:spPr>
          <a:xfrm>
            <a:off x="6431128" y="5663313"/>
            <a:ext cx="5500035" cy="523220"/>
          </a:xfrm>
          <a:prstGeom prst="rect">
            <a:avLst/>
          </a:prstGeom>
          <a:noFill/>
        </p:spPr>
        <p:txBody>
          <a:bodyPr wrap="square">
            <a:spAutoFit/>
          </a:bodyPr>
          <a:lstStyle/>
          <a:p>
            <a:pPr algn="ctr" fontAlgn="auto">
              <a:spcBef>
                <a:spcPts val="0"/>
              </a:spcBef>
              <a:spcAft>
                <a:spcPts val="0"/>
              </a:spcAft>
              <a:defRPr/>
            </a:pP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2026</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年</a:t>
            </a: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5</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月</a:t>
            </a:r>
            <a:endPar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4</a:t>
              </a:r>
              <a:r>
                <a:rPr lang="zh-CN" altLang="en-US" sz="2400" b="1" dirty="0">
                  <a:ln w="0"/>
                  <a:solidFill>
                    <a:srgbClr val="0070C0"/>
                  </a:soli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1-4</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一、收支结余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3511427" y="70180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月收支结余完成情况</a:t>
            </a:r>
          </a:p>
        </p:txBody>
      </p:sp>
      <p:sp>
        <p:nvSpPr>
          <p:cNvPr id="7" name="TextBox 1"/>
          <p:cNvSpPr txBox="1"/>
          <p:nvPr/>
        </p:nvSpPr>
        <p:spPr>
          <a:xfrm>
            <a:off x="9929224" y="986502"/>
            <a:ext cx="1340430"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收支结余</a:t>
            </a:r>
          </a:p>
        </p:txBody>
      </p:sp>
      <p:sp>
        <p:nvSpPr>
          <p:cNvPr id="9" name="矩形 8"/>
          <p:cNvSpPr/>
          <p:nvPr/>
        </p:nvSpPr>
        <p:spPr>
          <a:xfrm>
            <a:off x="568751" y="5475105"/>
            <a:ext cx="10962134" cy="830912"/>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月，医院收支结余为</a:t>
            </a:r>
            <a:r>
              <a:rPr lang="en-US" altLang="zh-CN" sz="1600" b="1" dirty="0">
                <a:solidFill>
                  <a:srgbClr val="C00000"/>
                </a:solidFill>
                <a:latin typeface="微软雅黑" panose="020B0503020204020204" pitchFamily="34" charset="-122"/>
                <a:ea typeface="微软雅黑" panose="020B0503020204020204" pitchFamily="34" charset="-122"/>
              </a:rPr>
              <a:t>-201</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，其中杨浦院区为</a:t>
            </a:r>
            <a:r>
              <a:rPr lang="en-US" altLang="zh-CN" sz="1600" b="1" kern="0" dirty="0">
                <a:solidFill>
                  <a:srgbClr val="C00000"/>
                </a:solidFill>
                <a:latin typeface="微软雅黑" panose="020B0503020204020204" pitchFamily="34" charset="-122"/>
                <a:ea typeface="微软雅黑" panose="020B0503020204020204" pitchFamily="34" charset="-122"/>
              </a:rPr>
              <a:t>2,472</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，奉贤院区为</a:t>
            </a:r>
            <a:r>
              <a:rPr lang="en-US" altLang="zh-CN" sz="1600" b="1" kern="0" dirty="0">
                <a:solidFill>
                  <a:srgbClr val="C00000"/>
                </a:solidFill>
                <a:latin typeface="微软雅黑" panose="020B0503020204020204" pitchFamily="34" charset="-122"/>
                <a:ea typeface="微软雅黑" panose="020B0503020204020204" pitchFamily="34" charset="-122"/>
              </a:rPr>
              <a:t>-2,673</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1-4</a:t>
            </a:r>
            <a:r>
              <a:rPr lang="zh-CN" altLang="en-US" sz="1600" b="1" kern="0" dirty="0">
                <a:solidFill>
                  <a:srgbClr val="002060"/>
                </a:solidFill>
                <a:latin typeface="微软雅黑" panose="020B0503020204020204" pitchFamily="34" charset="-122"/>
                <a:ea typeface="微软雅黑" panose="020B0503020204020204" pitchFamily="34" charset="-122"/>
              </a:rPr>
              <a:t>月，医院收支结余为</a:t>
            </a:r>
            <a:r>
              <a:rPr lang="en-US" altLang="zh-CN" sz="1600" b="1" kern="0"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21,107</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，其中杨浦院区为</a:t>
            </a:r>
            <a:r>
              <a:rPr lang="en-US" altLang="zh-CN" sz="1600" b="1" kern="0" dirty="0">
                <a:solidFill>
                  <a:srgbClr val="C00000"/>
                </a:solidFill>
                <a:latin typeface="微软雅黑" panose="020B0503020204020204" pitchFamily="34" charset="-122"/>
                <a:ea typeface="微软雅黑" panose="020B0503020204020204" pitchFamily="34" charset="-122"/>
              </a:rPr>
              <a:t>5,706</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，奉贤院区为</a:t>
            </a:r>
            <a:r>
              <a:rPr lang="en-US" altLang="zh-CN" sz="1600" b="1" kern="0" dirty="0">
                <a:solidFill>
                  <a:srgbClr val="C00000"/>
                </a:solidFill>
                <a:latin typeface="微软雅黑" panose="020B0503020204020204" pitchFamily="34" charset="-122"/>
                <a:ea typeface="微软雅黑" panose="020B0503020204020204" pitchFamily="34" charset="-122"/>
              </a:rPr>
              <a:t>-</a:t>
            </a:r>
            <a:r>
              <a:rPr lang="en-US" altLang="zh-CN" sz="1600" b="1" dirty="0">
                <a:solidFill>
                  <a:srgbClr val="C00000"/>
                </a:solidFill>
                <a:latin typeface="微软雅黑" panose="020B0503020204020204" pitchFamily="34" charset="-122"/>
                <a:ea typeface="微软雅黑" panose="020B0503020204020204" pitchFamily="34" charset="-122"/>
              </a:rPr>
              <a:t>26,813</a:t>
            </a:r>
            <a:r>
              <a:rPr lang="zh-CN" altLang="en-US" sz="1600" b="1" kern="0" dirty="0">
                <a:solidFill>
                  <a:srgbClr val="C00000"/>
                </a:solidFill>
                <a:latin typeface="微软雅黑" panose="020B0503020204020204" pitchFamily="34" charset="-122"/>
                <a:ea typeface="微软雅黑" panose="020B0503020204020204" pitchFamily="34" charset="-122"/>
              </a:rPr>
              <a:t>万元</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821044618"/>
              </p:ext>
            </p:extLst>
          </p:nvPr>
        </p:nvGraphicFramePr>
        <p:xfrm>
          <a:off x="1052945" y="1478329"/>
          <a:ext cx="9993746" cy="3471697"/>
        </p:xfrm>
        <a:graphic>
          <a:graphicData uri="http://schemas.openxmlformats.org/drawingml/2006/table">
            <a:tbl>
              <a:tblPr/>
              <a:tblGrid>
                <a:gridCol w="2495474">
                  <a:extLst>
                    <a:ext uri="{9D8B030D-6E8A-4147-A177-3AD203B41FA5}">
                      <a16:colId xmlns:a16="http://schemas.microsoft.com/office/drawing/2014/main" val="20000"/>
                    </a:ext>
                  </a:extLst>
                </a:gridCol>
                <a:gridCol w="1830014">
                  <a:extLst>
                    <a:ext uri="{9D8B030D-6E8A-4147-A177-3AD203B41FA5}">
                      <a16:colId xmlns:a16="http://schemas.microsoft.com/office/drawing/2014/main" val="20001"/>
                    </a:ext>
                  </a:extLst>
                </a:gridCol>
                <a:gridCol w="1372511">
                  <a:extLst>
                    <a:ext uri="{9D8B030D-6E8A-4147-A177-3AD203B41FA5}">
                      <a16:colId xmlns:a16="http://schemas.microsoft.com/office/drawing/2014/main" val="20002"/>
                    </a:ext>
                  </a:extLst>
                </a:gridCol>
                <a:gridCol w="1775587">
                  <a:extLst>
                    <a:ext uri="{9D8B030D-6E8A-4147-A177-3AD203B41FA5}">
                      <a16:colId xmlns:a16="http://schemas.microsoft.com/office/drawing/2014/main" val="20003"/>
                    </a:ext>
                  </a:extLst>
                </a:gridCol>
                <a:gridCol w="1248434">
                  <a:extLst>
                    <a:ext uri="{9D8B030D-6E8A-4147-A177-3AD203B41FA5}">
                      <a16:colId xmlns:a16="http://schemas.microsoft.com/office/drawing/2014/main" val="20004"/>
                    </a:ext>
                  </a:extLst>
                </a:gridCol>
                <a:gridCol w="1271726">
                  <a:extLst>
                    <a:ext uri="{9D8B030D-6E8A-4147-A177-3AD203B41FA5}">
                      <a16:colId xmlns:a16="http://schemas.microsoft.com/office/drawing/2014/main" val="20005"/>
                    </a:ext>
                  </a:extLst>
                </a:gridCol>
              </a:tblGrid>
              <a:tr h="72680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extLst>
                  <a:ext uri="{0D108BD9-81ED-4DB2-BD59-A6C34878D82A}">
                    <a16:rowId xmlns:a16="http://schemas.microsoft.com/office/drawing/2014/main" val="10000"/>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67,338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14,595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51,336</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16,002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31.17%</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extLst>
                  <a:ext uri="{0D108BD9-81ED-4DB2-BD59-A6C34878D82A}">
                    <a16:rowId xmlns:a16="http://schemas.microsoft.com/office/drawing/2014/main" val="10001"/>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加：财政基本拨款收入</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2,502</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2,411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3.77%</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减：医疗成本</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70,318</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17,384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57,616</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12,702</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22.05%</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医疗服务盈余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-478</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-2,789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-3,869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3,391</a:t>
                      </a:r>
                    </a:p>
                  </a:txBody>
                  <a:tcPr marL="9525" marR="9525" marT="9525" marB="0" anchor="ctr">
                    <a:lnL>
                      <a:noFill/>
                    </a:lnL>
                    <a:lnR>
                      <a:noFill/>
                    </a:lnR>
                    <a:lnT>
                      <a:noFill/>
                    </a:lnT>
                    <a:lnB>
                      <a:noFill/>
                    </a:lnB>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其他盈余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277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116</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1,854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-1,577</a:t>
                      </a:r>
                    </a:p>
                  </a:txBody>
                  <a:tcPr marL="9525" marR="9525" marT="9525" marB="0" anchor="ctr">
                    <a:lnL>
                      <a:noFill/>
                    </a:lnL>
                    <a:lnR>
                      <a:noFill/>
                    </a:lnR>
                    <a:lnT>
                      <a:noFill/>
                    </a:lnT>
                    <a:lnB>
                      <a:noFill/>
                    </a:lnB>
                  </a:tcPr>
                </a:tc>
                <a:tc>
                  <a:txBody>
                    <a:bodyPr/>
                    <a:lstStyle/>
                    <a:p>
                      <a:pPr algn="ctr" rtl="0" fontAlgn="ctr"/>
                      <a:r>
                        <a:rPr lang="en-US" altLang="zh-CN" sz="1400" b="1" i="0" u="none" strike="noStrike">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45748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收支结余</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-201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-2,673</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-2,015</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1,814</a:t>
                      </a:r>
                    </a:p>
                  </a:txBody>
                  <a:tcPr marL="9525" marR="9525" marT="9525" marB="0" anchor="ctr">
                    <a:lnL>
                      <a:noFill/>
                    </a:lnL>
                    <a:lnR>
                      <a:noFill/>
                    </a:lnR>
                    <a:lnT>
                      <a:noFill/>
                    </a:lnT>
                    <a:lnB>
                      <a:noFill/>
                    </a:lnB>
                  </a:tcPr>
                </a:tc>
                <a:tc>
                  <a:txBody>
                    <a:bodyPr/>
                    <a:lstStyle/>
                    <a:p>
                      <a:pPr algn="ctr" rtl="0" fontAlgn="ctr"/>
                      <a:r>
                        <a:rPr lang="en-US" altLang="zh-CN" sz="1400" b="1" i="0" u="none" strike="noStrike" dirty="0">
                          <a:solidFill>
                            <a:srgbClr val="C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二、业务量分析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a:t>
            </a:r>
          </a:p>
        </p:txBody>
      </p:sp>
      <p:sp>
        <p:nvSpPr>
          <p:cNvPr id="52" name="矩形 51"/>
          <p:cNvSpPr/>
          <p:nvPr/>
        </p:nvSpPr>
        <p:spPr>
          <a:xfrm>
            <a:off x="391950" y="5151803"/>
            <a:ext cx="11454992"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46.53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28.6%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37.22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33.4%</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同比增幅</a:t>
            </a:r>
            <a:r>
              <a:rPr lang="en-US" altLang="zh-CN" sz="1600" b="1" kern="0" dirty="0">
                <a:solidFill>
                  <a:srgbClr val="C00000"/>
                </a:solidFill>
                <a:latin typeface="微软雅黑" panose="020B0503020204020204" pitchFamily="34" charset="-122"/>
                <a:ea typeface="微软雅黑" panose="020B0503020204020204" pitchFamily="34" charset="-122"/>
              </a:rPr>
              <a:t>12.4%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9.69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门急诊人次</a:t>
                      </a:r>
                    </a:p>
                  </a:txBody>
                  <a:tcPr marL="9525" marR="9525" marT="9525" marB="0" anchor="ctr"/>
                </a:tc>
                <a:tc>
                  <a:txBody>
                    <a:bodyPr/>
                    <a:lstStyle/>
                    <a:p>
                      <a:pPr algn="ctr" fontAlgn="ctr"/>
                      <a:r>
                        <a:rPr lang="en-US" altLang="zh-CN" sz="1200" b="1" i="0">
                          <a:solidFill>
                            <a:srgbClr val="000000"/>
                          </a:solidFill>
                          <a:latin typeface="等线" panose="02010600030101010101" charset="-122"/>
                          <a:ea typeface="等线" panose="02010600030101010101" charset="-122"/>
                        </a:rPr>
                        <a:t>46.53 </a:t>
                      </a:r>
                    </a:p>
                  </a:txBody>
                  <a:tcPr marL="9842" marR="9842" marT="9842" marB="0" anchor="ctr"/>
                </a:tc>
                <a:tc>
                  <a:txBody>
                    <a:bodyPr/>
                    <a:lstStyle/>
                    <a:p>
                      <a:pPr algn="ctr" fontAlgn="ctr"/>
                      <a:r>
                        <a:rPr lang="en-US" altLang="zh-CN" sz="1200" b="1" i="0">
                          <a:solidFill>
                            <a:srgbClr val="000000"/>
                          </a:solidFill>
                          <a:latin typeface="等线" panose="02010600030101010101" charset="-122"/>
                          <a:ea typeface="等线" panose="02010600030101010101" charset="-122"/>
                        </a:rPr>
                        <a:t>36.18 </a:t>
                      </a:r>
                    </a:p>
                  </a:txBody>
                  <a:tcPr marL="9842" marR="9842" marT="9842" marB="0" anchor="ctr"/>
                </a:tc>
                <a:tc>
                  <a:txBody>
                    <a:bodyPr/>
                    <a:lstStyle/>
                    <a:p>
                      <a:pPr algn="ctr" fontAlgn="ctr"/>
                      <a:r>
                        <a:rPr lang="en-US" altLang="zh-CN" sz="1200" b="1" i="0">
                          <a:solidFill>
                            <a:srgbClr val="C00000"/>
                          </a:solidFill>
                          <a:latin typeface="等线" panose="02010600030101010101" charset="-122"/>
                          <a:ea typeface="等线" panose="02010600030101010101" charset="-122"/>
                        </a:rPr>
                        <a:t>28.6%</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等线" panose="02010600030101010101" charset="-122"/>
                          <a:ea typeface="等线" panose="02010600030101010101" charset="-122"/>
                        </a:rPr>
                        <a:t>36.85 </a:t>
                      </a:r>
                    </a:p>
                  </a:txBody>
                  <a:tcPr marL="9842" marR="9842" marT="9842" marB="0" anchor="ctr"/>
                </a:tc>
                <a:tc>
                  <a:txBody>
                    <a:bodyPr/>
                    <a:lstStyle/>
                    <a:p>
                      <a:pPr algn="ctr" fontAlgn="ctr"/>
                      <a:r>
                        <a:rPr lang="en-US" altLang="zh-CN" sz="1200" b="1" i="0">
                          <a:solidFill>
                            <a:srgbClr val="000000"/>
                          </a:solidFill>
                          <a:latin typeface="等线" panose="02010600030101010101" charset="-122"/>
                          <a:ea typeface="等线" panose="02010600030101010101" charset="-122"/>
                        </a:rPr>
                        <a:t>36.18 </a:t>
                      </a:r>
                    </a:p>
                  </a:txBody>
                  <a:tcPr marL="9842" marR="9842" marT="9842" marB="0" anchor="ctr"/>
                </a:tc>
                <a:tc>
                  <a:txBody>
                    <a:bodyPr/>
                    <a:lstStyle/>
                    <a:p>
                      <a:pPr algn="ctr" fontAlgn="ctr"/>
                      <a:r>
                        <a:rPr lang="en-US" altLang="zh-CN" sz="1200" b="1" i="0">
                          <a:solidFill>
                            <a:srgbClr val="C00000"/>
                          </a:solidFill>
                          <a:latin typeface="等线" panose="02010600030101010101" charset="-122"/>
                          <a:ea typeface="等线" panose="02010600030101010101" charset="-122"/>
                        </a:rPr>
                        <a:t>1.9%</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等线" panose="02010600030101010101" charset="-122"/>
                          <a:ea typeface="等线" panose="02010600030101010101" charset="-122"/>
                        </a:rPr>
                        <a:t>9.69 </a:t>
                      </a:r>
                    </a:p>
                  </a:txBody>
                  <a:tcPr marL="9842" marR="9842" marT="9842" marB="0" anchor="ctr"/>
                </a:tc>
                <a:tc>
                  <a:txBody>
                    <a:bodyPr/>
                    <a:lstStyle/>
                    <a:p>
                      <a:pPr marL="0" algn="ctr" defTabSz="914400" rtl="0" eaLnBrk="1" fontAlgn="ctr" latinLnBrk="0" hangingPunct="1">
                        <a:buNone/>
                      </a:pPr>
                      <a:r>
                        <a:rPr lang="en-US" altLang="zh-CN" sz="1400" b="1" i="0" u="none" strike="noStrike" kern="1200">
                          <a:solidFill>
                            <a:srgbClr val="000000"/>
                          </a:solidFill>
                          <a:effectLst/>
                          <a:latin typeface="微软雅黑" panose="020B0503020204020204" pitchFamily="34" charset="-122"/>
                          <a:ea typeface="微软雅黑" panose="020B0503020204020204" pitchFamily="34" charset="-122"/>
                          <a:cs typeface="+mn-cs"/>
                        </a:rPr>
                        <a:t>/</a:t>
                      </a:r>
                    </a:p>
                  </a:txBody>
                  <a:tcPr marL="9525" marR="9525" marT="9525" marB="0" anchor="ctr"/>
                </a:tc>
                <a:tc>
                  <a:txBody>
                    <a:bodyPr/>
                    <a:lstStyle/>
                    <a:p>
                      <a:pPr marL="0" algn="ctr" defTabSz="914400" rtl="0" eaLnBrk="1" fontAlgn="ctr" latinLnBrk="0" hangingPunct="1">
                        <a:buNone/>
                      </a:pPr>
                      <a:r>
                        <a:rPr lang="en-US" altLang="zh-CN" sz="14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9525" marR="9525" marT="9525"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713355" y="2109470"/>
            <a:ext cx="125793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+28.6%</a:t>
            </a:r>
          </a:p>
        </p:txBody>
      </p:sp>
      <p:graphicFrame>
        <p:nvGraphicFramePr>
          <p:cNvPr id="9" name="图表 8"/>
          <p:cNvGraphicFramePr/>
          <p:nvPr/>
        </p:nvGraphicFramePr>
        <p:xfrm>
          <a:off x="955675" y="2286000"/>
          <a:ext cx="5134610"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500063" y="4545275"/>
            <a:ext cx="11132731" cy="1936750"/>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月，全院门诊人次占门急诊总人次 </a:t>
            </a:r>
            <a:r>
              <a:rPr lang="en-US" altLang="zh-CN" sz="1600" b="1" kern="0" dirty="0">
                <a:solidFill>
                  <a:srgbClr val="C00000"/>
                </a:solidFill>
                <a:latin typeface="微软雅黑" panose="020B0503020204020204" pitchFamily="34" charset="-122"/>
                <a:ea typeface="微软雅黑" panose="020B0503020204020204" pitchFamily="34" charset="-122"/>
              </a:rPr>
              <a:t>87.5%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a:t>
            </a:r>
            <a:r>
              <a:rPr lang="zh-CN" altLang="en-US" sz="1600" b="1" kern="0" dirty="0">
                <a:solidFill>
                  <a:srgbClr val="002060"/>
                </a:solidFill>
                <a:latin typeface="微软雅黑" panose="020B0503020204020204" pitchFamily="34" charset="-122"/>
                <a:ea typeface="微软雅黑" panose="020B0503020204020204" pitchFamily="34" charset="-122"/>
              </a:rPr>
              <a:t>人次占</a:t>
            </a:r>
            <a:r>
              <a:rPr lang="en-US" altLang="zh-CN" sz="1600" b="1" kern="0" dirty="0">
                <a:solidFill>
                  <a:srgbClr val="C00000"/>
                </a:solidFill>
                <a:latin typeface="微软雅黑" panose="020B0503020204020204" pitchFamily="34" charset="-122"/>
                <a:ea typeface="微软雅黑" panose="020B0503020204020204" pitchFamily="34" charset="-122"/>
              </a:rPr>
              <a:t>12.5%</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。其中，门诊人次占比同比下降</a:t>
            </a:r>
            <a:r>
              <a:rPr lang="en-US" altLang="zh-CN" sz="1600" b="1" kern="0" dirty="0">
                <a:solidFill>
                  <a:schemeClr val="accent6"/>
                </a:solidFill>
                <a:latin typeface="微软雅黑" panose="020B0503020204020204" pitchFamily="34" charset="-122"/>
                <a:ea typeface="微软雅黑" panose="020B0503020204020204" pitchFamily="34" charset="-122"/>
              </a:rPr>
              <a:t>0.2</a:t>
            </a:r>
            <a:r>
              <a:rPr lang="zh-CN" altLang="en-US" sz="1600" b="1" kern="0" dirty="0">
                <a:solidFill>
                  <a:srgbClr val="002060"/>
                </a:solidFill>
                <a:latin typeface="微软雅黑" panose="020B0503020204020204" pitchFamily="34" charset="-122"/>
                <a:ea typeface="微软雅黑" panose="020B0503020204020204" pitchFamily="34" charset="-122"/>
              </a:rPr>
              <a:t>个百分点，急诊人次与之相反。</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月，杨浦院区门诊人次占该院门急诊总人次</a:t>
            </a:r>
            <a:r>
              <a:rPr lang="en-US" altLang="zh-CN" sz="1600" b="1" kern="0" dirty="0">
                <a:solidFill>
                  <a:srgbClr val="C00000"/>
                </a:solidFill>
                <a:latin typeface="微软雅黑" panose="020B0503020204020204" pitchFamily="34" charset="-122"/>
                <a:ea typeface="微软雅黑" panose="020B0503020204020204" pitchFamily="34" charset="-122"/>
              </a:rPr>
              <a:t>89%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，急诊人次占 </a:t>
            </a:r>
            <a:r>
              <a:rPr lang="en-US" altLang="zh-CN" sz="1600" b="1" kern="0" dirty="0">
                <a:solidFill>
                  <a:srgbClr val="C00000"/>
                </a:solidFill>
                <a:latin typeface="微软雅黑" panose="020B0503020204020204" pitchFamily="34" charset="-122"/>
                <a:ea typeface="微软雅黑" panose="020B0503020204020204" pitchFamily="34" charset="-122"/>
              </a:rPr>
              <a:t>11%</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占比同比增长</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个百分点，急诊人次与之相反</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奉贤院区门诊人次占该院门急诊总人次</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81.8%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a:t>
            </a:r>
            <a:r>
              <a:rPr lang="zh-CN" altLang="en-US" sz="1600" b="1" kern="0" dirty="0">
                <a:solidFill>
                  <a:srgbClr val="002060"/>
                </a:solidFill>
                <a:latin typeface="微软雅黑" panose="020B0503020204020204" pitchFamily="34" charset="-122"/>
                <a:ea typeface="微软雅黑" panose="020B0503020204020204" pitchFamily="34" charset="-122"/>
              </a:rPr>
              <a:t>占</a:t>
            </a:r>
            <a:r>
              <a:rPr lang="zh-CN" altLang="en-US" sz="1600" b="1" kern="0" dirty="0">
                <a:solidFill>
                  <a:srgbClr val="C00000"/>
                </a:solidFill>
                <a:latin typeface="微软雅黑" panose="020B0503020204020204" pitchFamily="34" charset="-122"/>
                <a:ea typeface="微软雅黑" panose="020B0503020204020204" pitchFamily="34" charset="-122"/>
              </a:rPr>
              <a:t> </a:t>
            </a:r>
            <a:r>
              <a:rPr lang="en-US" altLang="zh-CN" sz="1600" b="1" kern="0" dirty="0">
                <a:solidFill>
                  <a:srgbClr val="C00000"/>
                </a:solidFill>
                <a:latin typeface="微软雅黑" panose="020B0503020204020204" pitchFamily="34" charset="-122"/>
                <a:ea typeface="微软雅黑" panose="020B0503020204020204" pitchFamily="34" charset="-122"/>
              </a:rPr>
              <a:t>18.2%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02060"/>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门急诊业务量构成</a:t>
            </a:r>
          </a:p>
        </p:txBody>
      </p:sp>
      <p:graphicFrame>
        <p:nvGraphicFramePr>
          <p:cNvPr id="5" name="表格 4"/>
          <p:cNvGraphicFramePr>
            <a:graphicFrameLocks noGrp="1"/>
          </p:cNvGraphicFramePr>
          <p:nvPr>
            <p:extLst>
              <p:ext uri="{D42A27DB-BD31-4B8C-83A1-F6EECF244321}">
                <p14:modId xmlns:p14="http://schemas.microsoft.com/office/powerpoint/2010/main" val="894507424"/>
              </p:ext>
            </p:extLst>
          </p:nvPr>
        </p:nvGraphicFramePr>
        <p:xfrm>
          <a:off x="500063" y="1249851"/>
          <a:ext cx="11335546" cy="2839791"/>
        </p:xfrm>
        <a:graphic>
          <a:graphicData uri="http://schemas.openxmlformats.org/drawingml/2006/table">
            <a:tbl>
              <a:tblPr>
                <a:tableStyleId>{5C22544A-7EE6-4342-B048-85BDC9FD1C3A}</a:tableStyleId>
              </a:tblPr>
              <a:tblGrid>
                <a:gridCol w="1374004">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860404">
                  <a:extLst>
                    <a:ext uri="{9D8B030D-6E8A-4147-A177-3AD203B41FA5}">
                      <a16:colId xmlns:a16="http://schemas.microsoft.com/office/drawing/2014/main" val="20002"/>
                    </a:ext>
                  </a:extLst>
                </a:gridCol>
                <a:gridCol w="1284605">
                  <a:extLst>
                    <a:ext uri="{9D8B030D-6E8A-4147-A177-3AD203B41FA5}">
                      <a16:colId xmlns:a16="http://schemas.microsoft.com/office/drawing/2014/main" val="20003"/>
                    </a:ext>
                  </a:extLst>
                </a:gridCol>
                <a:gridCol w="1062886">
                  <a:extLst>
                    <a:ext uri="{9D8B030D-6E8A-4147-A177-3AD203B41FA5}">
                      <a16:colId xmlns:a16="http://schemas.microsoft.com/office/drawing/2014/main" val="20004"/>
                    </a:ext>
                  </a:extLst>
                </a:gridCol>
                <a:gridCol w="1351861">
                  <a:extLst>
                    <a:ext uri="{9D8B030D-6E8A-4147-A177-3AD203B41FA5}">
                      <a16:colId xmlns:a16="http://schemas.microsoft.com/office/drawing/2014/main" val="20005"/>
                    </a:ext>
                  </a:extLst>
                </a:gridCol>
                <a:gridCol w="1342728">
                  <a:extLst>
                    <a:ext uri="{9D8B030D-6E8A-4147-A177-3AD203B41FA5}">
                      <a16:colId xmlns:a16="http://schemas.microsoft.com/office/drawing/2014/main" val="20006"/>
                    </a:ext>
                  </a:extLst>
                </a:gridCol>
                <a:gridCol w="1388398">
                  <a:extLst>
                    <a:ext uri="{9D8B030D-6E8A-4147-A177-3AD203B41FA5}">
                      <a16:colId xmlns:a16="http://schemas.microsoft.com/office/drawing/2014/main" val="20007"/>
                    </a:ext>
                  </a:extLst>
                </a:gridCol>
                <a:gridCol w="1324460">
                  <a:extLst>
                    <a:ext uri="{9D8B030D-6E8A-4147-A177-3AD203B41FA5}">
                      <a16:colId xmlns:a16="http://schemas.microsoft.com/office/drawing/2014/main" val="20008"/>
                    </a:ext>
                  </a:extLst>
                </a:gridCol>
              </a:tblGrid>
              <a:tr h="569890">
                <a:tc rowSpan="2">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项目</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门急诊人次</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gridSpan="3">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门诊人次</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gridSpan="3">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急诊人次</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60231">
                <a:tc vMerge="1">
                  <a:txBody>
                    <a:bodyPr/>
                    <a:lstStyle/>
                    <a:p>
                      <a:endParaRPr lang="zh-CN"/>
                    </a:p>
                  </a:txBody>
                  <a:tcPr/>
                </a:tc>
                <a:tc>
                  <a:txBody>
                    <a:bodyPr/>
                    <a:lstStyle/>
                    <a:p>
                      <a:pPr algn="ctr" fontAlgn="ctr">
                        <a:buNone/>
                      </a:pPr>
                      <a:r>
                        <a:rPr lang="en-US" altLang="zh-CN" sz="1600" b="1" u="none" strike="noStrike" dirty="0">
                          <a:effectLst/>
                          <a:latin typeface="微软雅黑" panose="020B0503020204020204" pitchFamily="34" charset="-122"/>
                          <a:ea typeface="微软雅黑" panose="020B0503020204020204" pitchFamily="34" charset="-122"/>
                        </a:rPr>
                        <a:t>2026</a:t>
                      </a:r>
                      <a:r>
                        <a:rPr lang="zh-CN" altLang="en-US" sz="1600" b="1" u="none" strike="noStrike" dirty="0">
                          <a:effectLst/>
                          <a:latin typeface="微软雅黑" panose="020B0503020204020204" pitchFamily="34" charset="-122"/>
                          <a:ea typeface="微软雅黑" panose="020B0503020204020204" pitchFamily="34" charset="-122"/>
                        </a:rPr>
                        <a:t>年</a:t>
                      </a:r>
                      <a:r>
                        <a:rPr lang="en-US" altLang="zh-CN" sz="1600" b="1" u="none" strike="noStrike" dirty="0">
                          <a:effectLst/>
                          <a:latin typeface="微软雅黑" panose="020B0503020204020204" pitchFamily="34" charset="-122"/>
                          <a:ea typeface="微软雅黑" panose="020B0503020204020204" pitchFamily="34" charset="-122"/>
                        </a:rPr>
                        <a:t>4</a:t>
                      </a:r>
                      <a:r>
                        <a:rPr lang="zh-CN" altLang="en-US" sz="1600" b="1" u="none" strike="noStrike" dirty="0">
                          <a:effectLst/>
                          <a:latin typeface="微软雅黑" panose="020B0503020204020204" pitchFamily="34" charset="-122"/>
                          <a:ea typeface="微软雅黑" panose="020B0503020204020204" pitchFamily="34" charset="-122"/>
                        </a:rPr>
                        <a:t>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占比</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1" u="none" strike="noStrike" dirty="0">
                          <a:effectLst/>
                          <a:latin typeface="微软雅黑" panose="020B0503020204020204" pitchFamily="34" charset="-122"/>
                          <a:ea typeface="微软雅黑" panose="020B0503020204020204" pitchFamily="34" charset="-122"/>
                        </a:rPr>
                        <a:t>2026</a:t>
                      </a:r>
                      <a:r>
                        <a:rPr lang="zh-CN" altLang="en-US" sz="1600" b="1" u="none" strike="noStrike" dirty="0">
                          <a:effectLst/>
                          <a:latin typeface="微软雅黑" panose="020B0503020204020204" pitchFamily="34" charset="-122"/>
                          <a:ea typeface="微软雅黑" panose="020B0503020204020204" pitchFamily="34" charset="-122"/>
                        </a:rPr>
                        <a:t>年</a:t>
                      </a:r>
                      <a:r>
                        <a:rPr lang="en-US" altLang="zh-CN" sz="1600" b="1" u="none" strike="noStrike" dirty="0">
                          <a:effectLst/>
                          <a:latin typeface="微软雅黑" panose="020B0503020204020204" pitchFamily="34" charset="-122"/>
                          <a:ea typeface="微软雅黑" panose="020B0503020204020204" pitchFamily="34" charset="-122"/>
                        </a:rPr>
                        <a:t>4</a:t>
                      </a:r>
                      <a:r>
                        <a:rPr lang="zh-CN" altLang="en-US" sz="1600" b="1" u="none" strike="noStrike" dirty="0">
                          <a:effectLst/>
                          <a:latin typeface="微软雅黑" panose="020B0503020204020204" pitchFamily="34" charset="-122"/>
                          <a:ea typeface="微软雅黑" panose="020B0503020204020204" pitchFamily="34" charset="-122"/>
                        </a:rPr>
                        <a:t>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占比</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占比增减额</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1" u="none" strike="noStrike" dirty="0">
                          <a:effectLst/>
                          <a:latin typeface="微软雅黑" panose="020B0503020204020204" pitchFamily="34" charset="-122"/>
                          <a:ea typeface="微软雅黑" panose="020B0503020204020204" pitchFamily="34" charset="-122"/>
                        </a:rPr>
                        <a:t>2026</a:t>
                      </a:r>
                      <a:r>
                        <a:rPr lang="zh-CN" altLang="en-US" sz="1600" b="1" u="none" strike="noStrike" dirty="0">
                          <a:effectLst/>
                          <a:latin typeface="微软雅黑" panose="020B0503020204020204" pitchFamily="34" charset="-122"/>
                          <a:ea typeface="微软雅黑" panose="020B0503020204020204" pitchFamily="34" charset="-122"/>
                        </a:rPr>
                        <a:t>年</a:t>
                      </a:r>
                      <a:r>
                        <a:rPr lang="en-US" altLang="zh-CN" sz="1600" b="1" u="none" strike="noStrike" dirty="0">
                          <a:effectLst/>
                          <a:latin typeface="微软雅黑" panose="020B0503020204020204" pitchFamily="34" charset="-122"/>
                          <a:ea typeface="微软雅黑" panose="020B0503020204020204" pitchFamily="34" charset="-122"/>
                        </a:rPr>
                        <a:t>4</a:t>
                      </a:r>
                      <a:r>
                        <a:rPr lang="zh-CN" altLang="en-US" sz="1600" b="1" u="none" strike="noStrike" dirty="0">
                          <a:effectLst/>
                          <a:latin typeface="微软雅黑" panose="020B0503020204020204" pitchFamily="34" charset="-122"/>
                          <a:ea typeface="微软雅黑" panose="020B0503020204020204" pitchFamily="34" charset="-122"/>
                        </a:rPr>
                        <a:t>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占比</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1" u="none" strike="noStrike" dirty="0">
                          <a:effectLst/>
                          <a:latin typeface="微软雅黑" panose="020B0503020204020204" pitchFamily="34" charset="-122"/>
                          <a:ea typeface="微软雅黑" panose="020B0503020204020204" pitchFamily="34" charset="-122"/>
                        </a:rPr>
                        <a:t>占比增减额</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0231">
                <a:tc>
                  <a:txBody>
                    <a:bodyPr/>
                    <a:lstStyle/>
                    <a:p>
                      <a:pPr algn="ctr" fontAlgn="ctr">
                        <a:buNone/>
                      </a:pPr>
                      <a:r>
                        <a:rPr lang="zh-CN" altLang="en-US" sz="1600" u="none" strike="noStrike" dirty="0">
                          <a:effectLst/>
                          <a:latin typeface="微软雅黑" panose="020B0503020204020204" pitchFamily="34" charset="-122"/>
                          <a:ea typeface="微软雅黑" panose="020B0503020204020204" pitchFamily="34" charset="-122"/>
                        </a:rPr>
                        <a:t>合计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46.53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u="none" strike="noStrike" kern="1200">
                          <a:solidFill>
                            <a:schemeClr val="dk1"/>
                          </a:solidFill>
                          <a:effectLst/>
                          <a:latin typeface="微软雅黑" panose="020B0503020204020204" pitchFamily="34" charset="-122"/>
                          <a:ea typeface="微软雅黑" panose="020B0503020204020204" pitchFamily="34" charset="-122"/>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40.72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87.5%</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-0.2%</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5.81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12.5%</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0.2%</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0231">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其中：杨浦</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36.85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u="none" strike="noStrike" kern="1200" dirty="0">
                          <a:solidFill>
                            <a:schemeClr val="dk1"/>
                          </a:solidFill>
                          <a:effectLst/>
                          <a:latin typeface="微软雅黑" panose="020B0503020204020204" pitchFamily="34" charset="-122"/>
                          <a:ea typeface="微软雅黑" panose="020B0503020204020204" pitchFamily="34" charset="-122"/>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32.81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89.0%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1.3%</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4.04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11.0%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-1.3%</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9208">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奉贤</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9.69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u="none" strike="noStrike" kern="1200">
                          <a:solidFill>
                            <a:schemeClr val="dk1"/>
                          </a:solidFill>
                          <a:effectLst/>
                          <a:latin typeface="微软雅黑" panose="020B0503020204020204" pitchFamily="34" charset="-122"/>
                          <a:ea typeface="微软雅黑" panose="020B0503020204020204" pitchFamily="34" charset="-122"/>
                          <a:cs typeface="+mn-cs"/>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7.92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81.8%</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9C0006"/>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1.77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a:solidFill>
                            <a:srgbClr val="000000"/>
                          </a:solidFill>
                          <a:latin typeface="等线" panose="02010600030101010101" charset="-122"/>
                          <a:ea typeface="等线" panose="02010600030101010101" charset="-122"/>
                        </a:rPr>
                        <a:t>18.2%</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0" i="0" dirty="0">
                          <a:solidFill>
                            <a:srgbClr val="9C0006"/>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p>
        </p:txBody>
      </p:sp>
      <p:sp>
        <p:nvSpPr>
          <p:cNvPr id="52" name="矩形 51"/>
          <p:cNvSpPr/>
          <p:nvPr/>
        </p:nvSpPr>
        <p:spPr>
          <a:xfrm>
            <a:off x="607028" y="5201063"/>
            <a:ext cx="11227006"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40.73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8.98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28.3%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33.29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33.5%</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7.44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9.4%</a:t>
            </a:r>
            <a:r>
              <a:rPr kumimoji="0" lang="en-US" altLang="zh-CN" sz="1600" b="1" i="0" u="none" strike="noStrike" kern="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7.92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4</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门诊人次</a:t>
                      </a:r>
                    </a:p>
                  </a:txBody>
                  <a:tcPr marL="9525" marR="9525" marT="9525"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40.73 </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31.75 </a:t>
                      </a:r>
                    </a:p>
                  </a:txBody>
                  <a:tcPr marL="9842" marR="9842" marT="9842" marB="0" anchor="ctr"/>
                </a:tc>
                <a:tc>
                  <a:txBody>
                    <a:bodyPr/>
                    <a:lstStyle/>
                    <a:p>
                      <a:pPr algn="ctr" fontAlgn="ctr"/>
                      <a:r>
                        <a:rPr lang="en-US" altLang="zh-CN" sz="1400" b="1" i="0">
                          <a:solidFill>
                            <a:srgbClr val="9C0006"/>
                          </a:solidFill>
                          <a:latin typeface="微软雅黑" panose="020B0503020204020204" pitchFamily="34" charset="-122"/>
                          <a:ea typeface="微软雅黑" panose="020B0503020204020204" pitchFamily="34" charset="-122"/>
                        </a:rPr>
                        <a:t>28.3%</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32.81 </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31.75 </a:t>
                      </a:r>
                    </a:p>
                  </a:txBody>
                  <a:tcPr marL="9842" marR="9842" marT="9842" marB="0" anchor="ctr"/>
                </a:tc>
                <a:tc>
                  <a:txBody>
                    <a:bodyPr/>
                    <a:lstStyle/>
                    <a:p>
                      <a:pPr algn="ctr" fontAlgn="ctr"/>
                      <a:r>
                        <a:rPr lang="en-US" altLang="zh-CN" sz="1400" b="1" i="0">
                          <a:solidFill>
                            <a:srgbClr val="9C0006"/>
                          </a:solidFill>
                          <a:latin typeface="微软雅黑" panose="020B0503020204020204" pitchFamily="34" charset="-122"/>
                          <a:ea typeface="微软雅黑" panose="020B0503020204020204" pitchFamily="34" charset="-122"/>
                        </a:rPr>
                        <a:t>3.3%</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7.92 </a:t>
                      </a:r>
                    </a:p>
                  </a:txBody>
                  <a:tcPr marL="9842" marR="9842" marT="9842" marB="0" anchor="ctr"/>
                </a:tc>
                <a:tc>
                  <a:txBody>
                    <a:bodyPr/>
                    <a:lstStyle/>
                    <a:p>
                      <a:pPr marL="0" algn="ctr" defTabSz="914400" rtl="0" eaLnBrk="1" fontAlgn="ctr" latinLnBrk="0" hangingPunct="1">
                        <a:buNone/>
                      </a:pP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9525" marR="9525" marT="9525" marB="0" anchor="ctr"/>
                </a:tc>
                <a:tc>
                  <a:txBody>
                    <a:bodyPr/>
                    <a:lstStyle/>
                    <a:p>
                      <a:pPr marL="0" algn="ctr" defTabSz="914400" rtl="0" eaLnBrk="1" fontAlgn="ctr" latinLnBrk="0" hangingPunct="1">
                        <a:buNone/>
                      </a:pP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9525" marR="9525" marT="9525"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912675" y="2109490"/>
            <a:ext cx="995202"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+28.3%</a:t>
            </a:r>
          </a:p>
        </p:txBody>
      </p:sp>
      <p:graphicFrame>
        <p:nvGraphicFramePr>
          <p:cNvPr id="9" name="图表 8"/>
          <p:cNvGraphicFramePr/>
          <p:nvPr/>
        </p:nvGraphicFramePr>
        <p:xfrm>
          <a:off x="1354773" y="2111375"/>
          <a:ext cx="4110355"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1312545" y="1711960"/>
          <a:ext cx="9595485" cy="2948305"/>
        </p:xfrm>
        <a:graphic>
          <a:graphicData uri="http://schemas.openxmlformats.org/drawingml/2006/table">
            <a:tbl>
              <a:tblPr/>
              <a:tblGrid>
                <a:gridCol w="2052955">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gridCol w="1570990">
                  <a:extLst>
                    <a:ext uri="{9D8B030D-6E8A-4147-A177-3AD203B41FA5}">
                      <a16:colId xmlns:a16="http://schemas.microsoft.com/office/drawing/2014/main" val="20002"/>
                    </a:ext>
                  </a:extLst>
                </a:gridCol>
                <a:gridCol w="1589405">
                  <a:extLst>
                    <a:ext uri="{9D8B030D-6E8A-4147-A177-3AD203B41FA5}">
                      <a16:colId xmlns:a16="http://schemas.microsoft.com/office/drawing/2014/main" val="20003"/>
                    </a:ext>
                  </a:extLst>
                </a:gridCol>
                <a:gridCol w="1570355">
                  <a:extLst>
                    <a:ext uri="{9D8B030D-6E8A-4147-A177-3AD203B41FA5}">
                      <a16:colId xmlns:a16="http://schemas.microsoft.com/office/drawing/2014/main" val="20004"/>
                    </a:ext>
                  </a:extLst>
                </a:gridCol>
                <a:gridCol w="1242060">
                  <a:extLst>
                    <a:ext uri="{9D8B030D-6E8A-4147-A177-3AD203B41FA5}">
                      <a16:colId xmlns:a16="http://schemas.microsoft.com/office/drawing/2014/main" val="20005"/>
                    </a:ext>
                  </a:extLst>
                </a:gridCol>
              </a:tblGrid>
              <a:tr h="310515">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科室名称</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同比增减率</a:t>
                      </a:r>
                    </a:p>
                  </a:txBody>
                  <a:tcPr marL="25400" marR="25400" marT="6350" marB="635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环比增减率</a:t>
                      </a:r>
                    </a:p>
                  </a:txBody>
                  <a:tcPr marL="25400" marR="25400" marT="6350" marB="635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647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感染科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915.00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1,521.00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-39.84%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956.00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-4.3%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7,410.00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8,559.00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-13.42%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7,349.00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362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15,290.00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17,224.00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-11.23%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13,997.00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7,598.00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8,145.00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-6.72%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7,259.00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851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1,751.00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1,845.00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-5.09%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1,701.00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15,891.00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16,481.00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-3.58%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15,715.00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3,727.00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3,859.00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-3.42%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3,786.00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-1.6%</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2654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42,704.00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43,981.00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-2.90%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40,848.00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2647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2,472.00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2,544.00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2,550.00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2647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1,224.00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1,255.00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-2.47%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1,242.00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12" name="矩形 11"/>
          <p:cNvSpPr/>
          <p:nvPr/>
        </p:nvSpPr>
        <p:spPr>
          <a:xfrm>
            <a:off x="782723" y="5015677"/>
            <a:ext cx="10704209"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，杨浦院区的成人科室中，门诊业务量同比下降前十的科室有：</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感染、中医、五官、呼吸</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、疼痛、急诊医学、肛肠、皮肤、心胸外、血液科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月，除</a:t>
            </a:r>
            <a:r>
              <a:rPr lang="zh-CN" altLang="en-US" sz="1600" b="1" kern="0" dirty="0">
                <a:solidFill>
                  <a:schemeClr val="accent6"/>
                </a:solidFill>
                <a:latin typeface="微软雅黑" panose="020B0503020204020204" pitchFamily="34" charset="-122"/>
                <a:ea typeface="微软雅黑" panose="020B0503020204020204" pitchFamily="34" charset="-122"/>
              </a:rPr>
              <a:t>感染、肛肠、心胸外、血液科</a:t>
            </a:r>
            <a:r>
              <a:rPr lang="zh-CN" altLang="en-US" sz="1600" b="1" kern="0" dirty="0">
                <a:solidFill>
                  <a:srgbClr val="002060"/>
                </a:solidFill>
                <a:latin typeface="微软雅黑" panose="020B0503020204020204" pitchFamily="34" charset="-122"/>
                <a:ea typeface="微软雅黑" panose="020B0503020204020204" pitchFamily="34" charset="-122"/>
              </a:rPr>
              <a:t>外，其余</a:t>
            </a:r>
            <a:r>
              <a:rPr lang="en-US" altLang="zh-CN" sz="1600" b="1" kern="0" dirty="0">
                <a:solidFill>
                  <a:srgbClr val="002060"/>
                </a:solidFill>
                <a:latin typeface="微软雅黑" panose="020B0503020204020204" pitchFamily="34" charset="-122"/>
                <a:ea typeface="微软雅黑" panose="020B0503020204020204" pitchFamily="34" charset="-122"/>
              </a:rPr>
              <a:t>6</a:t>
            </a:r>
            <a:r>
              <a:rPr lang="zh-CN" altLang="en-US" sz="1600" b="1" kern="0" dirty="0">
                <a:solidFill>
                  <a:srgbClr val="002060"/>
                </a:solidFill>
                <a:latin typeface="微软雅黑" panose="020B0503020204020204" pitchFamily="34" charset="-122"/>
                <a:ea typeface="微软雅黑" panose="020B0503020204020204" pitchFamily="34" charset="-122"/>
              </a:rPr>
              <a:t>个科室环比</a:t>
            </a: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zh-CN" altLang="en-US" sz="1600" b="1" kern="0" dirty="0">
                <a:solidFill>
                  <a:srgbClr val="002060"/>
                </a:solidFill>
                <a:latin typeface="微软雅黑" panose="020B0503020204020204" pitchFamily="34" charset="-122"/>
                <a:ea typeface="微软雅黑" panose="020B0503020204020204" pitchFamily="34" charset="-122"/>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28" name="组合 27"/>
          <p:cNvGrpSpPr/>
          <p:nvPr/>
        </p:nvGrpSpPr>
        <p:grpSpPr>
          <a:xfrm>
            <a:off x="3641415" y="987945"/>
            <a:ext cx="4733841" cy="390680"/>
            <a:chOff x="3641415" y="987945"/>
            <a:chExt cx="4733841" cy="390680"/>
          </a:xfrm>
        </p:grpSpPr>
        <p:grpSp>
          <p:nvGrpSpPr>
            <p:cNvPr id="2" name="组合 1"/>
            <p:cNvGrpSpPr/>
            <p:nvPr/>
          </p:nvGrpSpPr>
          <p:grpSpPr>
            <a:xfrm>
              <a:off x="3641415" y="987945"/>
              <a:ext cx="4733841" cy="390680"/>
              <a:chOff x="2790266" y="142563"/>
              <a:chExt cx="3584682" cy="390680"/>
            </a:xfrm>
          </p:grpSpPr>
          <p:sp>
            <p:nvSpPr>
              <p:cNvPr id="5"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9" name="组合 18"/>
              <p:cNvGrpSpPr/>
              <p:nvPr/>
            </p:nvGrpSpPr>
            <p:grpSpPr>
              <a:xfrm>
                <a:off x="5921798" y="256915"/>
                <a:ext cx="453150" cy="161976"/>
                <a:chOff x="264939" y="188640"/>
                <a:chExt cx="604358" cy="216024"/>
              </a:xfrm>
            </p:grpSpPr>
            <p:sp>
              <p:nvSpPr>
                <p:cNvPr id="24"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0" name="组合 19"/>
              <p:cNvGrpSpPr/>
              <p:nvPr/>
            </p:nvGrpSpPr>
            <p:grpSpPr>
              <a:xfrm rot="10800000">
                <a:off x="2790266" y="256915"/>
                <a:ext cx="453150" cy="161976"/>
                <a:chOff x="264939" y="188640"/>
                <a:chExt cx="604358" cy="216024"/>
              </a:xfrm>
            </p:grpSpPr>
            <p:sp>
              <p:nvSpPr>
                <p:cNvPr id="2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782955" y="1572260"/>
          <a:ext cx="10908665" cy="347853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3</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3,571.00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7,691.00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-53.57%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3,934.00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-9.23%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6,660.00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10,202.00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-34.72%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6,028.00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10.48%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3,063.00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4,414.00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-30.61%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2,428.00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26.15%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2,770.00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3,433.00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-19.31%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2,839.00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-2.43%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3,650.00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4,446.00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-17.90%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3,524.00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3,394.00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3,837.00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-11.55%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3,382.00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4,187.00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4,305.00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-2.74%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4,698.00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-10.88%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3,687.00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3,726.00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-1.05%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3,335.00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10.55%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6,545.00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6,599.00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-0.82%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5,903.00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10.88%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bl>
          </a:graphicData>
        </a:graphic>
      </p:graphicFrame>
      <p:sp>
        <p:nvSpPr>
          <p:cNvPr id="12" name="矩形 11"/>
          <p:cNvSpPr/>
          <p:nvPr/>
        </p:nvSpPr>
        <p:spPr>
          <a:xfrm>
            <a:off x="573772" y="523700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，杨浦院区的儿科科室中，门诊业务量同比下降有九个可是：</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新生儿、</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儿呼吸、儿急危、</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儿普外、</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儿血液、儿神内、儿消化、儿神外、儿骨科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月，除</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新生儿、儿普外、儿消化</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90204" pitchFamily="34" charset="0"/>
                <a:ea typeface="微软雅黑" panose="020B0503020204020204" pitchFamily="34" charset="-122"/>
                <a:sym typeface="Calibri" panose="020F0502020204030204" pitchFamily="34" charset="0"/>
              </a:rPr>
              <a:t>杨浦院区门诊业务量前十科室增减幅度</a:t>
            </a:r>
          </a:p>
        </p:txBody>
      </p:sp>
      <p:graphicFrame>
        <p:nvGraphicFramePr>
          <p:cNvPr id="2" name="表格 1"/>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3</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a:ea typeface="微软雅黑"/>
                        </a:rPr>
                        <a:t>皮肤疾病诊治中心</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42,704.00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43,981.00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-2.90%</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40,848.00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4.5%</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a:ea typeface="微软雅黑"/>
                        </a:rPr>
                        <a:t>心血管内科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29,307.00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23,125.00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26.73%</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28,475.00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2.9%</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a:ea typeface="微软雅黑"/>
                        </a:rPr>
                        <a:t>眼科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19,786.00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20,240.00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-2.24%</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19,210.00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3.0%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a:ea typeface="微软雅黑"/>
                        </a:rPr>
                        <a:t>消化内科（内窥镜诊治部）</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15,894.00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14,896.00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6.70%</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15,961.00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-0.4%</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a:ea typeface="微软雅黑"/>
                        </a:rPr>
                        <a:t>急诊医学科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15,891.00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16,481.00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-3.58%</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15,715.00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1.1%</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a:ea typeface="微软雅黑"/>
                        </a:rPr>
                        <a:t>耳鼻咽喉</a:t>
                      </a:r>
                      <a:r>
                        <a:rPr lang="en-US" altLang="zh-CN" sz="1000" b="0" i="0">
                          <a:solidFill>
                            <a:srgbClr val="000000"/>
                          </a:solidFill>
                          <a:latin typeface="微软雅黑"/>
                          <a:ea typeface="微软雅黑"/>
                        </a:rPr>
                        <a:t>-</a:t>
                      </a:r>
                      <a:r>
                        <a:rPr lang="zh-CN" altLang="en-US" sz="1000" b="0" i="0">
                          <a:solidFill>
                            <a:srgbClr val="000000"/>
                          </a:solidFill>
                          <a:latin typeface="微软雅黑"/>
                          <a:ea typeface="微软雅黑"/>
                        </a:rPr>
                        <a:t>头颈外科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15,290.00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17,224.00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-11.23%</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13,997.00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9.2%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a:ea typeface="微软雅黑"/>
                        </a:rPr>
                        <a:t>内分泌科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15,213.00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13,392.00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13.60%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14,608.00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4.1%</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a:ea typeface="微软雅黑"/>
                        </a:rPr>
                        <a:t>神经内科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12,417.00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11,393.00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8.99%</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12,182.00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1.9%</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a:ea typeface="微软雅黑"/>
                        </a:rPr>
                        <a:t>妇产科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12,143.00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11,408.00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6.44%</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11,989.00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1.3%</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a:ea typeface="微软雅黑"/>
                        </a:rPr>
                        <a:t>骨科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10,935.00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10,307.00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6.09%</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11,060.00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-1.1%</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6" name="矩形 25"/>
          <p:cNvSpPr/>
          <p:nvPr/>
        </p:nvSpPr>
        <p:spPr>
          <a:xfrm>
            <a:off x="573772" y="5584351"/>
            <a:ext cx="11275327" cy="828675"/>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皮肤</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眼科</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急诊医学</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五官科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消化</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90204" pitchFamily="34" charset="0"/>
                <a:ea typeface="微软雅黑" panose="020B0503020204020204" pitchFamily="34" charset="-122"/>
                <a:sym typeface="Calibri" panose="020F0502020204030204" pitchFamily="34" charset="0"/>
              </a:rPr>
              <a:t>杨浦院区门诊业务量前十科室增减幅度</a:t>
            </a: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graphicFrame>
        <p:nvGraphicFramePr>
          <p:cNvPr id="19" name="表格 18"/>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3</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a:ea typeface="微软雅黑"/>
                        </a:rPr>
                        <a:t>儿内科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10,301.00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7,126.00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44.56%</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7,885.00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30.64%</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a:ea typeface="微软雅黑"/>
                        </a:rPr>
                        <a:t>发育行为儿童保健科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10,169.00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9,880.00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2.93%</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9,168.00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10.92%</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a:ea typeface="微软雅黑"/>
                        </a:rPr>
                        <a:t>儿呼吸内科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6,660.00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10,202.00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-34.72%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6,028.00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10.48%</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a:ea typeface="微软雅黑"/>
                        </a:rPr>
                        <a:t>儿骨科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6,545.00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6,599.00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-0.82%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5,903.00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10.88%</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a:ea typeface="微软雅黑"/>
                        </a:rPr>
                        <a:t>儿内分泌遗传科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6,485.00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6,346.00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2.19%</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6,853.00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-5.37%</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a:ea typeface="微软雅黑"/>
                        </a:rPr>
                        <a:t>儿肾脏内科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4,969.00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4,011.00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23.88%</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3,386.00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46.75%</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a:ea typeface="微软雅黑"/>
                        </a:rPr>
                        <a:t>儿感染科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4,873.00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3,868.00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25.98%</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3,706.00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31.49%</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a:ea typeface="微软雅黑"/>
                        </a:rPr>
                        <a:t>儿消化营养科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4,187.00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4,305.00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-2.74%</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4,698.00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-10.88%</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a:ea typeface="微软雅黑"/>
                        </a:rPr>
                        <a:t>儿神经外科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3,687.00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3,726.00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-1.05%</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3,335.00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10.55%</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a:ea typeface="微软雅黑"/>
                        </a:rPr>
                        <a:t>儿血液肿瘤科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3,650.00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4,446.00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a:ea typeface="宋体"/>
                        </a:rPr>
                        <a:t>-17.90%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a:ea typeface="微软雅黑"/>
                        </a:rPr>
                        <a:t>3,524.00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a:ea typeface="宋体"/>
                        </a:rPr>
                        <a:t>3.58%</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44655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儿呼吸</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儿骨</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儿消化</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儿神经外</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儿血液</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儿内分泌</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儿消化</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7" name="文本框 6"/>
          <p:cNvSpPr txBox="1"/>
          <p:nvPr/>
        </p:nvSpPr>
        <p:spPr>
          <a:xfrm>
            <a:off x="500380" y="207645"/>
            <a:ext cx="6096000" cy="583565"/>
          </a:xfrm>
          <a:prstGeom prst="rect">
            <a:avLst/>
          </a:prstGeom>
          <a:noFill/>
        </p:spPr>
        <p:txBody>
          <a:bodyPr wrap="square" rtlCol="0" anchor="t">
            <a:spAutoFit/>
          </a:bodyPr>
          <a:lstStyle/>
          <a:p>
            <a:r>
              <a:rPr lang="zh-CN" altLang="en-US" sz="3200" b="1" kern="0" noProof="0" dirty="0">
                <a:ln>
                  <a:noFill/>
                </a:ln>
                <a:solidFill>
                  <a:srgbClr val="002060"/>
                </a:solidFill>
                <a:effectLst/>
                <a:uLnTx/>
                <a:uFillTx/>
                <a:latin typeface="Arial" panose="020B0604020202090204" pitchFamily="34" charset="0"/>
                <a:ea typeface="微软雅黑" panose="020B0503020204020204" pitchFamily="34" charset="-122"/>
                <a:sym typeface="Calibri" panose="020F0502020204030204" pitchFamily="34" charset="0"/>
              </a:rPr>
              <a:t>门诊业务量构成</a:t>
            </a:r>
          </a:p>
        </p:txBody>
      </p:sp>
      <p:cxnSp>
        <p:nvCxnSpPr>
          <p:cNvPr id="9" name="直接连接符 8"/>
          <p:cNvCxnSpPr/>
          <p:nvPr/>
        </p:nvCxnSpPr>
        <p:spPr>
          <a:xfrm>
            <a:off x="260985" y="1194435"/>
            <a:ext cx="11581130" cy="0"/>
          </a:xfrm>
          <a:prstGeom prst="line">
            <a:avLst/>
          </a:prstGeom>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flipH="1">
            <a:off x="5672455" y="1194435"/>
            <a:ext cx="6350" cy="4022090"/>
          </a:xfrm>
          <a:prstGeom prst="line">
            <a:avLst/>
          </a:prstGeom>
        </p:spPr>
        <p:style>
          <a:lnRef idx="2">
            <a:schemeClr val="accent1"/>
          </a:lnRef>
          <a:fillRef idx="0">
            <a:srgbClr val="FFFFFF"/>
          </a:fillRef>
          <a:effectRef idx="0">
            <a:srgbClr val="FFFFFF"/>
          </a:effectRef>
          <a:fontRef idx="minor">
            <a:schemeClr val="tx1"/>
          </a:fontRef>
        </p:style>
      </p:cxnSp>
      <p:grpSp>
        <p:nvGrpSpPr>
          <p:cNvPr id="28" name="组合 27"/>
          <p:cNvGrpSpPr/>
          <p:nvPr>
            <p:custDataLst>
              <p:tags r:id="rId1"/>
            </p:custDataLst>
          </p:nvPr>
        </p:nvGrpSpPr>
        <p:grpSpPr>
          <a:xfrm>
            <a:off x="1356636" y="1443559"/>
            <a:ext cx="2736102" cy="390680"/>
            <a:chOff x="2790266" y="142563"/>
            <a:chExt cx="3584682" cy="390680"/>
          </a:xfrm>
        </p:grpSpPr>
        <p:sp>
          <p:nvSpPr>
            <p:cNvPr id="29" name="圆角矩形 28"/>
            <p:cNvSpPr/>
            <p:nvPr>
              <p:custDataLst>
                <p:tags r:id="rId10"/>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4"/>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5"/>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16"/>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grpSp>
        <p:nvGrpSpPr>
          <p:cNvPr id="11" name="组合 10"/>
          <p:cNvGrpSpPr/>
          <p:nvPr>
            <p:custDataLst>
              <p:tags r:id="rId2"/>
            </p:custDataLst>
          </p:nvPr>
        </p:nvGrpSpPr>
        <p:grpSpPr>
          <a:xfrm>
            <a:off x="7484386" y="1444194"/>
            <a:ext cx="2736102" cy="390680"/>
            <a:chOff x="2790266" y="142563"/>
            <a:chExt cx="3584682" cy="390680"/>
          </a:xfrm>
        </p:grpSpPr>
        <p:sp>
          <p:nvSpPr>
            <p:cNvPr id="12" name="圆角矩形 11"/>
            <p:cNvSpPr/>
            <p:nvPr>
              <p:custDataLst>
                <p:tags r:id="rId3"/>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4" name="燕尾形 13"/>
              <p:cNvSpPr/>
              <p:nvPr>
                <p:custDataLst>
                  <p:tags r:id="rId7"/>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5" name="燕尾形 14"/>
              <p:cNvSpPr/>
              <p:nvPr>
                <p:custDataLst>
                  <p:tags r:id="rId8"/>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custDataLst>
                  <p:tags r:id="rId9"/>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7" name="组合 16"/>
            <p:cNvGrpSpPr/>
            <p:nvPr/>
          </p:nvGrpSpPr>
          <p:grpSpPr>
            <a:xfrm rot="10800000">
              <a:off x="2790266" y="256915"/>
              <a:ext cx="453150" cy="161976"/>
              <a:chOff x="264939" y="188640"/>
              <a:chExt cx="604358" cy="216024"/>
            </a:xfrm>
          </p:grpSpPr>
          <p:sp>
            <p:nvSpPr>
              <p:cNvPr id="18" name="燕尾形 17"/>
              <p:cNvSpPr/>
              <p:nvPr>
                <p:custDataLst>
                  <p:tags r:id="rId4"/>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custDataLst>
                  <p:tags r:id="rId5"/>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custDataLst>
                  <p:tags r:id="rId6"/>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文本框 40"/>
          <p:cNvSpPr txBox="1"/>
          <p:nvPr/>
        </p:nvSpPr>
        <p:spPr>
          <a:xfrm>
            <a:off x="1924050" y="1511300"/>
            <a:ext cx="6096000" cy="306705"/>
          </a:xfrm>
          <a:prstGeom prst="rect">
            <a:avLst/>
          </a:prstGeom>
          <a:noFill/>
        </p:spPr>
        <p:txBody>
          <a:bodyPr wrap="square" rtlCol="0" anchor="t">
            <a:spAutoFit/>
          </a:bodyPr>
          <a:lstStyle/>
          <a:p>
            <a:r>
              <a:rPr lang="zh-CN" altLang="en-US" sz="1400" b="1"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mn-ea"/>
              </a:rPr>
              <a:t>杨浦业务量构成</a:t>
            </a:r>
          </a:p>
        </p:txBody>
      </p:sp>
      <p:sp>
        <p:nvSpPr>
          <p:cNvPr id="43" name="文本框 42"/>
          <p:cNvSpPr txBox="1"/>
          <p:nvPr/>
        </p:nvSpPr>
        <p:spPr>
          <a:xfrm>
            <a:off x="8146415" y="1527810"/>
            <a:ext cx="6096000" cy="306705"/>
          </a:xfrm>
          <a:prstGeom prst="rect">
            <a:avLst/>
          </a:prstGeom>
          <a:noFill/>
        </p:spPr>
        <p:txBody>
          <a:bodyPr wrap="square" rtlCol="0" anchor="t">
            <a:spAutoFit/>
          </a:bodyPr>
          <a:lstStyle/>
          <a:p>
            <a:r>
              <a:rPr lang="zh-CN" altLang="en-US" sz="1400" b="1" kern="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mn-ea"/>
              </a:rPr>
              <a:t>奉贤业务量构成</a:t>
            </a:r>
          </a:p>
        </p:txBody>
      </p:sp>
      <p:sp>
        <p:nvSpPr>
          <p:cNvPr id="52" name="矩形 51"/>
          <p:cNvSpPr/>
          <p:nvPr/>
        </p:nvSpPr>
        <p:spPr>
          <a:xfrm>
            <a:off x="431768" y="4804188"/>
            <a:ext cx="11227006" cy="1567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月，杨浦院区门诊人次为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32.81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万人次，本地病人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27.59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万人次；异地病人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5.22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万人次，占杨浦院区比重为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16%</a:t>
            </a:r>
            <a:r>
              <a:rPr kumimoji="0" lang="en-US" altLang="zh-CN" sz="1600" b="1" i="0" u="none" strike="noStrike" kern="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。自费病人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5.05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万人次；医保病人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27.76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万人次，占杨浦院区比重为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85%</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月，奉贤院区门诊人次为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7.92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a:t>
            </a:r>
            <a:r>
              <a:rPr kumimoji="0" 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本地病人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6.37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万人次；异地病人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万人次，占奉贤院区比重为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20%</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。自费病人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1.12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万人次；医保病人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万人次，占奉贤院区比重为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86%</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graphicFrame>
        <p:nvGraphicFramePr>
          <p:cNvPr id="49" name="图表 48"/>
          <p:cNvGraphicFramePr/>
          <p:nvPr/>
        </p:nvGraphicFramePr>
        <p:xfrm>
          <a:off x="8832215" y="2538095"/>
          <a:ext cx="2425700" cy="1732280"/>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50" name="图表 49"/>
          <p:cNvGraphicFramePr/>
          <p:nvPr/>
        </p:nvGraphicFramePr>
        <p:xfrm>
          <a:off x="500380" y="2537778"/>
          <a:ext cx="2416810" cy="1762125"/>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51" name="图表 50"/>
          <p:cNvGraphicFramePr/>
          <p:nvPr/>
        </p:nvGraphicFramePr>
        <p:xfrm>
          <a:off x="2903538" y="2537778"/>
          <a:ext cx="2398395" cy="1763395"/>
        </p:xfrm>
        <a:graphic>
          <a:graphicData uri="http://schemas.openxmlformats.org/drawingml/2006/chart">
            <c:chart xmlns:c="http://schemas.openxmlformats.org/drawingml/2006/chart" xmlns:r="http://schemas.openxmlformats.org/officeDocument/2006/relationships" r:id="rId20"/>
          </a:graphicData>
        </a:graphic>
      </p:graphicFrame>
      <p:graphicFrame>
        <p:nvGraphicFramePr>
          <p:cNvPr id="53" name="图表 52"/>
          <p:cNvGraphicFramePr/>
          <p:nvPr/>
        </p:nvGraphicFramePr>
        <p:xfrm>
          <a:off x="6269038" y="2527935"/>
          <a:ext cx="2416175" cy="1762760"/>
        </p:xfrm>
        <a:graphic>
          <a:graphicData uri="http://schemas.openxmlformats.org/drawingml/2006/chart">
            <c:chart xmlns:c="http://schemas.openxmlformats.org/drawingml/2006/chart" xmlns:r="http://schemas.openxmlformats.org/officeDocument/2006/relationships" r:id="rId21"/>
          </a:graphicData>
        </a:graphic>
      </p:graphicFrame>
      <p:graphicFrame>
        <p:nvGraphicFramePr>
          <p:cNvPr id="54" name="图表 53"/>
          <p:cNvGraphicFramePr/>
          <p:nvPr/>
        </p:nvGraphicFramePr>
        <p:xfrm>
          <a:off x="652145" y="2570798"/>
          <a:ext cx="2416810" cy="1762125"/>
        </p:xfrm>
        <a:graphic>
          <a:graphicData uri="http://schemas.openxmlformats.org/drawingml/2006/chart">
            <c:chart xmlns:c="http://schemas.openxmlformats.org/drawingml/2006/chart" xmlns:r="http://schemas.openxmlformats.org/officeDocument/2006/relationships" r:id="rId2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249237" y="5498407"/>
            <a:ext cx="11656436"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月，专家门诊同比增幅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36.7%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普通门诊同比增幅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28.4</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特需门诊同比增幅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8.4</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其中专家门诊成人科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8.84</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45.8%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2.05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增</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幅</a:t>
            </a:r>
            <a:r>
              <a:rPr lang="en-US" altLang="zh-CN" sz="1600" b="1" kern="0" dirty="0">
                <a:solidFill>
                  <a:srgbClr val="C00000"/>
                </a:solidFill>
                <a:highlight>
                  <a:srgbClr val="000000">
                    <a:alpha val="0"/>
                  </a:srgbClr>
                </a:highlight>
                <a:latin typeface="微软雅黑" panose="020B0503020204020204" pitchFamily="34" charset="-122"/>
                <a:ea typeface="微软雅黑" panose="020B0503020204020204" pitchFamily="34" charset="-122"/>
              </a:rPr>
              <a:t>7.6%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；特需门诊</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10.4%</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1.46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5.5%</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门诊业务结构</a:t>
            </a:r>
          </a:p>
        </p:txBody>
      </p:sp>
      <p:graphicFrame>
        <p:nvGraphicFramePr>
          <p:cNvPr id="11" name="表格 10"/>
          <p:cNvGraphicFramePr>
            <a:graphicFrameLocks noGrp="1"/>
          </p:cNvGraphicFramePr>
          <p:nvPr/>
        </p:nvGraphicFramePr>
        <p:xfrm>
          <a:off x="6921254" y="1403236"/>
          <a:ext cx="4500000" cy="1620001"/>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465394">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84869">
                <a:tc>
                  <a:txBody>
                    <a:bodyPr/>
                    <a:lstStyle/>
                    <a:p>
                      <a:pPr marL="0" algn="ctr" defTabSz="914400" rtl="0" eaLnBrk="1" fontAlgn="ctr" latinLnBrk="0" hangingPunct="1">
                        <a:buClrTx/>
                        <a:buSzTx/>
                        <a:buFontTx/>
                        <a:buNone/>
                      </a:pPr>
                      <a:r>
                        <a:rPr lang="zh-CN" altLang="en-US" sz="1200" b="1" i="0" kern="1200">
                          <a:solidFill>
                            <a:srgbClr val="000000"/>
                          </a:solidFill>
                          <a:effectLst/>
                          <a:latin typeface="微软雅黑" panose="020B0503020204020204" pitchFamily="34" charset="-122"/>
                          <a:ea typeface="微软雅黑" panose="020B0503020204020204" pitchFamily="34" charset="-122"/>
                          <a:cs typeface="+mn-cs"/>
                        </a:rPr>
                        <a:t>专家门诊</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10.89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7.97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36.7%</a:t>
                      </a:r>
                    </a:p>
                  </a:txBody>
                  <a:tcPr marL="13017" marR="13017" marT="13017" marB="0" anchor="ctr"/>
                </a:tc>
                <a:extLst>
                  <a:ext uri="{0D108BD9-81ED-4DB2-BD59-A6C34878D82A}">
                    <a16:rowId xmlns:a16="http://schemas.microsoft.com/office/drawing/2014/main" val="10001"/>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8.17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7.97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2.5%</a:t>
                      </a:r>
                    </a:p>
                  </a:txBody>
                  <a:tcPr marL="13017" marR="13017" marT="13017" marB="0" anchor="ctr"/>
                </a:tc>
                <a:extLst>
                  <a:ext uri="{0D108BD9-81ED-4DB2-BD59-A6C34878D82A}">
                    <a16:rowId xmlns:a16="http://schemas.microsoft.com/office/drawing/2014/main" val="10002"/>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2.72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 / </a:t>
                      </a:r>
                    </a:p>
                  </a:txBody>
                  <a:tcPr marL="13017" marR="13017" marT="13017" marB="0" anchor="ctr"/>
                </a:tc>
                <a:extLst>
                  <a:ext uri="{0D108BD9-81ED-4DB2-BD59-A6C34878D82A}">
                    <a16:rowId xmlns:a16="http://schemas.microsoft.com/office/drawing/2014/main" val="10003"/>
                  </a:ext>
                </a:extLst>
              </a:tr>
            </a:tbl>
          </a:graphicData>
        </a:graphic>
      </p:graphicFrame>
      <p:grpSp>
        <p:nvGrpSpPr>
          <p:cNvPr id="2" name="组合 1"/>
          <p:cNvGrpSpPr/>
          <p:nvPr/>
        </p:nvGrpSpPr>
        <p:grpSpPr>
          <a:xfrm>
            <a:off x="7688361" y="874501"/>
            <a:ext cx="2736102" cy="390680"/>
            <a:chOff x="7627406" y="1009668"/>
            <a:chExt cx="2736102" cy="390680"/>
          </a:xfrm>
        </p:grpSpPr>
        <p:grpSp>
          <p:nvGrpSpPr>
            <p:cNvPr id="24" name="组合 23"/>
            <p:cNvGrpSpPr/>
            <p:nvPr/>
          </p:nvGrpSpPr>
          <p:grpSpPr>
            <a:xfrm>
              <a:off x="7627406" y="1009668"/>
              <a:ext cx="2736102" cy="390680"/>
              <a:chOff x="2790266" y="142563"/>
              <a:chExt cx="3584682" cy="390680"/>
            </a:xfrm>
          </p:grpSpPr>
          <p:sp>
            <p:nvSpPr>
              <p:cNvPr id="25" name="圆角矩形 2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6" name="组合 25"/>
              <p:cNvGrpSpPr/>
              <p:nvPr/>
            </p:nvGrpSpPr>
            <p:grpSpPr>
              <a:xfrm>
                <a:off x="5921798" y="256915"/>
                <a:ext cx="453150" cy="161976"/>
                <a:chOff x="264939" y="188640"/>
                <a:chExt cx="604358" cy="216024"/>
              </a:xfrm>
            </p:grpSpPr>
            <p:sp>
              <p:nvSpPr>
                <p:cNvPr id="31" name="燕尾形 3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3" name="燕尾形 3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7" name="组合 26"/>
              <p:cNvGrpSpPr/>
              <p:nvPr/>
            </p:nvGrpSpPr>
            <p:grpSpPr>
              <a:xfrm rot="10800000">
                <a:off x="2790266" y="256915"/>
                <a:ext cx="453150" cy="161976"/>
                <a:chOff x="264939" y="188640"/>
                <a:chExt cx="604358" cy="216024"/>
              </a:xfrm>
            </p:grpSpPr>
            <p:sp>
              <p:nvSpPr>
                <p:cNvPr id="28" name="燕尾形 2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9" name="燕尾形 2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5" name="矩形 34"/>
            <p:cNvSpPr/>
            <p:nvPr/>
          </p:nvSpPr>
          <p:spPr>
            <a:xfrm>
              <a:off x="8406743" y="106091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专家门诊来源</a:t>
              </a:r>
            </a:p>
          </p:txBody>
        </p:sp>
      </p:grpSp>
      <p:sp>
        <p:nvSpPr>
          <p:cNvPr id="36" name="文本框 35"/>
          <p:cNvSpPr txBox="1"/>
          <p:nvPr/>
        </p:nvSpPr>
        <p:spPr>
          <a:xfrm>
            <a:off x="10523078" y="975191"/>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5" name="组合 4"/>
          <p:cNvGrpSpPr/>
          <p:nvPr/>
        </p:nvGrpSpPr>
        <p:grpSpPr>
          <a:xfrm>
            <a:off x="1753274" y="1079589"/>
            <a:ext cx="2736102" cy="390680"/>
            <a:chOff x="1753274" y="1049753"/>
            <a:chExt cx="2736102" cy="390680"/>
          </a:xfrm>
        </p:grpSpPr>
        <p:grpSp>
          <p:nvGrpSpPr>
            <p:cNvPr id="38" name="组合 37"/>
            <p:cNvGrpSpPr/>
            <p:nvPr/>
          </p:nvGrpSpPr>
          <p:grpSpPr>
            <a:xfrm>
              <a:off x="1753274" y="1049753"/>
              <a:ext cx="2736102" cy="390680"/>
              <a:chOff x="2790266" y="142563"/>
              <a:chExt cx="3584682" cy="390680"/>
            </a:xfrm>
          </p:grpSpPr>
          <p:sp>
            <p:nvSpPr>
              <p:cNvPr id="39" name="圆角矩形 38"/>
              <p:cNvSpPr/>
              <p:nvPr/>
            </p:nvSpPr>
            <p:spPr>
              <a:xfrm>
                <a:off x="3492161" y="142563"/>
                <a:ext cx="2159679"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3622" y="109124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门诊业务结构</a:t>
              </a:r>
            </a:p>
          </p:txBody>
        </p:sp>
      </p:grpSp>
      <p:sp>
        <p:nvSpPr>
          <p:cNvPr id="54" name="文本框 53"/>
          <p:cNvSpPr txBox="1"/>
          <p:nvPr/>
        </p:nvSpPr>
        <p:spPr>
          <a:xfrm>
            <a:off x="4267129" y="160687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aphicFrame>
        <p:nvGraphicFramePr>
          <p:cNvPr id="56" name="表格 55"/>
          <p:cNvGraphicFramePr>
            <a:graphicFrameLocks noGrp="1"/>
          </p:cNvGraphicFramePr>
          <p:nvPr/>
        </p:nvGraphicFramePr>
        <p:xfrm>
          <a:off x="6921254" y="3764602"/>
          <a:ext cx="4500000" cy="1619999"/>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526260">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2955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特需门诊</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3.76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3.47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8.4%</a:t>
                      </a:r>
                    </a:p>
                  </a:txBody>
                  <a:tcPr marL="13017" marR="13017" marT="13017" marB="0" anchor="ctr"/>
                </a:tc>
                <a:extLst>
                  <a:ext uri="{0D108BD9-81ED-4DB2-BD59-A6C34878D82A}">
                    <a16:rowId xmlns:a16="http://schemas.microsoft.com/office/drawing/2014/main" val="10001"/>
                  </a:ext>
                </a:extLst>
              </a:tr>
              <a:tr h="434627">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3.51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3.47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1.4%</a:t>
                      </a:r>
                    </a:p>
                  </a:txBody>
                  <a:tcPr marL="13017" marR="13017" marT="13017" marB="0" anchor="ctr"/>
                </a:tc>
                <a:extLst>
                  <a:ext uri="{0D108BD9-81ED-4DB2-BD59-A6C34878D82A}">
                    <a16:rowId xmlns:a16="http://schemas.microsoft.com/office/drawing/2014/main" val="10002"/>
                  </a:ext>
                </a:extLst>
              </a:tr>
              <a:tr h="32955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0.25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 / </a:t>
                      </a:r>
                    </a:p>
                  </a:txBody>
                  <a:tcPr marL="13017" marR="13017" marT="13017" marB="0" anchor="ctr"/>
                </a:tc>
                <a:extLst>
                  <a:ext uri="{0D108BD9-81ED-4DB2-BD59-A6C34878D82A}">
                    <a16:rowId xmlns:a16="http://schemas.microsoft.com/office/drawing/2014/main" val="10003"/>
                  </a:ext>
                </a:extLst>
              </a:tr>
            </a:tbl>
          </a:graphicData>
        </a:graphic>
      </p:graphicFrame>
      <p:grpSp>
        <p:nvGrpSpPr>
          <p:cNvPr id="57" name="组合 56"/>
          <p:cNvGrpSpPr/>
          <p:nvPr/>
        </p:nvGrpSpPr>
        <p:grpSpPr>
          <a:xfrm>
            <a:off x="7688361" y="3222403"/>
            <a:ext cx="2736102" cy="390680"/>
            <a:chOff x="7627406" y="1009668"/>
            <a:chExt cx="2736102" cy="390680"/>
          </a:xfrm>
        </p:grpSpPr>
        <p:grpSp>
          <p:nvGrpSpPr>
            <p:cNvPr id="58" name="组合 57"/>
            <p:cNvGrpSpPr/>
            <p:nvPr/>
          </p:nvGrpSpPr>
          <p:grpSpPr>
            <a:xfrm>
              <a:off x="7627406" y="1009668"/>
              <a:ext cx="2736102" cy="390680"/>
              <a:chOff x="2790266" y="142563"/>
              <a:chExt cx="3584682" cy="390680"/>
            </a:xfrm>
          </p:grpSpPr>
          <p:sp>
            <p:nvSpPr>
              <p:cNvPr id="60" name="圆角矩形 5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61" name="组合 60"/>
              <p:cNvGrpSpPr/>
              <p:nvPr/>
            </p:nvGrpSpPr>
            <p:grpSpPr>
              <a:xfrm>
                <a:off x="5921798" y="256915"/>
                <a:ext cx="453150" cy="161976"/>
                <a:chOff x="264939" y="188640"/>
                <a:chExt cx="604358" cy="216024"/>
              </a:xfrm>
            </p:grpSpPr>
            <p:sp>
              <p:nvSpPr>
                <p:cNvPr id="66" name="燕尾形 6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7" name="燕尾形 6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8" name="燕尾形 6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62" name="组合 61"/>
              <p:cNvGrpSpPr/>
              <p:nvPr/>
            </p:nvGrpSpPr>
            <p:grpSpPr>
              <a:xfrm rot="10800000">
                <a:off x="2790266" y="256915"/>
                <a:ext cx="453150" cy="161976"/>
                <a:chOff x="264939" y="188640"/>
                <a:chExt cx="604358" cy="216024"/>
              </a:xfrm>
            </p:grpSpPr>
            <p:sp>
              <p:nvSpPr>
                <p:cNvPr id="63" name="燕尾形 6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4" name="燕尾形 6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5" name="燕尾形 6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9" name="矩形 58"/>
            <p:cNvSpPr/>
            <p:nvPr/>
          </p:nvSpPr>
          <p:spPr>
            <a:xfrm>
              <a:off x="8364607" y="104888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特需门诊来源</a:t>
              </a:r>
            </a:p>
          </p:txBody>
        </p:sp>
      </p:grpSp>
      <p:sp>
        <p:nvSpPr>
          <p:cNvPr id="69" name="文本框 68"/>
          <p:cNvSpPr txBox="1"/>
          <p:nvPr/>
        </p:nvSpPr>
        <p:spPr>
          <a:xfrm>
            <a:off x="10544395" y="3320889"/>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10" name="组合 9"/>
          <p:cNvGrpSpPr/>
          <p:nvPr/>
        </p:nvGrpSpPr>
        <p:grpSpPr>
          <a:xfrm>
            <a:off x="1462616" y="2059040"/>
            <a:ext cx="3926501" cy="1285875"/>
            <a:chOff x="2553" y="3835"/>
            <a:chExt cx="5725" cy="2025"/>
          </a:xfrm>
        </p:grpSpPr>
        <p:sp>
          <p:nvSpPr>
            <p:cNvPr id="12" name="文本框 11"/>
            <p:cNvSpPr txBox="1"/>
            <p:nvPr/>
          </p:nvSpPr>
          <p:spPr>
            <a:xfrm>
              <a:off x="4701" y="5353"/>
              <a:ext cx="1224"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+8.4%</a:t>
              </a:r>
            </a:p>
          </p:txBody>
        </p:sp>
        <p:sp>
          <p:nvSpPr>
            <p:cNvPr id="13" name="文本框 12"/>
            <p:cNvSpPr txBox="1"/>
            <p:nvPr/>
          </p:nvSpPr>
          <p:spPr>
            <a:xfrm>
              <a:off x="6786" y="3835"/>
              <a:ext cx="1492"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+28.4%</a:t>
              </a:r>
            </a:p>
          </p:txBody>
        </p:sp>
        <p:sp>
          <p:nvSpPr>
            <p:cNvPr id="14" name="文本框 13"/>
            <p:cNvSpPr txBox="1"/>
            <p:nvPr/>
          </p:nvSpPr>
          <p:spPr>
            <a:xfrm>
              <a:off x="2553" y="5347"/>
              <a:ext cx="1567"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+36.7%</a:t>
              </a:r>
            </a:p>
          </p:txBody>
        </p:sp>
      </p:grpSp>
      <p:graphicFrame>
        <p:nvGraphicFramePr>
          <p:cNvPr id="6" name="图表 5"/>
          <p:cNvGraphicFramePr/>
          <p:nvPr/>
        </p:nvGraphicFramePr>
        <p:xfrm>
          <a:off x="1292860" y="2017395"/>
          <a:ext cx="4464685" cy="288988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a:t>
            </a:r>
          </a:p>
        </p:txBody>
      </p:sp>
      <p:sp>
        <p:nvSpPr>
          <p:cNvPr id="52" name="矩形 51"/>
          <p:cNvSpPr/>
          <p:nvPr/>
        </p:nvSpPr>
        <p:spPr>
          <a:xfrm>
            <a:off x="474669" y="5159614"/>
            <a:ext cx="11650844"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月，急诊人次为</a:t>
            </a:r>
            <a:r>
              <a:rPr lang="en-US" altLang="zh-CN" sz="1600" b="1" kern="0" dirty="0">
                <a:solidFill>
                  <a:srgbClr val="002060"/>
                </a:solidFill>
                <a:latin typeface="微软雅黑" panose="020B0503020204020204" pitchFamily="34" charset="-122"/>
                <a:ea typeface="微软雅黑" panose="020B0503020204020204" pitchFamily="34" charset="-122"/>
              </a:rPr>
              <a:t>5.81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1.38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31.0%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3.93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33.3%</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1.87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26.6</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1.77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30.4%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急诊人次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5.81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4.43 </a:t>
                      </a:r>
                    </a:p>
                  </a:txBody>
                  <a:tcPr marL="13017" marR="13017" marT="13017"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31.0%</a:t>
                      </a:r>
                    </a:p>
                  </a:txBody>
                  <a:tcPr marL="13017" marR="13017" marT="13017"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4.04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4.43 </a:t>
                      </a:r>
                    </a:p>
                  </a:txBody>
                  <a:tcPr marL="13017" marR="13017" marT="13017"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-8.8%</a:t>
                      </a:r>
                    </a:p>
                  </a:txBody>
                  <a:tcPr marL="13017" marR="13017" marT="13017"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1.77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13017" marR="13017" marT="13017" marB="0" anchor="ctr"/>
                </a:tc>
                <a:tc>
                  <a:txBody>
                    <a:bodyPr/>
                    <a:lstStyle/>
                    <a:p>
                      <a:pPr algn="ctr" fontAlgn="ctr"/>
                      <a:r>
                        <a:rPr lang="en-US" altLang="zh-CN" sz="1200" b="1" i="0">
                          <a:solidFill>
                            <a:schemeClr val="tx1"/>
                          </a:solidFill>
                          <a:latin typeface="微软雅黑" panose="020B0503020204020204" pitchFamily="34" charset="-122"/>
                          <a:ea typeface="微软雅黑" panose="020B0503020204020204" pitchFamily="34" charset="-122"/>
                        </a:rPr>
                        <a:t>/</a:t>
                      </a:r>
                    </a:p>
                  </a:txBody>
                  <a:tcPr marL="13017" marR="13017" marT="13017"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885440" y="1882775"/>
            <a:ext cx="119126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+31.0%</a:t>
            </a:r>
          </a:p>
        </p:txBody>
      </p:sp>
      <p:graphicFrame>
        <p:nvGraphicFramePr>
          <p:cNvPr id="5" name="图表 4"/>
          <p:cNvGraphicFramePr/>
          <p:nvPr/>
        </p:nvGraphicFramePr>
        <p:xfrm>
          <a:off x="1431925" y="1943418"/>
          <a:ext cx="4100830" cy="2764155"/>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2768633" y="4333249"/>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69" name="组合 68"/>
          <p:cNvGrpSpPr/>
          <p:nvPr/>
        </p:nvGrpSpPr>
        <p:grpSpPr>
          <a:xfrm>
            <a:off x="1433559" y="1307425"/>
            <a:ext cx="2736102" cy="390680"/>
            <a:chOff x="2790266" y="142563"/>
            <a:chExt cx="3584682" cy="390680"/>
          </a:xfrm>
        </p:grpSpPr>
        <p:sp>
          <p:nvSpPr>
            <p:cNvPr id="70" name="圆角矩形 6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71" name="组合 70"/>
            <p:cNvGrpSpPr/>
            <p:nvPr/>
          </p:nvGrpSpPr>
          <p:grpSpPr>
            <a:xfrm>
              <a:off x="5921798" y="256915"/>
              <a:ext cx="453150" cy="161976"/>
              <a:chOff x="264939" y="188640"/>
              <a:chExt cx="604358" cy="216024"/>
            </a:xfrm>
          </p:grpSpPr>
          <p:sp>
            <p:nvSpPr>
              <p:cNvPr id="76" name="燕尾形 7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7" name="燕尾形 7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8" name="燕尾形 7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72" name="组合 71"/>
            <p:cNvGrpSpPr/>
            <p:nvPr/>
          </p:nvGrpSpPr>
          <p:grpSpPr>
            <a:xfrm rot="10800000">
              <a:off x="2790266" y="256915"/>
              <a:ext cx="453150" cy="161976"/>
              <a:chOff x="264939" y="188640"/>
              <a:chExt cx="604358" cy="216024"/>
            </a:xfrm>
          </p:grpSpPr>
          <p:sp>
            <p:nvSpPr>
              <p:cNvPr id="73" name="燕尾形 7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4" name="燕尾形 7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5" name="燕尾形 7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79" name="矩形 78"/>
          <p:cNvSpPr/>
          <p:nvPr/>
        </p:nvSpPr>
        <p:spPr>
          <a:xfrm>
            <a:off x="2334750" y="1367164"/>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80" name="文本框 79"/>
          <p:cNvSpPr txBox="1"/>
          <p:nvPr/>
        </p:nvSpPr>
        <p:spPr>
          <a:xfrm>
            <a:off x="4148461"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52" name="矩形 51"/>
          <p:cNvSpPr/>
          <p:nvPr/>
        </p:nvSpPr>
        <p:spPr>
          <a:xfrm>
            <a:off x="355594" y="5266594"/>
            <a:ext cx="11618944"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月，住院人次为</a:t>
            </a:r>
            <a:r>
              <a:rPr lang="en-US" altLang="zh-CN" sz="1600" b="1" kern="0" dirty="0">
                <a:solidFill>
                  <a:srgbClr val="002060"/>
                </a:solidFill>
                <a:latin typeface="微软雅黑" panose="020B0503020204020204" pitchFamily="34" charset="-122"/>
                <a:ea typeface="微软雅黑" panose="020B0503020204020204" pitchFamily="34" charset="-122"/>
              </a:rPr>
              <a:t>1.63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万人次，同比增长</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0.28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21.1%</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1.33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22.4%</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0.3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15.5%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月，奉贤院区住院人次为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0.36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万人次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22.2%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住院业务量</a:t>
            </a:r>
          </a:p>
        </p:txBody>
      </p:sp>
      <p:graphicFrame>
        <p:nvGraphicFramePr>
          <p:cNvPr id="6" name="表格 5"/>
          <p:cNvGraphicFramePr>
            <a:graphicFrameLocks noGrp="1"/>
          </p:cNvGraphicFramePr>
          <p:nvPr/>
        </p:nvGraphicFramePr>
        <p:xfrm>
          <a:off x="6437744" y="2377752"/>
          <a:ext cx="4839856" cy="2123972"/>
        </p:xfrm>
        <a:graphic>
          <a:graphicData uri="http://schemas.openxmlformats.org/drawingml/2006/table">
            <a:tbl>
              <a:tblPr firstRow="1" bandRow="1">
                <a:tableStyleId>{22838BEF-8BB2-4498-84A7-C5851F593DF1}</a:tableStyleId>
              </a:tblPr>
              <a:tblGrid>
                <a:gridCol w="1209964">
                  <a:extLst>
                    <a:ext uri="{9D8B030D-6E8A-4147-A177-3AD203B41FA5}">
                      <a16:colId xmlns:a16="http://schemas.microsoft.com/office/drawing/2014/main" val="20000"/>
                    </a:ext>
                  </a:extLst>
                </a:gridCol>
                <a:gridCol w="1209964">
                  <a:extLst>
                    <a:ext uri="{9D8B030D-6E8A-4147-A177-3AD203B41FA5}">
                      <a16:colId xmlns:a16="http://schemas.microsoft.com/office/drawing/2014/main" val="20001"/>
                    </a:ext>
                  </a:extLst>
                </a:gridCol>
                <a:gridCol w="1209964">
                  <a:extLst>
                    <a:ext uri="{9D8B030D-6E8A-4147-A177-3AD203B41FA5}">
                      <a16:colId xmlns:a16="http://schemas.microsoft.com/office/drawing/2014/main" val="20002"/>
                    </a:ext>
                  </a:extLst>
                </a:gridCol>
                <a:gridCol w="1209964">
                  <a:extLst>
                    <a:ext uri="{9D8B030D-6E8A-4147-A177-3AD203B41FA5}">
                      <a16:colId xmlns:a16="http://schemas.microsoft.com/office/drawing/2014/main" val="20003"/>
                    </a:ext>
                  </a:extLst>
                </a:gridCol>
              </a:tblGrid>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住院人次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1.63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1.35 </a:t>
                      </a:r>
                    </a:p>
                  </a:txBody>
                  <a:tcPr marL="13017" marR="13017" marT="13017"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21.1%</a:t>
                      </a:r>
                    </a:p>
                  </a:txBody>
                  <a:tcPr marL="13017" marR="13017" marT="13017" marB="0" anchor="ctr"/>
                </a:tc>
                <a:extLst>
                  <a:ext uri="{0D108BD9-81ED-4DB2-BD59-A6C34878D82A}">
                    <a16:rowId xmlns:a16="http://schemas.microsoft.com/office/drawing/2014/main" val="10001"/>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1.27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1.35 </a:t>
                      </a:r>
                    </a:p>
                  </a:txBody>
                  <a:tcPr marL="13017" marR="13017" marT="13017"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-5.8%</a:t>
                      </a:r>
                    </a:p>
                  </a:txBody>
                  <a:tcPr marL="13017" marR="13017" marT="13017" marB="0" anchor="ctr"/>
                </a:tc>
                <a:extLst>
                  <a:ext uri="{0D108BD9-81ED-4DB2-BD59-A6C34878D82A}">
                    <a16:rowId xmlns:a16="http://schemas.microsoft.com/office/drawing/2014/main" val="10002"/>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0.36 </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13017" marR="13017" marT="13017"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13017" marR="13017" marT="13017" marB="0" anchor="ctr"/>
                </a:tc>
                <a:extLst>
                  <a:ext uri="{0D108BD9-81ED-4DB2-BD59-A6C34878D82A}">
                    <a16:rowId xmlns:a16="http://schemas.microsoft.com/office/drawing/2014/main" val="10003"/>
                  </a:ext>
                </a:extLst>
              </a:tr>
            </a:tbl>
          </a:graphicData>
        </a:graphic>
      </p:graphicFrame>
      <p:grpSp>
        <p:nvGrpSpPr>
          <p:cNvPr id="22" name="组合 21"/>
          <p:cNvGrpSpPr/>
          <p:nvPr/>
        </p:nvGrpSpPr>
        <p:grpSpPr>
          <a:xfrm>
            <a:off x="7323367" y="1324445"/>
            <a:ext cx="2736102" cy="390680"/>
            <a:chOff x="2790266" y="142563"/>
            <a:chExt cx="3584682" cy="390680"/>
          </a:xfrm>
        </p:grpSpPr>
        <p:sp>
          <p:nvSpPr>
            <p:cNvPr id="23" name="圆角矩形 2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4" name="组合 23"/>
            <p:cNvGrpSpPr/>
            <p:nvPr/>
          </p:nvGrpSpPr>
          <p:grpSpPr>
            <a:xfrm>
              <a:off x="5921798" y="256915"/>
              <a:ext cx="453150" cy="161976"/>
              <a:chOff x="264939" y="188640"/>
              <a:chExt cx="604358" cy="216024"/>
            </a:xfrm>
          </p:grpSpPr>
          <p:sp>
            <p:nvSpPr>
              <p:cNvPr id="29" name="燕尾形 2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1" name="燕尾形 3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5" name="组合 24"/>
            <p:cNvGrpSpPr/>
            <p:nvPr/>
          </p:nvGrpSpPr>
          <p:grpSpPr>
            <a:xfrm rot="10800000">
              <a:off x="2790266" y="256915"/>
              <a:ext cx="453150" cy="161976"/>
              <a:chOff x="264939" y="188640"/>
              <a:chExt cx="604358" cy="216024"/>
            </a:xfrm>
          </p:grpSpPr>
          <p:sp>
            <p:nvSpPr>
              <p:cNvPr id="26" name="燕尾形 2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7" name="燕尾形 2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8" name="燕尾形 2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2" name="矩形 31"/>
          <p:cNvSpPr/>
          <p:nvPr/>
        </p:nvSpPr>
        <p:spPr>
          <a:xfrm>
            <a:off x="8069043" y="1365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住院人次来源</a:t>
            </a:r>
          </a:p>
        </p:txBody>
      </p:sp>
      <p:sp>
        <p:nvSpPr>
          <p:cNvPr id="33" name="文本框 32"/>
          <p:cNvSpPr txBox="1"/>
          <p:nvPr/>
        </p:nvSpPr>
        <p:spPr>
          <a:xfrm>
            <a:off x="10059469"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7" name="文本框 6"/>
          <p:cNvSpPr txBox="1"/>
          <p:nvPr/>
        </p:nvSpPr>
        <p:spPr>
          <a:xfrm>
            <a:off x="2425065" y="2379980"/>
            <a:ext cx="119253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+21.1%</a:t>
            </a:r>
            <a:endParaRPr kumimoji="0" lang="zh-CN" altLang="en-US"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5" name="图表 4"/>
          <p:cNvGraphicFramePr/>
          <p:nvPr/>
        </p:nvGraphicFramePr>
        <p:xfrm>
          <a:off x="1064260" y="2379663"/>
          <a:ext cx="4036060" cy="214820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defTabSz="342265" eaLnBrk="1" hangingPunct="1">
              <a:spcBef>
                <a:spcPct val="20000"/>
              </a:spcBef>
              <a:defRPr/>
            </a:pPr>
            <a:r>
              <a:rPr lang="zh-CN" altLang="en-US" sz="3200" b="1" kern="0" dirty="0">
                <a:solidFill>
                  <a:srgbClr val="071F65"/>
                </a:solidFill>
                <a:sym typeface="Calibri" panose="020F0502020204030204" pitchFamily="34" charset="0"/>
              </a:rPr>
              <a:t>住院业务量</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杨浦院区同比下降前十科室</a:t>
            </a:r>
          </a:p>
        </p:txBody>
      </p:sp>
      <p:graphicFrame>
        <p:nvGraphicFramePr>
          <p:cNvPr id="6" name="表格 5"/>
          <p:cNvGraphicFramePr/>
          <p:nvPr/>
        </p:nvGraphicFramePr>
        <p:xfrm>
          <a:off x="755015" y="1555115"/>
          <a:ext cx="10480040" cy="359854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3</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559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儿急危重症医学科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-40.74%</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0000"/>
                          </a:solidFill>
                          <a:latin typeface="宋体" pitchFamily="2" charset="-122"/>
                          <a:ea typeface="宋体" pitchFamily="2" charset="-122"/>
                        </a:rPr>
                        <a:t>0.00%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肛肠外科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616.00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-39.29%</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327.00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14.37%</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移植科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-35.71%</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-30.77%</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乳腺外科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-29.05%</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174.00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20.69%</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530.00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-27.99%</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519.00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2.12%</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急诊医学科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169.00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-27.22%</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112.00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9.82%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儿普外科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230.00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-24.34%</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202.00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13.86%</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耳鼻咽喉</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头颈外科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-21.45%</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-8.70%</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儿呼吸内科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210.00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258.00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-18.60%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11.70%</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547.00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00B050"/>
                          </a:solidFill>
                          <a:latin typeface="宋体" pitchFamily="2" charset="-122"/>
                          <a:ea typeface="宋体" pitchFamily="2" charset="-122"/>
                        </a:rPr>
                        <a:t>-17.55%</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400" b="1" i="0">
                          <a:solidFill>
                            <a:srgbClr val="C00000"/>
                          </a:solidFill>
                          <a:latin typeface="宋体" pitchFamily="2" charset="-122"/>
                          <a:ea typeface="宋体" pitchFamily="2" charset="-122"/>
                        </a:rPr>
                        <a:t>10.54%</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4777123" y="967572"/>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19" name="矩形 18"/>
          <p:cNvSpPr/>
          <p:nvPr/>
        </p:nvSpPr>
        <p:spPr>
          <a:xfrm>
            <a:off x="571500" y="5306200"/>
            <a:ext cx="10912131"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，杨浦院区住院业务量同比下降前十的科室有</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儿急危、肛肠</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移植</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乳腺</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骨科</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急诊医学</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儿普外</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五官</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儿呼吸</a:t>
            </a:r>
            <a:r>
              <a:rPr lang="en-US" altLang="zh-CN"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泌尿科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同比下降前十</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科室</a:t>
            </a:r>
            <a:r>
              <a:rPr lang="zh-CN" altLang="en-US" sz="1600" b="1" kern="0" dirty="0">
                <a:solidFill>
                  <a:srgbClr val="002060"/>
                </a:solidFill>
                <a:latin typeface="微软雅黑" panose="020B0503020204020204" pitchFamily="34" charset="-122"/>
                <a:ea typeface="微软雅黑" panose="020B0503020204020204" pitchFamily="34" charset="-122"/>
              </a:rPr>
              <a:t>除</a:t>
            </a:r>
            <a:r>
              <a:rPr lang="zh-CN" altLang="en-US" sz="1600" b="1" kern="0" dirty="0">
                <a:solidFill>
                  <a:srgbClr val="00B050"/>
                </a:solidFill>
                <a:latin typeface="微软雅黑" panose="020B0503020204020204" pitchFamily="34" charset="-122"/>
                <a:ea typeface="微软雅黑" panose="020B0503020204020204" pitchFamily="34" charset="-122"/>
              </a:rPr>
              <a:t>移植科</a:t>
            </a:r>
            <a:r>
              <a:rPr lang="zh-CN" altLang="en-US" sz="1600" b="1" kern="0" dirty="0">
                <a:solidFill>
                  <a:srgbClr val="002060"/>
                </a:solidFill>
                <a:latin typeface="微软雅黑" panose="020B0503020204020204" pitchFamily="34" charset="-122"/>
                <a:ea typeface="微软雅黑" panose="020B0503020204020204" pitchFamily="34" charset="-122"/>
              </a:rPr>
              <a:t>和</a:t>
            </a:r>
            <a:r>
              <a:rPr lang="zh-CN" altLang="en-US" sz="1600" b="1" kern="0" dirty="0">
                <a:solidFill>
                  <a:srgbClr val="00B050"/>
                </a:solidFill>
                <a:latin typeface="微软雅黑" panose="020B0503020204020204" pitchFamily="34" charset="-122"/>
                <a:ea typeface="微软雅黑" panose="020B0503020204020204" pitchFamily="34" charset="-122"/>
              </a:rPr>
              <a:t>五官科</a:t>
            </a:r>
            <a:r>
              <a:rPr lang="zh-CN" altLang="en-US" sz="1600" b="1" kern="0" dirty="0">
                <a:solidFill>
                  <a:srgbClr val="002060"/>
                </a:solidFill>
                <a:latin typeface="微软雅黑" panose="020B0503020204020204" pitchFamily="34" charset="-122"/>
                <a:ea typeface="微软雅黑" panose="020B0503020204020204" pitchFamily="34" charset="-122"/>
              </a:rPr>
              <a:t>外</a:t>
            </a:r>
            <a:r>
              <a:rPr lang="en-US" altLang="zh-CN"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rgbClr val="002060"/>
                </a:solidFill>
                <a:latin typeface="微软雅黑" panose="020B0503020204020204" pitchFamily="34" charset="-122"/>
                <a:ea typeface="微软雅黑" panose="020B0503020204020204" pitchFamily="34" charset="-122"/>
              </a:rPr>
              <a:t>其他科室</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22910" y="236855"/>
            <a:ext cx="7267575"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90204" pitchFamily="34" charset="0"/>
                <a:ea typeface="微软雅黑" panose="020B0503020204020204" pitchFamily="34" charset="-122"/>
                <a:sym typeface="Calibri" panose="020F0502020204030204" pitchFamily="34" charset="0"/>
              </a:rPr>
              <a:t>杨浦院区住院业务量前十科室增减幅度</a:t>
            </a:r>
          </a:p>
        </p:txBody>
      </p:sp>
      <p:grpSp>
        <p:nvGrpSpPr>
          <p:cNvPr id="7" name="组合 6"/>
          <p:cNvGrpSpPr/>
          <p:nvPr/>
        </p:nvGrpSpPr>
        <p:grpSpPr>
          <a:xfrm>
            <a:off x="4833638" y="944077"/>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graphicFrame>
        <p:nvGraphicFramePr>
          <p:cNvPr id="12" name="表格 11"/>
          <p:cNvGraphicFramePr/>
          <p:nvPr/>
        </p:nvGraphicFramePr>
        <p:xfrm>
          <a:off x="755015" y="1555115"/>
          <a:ext cx="10480040" cy="358076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3</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97815">
                <a:tc>
                  <a:txBody>
                    <a:bodyPr/>
                    <a:lstStyle/>
                    <a:p>
                      <a:pPr algn="ctr" fontAlgn="ctr"/>
                      <a:r>
                        <a:rPr lang="zh-CN" altLang="en-US" sz="1000" b="0" i="0">
                          <a:solidFill>
                            <a:srgbClr val="000000"/>
                          </a:solidFill>
                          <a:latin typeface="微软雅黑"/>
                          <a:ea typeface="微软雅黑"/>
                        </a:rPr>
                        <a:t>肿瘤内科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909.00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1,043.00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-12.85%</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893.00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1.79%</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000" b="0" i="0">
                          <a:solidFill>
                            <a:srgbClr val="000000"/>
                          </a:solidFill>
                          <a:latin typeface="微软雅黑"/>
                          <a:ea typeface="微软雅黑"/>
                        </a:rPr>
                        <a:t>心血管内科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902.00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850.00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6.12%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881.00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2.38%</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000" b="0" i="0">
                          <a:solidFill>
                            <a:srgbClr val="000000"/>
                          </a:solidFill>
                          <a:latin typeface="微软雅黑"/>
                          <a:ea typeface="微软雅黑"/>
                        </a:rPr>
                        <a:t>眼科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870.00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851.00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2.23%</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841.00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3.45%</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000" b="0" i="0">
                          <a:solidFill>
                            <a:srgbClr val="000000"/>
                          </a:solidFill>
                          <a:latin typeface="微软雅黑"/>
                          <a:ea typeface="微软雅黑"/>
                        </a:rPr>
                        <a:t>普外科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846.00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845.00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0.12%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858.00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-1.40%</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000" b="0" i="0">
                          <a:solidFill>
                            <a:srgbClr val="000000"/>
                          </a:solidFill>
                          <a:latin typeface="微软雅黑"/>
                          <a:ea typeface="微软雅黑"/>
                        </a:rPr>
                        <a:t>妇产科</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789.00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790.00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-0.13%</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785.00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0.51%</a:t>
                      </a:r>
                    </a:p>
                  </a:txBody>
                  <a:tcPr marL="13017" marR="13017" marT="13017"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000" b="0" i="0">
                          <a:solidFill>
                            <a:srgbClr val="000000"/>
                          </a:solidFill>
                          <a:latin typeface="微软雅黑"/>
                          <a:ea typeface="微软雅黑"/>
                        </a:rPr>
                        <a:t>骨科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530.00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736.00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-27.99%</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519.00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2.12%</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000" b="0" i="0">
                          <a:solidFill>
                            <a:srgbClr val="000000"/>
                          </a:solidFill>
                          <a:latin typeface="微软雅黑"/>
                          <a:ea typeface="微软雅黑"/>
                        </a:rPr>
                        <a:t>消化内科（内窥镜诊治部）</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495.00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484.00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2.27%</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513.00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-3.51%</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000" b="0" i="0">
                          <a:solidFill>
                            <a:srgbClr val="000000"/>
                          </a:solidFill>
                          <a:latin typeface="微软雅黑"/>
                          <a:ea typeface="微软雅黑"/>
                        </a:rPr>
                        <a:t>泌尿外科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451.00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547.00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-17.55%</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408.00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10.54%</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000" b="0" i="0">
                          <a:solidFill>
                            <a:srgbClr val="000000"/>
                          </a:solidFill>
                          <a:latin typeface="微软雅黑"/>
                          <a:ea typeface="微软雅黑"/>
                        </a:rPr>
                        <a:t>神经外科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401.00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400.00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0.25%</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383.00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4.70%</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000" b="0" i="0">
                          <a:solidFill>
                            <a:srgbClr val="000000"/>
                          </a:solidFill>
                          <a:latin typeface="微软雅黑"/>
                          <a:ea typeface="微软雅黑"/>
                        </a:rPr>
                        <a:t>血液内科</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386.00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384.00</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C00000"/>
                          </a:solidFill>
                          <a:latin typeface="宋体"/>
                          <a:ea typeface="宋体"/>
                        </a:rPr>
                        <a:t>0.52%</a:t>
                      </a:r>
                    </a:p>
                  </a:txBody>
                  <a:tcPr marL="13017" marR="13017" marT="13017"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000" b="0" i="0">
                          <a:solidFill>
                            <a:srgbClr val="000000"/>
                          </a:solidFill>
                          <a:latin typeface="微软雅黑"/>
                          <a:ea typeface="微软雅黑"/>
                        </a:rPr>
                        <a:t>417.00</a:t>
                      </a:r>
                    </a:p>
                  </a:txBody>
                  <a:tcPr marL="13017" marR="13017" marT="13017"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r" fontAlgn="ctr"/>
                      <a:r>
                        <a:rPr lang="en-US" altLang="zh-CN" sz="1200" b="1" i="0">
                          <a:solidFill>
                            <a:srgbClr val="00B050"/>
                          </a:solidFill>
                          <a:latin typeface="宋体"/>
                          <a:ea typeface="宋体"/>
                        </a:rPr>
                        <a:t>-7.43%</a:t>
                      </a:r>
                    </a:p>
                  </a:txBody>
                  <a:tcPr marL="13017" marR="13017" marT="13017"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356386"/>
            <a:ext cx="11275327" cy="828675"/>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妇产科</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肿瘤</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骨科</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泌尿外科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月，杨浦院区住院业务量前十科室中，除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普外</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消化</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血液科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474669" y="5563975"/>
            <a:ext cx="112023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月，开展住院手术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0.80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0.21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37.4%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。其中四级手术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0.24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0.07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27.1%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，微创手术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0.18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0.06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29.6</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30570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住院手术业务量</a:t>
            </a:r>
          </a:p>
        </p:txBody>
      </p:sp>
      <p:grpSp>
        <p:nvGrpSpPr>
          <p:cNvPr id="45" name="组合 44"/>
          <p:cNvGrpSpPr/>
          <p:nvPr>
            <p:custDataLst>
              <p:tags r:id="rId1"/>
            </p:custDataLst>
          </p:nvPr>
        </p:nvGrpSpPr>
        <p:grpSpPr>
          <a:xfrm>
            <a:off x="2024603" y="1110564"/>
            <a:ext cx="2736102" cy="390680"/>
            <a:chOff x="2790266" y="142563"/>
            <a:chExt cx="3584682" cy="390680"/>
          </a:xfrm>
        </p:grpSpPr>
        <p:sp>
          <p:nvSpPr>
            <p:cNvPr id="46" name="圆角矩形 45"/>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7" name="组合 46"/>
            <p:cNvGrpSpPr/>
            <p:nvPr/>
          </p:nvGrpSpPr>
          <p:grpSpPr>
            <a:xfrm>
              <a:off x="5921798" y="256915"/>
              <a:ext cx="453150" cy="161976"/>
              <a:chOff x="264939" y="188640"/>
              <a:chExt cx="604358" cy="216024"/>
            </a:xfrm>
          </p:grpSpPr>
          <p:sp>
            <p:nvSpPr>
              <p:cNvPr id="52" name="燕尾形 51"/>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燕尾形 52"/>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4" name="燕尾形 53"/>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8" name="组合 47"/>
            <p:cNvGrpSpPr/>
            <p:nvPr/>
          </p:nvGrpSpPr>
          <p:grpSpPr>
            <a:xfrm rot="10800000">
              <a:off x="2790266" y="256915"/>
              <a:ext cx="453150" cy="161976"/>
              <a:chOff x="264939" y="188640"/>
              <a:chExt cx="604358" cy="216024"/>
            </a:xfrm>
          </p:grpSpPr>
          <p:sp>
            <p:nvSpPr>
              <p:cNvPr id="49" name="燕尾形 4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0" name="燕尾形 4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1" name="燕尾形 5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5" name="矩形 54"/>
          <p:cNvSpPr/>
          <p:nvPr>
            <p:custDataLst>
              <p:tags r:id="rId2"/>
            </p:custDataLst>
          </p:nvPr>
        </p:nvSpPr>
        <p:spPr>
          <a:xfrm>
            <a:off x="2767326" y="113197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住院手术人次</a:t>
            </a:r>
          </a:p>
        </p:txBody>
      </p:sp>
      <p:sp>
        <p:nvSpPr>
          <p:cNvPr id="57" name="文本框 56"/>
          <p:cNvSpPr txBox="1"/>
          <p:nvPr>
            <p:custDataLst>
              <p:tags r:id="rId3"/>
            </p:custDataLst>
          </p:nvPr>
        </p:nvSpPr>
        <p:spPr>
          <a:xfrm>
            <a:off x="4760705" y="14776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36" name="组合 35"/>
          <p:cNvGrpSpPr/>
          <p:nvPr>
            <p:custDataLst>
              <p:tags r:id="rId4"/>
            </p:custDataLst>
          </p:nvPr>
        </p:nvGrpSpPr>
        <p:grpSpPr>
          <a:xfrm>
            <a:off x="7786340" y="1089155"/>
            <a:ext cx="2265440" cy="386886"/>
            <a:chOff x="1868021" y="1085100"/>
            <a:chExt cx="2736102" cy="674545"/>
          </a:xfrm>
        </p:grpSpPr>
        <p:grpSp>
          <p:nvGrpSpPr>
            <p:cNvPr id="39" name="组合 38"/>
            <p:cNvGrpSpPr/>
            <p:nvPr/>
          </p:nvGrpSpPr>
          <p:grpSpPr>
            <a:xfrm>
              <a:off x="1868021" y="1085100"/>
              <a:ext cx="2736102" cy="674545"/>
              <a:chOff x="2790266" y="52109"/>
              <a:chExt cx="3584682" cy="558654"/>
            </a:xfrm>
          </p:grpSpPr>
          <p:sp>
            <p:nvSpPr>
              <p:cNvPr id="41" name="圆角矩形 40"/>
              <p:cNvSpPr/>
              <p:nvPr>
                <p:custDataLst>
                  <p:tags r:id="rId7"/>
                </p:custDataLst>
              </p:nvPr>
            </p:nvSpPr>
            <p:spPr>
              <a:xfrm>
                <a:off x="3452485" y="52109"/>
                <a:ext cx="2276003" cy="558654"/>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2" name="组合 41"/>
              <p:cNvGrpSpPr/>
              <p:nvPr/>
            </p:nvGrpSpPr>
            <p:grpSpPr>
              <a:xfrm>
                <a:off x="5921798" y="256915"/>
                <a:ext cx="453150" cy="161976"/>
                <a:chOff x="264939" y="188640"/>
                <a:chExt cx="604358" cy="216024"/>
              </a:xfrm>
            </p:grpSpPr>
            <p:sp>
              <p:nvSpPr>
                <p:cNvPr id="60" name="燕尾形 59"/>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1" name="燕尾形 60"/>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3" name="组合 42"/>
              <p:cNvGrpSpPr/>
              <p:nvPr/>
            </p:nvGrpSpPr>
            <p:grpSpPr>
              <a:xfrm rot="10800000">
                <a:off x="2790266" y="256915"/>
                <a:ext cx="453150" cy="161976"/>
                <a:chOff x="264939" y="188640"/>
                <a:chExt cx="604358" cy="216024"/>
              </a:xfrm>
            </p:grpSpPr>
            <p:sp>
              <p:nvSpPr>
                <p:cNvPr id="44" name="燕尾形 4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6" name="燕尾形 55"/>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6"/>
              </p:custDataLst>
            </p:nvPr>
          </p:nvSpPr>
          <p:spPr>
            <a:xfrm>
              <a:off x="2298350" y="1161948"/>
              <a:ext cx="1804554" cy="536468"/>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四级和微创手术</a:t>
              </a:r>
            </a:p>
          </p:txBody>
        </p:sp>
      </p:grpSp>
      <p:sp>
        <p:nvSpPr>
          <p:cNvPr id="58" name="文本框 57"/>
          <p:cNvSpPr txBox="1"/>
          <p:nvPr>
            <p:custDataLst>
              <p:tags r:id="rId5"/>
            </p:custDataLst>
          </p:nvPr>
        </p:nvSpPr>
        <p:spPr>
          <a:xfrm>
            <a:off x="9863721" y="14776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4" name="文本框 3"/>
          <p:cNvSpPr txBox="1"/>
          <p:nvPr/>
        </p:nvSpPr>
        <p:spPr>
          <a:xfrm>
            <a:off x="2767330" y="2012950"/>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+37.4%</a:t>
            </a:r>
          </a:p>
        </p:txBody>
      </p:sp>
      <p:sp>
        <p:nvSpPr>
          <p:cNvPr id="9" name="文本框 8"/>
          <p:cNvSpPr txBox="1"/>
          <p:nvPr/>
        </p:nvSpPr>
        <p:spPr>
          <a:xfrm>
            <a:off x="9536229" y="2381345"/>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+29.6%</a:t>
            </a:r>
          </a:p>
        </p:txBody>
      </p:sp>
      <p:sp>
        <p:nvSpPr>
          <p:cNvPr id="10" name="文本框 9"/>
          <p:cNvSpPr txBox="1"/>
          <p:nvPr/>
        </p:nvSpPr>
        <p:spPr>
          <a:xfrm>
            <a:off x="7557465" y="2100091"/>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+27.1%</a:t>
            </a:r>
          </a:p>
        </p:txBody>
      </p:sp>
      <p:graphicFrame>
        <p:nvGraphicFramePr>
          <p:cNvPr id="5" name="图表 4"/>
          <p:cNvGraphicFramePr/>
          <p:nvPr/>
        </p:nvGraphicFramePr>
        <p:xfrm>
          <a:off x="1418590" y="2212340"/>
          <a:ext cx="4116070" cy="2863215"/>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6" name="图表 5"/>
          <p:cNvGraphicFramePr/>
          <p:nvPr/>
        </p:nvGraphicFramePr>
        <p:xfrm>
          <a:off x="7369175" y="2247900"/>
          <a:ext cx="3881120" cy="2792730"/>
        </p:xfrm>
        <a:graphic>
          <a:graphicData uri="http://schemas.openxmlformats.org/drawingml/2006/chart">
            <c:chart xmlns:c="http://schemas.openxmlformats.org/drawingml/2006/chart" xmlns:r="http://schemas.openxmlformats.org/officeDocument/2006/relationships" r:id="rId20"/>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文本框 10"/>
          <p:cNvSpPr txBox="1"/>
          <p:nvPr/>
        </p:nvSpPr>
        <p:spPr>
          <a:xfrm>
            <a:off x="6838044" y="1168009"/>
            <a:ext cx="5255491" cy="507746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月，儿童科室门急诊人次同比增幅中位数为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14.01%</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6.41%</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两项业务量同时正向增长：儿心脏</a:t>
            </a:r>
            <a:r>
              <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儿神外</a:t>
            </a:r>
            <a:r>
              <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儿骨</a:t>
            </a:r>
            <a:r>
              <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儿内分泌</a:t>
            </a:r>
            <a:r>
              <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儿肾脏</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两项业务量同时负向增长：儿普外</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门急诊增长住院下降：儿消化、儿泌尿、儿感染</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住院增长门急诊下降：儿血液、新生儿、儿神经内、儿急危、儿呼吸</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有门急诊无住院：儿保科同比增幅</a:t>
            </a:r>
            <a:r>
              <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15%</a:t>
            </a:r>
            <a:endParaRPr kumimoji="0" lang="en-US" altLang="zh-CN" sz="1800" b="1" i="0" u="none" strike="noStrike" kern="120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p:txBody>
      </p:sp>
      <p:sp>
        <p:nvSpPr>
          <p:cNvPr id="4" name="文本框 3"/>
          <p:cNvSpPr txBox="1"/>
          <p:nvPr/>
        </p:nvSpPr>
        <p:spPr>
          <a:xfrm>
            <a:off x="783776" y="6012461"/>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5" name="右箭头 4"/>
          <p:cNvSpPr/>
          <p:nvPr/>
        </p:nvSpPr>
        <p:spPr>
          <a:xfrm>
            <a:off x="3293706" y="6031123"/>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文本框 6"/>
          <p:cNvSpPr txBox="1"/>
          <p:nvPr/>
        </p:nvSpPr>
        <p:spPr>
          <a:xfrm>
            <a:off x="139844" y="3822652"/>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79" name="右箭头 78"/>
          <p:cNvSpPr/>
          <p:nvPr/>
        </p:nvSpPr>
        <p:spPr>
          <a:xfrm rot="16200000">
            <a:off x="-956701" y="220202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6" name="图片 5"/>
          <p:cNvPicPr>
            <a:picLocks noChangeAspect="1"/>
          </p:cNvPicPr>
          <p:nvPr/>
        </p:nvPicPr>
        <p:blipFill>
          <a:blip r:embed="rId3"/>
          <a:stretch>
            <a:fillRect/>
          </a:stretch>
        </p:blipFill>
        <p:spPr>
          <a:xfrm>
            <a:off x="2107163" y="606892"/>
            <a:ext cx="997016" cy="560757"/>
          </a:xfrm>
          <a:prstGeom prst="rect">
            <a:avLst/>
          </a:prstGeom>
        </p:spPr>
      </p:pic>
      <p:graphicFrame>
        <p:nvGraphicFramePr>
          <p:cNvPr id="13" name="图表 12"/>
          <p:cNvGraphicFramePr/>
          <p:nvPr>
            <p:extLst>
              <p:ext uri="{D42A27DB-BD31-4B8C-83A1-F6EECF244321}">
                <p14:modId xmlns:p14="http://schemas.microsoft.com/office/powerpoint/2010/main" val="1717835906"/>
              </p:ext>
            </p:extLst>
          </p:nvPr>
        </p:nvGraphicFramePr>
        <p:xfrm>
          <a:off x="588010" y="1454785"/>
          <a:ext cx="6204585" cy="4577080"/>
        </p:xfrm>
        <a:graphic>
          <a:graphicData uri="http://schemas.openxmlformats.org/drawingml/2006/chart">
            <c:chart xmlns:c="http://schemas.openxmlformats.org/drawingml/2006/chart" xmlns:r="http://schemas.openxmlformats.org/officeDocument/2006/relationships" r:id="rId4"/>
          </a:graphicData>
        </a:graphic>
      </p:graphicFrame>
      <p:sp>
        <p:nvSpPr>
          <p:cNvPr id="3" name="矩形 2"/>
          <p:cNvSpPr>
            <a:spLocks noChangeArrowheads="1"/>
          </p:cNvSpPr>
          <p:nvPr/>
        </p:nvSpPr>
        <p:spPr bwMode="auto">
          <a:xfrm>
            <a:off x="474669" y="209554"/>
            <a:ext cx="360365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儿童科</a:t>
            </a:r>
          </a:p>
        </p:txBody>
      </p:sp>
      <p:cxnSp>
        <p:nvCxnSpPr>
          <p:cNvPr id="9" name="直接箭头连接符 8"/>
          <p:cNvCxnSpPr/>
          <p:nvPr/>
        </p:nvCxnSpPr>
        <p:spPr>
          <a:xfrm flipV="1">
            <a:off x="3028911" y="865276"/>
            <a:ext cx="0" cy="5015865"/>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708567" y="4481606"/>
            <a:ext cx="6084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786349" y="4116869"/>
            <a:ext cx="1052022"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6.41%</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p:cNvSpPr txBox="1"/>
          <p:nvPr/>
        </p:nvSpPr>
        <p:spPr>
          <a:xfrm>
            <a:off x="3103900" y="865457"/>
            <a:ext cx="825209"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14.01%</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48347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成人手术科室</a:t>
            </a:r>
          </a:p>
        </p:txBody>
      </p:sp>
      <p:sp>
        <p:nvSpPr>
          <p:cNvPr id="6" name="文本框 5"/>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7" name="右箭头 6"/>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9" name="右箭头 8"/>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文本框 10"/>
          <p:cNvSpPr txBox="1"/>
          <p:nvPr/>
        </p:nvSpPr>
        <p:spPr>
          <a:xfrm>
            <a:off x="6984824" y="1384662"/>
            <a:ext cx="4868545" cy="4440382"/>
          </a:xfrm>
          <a:prstGeom prst="rect">
            <a:avLst/>
          </a:prstGeom>
          <a:noFill/>
        </p:spPr>
        <p:txBody>
          <a:bodyPr wrap="square" rtlCol="0">
            <a:no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月，成人手术科室门急诊人次同比增幅中位数为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33.86%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23.04%</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a:lnSpc>
                <a:spcPct val="200000"/>
              </a:lnSpc>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两项业务量同时正向增长：普外、神经外、骨科、泌尿、心胸、整形、脊柱、介入、</a:t>
            </a:r>
            <a:r>
              <a:rPr lang="zh-CN" altLang="en-US" b="1" dirty="0">
                <a:solidFill>
                  <a:srgbClr val="002060"/>
                </a:solidFill>
                <a:latin typeface="微软雅黑" panose="020B0503020204020204" pitchFamily="34" charset="-122"/>
                <a:ea typeface="微软雅黑" panose="020B0503020204020204" pitchFamily="34" charset="-122"/>
              </a:rPr>
              <a:t>妇产科</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002060"/>
                </a:solidFill>
                <a:latin typeface="微软雅黑" panose="020B0503020204020204" pitchFamily="34" charset="-122"/>
                <a:ea typeface="微软雅黑" panose="020B0503020204020204" pitchFamily="34" charset="-122"/>
              </a:rPr>
              <a:t>眼科、</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五官、疼痛</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门急诊增长住院下降：肛肠、移植、乳腺</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294" y="4975576"/>
            <a:ext cx="230784" cy="213031"/>
          </a:xfrm>
          <a:prstGeom prst="rect">
            <a:avLst/>
          </a:prstGeom>
        </p:spPr>
      </p:pic>
      <p:graphicFrame>
        <p:nvGraphicFramePr>
          <p:cNvPr id="4" name="图表 3"/>
          <p:cNvGraphicFramePr/>
          <p:nvPr/>
        </p:nvGraphicFramePr>
        <p:xfrm>
          <a:off x="541655" y="1463675"/>
          <a:ext cx="6324600" cy="4650740"/>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直接箭头连接符 17"/>
          <p:cNvCxnSpPr/>
          <p:nvPr/>
        </p:nvCxnSpPr>
        <p:spPr>
          <a:xfrm flipV="1">
            <a:off x="2599075" y="913780"/>
            <a:ext cx="0" cy="5220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043802" y="3984307"/>
            <a:ext cx="5652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952993" y="3511287"/>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23.04%</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2684893" y="1030450"/>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33.86</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成人非手术科室</a:t>
            </a:r>
          </a:p>
        </p:txBody>
      </p:sp>
      <p:sp>
        <p:nvSpPr>
          <p:cNvPr id="13" name="文本框 12"/>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14" name="右箭头 13"/>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文本框 14"/>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16" name="右箭头 15"/>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文本框 16"/>
          <p:cNvSpPr txBox="1"/>
          <p:nvPr/>
        </p:nvSpPr>
        <p:spPr>
          <a:xfrm>
            <a:off x="6901305" y="1142995"/>
            <a:ext cx="5056505" cy="507746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月，成人非手术科室同比增幅中位数为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34.29%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lang="en-US" altLang="zh-CN" b="1" dirty="0">
                <a:solidFill>
                  <a:srgbClr val="C00000"/>
                </a:solidFill>
                <a:latin typeface="微软雅黑" panose="020B0503020204020204" pitchFamily="34" charset="-122"/>
                <a:ea typeface="微软雅黑" panose="020B0503020204020204" pitchFamily="34" charset="-122"/>
              </a:rPr>
              <a:t>1.54</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两项业务量同时正向增长：神经内、消化、心血管、肾脏、呼吸、中医、全科、皮肤、血液</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a:t>
            </a: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负向增长</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：感染</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门急诊增长住院下降：内分泌、肿瘤、急诊、老年、康复</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有门急诊无住院：口腔同比增幅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38.38%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，生殖同比增幅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29.72%</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，心理同比增幅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12.31%</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肿瘤科拆分为肿瘤内科与放疗科，无去年同期分拆数据，故合并分析。</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11" name="直接箭头连接符 10"/>
          <p:cNvCxnSpPr/>
          <p:nvPr/>
        </p:nvCxnSpPr>
        <p:spPr>
          <a:xfrm flipV="1">
            <a:off x="11818674" y="871816"/>
            <a:ext cx="0" cy="4968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5720266" y="6133184"/>
            <a:ext cx="5940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925974" y="718575"/>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34.29</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9640421" y="794531"/>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1.54%</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图表 3"/>
          <p:cNvGraphicFramePr/>
          <p:nvPr/>
        </p:nvGraphicFramePr>
        <p:xfrm>
          <a:off x="549275" y="1432878"/>
          <a:ext cx="6343650" cy="4657725"/>
        </p:xfrm>
        <a:graphic>
          <a:graphicData uri="http://schemas.openxmlformats.org/drawingml/2006/chart">
            <c:chart xmlns:c="http://schemas.openxmlformats.org/drawingml/2006/chart" xmlns:r="http://schemas.openxmlformats.org/officeDocument/2006/relationships" r:id="rId2"/>
          </a:graphicData>
        </a:graphic>
      </p:graphicFrame>
      <p:sp>
        <p:nvSpPr>
          <p:cNvPr id="10" name="椭圆 9"/>
          <p:cNvSpPr/>
          <p:nvPr/>
        </p:nvSpPr>
        <p:spPr>
          <a:xfrm>
            <a:off x="549275" y="5023485"/>
            <a:ext cx="75565" cy="7556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文本框 20"/>
          <p:cNvSpPr txBox="1"/>
          <p:nvPr/>
        </p:nvSpPr>
        <p:spPr>
          <a:xfrm>
            <a:off x="500380" y="4779010"/>
            <a:ext cx="768985" cy="359410"/>
          </a:xfrm>
          <a:prstGeom prst="rect">
            <a:avLst/>
          </a:prstGeom>
          <a:ln>
            <a:noFill/>
          </a:ln>
        </p:spPr>
        <p:style>
          <a:lnRef idx="2">
            <a:schemeClr val="accent1"/>
          </a:lnRef>
          <a:fillRef idx="0">
            <a:srgbClr val="FFFFFF"/>
          </a:fillRef>
          <a:effectRef idx="0">
            <a:srgbClr val="FFFFFF"/>
          </a:effectRef>
          <a:fontRef idx="minor">
            <a:schemeClr val="tx1"/>
          </a:fontRef>
        </p:style>
        <p:txBody>
          <a:bodyPr wrap="square" rtlCol="0">
            <a:noAutofit/>
          </a:bodyPr>
          <a:lstStyle/>
          <a:p>
            <a:r>
              <a:rPr lang="zh-CN" altLang="en-US" sz="1000" b="1">
                <a:solidFill>
                  <a:schemeClr val="accent5"/>
                </a:solidFill>
                <a:effectLst>
                  <a:outerShdw blurRad="38100" dist="25400" dir="5400000" algn="ctr" rotWithShape="0">
                    <a:srgbClr val="6E747A">
                      <a:alpha val="43000"/>
                    </a:srgbClr>
                  </a:outerShdw>
                </a:effectLst>
              </a:rPr>
              <a:t>感染</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1994" y="1245447"/>
            <a:ext cx="4302093" cy="719455"/>
            <a:chOff x="771994" y="1245447"/>
            <a:chExt cx="4302093"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771994" y="1245447"/>
              <a:ext cx="4156364"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01401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9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全院</a:t>
            </a:r>
            <a:endParaRPr kumimoji="0" lang="zh-CN" altLang="en-US" sz="3200" b="1" i="0" u="none" strike="noStrike" kern="0" cap="none" spc="0" normalizeH="0" baseline="0" noProof="0" dirty="0">
              <a:ln>
                <a:noFill/>
              </a:ln>
              <a:solidFill>
                <a:srgbClr val="70AD47"/>
              </a:solidFill>
              <a:effectLst/>
              <a:uLnTx/>
              <a:uFillTx/>
              <a:latin typeface="Arial" panose="020B060402020209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249237" y="5495142"/>
            <a:ext cx="11786819"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7.8%</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28.6%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20.8</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9.1%</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21.1%</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图表 4"/>
          <p:cNvGraphicFramePr/>
          <p:nvPr/>
        </p:nvGraphicFramePr>
        <p:xfrm>
          <a:off x="500380" y="1983105"/>
          <a:ext cx="5264150" cy="33693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图表 5"/>
          <p:cNvGraphicFramePr/>
          <p:nvPr/>
        </p:nvGraphicFramePr>
        <p:xfrm>
          <a:off x="6661150" y="1983105"/>
          <a:ext cx="5123815" cy="336931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1994" y="1245447"/>
            <a:ext cx="4302093" cy="719455"/>
            <a:chOff x="771994" y="1245447"/>
            <a:chExt cx="4302093"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771994" y="1245447"/>
              <a:ext cx="4156364"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8347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9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杨浦院区</a:t>
            </a:r>
            <a:endParaRPr kumimoji="0" lang="zh-CN" altLang="en-US" sz="3200" b="1" i="0" u="none" strike="noStrike" kern="0" cap="none" spc="0" normalizeH="0" baseline="0" noProof="0" dirty="0">
              <a:ln>
                <a:noFill/>
              </a:ln>
              <a:solidFill>
                <a:srgbClr val="70AD47"/>
              </a:solidFill>
              <a:effectLst/>
              <a:uLnTx/>
              <a:uFillTx/>
              <a:latin typeface="Arial" panose="020B060402020209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474669" y="5642287"/>
            <a:ext cx="11582400" cy="69024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月，市级综合性医院门急诊人次平均增幅为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，新华杨浦为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1.9%</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，低于市级综合性医院平均水平</a:t>
            </a:r>
            <a:r>
              <a:rPr kumimoji="0" lang="en-US" altLang="zh-CN"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3.5</a:t>
            </a:r>
            <a:r>
              <a:rPr kumimoji="0" lang="zh-CN" altLang="en-US"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月，市级综合性医院住院人次平均增幅为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6.6%</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，新华杨浦为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-5.8%</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，低于市级综合性医院平均水平</a:t>
            </a:r>
            <a:r>
              <a:rPr kumimoji="0" lang="en-US" altLang="zh-CN"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12.4</a:t>
            </a:r>
            <a:r>
              <a:rPr kumimoji="0" lang="zh-CN" altLang="en-US"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图表 3"/>
          <p:cNvGraphicFramePr/>
          <p:nvPr/>
        </p:nvGraphicFramePr>
        <p:xfrm>
          <a:off x="6402705" y="2166620"/>
          <a:ext cx="5008245" cy="31083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图表 4"/>
          <p:cNvGraphicFramePr/>
          <p:nvPr/>
        </p:nvGraphicFramePr>
        <p:xfrm>
          <a:off x="1118553" y="1687513"/>
          <a:ext cx="4702175" cy="362648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68290" y="1245447"/>
            <a:ext cx="4405797" cy="719455"/>
            <a:chOff x="668290" y="1245447"/>
            <a:chExt cx="4405797"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668290" y="1245447"/>
              <a:ext cx="4260068"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424387"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9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儿科类</a:t>
            </a:r>
            <a:endParaRPr kumimoji="0" lang="zh-CN" altLang="en-US" sz="3200" b="1" i="0" u="none" strike="noStrike" kern="0" cap="none" spc="0" normalizeH="0" baseline="0" noProof="0" dirty="0">
              <a:ln>
                <a:noFill/>
              </a:ln>
              <a:solidFill>
                <a:srgbClr val="70AD47"/>
              </a:solidFill>
              <a:effectLst/>
              <a:uLnTx/>
              <a:uFillTx/>
              <a:latin typeface="Arial" panose="020B060402020209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576341" y="5598631"/>
            <a:ext cx="11400070"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2.7%</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9.3%</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6.6</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8.3%</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15.5%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7.2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图表 2"/>
          <p:cNvGraphicFramePr/>
          <p:nvPr/>
        </p:nvGraphicFramePr>
        <p:xfrm>
          <a:off x="667703" y="2520315"/>
          <a:ext cx="4133215" cy="23406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图表 3"/>
          <p:cNvGraphicFramePr/>
          <p:nvPr>
            <p:extLst>
              <p:ext uri="{D42A27DB-BD31-4B8C-83A1-F6EECF244321}">
                <p14:modId xmlns:p14="http://schemas.microsoft.com/office/powerpoint/2010/main" val="1126500820"/>
              </p:ext>
            </p:extLst>
          </p:nvPr>
        </p:nvGraphicFramePr>
        <p:xfrm>
          <a:off x="6744335" y="2520315"/>
          <a:ext cx="4131310" cy="234061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77091" y="1262086"/>
            <a:ext cx="5481243" cy="699847"/>
            <a:chOff x="333321" y="1265055"/>
            <a:chExt cx="4971859" cy="699847"/>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333321" y="1265055"/>
              <a:ext cx="4971859"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杨浦院区儿科类门急诊业务量横向比较（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6065862"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9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rPr>
              <a:t>杨浦院区儿科类</a:t>
            </a:r>
            <a:endParaRPr kumimoji="0" lang="zh-CN" altLang="en-US" sz="3200" b="1" i="0" u="none" strike="noStrike" kern="0" cap="none" spc="0" normalizeH="0" baseline="0" noProof="0" dirty="0">
              <a:ln>
                <a:noFill/>
              </a:ln>
              <a:solidFill>
                <a:srgbClr val="70AD47"/>
              </a:solidFill>
              <a:effectLst/>
              <a:uLnTx/>
              <a:uFillTx/>
              <a:latin typeface="Arial" panose="020B060402020209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519753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杨浦院区儿科类住院业务量横向比较（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119581" y="5437484"/>
            <a:ext cx="11879089" cy="701261"/>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月，儿科类医院门急诊人次平均增幅为</a:t>
            </a:r>
            <a:r>
              <a:rPr lang="en-US" altLang="zh-CN" sz="16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-1.6%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，新华杨浦院区儿科为</a:t>
            </a:r>
            <a:r>
              <a:rPr lang="en-US" altLang="zh-CN" sz="16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-4.5%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，低于儿科类医院平均水平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2.9</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，新华杨浦院区儿科为</a:t>
            </a:r>
            <a:r>
              <a:rPr lang="en-US" altLang="zh-CN" sz="16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-2.9%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，低于儿科类医院平均水平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8.8</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endPar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图表 2"/>
          <p:cNvGraphicFramePr/>
          <p:nvPr>
            <p:extLst>
              <p:ext uri="{D42A27DB-BD31-4B8C-83A1-F6EECF244321}">
                <p14:modId xmlns:p14="http://schemas.microsoft.com/office/powerpoint/2010/main" val="3480338207"/>
              </p:ext>
            </p:extLst>
          </p:nvPr>
        </p:nvGraphicFramePr>
        <p:xfrm>
          <a:off x="1017905" y="2167255"/>
          <a:ext cx="4204335" cy="27292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图表 3"/>
          <p:cNvGraphicFramePr/>
          <p:nvPr>
            <p:extLst>
              <p:ext uri="{D42A27DB-BD31-4B8C-83A1-F6EECF244321}">
                <p14:modId xmlns:p14="http://schemas.microsoft.com/office/powerpoint/2010/main" val="1026288365"/>
              </p:ext>
            </p:extLst>
          </p:nvPr>
        </p:nvGraphicFramePr>
        <p:xfrm>
          <a:off x="6924040" y="2167255"/>
          <a:ext cx="4302760" cy="26263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三、收入分析</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1345565" y="2114550"/>
          <a:ext cx="4229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a:t>
            </a:r>
          </a:p>
        </p:txBody>
      </p:sp>
      <p:sp>
        <p:nvSpPr>
          <p:cNvPr id="52" name="矩形 51"/>
          <p:cNvSpPr/>
          <p:nvPr/>
        </p:nvSpPr>
        <p:spPr>
          <a:xfrm>
            <a:off x="677167" y="5161676"/>
            <a:ext cx="108570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月，门急诊收入实现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2.48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39.6%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，儿童科同比增幅</a:t>
            </a:r>
            <a:r>
              <a:rPr lang="en-US" altLang="zh-CN" sz="16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11.5%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0.45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17.94%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门急诊收入</a:t>
            </a:r>
          </a:p>
        </p:txBody>
      </p:sp>
      <p:sp>
        <p:nvSpPr>
          <p:cNvPr id="58" name="文本框 57"/>
          <p:cNvSpPr txBox="1"/>
          <p:nvPr/>
        </p:nvSpPr>
        <p:spPr>
          <a:xfrm>
            <a:off x="2781701" y="1852822"/>
            <a:ext cx="1206142"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+33.4%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门急诊收入来源</a:t>
            </a:r>
          </a:p>
        </p:txBody>
      </p:sp>
      <p:graphicFrame>
        <p:nvGraphicFramePr>
          <p:cNvPr id="34" name="表格 33"/>
          <p:cNvGraphicFramePr>
            <a:graphicFrameLocks noGrp="1"/>
          </p:cNvGraphicFramePr>
          <p:nvPr>
            <p:extLst>
              <p:ext uri="{D42A27DB-BD31-4B8C-83A1-F6EECF244321}">
                <p14:modId xmlns:p14="http://schemas.microsoft.com/office/powerpoint/2010/main" val="2652799626"/>
              </p:ext>
            </p:extLst>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2.48</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33.4%</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9.5%</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0.45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1524000" y="2099945"/>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a:t>
            </a:r>
          </a:p>
        </p:txBody>
      </p:sp>
      <p:sp>
        <p:nvSpPr>
          <p:cNvPr id="52" name="矩形 51"/>
          <p:cNvSpPr/>
          <p:nvPr/>
        </p:nvSpPr>
        <p:spPr>
          <a:xfrm>
            <a:off x="892599" y="5131831"/>
            <a:ext cx="10723138" cy="787438"/>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月，门诊收入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2.18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32.8%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39.0%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10.0%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4</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月，奉贤院区门诊收入为</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0.35</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亿元，</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占全院比重为</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16.35%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门诊收入</a:t>
            </a:r>
          </a:p>
        </p:txBody>
      </p:sp>
      <p:sp>
        <p:nvSpPr>
          <p:cNvPr id="58" name="文本框 57"/>
          <p:cNvSpPr txBox="1"/>
          <p:nvPr/>
        </p:nvSpPr>
        <p:spPr>
          <a:xfrm>
            <a:off x="2736258" y="1852822"/>
            <a:ext cx="1251585"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+32.8%</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门诊收入来源</a:t>
            </a:r>
          </a:p>
        </p:txBody>
      </p:sp>
      <p:graphicFrame>
        <p:nvGraphicFramePr>
          <p:cNvPr id="34" name="表格 33"/>
          <p:cNvGraphicFramePr>
            <a:graphicFrameLocks noGrp="1"/>
          </p:cNvGraphicFramePr>
          <p:nvPr>
            <p:extLst>
              <p:ext uri="{D42A27DB-BD31-4B8C-83A1-F6EECF244321}">
                <p14:modId xmlns:p14="http://schemas.microsoft.com/office/powerpoint/2010/main" val="2920614373"/>
              </p:ext>
            </p:extLst>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2.18</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32.8%</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11.1%</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0.35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418766" y="1257489"/>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杨浦门诊收入来源</a:t>
            </a:r>
          </a:p>
        </p:txBody>
      </p:sp>
      <p:sp>
        <p:nvSpPr>
          <p:cNvPr id="52" name="矩形 51"/>
          <p:cNvSpPr/>
          <p:nvPr/>
        </p:nvSpPr>
        <p:spPr>
          <a:xfrm>
            <a:off x="892599" y="5131831"/>
            <a:ext cx="10723138" cy="1567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月，杨浦院区门诊收入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1.83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其中医保病人占比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84%</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，自费病人占比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16%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；本地病人占比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80%</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，异地病人占比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4</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月，奉贤院区门诊收入</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0.36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亿元，</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其中医保病人占比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88%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，自费病人占比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；本地病人占比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85%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，异地病人占比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门诊收入</a:t>
            </a:r>
          </a:p>
        </p:txBody>
      </p:sp>
      <p:grpSp>
        <p:nvGrpSpPr>
          <p:cNvPr id="53" name="组合 52"/>
          <p:cNvGrpSpPr/>
          <p:nvPr>
            <p:custDataLst>
              <p:tags r:id="rId3"/>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4"/>
            </p:custDataLst>
          </p:nvPr>
        </p:nvSpPr>
        <p:spPr>
          <a:xfrm>
            <a:off x="8373743" y="1256939"/>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奉贤门诊收入来源</a:t>
            </a:r>
          </a:p>
        </p:txBody>
      </p:sp>
      <p:graphicFrame>
        <p:nvGraphicFramePr>
          <p:cNvPr id="5" name="图表 4"/>
          <p:cNvGraphicFramePr/>
          <p:nvPr/>
        </p:nvGraphicFramePr>
        <p:xfrm>
          <a:off x="6774815" y="2068830"/>
          <a:ext cx="2160000" cy="2160000"/>
        </p:xfrm>
        <a:graphic>
          <a:graphicData uri="http://schemas.openxmlformats.org/drawingml/2006/chart">
            <c:chart xmlns:c="http://schemas.openxmlformats.org/drawingml/2006/chart" xmlns:r="http://schemas.openxmlformats.org/officeDocument/2006/relationships" r:id="rId22"/>
          </a:graphicData>
        </a:graphic>
      </p:graphicFrame>
      <p:graphicFrame>
        <p:nvGraphicFramePr>
          <p:cNvPr id="6" name="图表 5"/>
          <p:cNvGraphicFramePr/>
          <p:nvPr/>
        </p:nvGraphicFramePr>
        <p:xfrm>
          <a:off x="9313545" y="2068830"/>
          <a:ext cx="2160000" cy="2160000"/>
        </p:xfrm>
        <a:graphic>
          <a:graphicData uri="http://schemas.openxmlformats.org/drawingml/2006/chart">
            <c:chart xmlns:c="http://schemas.openxmlformats.org/drawingml/2006/chart" xmlns:r="http://schemas.openxmlformats.org/officeDocument/2006/relationships" r:id="rId23"/>
          </a:graphicData>
        </a:graphic>
      </p:graphicFrame>
      <p:sp>
        <p:nvSpPr>
          <p:cNvPr id="8" name="文本框 7"/>
          <p:cNvSpPr txBox="1"/>
          <p:nvPr>
            <p:custDataLst>
              <p:tags r:id="rId5"/>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sp>
        <p:nvSpPr>
          <p:cNvPr id="10" name="文本框 9"/>
          <p:cNvSpPr txBox="1"/>
          <p:nvPr>
            <p:custDataLst>
              <p:tags r:id="rId6"/>
            </p:custDataLst>
          </p:nvPr>
        </p:nvSpPr>
        <p:spPr>
          <a:xfrm>
            <a:off x="1018355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graphicFrame>
        <p:nvGraphicFramePr>
          <p:cNvPr id="11" name="图表 10"/>
          <p:cNvGraphicFramePr/>
          <p:nvPr/>
        </p:nvGraphicFramePr>
        <p:xfrm>
          <a:off x="892810" y="2068830"/>
          <a:ext cx="2160000" cy="2160000"/>
        </p:xfrm>
        <a:graphic>
          <a:graphicData uri="http://schemas.openxmlformats.org/drawingml/2006/chart">
            <c:chart xmlns:c="http://schemas.openxmlformats.org/drawingml/2006/chart" xmlns:r="http://schemas.openxmlformats.org/officeDocument/2006/relationships" r:id="rId24"/>
          </a:graphicData>
        </a:graphic>
      </p:graphicFrame>
      <p:graphicFrame>
        <p:nvGraphicFramePr>
          <p:cNvPr id="12" name="图表 11"/>
          <p:cNvGraphicFramePr/>
          <p:nvPr/>
        </p:nvGraphicFramePr>
        <p:xfrm>
          <a:off x="3724275" y="2068830"/>
          <a:ext cx="2160000" cy="2160000"/>
        </p:xfrm>
        <a:graphic>
          <a:graphicData uri="http://schemas.openxmlformats.org/drawingml/2006/chart">
            <c:chart xmlns:c="http://schemas.openxmlformats.org/drawingml/2006/chart" xmlns:r="http://schemas.openxmlformats.org/officeDocument/2006/relationships" r:id="rId2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1414145" y="2086610"/>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a:t>
            </a:r>
          </a:p>
        </p:txBody>
      </p:sp>
      <p:sp>
        <p:nvSpPr>
          <p:cNvPr id="52" name="矩形 51"/>
          <p:cNvSpPr/>
          <p:nvPr/>
        </p:nvSpPr>
        <p:spPr>
          <a:xfrm>
            <a:off x="506837" y="510526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月，急诊收入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0.30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38.3%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45.2%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20.3%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29.63%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急诊收入</a:t>
            </a:r>
          </a:p>
        </p:txBody>
      </p:sp>
      <p:sp>
        <p:nvSpPr>
          <p:cNvPr id="58" name="文本框 57"/>
          <p:cNvSpPr txBox="1"/>
          <p:nvPr/>
        </p:nvSpPr>
        <p:spPr>
          <a:xfrm>
            <a:off x="2819572" y="1852822"/>
            <a:ext cx="1262541"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+38.3%</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38.3%</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-2.7%</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0.09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1294130" y="2123440"/>
          <a:ext cx="4229100" cy="2519680"/>
        </p:xfrm>
        <a:graphic>
          <a:graphicData uri="http://schemas.openxmlformats.org/drawingml/2006/chart">
            <c:chart xmlns:c="http://schemas.openxmlformats.org/drawingml/2006/chart" xmlns:r="http://schemas.openxmlformats.org/officeDocument/2006/relationships" r:id="rId2"/>
          </a:graphicData>
        </a:graphic>
      </p:graphicFrame>
      <p:grpSp>
        <p:nvGrpSpPr>
          <p:cNvPr id="28" name="组合 27"/>
          <p:cNvGrpSpPr/>
          <p:nvPr/>
        </p:nvGrpSpPr>
        <p:grpSpPr>
          <a:xfrm>
            <a:off x="1892576" y="1196783"/>
            <a:ext cx="2736102" cy="390680"/>
            <a:chOff x="2790266" y="142563"/>
            <a:chExt cx="3584682" cy="390680"/>
          </a:xfrm>
        </p:grpSpPr>
        <p:sp>
          <p:nvSpPr>
            <p:cNvPr id="29" name="圆角矩形 28"/>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nvSpPr>
        <p:spPr>
          <a:xfrm>
            <a:off x="2797627" y="1228720"/>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a:t>
            </a:r>
          </a:p>
        </p:txBody>
      </p:sp>
      <p:sp>
        <p:nvSpPr>
          <p:cNvPr id="52" name="矩形 51"/>
          <p:cNvSpPr/>
          <p:nvPr/>
        </p:nvSpPr>
        <p:spPr>
          <a:xfrm>
            <a:off x="474669" y="5230263"/>
            <a:ext cx="11514131" cy="787438"/>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月，住院收入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4.25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29.9%</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29.8%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30.1%</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23.9%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住院收入</a:t>
            </a:r>
          </a:p>
        </p:txBody>
      </p:sp>
      <p:grpSp>
        <p:nvGrpSpPr>
          <p:cNvPr id="53" name="组合 52"/>
          <p:cNvGrpSpPr/>
          <p:nvPr/>
        </p:nvGrpSpPr>
        <p:grpSpPr>
          <a:xfrm>
            <a:off x="7793229" y="1226199"/>
            <a:ext cx="2736102" cy="390680"/>
            <a:chOff x="2790266" y="142563"/>
            <a:chExt cx="3584682" cy="390680"/>
          </a:xfrm>
        </p:grpSpPr>
        <p:sp>
          <p:nvSpPr>
            <p:cNvPr id="54" name="圆角矩形 53"/>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nvSpPr>
        <p:spPr>
          <a:xfrm>
            <a:off x="8515444" y="126627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住院收入来源</a:t>
            </a:r>
          </a:p>
        </p:txBody>
      </p:sp>
      <p:sp>
        <p:nvSpPr>
          <p:cNvPr id="65" name="文本框 64"/>
          <p:cNvSpPr txBox="1"/>
          <p:nvPr/>
        </p:nvSpPr>
        <p:spPr>
          <a:xfrm>
            <a:off x="2704699" y="1823802"/>
            <a:ext cx="1274639"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+29.9%</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4.25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3.27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29.9%</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3.24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3.27</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-1.1%</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1.01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418766" y="1257489"/>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杨浦住院收入来源</a:t>
            </a:r>
          </a:p>
        </p:txBody>
      </p:sp>
      <p:sp>
        <p:nvSpPr>
          <p:cNvPr id="52" name="矩形 51"/>
          <p:cNvSpPr/>
          <p:nvPr/>
        </p:nvSpPr>
        <p:spPr>
          <a:xfrm>
            <a:off x="892599" y="4941331"/>
            <a:ext cx="10723138" cy="1567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月，杨浦院区住院收入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3.24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亿元，其中医保病人占比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92%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，自费病人占比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；本地病人占比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，异地病人占比</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4</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月，奉贤院区住院收入</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1.01</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亿元，其中医保病人占比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94%</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，自费病人占比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；本地病人占比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69%</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，异地病人占比</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31%</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072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住院收入</a:t>
            </a:r>
          </a:p>
        </p:txBody>
      </p:sp>
      <p:grpSp>
        <p:nvGrpSpPr>
          <p:cNvPr id="53" name="组合 52"/>
          <p:cNvGrpSpPr/>
          <p:nvPr>
            <p:custDataLst>
              <p:tags r:id="rId3"/>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4"/>
            </p:custDataLst>
          </p:nvPr>
        </p:nvSpPr>
        <p:spPr>
          <a:xfrm>
            <a:off x="8373743" y="1256939"/>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奉贤住院收入来源</a:t>
            </a:r>
          </a:p>
        </p:txBody>
      </p:sp>
      <p:sp>
        <p:nvSpPr>
          <p:cNvPr id="8" name="文本框 7"/>
          <p:cNvSpPr txBox="1"/>
          <p:nvPr>
            <p:custDataLst>
              <p:tags r:id="rId5"/>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sp>
        <p:nvSpPr>
          <p:cNvPr id="10" name="文本框 9"/>
          <p:cNvSpPr txBox="1"/>
          <p:nvPr>
            <p:custDataLst>
              <p:tags r:id="rId6"/>
            </p:custDataLst>
          </p:nvPr>
        </p:nvSpPr>
        <p:spPr>
          <a:xfrm>
            <a:off x="1018355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graphicFrame>
        <p:nvGraphicFramePr>
          <p:cNvPr id="2" name="图表 1"/>
          <p:cNvGraphicFramePr/>
          <p:nvPr/>
        </p:nvGraphicFramePr>
        <p:xfrm>
          <a:off x="755015" y="2178685"/>
          <a:ext cx="2160000" cy="2160000"/>
        </p:xfrm>
        <a:graphic>
          <a:graphicData uri="http://schemas.openxmlformats.org/drawingml/2006/chart">
            <c:chart xmlns:c="http://schemas.openxmlformats.org/drawingml/2006/chart" xmlns:r="http://schemas.openxmlformats.org/officeDocument/2006/relationships" r:id="rId22"/>
          </a:graphicData>
        </a:graphic>
      </p:graphicFrame>
      <p:graphicFrame>
        <p:nvGraphicFramePr>
          <p:cNvPr id="7" name="图表 6"/>
          <p:cNvGraphicFramePr/>
          <p:nvPr/>
        </p:nvGraphicFramePr>
        <p:xfrm>
          <a:off x="3576320" y="2178685"/>
          <a:ext cx="2160000" cy="2160000"/>
        </p:xfrm>
        <a:graphic>
          <a:graphicData uri="http://schemas.openxmlformats.org/drawingml/2006/chart">
            <c:chart xmlns:c="http://schemas.openxmlformats.org/drawingml/2006/chart" xmlns:r="http://schemas.openxmlformats.org/officeDocument/2006/relationships" r:id="rId23"/>
          </a:graphicData>
        </a:graphic>
      </p:graphicFrame>
      <p:graphicFrame>
        <p:nvGraphicFramePr>
          <p:cNvPr id="9" name="图表 8"/>
          <p:cNvGraphicFramePr/>
          <p:nvPr/>
        </p:nvGraphicFramePr>
        <p:xfrm>
          <a:off x="6655435" y="2178685"/>
          <a:ext cx="2160000" cy="2160000"/>
        </p:xfrm>
        <a:graphic>
          <a:graphicData uri="http://schemas.openxmlformats.org/drawingml/2006/chart">
            <c:chart xmlns:c="http://schemas.openxmlformats.org/drawingml/2006/chart" xmlns:r="http://schemas.openxmlformats.org/officeDocument/2006/relationships" r:id="rId24"/>
          </a:graphicData>
        </a:graphic>
      </p:graphicFrame>
      <p:graphicFrame>
        <p:nvGraphicFramePr>
          <p:cNvPr id="13" name="图表 12"/>
          <p:cNvGraphicFramePr/>
          <p:nvPr/>
        </p:nvGraphicFramePr>
        <p:xfrm>
          <a:off x="9281795" y="2178685"/>
          <a:ext cx="2160000" cy="2160000"/>
        </p:xfrm>
        <a:graphic>
          <a:graphicData uri="http://schemas.openxmlformats.org/drawingml/2006/chart">
            <c:chart xmlns:c="http://schemas.openxmlformats.org/drawingml/2006/chart" xmlns:r="http://schemas.openxmlformats.org/officeDocument/2006/relationships" r:id="rId25"/>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1231900" y="2117725"/>
          <a:ext cx="4229100" cy="2519680"/>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363494" y="5161037"/>
            <a:ext cx="1153695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月，医疗收入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6.73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31.2%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33.2%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21.6% </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，奉贤院区医疗收入为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a:t>
            </a:r>
          </a:p>
        </p:txBody>
      </p:sp>
      <p:sp>
        <p:nvSpPr>
          <p:cNvPr id="11" name="文本框 10"/>
          <p:cNvSpPr txBox="1"/>
          <p:nvPr/>
        </p:nvSpPr>
        <p:spPr>
          <a:xfrm>
            <a:off x="4466568" y="1779176"/>
            <a:ext cx="1227148"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grpSp>
        <p:nvGrpSpPr>
          <p:cNvPr id="8" name="组合 7"/>
          <p:cNvGrpSpPr/>
          <p:nvPr/>
        </p:nvGrpSpPr>
        <p:grpSpPr>
          <a:xfrm>
            <a:off x="1838203" y="1317206"/>
            <a:ext cx="2736102" cy="390680"/>
            <a:chOff x="2790266" y="142563"/>
            <a:chExt cx="3584682" cy="390680"/>
          </a:xfrm>
        </p:grpSpPr>
        <p:sp>
          <p:nvSpPr>
            <p:cNvPr id="12" name="圆角矩形 11"/>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nvSpPr>
        <p:spPr>
          <a:xfrm>
            <a:off x="2712206" y="135575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a:t>
            </a:r>
          </a:p>
        </p:txBody>
      </p:sp>
      <p:grpSp>
        <p:nvGrpSpPr>
          <p:cNvPr id="33" name="组合 32"/>
          <p:cNvGrpSpPr/>
          <p:nvPr/>
        </p:nvGrpSpPr>
        <p:grpSpPr>
          <a:xfrm>
            <a:off x="7805004" y="1317206"/>
            <a:ext cx="2736102" cy="366822"/>
            <a:chOff x="2790266" y="142563"/>
            <a:chExt cx="3584682" cy="390680"/>
          </a:xfrm>
        </p:grpSpPr>
        <p:sp>
          <p:nvSpPr>
            <p:cNvPr id="35" name="圆角矩形 3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nvSpPr>
        <p:spPr>
          <a:xfrm>
            <a:off x="8562991" y="135575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医疗收入来源</a:t>
            </a:r>
          </a:p>
        </p:txBody>
      </p:sp>
      <p:sp>
        <p:nvSpPr>
          <p:cNvPr id="32" name="文本框 31"/>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48" name="文本框 47"/>
          <p:cNvSpPr txBox="1"/>
          <p:nvPr/>
        </p:nvSpPr>
        <p:spPr>
          <a:xfrm>
            <a:off x="2712206" y="1943739"/>
            <a:ext cx="1268874"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+31.2%</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34" name="表格 33"/>
          <p:cNvGraphicFramePr>
            <a:graphicFrameLocks noGrp="1"/>
          </p:cNvGraphicFramePr>
          <p:nvPr/>
        </p:nvGraphicFramePr>
        <p:xfrm>
          <a:off x="6862458" y="2237035"/>
          <a:ext cx="4635256" cy="2261074"/>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563164">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659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医疗收入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6.73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31.2%</a:t>
                      </a:r>
                    </a:p>
                  </a:txBody>
                  <a:tcPr marL="9842" marR="9842" marT="9842" marB="0" anchor="ctr"/>
                </a:tc>
                <a:extLst>
                  <a:ext uri="{0D108BD9-81ED-4DB2-BD59-A6C34878D82A}">
                    <a16:rowId xmlns:a16="http://schemas.microsoft.com/office/drawing/2014/main" val="10001"/>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5.27</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a:t>
                      </a:r>
                    </a:p>
                  </a:txBody>
                  <a:tcPr marL="9842" marR="9842" marT="9842" marB="0" anchor="ctr"/>
                </a:tc>
                <a:extLst>
                  <a:ext uri="{0D108BD9-81ED-4DB2-BD59-A6C34878D82A}">
                    <a16:rowId xmlns:a16="http://schemas.microsoft.com/office/drawing/2014/main" val="10002"/>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933450" y="1864360"/>
          <a:ext cx="4533900" cy="2909570"/>
        </p:xfrm>
        <a:graphic>
          <a:graphicData uri="http://schemas.openxmlformats.org/drawingml/2006/chart">
            <c:chart xmlns:c="http://schemas.openxmlformats.org/drawingml/2006/chart" xmlns:r="http://schemas.openxmlformats.org/officeDocument/2006/relationships" r:id="rId21"/>
          </a:graphicData>
        </a:graphic>
      </p:graphicFrame>
      <p:sp>
        <p:nvSpPr>
          <p:cNvPr id="2" name="矩形 1"/>
          <p:cNvSpPr/>
          <p:nvPr/>
        </p:nvSpPr>
        <p:spPr>
          <a:xfrm>
            <a:off x="249237" y="5157011"/>
            <a:ext cx="11249138" cy="1059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，从医疗收入结构同比来看，药占比持续下降、耗材收入占比上升</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9</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，检查化验占比上升</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0.2个百分点</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，劳务占比</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下降</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0.</a:t>
            </a:r>
            <a:r>
              <a:rPr kumimoji="0" lang="en-US" altLang="zh-CN"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5</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从奉贤院区收入占比来看，收入来源第一是耗材收入，第二是检查化验收入，劳务收入占比</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，低于杨浦院区</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3.8</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p>
        </p:txBody>
      </p:sp>
      <p:grpSp>
        <p:nvGrpSpPr>
          <p:cNvPr id="8" name="组合 7"/>
          <p:cNvGrpSpPr/>
          <p:nvPr>
            <p:custDataLst>
              <p:tags r:id="rId1"/>
            </p:custDataLst>
          </p:nvPr>
        </p:nvGrpSpPr>
        <p:grpSpPr>
          <a:xfrm>
            <a:off x="1861479" y="1090198"/>
            <a:ext cx="2736102" cy="390680"/>
            <a:chOff x="2790266" y="142563"/>
            <a:chExt cx="3584682" cy="390680"/>
          </a:xfrm>
        </p:grpSpPr>
        <p:sp>
          <p:nvSpPr>
            <p:cNvPr id="12" name="圆角矩形 11"/>
            <p:cNvSpPr/>
            <p:nvPr>
              <p:custDataLst>
                <p:tags r:id="rId12"/>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custDataLst>
                  <p:tags r:id="rId1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custDataLst>
                  <p:tags r:id="rId1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custDataLst>
                  <p:tags r:id="rId1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custDataLst>
                  <p:tags r:id="rId13"/>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custDataLst>
                  <p:tags r:id="rId14"/>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custDataLst>
                  <p:tags r:id="rId15"/>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custDataLst>
              <p:tags r:id="rId2"/>
            </p:custDataLst>
          </p:nvPr>
        </p:nvSpPr>
        <p:spPr>
          <a:xfrm>
            <a:off x="2479592" y="1128250"/>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与去年同期比较</a:t>
            </a:r>
          </a:p>
        </p:txBody>
      </p:sp>
      <p:grpSp>
        <p:nvGrpSpPr>
          <p:cNvPr id="33" name="组合 32"/>
          <p:cNvGrpSpPr/>
          <p:nvPr>
            <p:custDataLst>
              <p:tags r:id="rId3"/>
            </p:custDataLst>
          </p:nvPr>
        </p:nvGrpSpPr>
        <p:grpSpPr>
          <a:xfrm>
            <a:off x="7779969" y="1128250"/>
            <a:ext cx="2736102" cy="366822"/>
            <a:chOff x="2790266" y="142563"/>
            <a:chExt cx="3584682" cy="390680"/>
          </a:xfrm>
        </p:grpSpPr>
        <p:sp>
          <p:nvSpPr>
            <p:cNvPr id="35" name="圆角矩形 34"/>
            <p:cNvSpPr/>
            <p:nvPr>
              <p:custDataLst>
                <p:tags r:id="rId5"/>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custDataLst>
                  <p:tags r:id="rId9"/>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custDataLst>
                  <p:tags r:id="rId10"/>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custDataLst>
                  <p:tags r:id="rId11"/>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custDataLst>
                  <p:tags r:id="rId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custDataLst>
                  <p:tags r:id="rId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custDataLst>
                  <p:tags r:id="rId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custDataLst>
              <p:tags r:id="rId4"/>
            </p:custDataLst>
          </p:nvPr>
        </p:nvSpPr>
        <p:spPr>
          <a:xfrm>
            <a:off x="8427402" y="1141568"/>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杨浦与奉贤比较</a:t>
            </a:r>
          </a:p>
        </p:txBody>
      </p:sp>
      <p:graphicFrame>
        <p:nvGraphicFramePr>
          <p:cNvPr id="23" name="表格 22"/>
          <p:cNvGraphicFramePr/>
          <p:nvPr/>
        </p:nvGraphicFramePr>
        <p:xfrm>
          <a:off x="2516485" y="2187520"/>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i="0" dirty="0">
                          <a:solidFill>
                            <a:srgbClr val="00B050"/>
                          </a:solidFill>
                          <a:latin typeface="微软雅黑" panose="020B0503020204020204" pitchFamily="34" charset="-122"/>
                          <a:ea typeface="微软雅黑" panose="020B0503020204020204" pitchFamily="34" charset="-122"/>
                        </a:rPr>
                        <a:t>-0.5%</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4" name="表格 23"/>
          <p:cNvGraphicFramePr/>
          <p:nvPr/>
        </p:nvGraphicFramePr>
        <p:xfrm>
          <a:off x="2516489" y="2674359"/>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kern="1200" dirty="0">
                          <a:solidFill>
                            <a:srgbClr val="C00000"/>
                          </a:solidFill>
                          <a:latin typeface="微软雅黑" panose="020B0503020204020204" pitchFamily="34" charset="-122"/>
                          <a:ea typeface="微软雅黑" panose="020B0503020204020204" pitchFamily="34" charset="-122"/>
                          <a:cs typeface="+mn-cs"/>
                        </a:rPr>
                        <a:t>0.2%</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5" name="表格 24"/>
          <p:cNvGraphicFramePr/>
          <p:nvPr/>
        </p:nvGraphicFramePr>
        <p:xfrm>
          <a:off x="2516486" y="3202726"/>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dirty="0">
                          <a:solidFill>
                            <a:srgbClr val="C00000"/>
                          </a:solidFill>
                          <a:latin typeface="微软雅黑" panose="020B0503020204020204" pitchFamily="34" charset="-122"/>
                          <a:ea typeface="微软雅黑" panose="020B0503020204020204" pitchFamily="34" charset="-122"/>
                        </a:rPr>
                        <a:t>1.9%</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6" name="表格 25"/>
          <p:cNvGraphicFramePr/>
          <p:nvPr/>
        </p:nvGraphicFramePr>
        <p:xfrm>
          <a:off x="2516487" y="3781617"/>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i="0" dirty="0">
                          <a:solidFill>
                            <a:srgbClr val="00B050"/>
                          </a:solidFill>
                          <a:latin typeface="微软雅黑" panose="020B0503020204020204" pitchFamily="34" charset="-122"/>
                          <a:ea typeface="微软雅黑" panose="020B0503020204020204" pitchFamily="34" charset="-122"/>
                        </a:rPr>
                        <a:t>-1.6%</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7" name="图表 6"/>
          <p:cNvGraphicFramePr/>
          <p:nvPr/>
        </p:nvGraphicFramePr>
        <p:xfrm>
          <a:off x="6693853" y="1847850"/>
          <a:ext cx="4638675" cy="2909570"/>
        </p:xfrm>
        <a:graphic>
          <a:graphicData uri="http://schemas.openxmlformats.org/drawingml/2006/chart">
            <c:chart xmlns:c="http://schemas.openxmlformats.org/drawingml/2006/chart" xmlns:r="http://schemas.openxmlformats.org/officeDocument/2006/relationships" r:id="rId22"/>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08115" y="1059405"/>
          <a:ext cx="10095865" cy="4329424"/>
        </p:xfrm>
        <a:graphic>
          <a:graphicData uri="http://schemas.openxmlformats.org/drawingml/2006/table">
            <a:tbl>
              <a:tblPr>
                <a:tableStyleId>{22838BEF-8BB2-4498-84A7-C5851F593DF1}</a:tableStyleId>
              </a:tblPr>
              <a:tblGrid>
                <a:gridCol w="1484929">
                  <a:extLst>
                    <a:ext uri="{9D8B030D-6E8A-4147-A177-3AD203B41FA5}">
                      <a16:colId xmlns:a16="http://schemas.microsoft.com/office/drawing/2014/main" val="20000"/>
                    </a:ext>
                  </a:extLst>
                </a:gridCol>
                <a:gridCol w="1690377">
                  <a:extLst>
                    <a:ext uri="{9D8B030D-6E8A-4147-A177-3AD203B41FA5}">
                      <a16:colId xmlns:a16="http://schemas.microsoft.com/office/drawing/2014/main" val="20001"/>
                    </a:ext>
                  </a:extLst>
                </a:gridCol>
                <a:gridCol w="1164875">
                  <a:extLst>
                    <a:ext uri="{9D8B030D-6E8A-4147-A177-3AD203B41FA5}">
                      <a16:colId xmlns:a16="http://schemas.microsoft.com/office/drawing/2014/main" val="20002"/>
                    </a:ext>
                  </a:extLst>
                </a:gridCol>
                <a:gridCol w="1567814">
                  <a:extLst>
                    <a:ext uri="{9D8B030D-6E8A-4147-A177-3AD203B41FA5}">
                      <a16:colId xmlns:a16="http://schemas.microsoft.com/office/drawing/2014/main" val="20003"/>
                    </a:ext>
                  </a:extLst>
                </a:gridCol>
                <a:gridCol w="1200931">
                  <a:extLst>
                    <a:ext uri="{9D8B030D-6E8A-4147-A177-3AD203B41FA5}">
                      <a16:colId xmlns:a16="http://schemas.microsoft.com/office/drawing/2014/main" val="20004"/>
                    </a:ext>
                  </a:extLst>
                </a:gridCol>
                <a:gridCol w="1493194">
                  <a:extLst>
                    <a:ext uri="{9D8B030D-6E8A-4147-A177-3AD203B41FA5}">
                      <a16:colId xmlns:a16="http://schemas.microsoft.com/office/drawing/2014/main" val="20005"/>
                    </a:ext>
                  </a:extLst>
                </a:gridCol>
                <a:gridCol w="1493745">
                  <a:extLst>
                    <a:ext uri="{9D8B030D-6E8A-4147-A177-3AD203B41FA5}">
                      <a16:colId xmlns:a16="http://schemas.microsoft.com/office/drawing/2014/main" val="20006"/>
                    </a:ext>
                  </a:extLst>
                </a:gridCol>
              </a:tblGrid>
              <a:tr h="39941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2,559.58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55.82%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31.12%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22.43%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-0.93%</a:t>
                      </a:r>
                    </a:p>
                  </a:txBody>
                  <a:tcPr marL="9842" marR="9842" marT="9842" marB="0" anchor="ctr"/>
                </a:tc>
                <a:extLst>
                  <a:ext uri="{0D108BD9-81ED-4DB2-BD59-A6C34878D82A}">
                    <a16:rowId xmlns:a16="http://schemas.microsoft.com/office/drawing/2014/main" val="10001"/>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3,668.43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81.98%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10.86%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-4.09%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61.85%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7.12%</a:t>
                      </a:r>
                    </a:p>
                  </a:txBody>
                  <a:tcPr marL="9842" marR="9842" marT="9842" marB="0" anchor="ctr"/>
                </a:tc>
                <a:extLst>
                  <a:ext uri="{0D108BD9-81ED-4DB2-BD59-A6C34878D82A}">
                    <a16:rowId xmlns:a16="http://schemas.microsoft.com/office/drawing/2014/main" val="1000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2,888.40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72.29%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6.51%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58.68%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-5.75%</a:t>
                      </a:r>
                    </a:p>
                  </a:txBody>
                  <a:tcPr marL="9842" marR="9842" marT="9842" marB="0" anchor="ctr"/>
                </a:tc>
                <a:extLst>
                  <a:ext uri="{0D108BD9-81ED-4DB2-BD59-A6C34878D82A}">
                    <a16:rowId xmlns:a16="http://schemas.microsoft.com/office/drawing/2014/main" val="10003"/>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4,970.77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59.29%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12.03%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56.59%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-4.95%</a:t>
                      </a:r>
                    </a:p>
                  </a:txBody>
                  <a:tcPr marL="9842" marR="9842" marT="9842" marB="0" anchor="ctr"/>
                </a:tc>
                <a:extLst>
                  <a:ext uri="{0D108BD9-81ED-4DB2-BD59-A6C34878D82A}">
                    <a16:rowId xmlns:a16="http://schemas.microsoft.com/office/drawing/2014/main" val="10004"/>
                  </a:ext>
                </a:extLst>
              </a:tr>
              <a:tr h="23876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整形外科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291.52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34.14%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7.17%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-10.51%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1.00%</a:t>
                      </a:r>
                    </a:p>
                  </a:txBody>
                  <a:tcPr marL="9842" marR="9842" marT="9842" marB="0" anchor="ctr"/>
                </a:tc>
                <a:extLst>
                  <a:ext uri="{0D108BD9-81ED-4DB2-BD59-A6C34878D82A}">
                    <a16:rowId xmlns:a16="http://schemas.microsoft.com/office/drawing/2014/main" val="10005"/>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1,348.49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29.70%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7.92%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76.57%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-1.82%</a:t>
                      </a:r>
                    </a:p>
                  </a:txBody>
                  <a:tcPr marL="9842" marR="9842" marT="9842" marB="0" anchor="ctr"/>
                </a:tc>
                <a:extLst>
                  <a:ext uri="{0D108BD9-81ED-4DB2-BD59-A6C34878D82A}">
                    <a16:rowId xmlns:a16="http://schemas.microsoft.com/office/drawing/2014/main" val="10006"/>
                  </a:ext>
                </a:extLst>
              </a:tr>
              <a:tr h="24193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630.91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10.76%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53.77%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-0.25%</a:t>
                      </a:r>
                    </a:p>
                  </a:txBody>
                  <a:tcPr marL="9842" marR="9842" marT="9842" marB="0" anchor="ctr"/>
                </a:tc>
                <a:extLst>
                  <a:ext uri="{0D108BD9-81ED-4DB2-BD59-A6C34878D82A}">
                    <a16:rowId xmlns:a16="http://schemas.microsoft.com/office/drawing/2014/main" val="10007"/>
                  </a:ext>
                </a:extLst>
              </a:tr>
              <a:tr h="24384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1,901.05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15.62%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10.24%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-1.50%</a:t>
                      </a:r>
                    </a:p>
                  </a:txBody>
                  <a:tcPr marL="9842" marR="9842" marT="9842" marB="0" anchor="ctr"/>
                </a:tc>
                <a:extLst>
                  <a:ext uri="{0D108BD9-81ED-4DB2-BD59-A6C34878D82A}">
                    <a16:rowId xmlns:a16="http://schemas.microsoft.com/office/drawing/2014/main" val="10008"/>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1,825.95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14.87%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16.85%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15.47%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0.91%</a:t>
                      </a:r>
                    </a:p>
                  </a:txBody>
                  <a:tcPr marL="9842" marR="9842" marT="9842" marB="0" anchor="ctr"/>
                </a:tc>
                <a:extLst>
                  <a:ext uri="{0D108BD9-81ED-4DB2-BD59-A6C34878D82A}">
                    <a16:rowId xmlns:a16="http://schemas.microsoft.com/office/drawing/2014/main" val="10009"/>
                  </a:ext>
                </a:extLst>
              </a:tr>
              <a:tr h="24003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3,167.37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19.50%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-3.43%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33.79%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1.29%</a:t>
                      </a:r>
                    </a:p>
                  </a:txBody>
                  <a:tcPr marL="9842" marR="9842" marT="9842" marB="0" anchor="ctr"/>
                </a:tc>
                <a:extLst>
                  <a:ext uri="{0D108BD9-81ED-4DB2-BD59-A6C34878D82A}">
                    <a16:rowId xmlns:a16="http://schemas.microsoft.com/office/drawing/2014/main" val="10010"/>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耳鼻咽喉</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1,477.37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15.88%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31.00%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14.07%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-3.14%</a:t>
                      </a:r>
                    </a:p>
                  </a:txBody>
                  <a:tcPr marL="9842" marR="9842" marT="9842" marB="0" anchor="ctr"/>
                </a:tc>
                <a:extLst>
                  <a:ext uri="{0D108BD9-81ED-4DB2-BD59-A6C34878D82A}">
                    <a16:rowId xmlns:a16="http://schemas.microsoft.com/office/drawing/2014/main" val="10011"/>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748.56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24.47%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35.51%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10.57%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-0.71%</a:t>
                      </a:r>
                    </a:p>
                  </a:txBody>
                  <a:tcPr marL="9842" marR="9842" marT="9842" marB="0" anchor="ctr"/>
                </a:tc>
                <a:extLst>
                  <a:ext uri="{0D108BD9-81ED-4DB2-BD59-A6C34878D82A}">
                    <a16:rowId xmlns:a16="http://schemas.microsoft.com/office/drawing/2014/main" val="1001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2,506.63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-12.10%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15.32%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45.72%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-3.58%</a:t>
                      </a:r>
                    </a:p>
                  </a:txBody>
                  <a:tcPr marL="9842" marR="9842" marT="9842" marB="0" anchor="ctr"/>
                </a:tc>
                <a:extLst>
                  <a:ext uri="{0D108BD9-81ED-4DB2-BD59-A6C34878D82A}">
                    <a16:rowId xmlns:a16="http://schemas.microsoft.com/office/drawing/2014/main" val="10013"/>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移植科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64.62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-17.66%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27.21%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-1.40%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25.70%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1.68%</a:t>
                      </a:r>
                    </a:p>
                  </a:txBody>
                  <a:tcPr marL="9842" marR="9842" marT="9842" marB="0" anchor="ctr"/>
                </a:tc>
                <a:extLst>
                  <a:ext uri="{0D108BD9-81ED-4DB2-BD59-A6C34878D82A}">
                    <a16:rowId xmlns:a16="http://schemas.microsoft.com/office/drawing/2014/main" val="10014"/>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1,227.43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-7.74%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-5.43%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26.42%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1.07%</a:t>
                      </a:r>
                    </a:p>
                  </a:txBody>
                  <a:tcPr marL="9842" marR="9842" marT="9842" marB="0" anchor="ctr"/>
                </a:tc>
                <a:extLst>
                  <a:ext uri="{0D108BD9-81ED-4DB2-BD59-A6C34878D82A}">
                    <a16:rowId xmlns:a16="http://schemas.microsoft.com/office/drawing/2014/main" val="10015"/>
                  </a:ext>
                </a:extLst>
              </a:tr>
              <a:tr h="2425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1,951.81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28.84%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18.28%</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34.47%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6"/>
                  </a:ext>
                </a:extLst>
              </a:tr>
            </a:tbl>
          </a:graphicData>
        </a:graphic>
      </p:graphicFrame>
      <p:sp>
        <p:nvSpPr>
          <p:cNvPr id="10" name="文本框 9"/>
          <p:cNvSpPr txBox="1"/>
          <p:nvPr/>
        </p:nvSpPr>
        <p:spPr>
          <a:xfrm>
            <a:off x="9968817" y="794218"/>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成人手术科室</a:t>
            </a:r>
          </a:p>
        </p:txBody>
      </p:sp>
      <p:sp>
        <p:nvSpPr>
          <p:cNvPr id="12" name="矩形 11"/>
          <p:cNvSpPr/>
          <p:nvPr/>
        </p:nvSpPr>
        <p:spPr>
          <a:xfrm>
            <a:off x="766840" y="5682576"/>
            <a:ext cx="10513356"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月，无药耗占比均增长的科室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脊柱中心、骨科、疼痛、妇产、乳腺、心胸外</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50%</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的科室有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泌尿、</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神经外、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脊柱、骨科、</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介入、疼痛、</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普外、</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心胸外、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移植、</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肛肠</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65273" y="958631"/>
          <a:ext cx="10352405" cy="4599940"/>
        </p:xfrm>
        <a:graphic>
          <a:graphicData uri="http://schemas.openxmlformats.org/drawingml/2006/table">
            <a:tbl>
              <a:tblPr>
                <a:tableStyleId>{22838BEF-8BB2-4498-84A7-C5851F593DF1}</a:tableStyleId>
              </a:tblPr>
              <a:tblGrid>
                <a:gridCol w="1437005">
                  <a:extLst>
                    <a:ext uri="{9D8B030D-6E8A-4147-A177-3AD203B41FA5}">
                      <a16:colId xmlns:a16="http://schemas.microsoft.com/office/drawing/2014/main" val="20000"/>
                    </a:ext>
                  </a:extLst>
                </a:gridCol>
                <a:gridCol w="1649612">
                  <a:extLst>
                    <a:ext uri="{9D8B030D-6E8A-4147-A177-3AD203B41FA5}">
                      <a16:colId xmlns:a16="http://schemas.microsoft.com/office/drawing/2014/main" val="20001"/>
                    </a:ext>
                  </a:extLst>
                </a:gridCol>
                <a:gridCol w="1322823">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485265">
                  <a:extLst>
                    <a:ext uri="{9D8B030D-6E8A-4147-A177-3AD203B41FA5}">
                      <a16:colId xmlns:a16="http://schemas.microsoft.com/office/drawing/2014/main" val="20004"/>
                    </a:ext>
                  </a:extLst>
                </a:gridCol>
                <a:gridCol w="1486535">
                  <a:extLst>
                    <a:ext uri="{9D8B030D-6E8A-4147-A177-3AD203B41FA5}">
                      <a16:colId xmlns:a16="http://schemas.microsoft.com/office/drawing/2014/main" val="20005"/>
                    </a:ext>
                  </a:extLst>
                </a:gridCol>
                <a:gridCol w="1485265">
                  <a:extLst>
                    <a:ext uri="{9D8B030D-6E8A-4147-A177-3AD203B41FA5}">
                      <a16:colId xmlns:a16="http://schemas.microsoft.com/office/drawing/2014/main" val="20006"/>
                    </a:ext>
                  </a:extLst>
                </a:gridCol>
              </a:tblGrid>
              <a:tr h="37528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1,552.47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72.22%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36.89%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-5.32%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18.19%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9.18%</a:t>
                      </a:r>
                    </a:p>
                  </a:txBody>
                  <a:tcPr marL="9842" marR="9842" marT="9842" marB="0" anchor="ctr"/>
                </a:tc>
                <a:extLst>
                  <a:ext uri="{0D108BD9-81ED-4DB2-BD59-A6C34878D82A}">
                    <a16:rowId xmlns:a16="http://schemas.microsoft.com/office/drawing/2014/main" val="1000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生殖医学中心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341.13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57.89%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15.73%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-2.05%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0.00%</a:t>
                      </a:r>
                    </a:p>
                  </a:txBody>
                  <a:tcPr marL="9842" marR="9842" marT="9842" marB="0" anchor="ctr"/>
                </a:tc>
                <a:extLst>
                  <a:ext uri="{0D108BD9-81ED-4DB2-BD59-A6C34878D82A}">
                    <a16:rowId xmlns:a16="http://schemas.microsoft.com/office/drawing/2014/main" val="1000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7,322.77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54.18%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19.98%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54.82%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-1.57%</a:t>
                      </a:r>
                    </a:p>
                  </a:txBody>
                  <a:tcPr marL="9842" marR="9842" marT="9842" marB="0" anchor="ctr"/>
                </a:tc>
                <a:extLst>
                  <a:ext uri="{0D108BD9-81ED-4DB2-BD59-A6C34878D82A}">
                    <a16:rowId xmlns:a16="http://schemas.microsoft.com/office/drawing/2014/main" val="1000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2,084.05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50.56%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31.97%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2.31%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13.17%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-0.70%</a:t>
                      </a:r>
                    </a:p>
                  </a:txBody>
                  <a:tcPr marL="9842" marR="9842" marT="9842" marB="0" anchor="ctr"/>
                </a:tc>
                <a:extLst>
                  <a:ext uri="{0D108BD9-81ED-4DB2-BD59-A6C34878D82A}">
                    <a16:rowId xmlns:a16="http://schemas.microsoft.com/office/drawing/2014/main" val="1000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肿瘤内科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1,354.53</a:t>
                      </a:r>
                    </a:p>
                  </a:txBody>
                  <a:tcPr marL="9842" marR="9842" marT="9842" marB="0" anchor="ctr"/>
                </a:tc>
                <a:tc rowSpan="2">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37.69%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75.04%</a:t>
                      </a:r>
                    </a:p>
                  </a:txBody>
                  <a:tcPr marL="9842" marR="9842" marT="9842" marB="0" anchor="ctr"/>
                </a:tc>
                <a:tc rowSpan="2">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7.01%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3.21%</a:t>
                      </a:r>
                    </a:p>
                  </a:txBody>
                  <a:tcPr marL="9842" marR="9842" marT="9842" marB="0" anchor="ctr"/>
                </a:tc>
                <a:tc rowSpan="2">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-0.07%</a:t>
                      </a:r>
                    </a:p>
                  </a:txBody>
                  <a:tcPr marL="9842" marR="9842" marT="9842" marB="0" anchor="ctr"/>
                </a:tc>
                <a:extLst>
                  <a:ext uri="{0D108BD9-81ED-4DB2-BD59-A6C34878D82A}">
                    <a16:rowId xmlns:a16="http://schemas.microsoft.com/office/drawing/2014/main" val="1000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放疗科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1,208.87</a:t>
                      </a:r>
                    </a:p>
                  </a:txBody>
                  <a:tcPr marL="9842" marR="9842" marT="9842" marB="0" anchor="ctr"/>
                </a:tc>
                <a:tc vMerge="1">
                  <a:txBody>
                    <a:bodyPr/>
                    <a:lstStyle/>
                    <a:p>
                      <a:endParaRPr lang="zh-CN"/>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25.93%</a:t>
                      </a:r>
                    </a:p>
                  </a:txBody>
                  <a:tcPr marL="9842" marR="9842" marT="9842" marB="0" anchor="ctr"/>
                </a:tc>
                <a:tc vMerge="1">
                  <a:txBody>
                    <a:bodyPr/>
                    <a:lstStyle/>
                    <a:p>
                      <a:endParaRPr lang="zh-CN"/>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1.13%</a:t>
                      </a:r>
                    </a:p>
                  </a:txBody>
                  <a:tcPr marL="9842" marR="9842" marT="9842" marB="0" anchor="ctr"/>
                </a:tc>
                <a:tc vMerge="1">
                  <a:txBody>
                    <a:bodyPr/>
                    <a:lstStyle/>
                    <a:p>
                      <a:endParaRPr lang="zh-CN"/>
                    </a:p>
                  </a:txBody>
                  <a:tcPr marL="9525" marR="9525" marT="9525" marB="0" anchor="ctr"/>
                </a:tc>
                <a:extLst>
                  <a:ext uri="{0D108BD9-81ED-4DB2-BD59-A6C34878D82A}">
                    <a16:rowId xmlns:a16="http://schemas.microsoft.com/office/drawing/2014/main" val="1000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1,780.80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31.63%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31.85%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0.53%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-0.14%</a:t>
                      </a:r>
                    </a:p>
                  </a:txBody>
                  <a:tcPr marL="9842" marR="9842" marT="9842" marB="0" anchor="ctr"/>
                </a:tc>
                <a:extLst>
                  <a:ext uri="{0D108BD9-81ED-4DB2-BD59-A6C34878D82A}">
                    <a16:rowId xmlns:a16="http://schemas.microsoft.com/office/drawing/2014/main" val="1000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1,092.39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28.95%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45.11%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-0.98%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08"/>
                  </a:ext>
                </a:extLst>
              </a:tr>
              <a:tr h="21272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康复医学科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155.96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26.33%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0.25%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0.18%</a:t>
                      </a:r>
                    </a:p>
                  </a:txBody>
                  <a:tcPr marL="9842" marR="9842" marT="9842" marB="0" anchor="ctr"/>
                </a:tc>
                <a:extLst>
                  <a:ext uri="{0D108BD9-81ED-4DB2-BD59-A6C34878D82A}">
                    <a16:rowId xmlns:a16="http://schemas.microsoft.com/office/drawing/2014/main" val="10009"/>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全科医学科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290.85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24.13%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35.47%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0.72%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0.21%</a:t>
                      </a:r>
                    </a:p>
                  </a:txBody>
                  <a:tcPr marL="9842" marR="9842" marT="9842" marB="0" anchor="ctr"/>
                </a:tc>
                <a:extLst>
                  <a:ext uri="{0D108BD9-81ED-4DB2-BD59-A6C34878D82A}">
                    <a16:rowId xmlns:a16="http://schemas.microsoft.com/office/drawing/2014/main" val="1001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内分泌科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1,151.49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21.71%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44.56%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-1.39%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1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1,347.13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18.65%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37.05%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3.11%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8.26%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-4.02%</a:t>
                      </a:r>
                    </a:p>
                  </a:txBody>
                  <a:tcPr marL="9842" marR="9842" marT="9842" marB="0" anchor="ctr"/>
                </a:tc>
                <a:extLst>
                  <a:ext uri="{0D108BD9-81ED-4DB2-BD59-A6C34878D82A}">
                    <a16:rowId xmlns:a16="http://schemas.microsoft.com/office/drawing/2014/main" val="1001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口腔科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584.88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0.48%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-0.96%</a:t>
                      </a:r>
                    </a:p>
                  </a:txBody>
                  <a:tcPr marL="9842" marR="9842" marT="9842" marB="0" anchor="ctr"/>
                </a:tc>
                <a:extLst>
                  <a:ext uri="{0D108BD9-81ED-4DB2-BD59-A6C34878D82A}">
                    <a16:rowId xmlns:a16="http://schemas.microsoft.com/office/drawing/2014/main" val="1001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914.59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9.45%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51.86%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-3.16%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0.70%</a:t>
                      </a:r>
                    </a:p>
                  </a:txBody>
                  <a:tcPr marL="9842" marR="9842" marT="9842" marB="0" anchor="ctr"/>
                </a:tc>
                <a:extLst>
                  <a:ext uri="{0D108BD9-81ED-4DB2-BD59-A6C34878D82A}">
                    <a16:rowId xmlns:a16="http://schemas.microsoft.com/office/drawing/2014/main" val="1001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临床心理科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352.55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老年医学科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744.59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-2.25%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43.30%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5.38%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-0.11%</a:t>
                      </a:r>
                    </a:p>
                  </a:txBody>
                  <a:tcPr marL="9842" marR="9842" marT="9842" marB="0" anchor="ctr"/>
                </a:tc>
                <a:extLst>
                  <a:ext uri="{0D108BD9-81ED-4DB2-BD59-A6C34878D82A}">
                    <a16:rowId xmlns:a16="http://schemas.microsoft.com/office/drawing/2014/main" val="1001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821.31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-12.29%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71.53%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-7.52%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0.40%</a:t>
                      </a:r>
                    </a:p>
                  </a:txBody>
                  <a:tcPr marL="9842" marR="9842" marT="9842" marB="0" anchor="ctr"/>
                </a:tc>
                <a:extLst>
                  <a:ext uri="{0D108BD9-81ED-4DB2-BD59-A6C34878D82A}">
                    <a16:rowId xmlns:a16="http://schemas.microsoft.com/office/drawing/2014/main" val="1001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100.47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-28.71%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36.78%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1.06%</a:t>
                      </a:r>
                    </a:p>
                  </a:txBody>
                  <a:tcPr marL="9842" marR="9842" marT="9842" marB="0" anchor="ctr"/>
                </a:tc>
                <a:extLst>
                  <a:ext uri="{0D108BD9-81ED-4DB2-BD59-A6C34878D82A}">
                    <a16:rowId xmlns:a16="http://schemas.microsoft.com/office/drawing/2014/main" val="10018"/>
                  </a:ext>
                </a:extLst>
              </a:tr>
              <a:tr h="22288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1,288.94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23.93%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35.69%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6.79%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19"/>
                  </a:ext>
                </a:extLst>
              </a:tr>
            </a:tbl>
          </a:graphicData>
        </a:graphic>
      </p:graphicFrame>
      <p:sp>
        <p:nvSpPr>
          <p:cNvPr id="10" name="文本框 9"/>
          <p:cNvSpPr txBox="1"/>
          <p:nvPr/>
        </p:nvSpPr>
        <p:spPr>
          <a:xfrm>
            <a:off x="9995856" y="720710"/>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成人非手术科室</a:t>
            </a:r>
          </a:p>
        </p:txBody>
      </p:sp>
      <p:sp>
        <p:nvSpPr>
          <p:cNvPr id="12" name="矩形 11"/>
          <p:cNvSpPr/>
          <p:nvPr/>
        </p:nvSpPr>
        <p:spPr>
          <a:xfrm>
            <a:off x="611376" y="5757909"/>
            <a:ext cx="10860197" cy="700492"/>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康复、全科医学</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lang="zh-CN" altLang="en-US" sz="1400" b="1" kern="0" noProof="0" dirty="0">
                <a:ln>
                  <a:noFill/>
                </a:ln>
                <a:solidFill>
                  <a:srgbClr val="339933"/>
                </a:solidFill>
                <a:effectLst/>
                <a:uLnTx/>
                <a:uFillTx/>
                <a:latin typeface="微软雅黑" panose="020B0503020204020204" pitchFamily="34" charset="-122"/>
                <a:ea typeface="微软雅黑" panose="020B0503020204020204" pitchFamily="34" charset="-122"/>
                <a:sym typeface="+mn-ea"/>
              </a:rPr>
              <a:t>呼吸内、</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内分泌、临床心理</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药耗占比合计超过50%的科室有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神经内、心血管、</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肿瘤、</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中医、血液</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663752" y="1107217"/>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a:graphicFrameLocks noGrp="1"/>
          </p:cNvGraphicFramePr>
          <p:nvPr/>
        </p:nvGraphicFramePr>
        <p:xfrm>
          <a:off x="737870" y="1384213"/>
          <a:ext cx="10478682" cy="3828916"/>
        </p:xfrm>
        <a:graphic>
          <a:graphicData uri="http://schemas.openxmlformats.org/drawingml/2006/table">
            <a:tbl>
              <a:tblPr>
                <a:tableStyleId>{22838BEF-8BB2-4498-84A7-C5851F593DF1}</a:tableStyleId>
              </a:tblPr>
              <a:tblGrid>
                <a:gridCol w="1432560">
                  <a:extLst>
                    <a:ext uri="{9D8B030D-6E8A-4147-A177-3AD203B41FA5}">
                      <a16:colId xmlns:a16="http://schemas.microsoft.com/office/drawing/2014/main" val="20000"/>
                    </a:ext>
                  </a:extLst>
                </a:gridCol>
                <a:gridCol w="1928604">
                  <a:extLst>
                    <a:ext uri="{9D8B030D-6E8A-4147-A177-3AD203B41FA5}">
                      <a16:colId xmlns:a16="http://schemas.microsoft.com/office/drawing/2014/main" val="20001"/>
                    </a:ext>
                  </a:extLst>
                </a:gridCol>
                <a:gridCol w="1035576">
                  <a:extLst>
                    <a:ext uri="{9D8B030D-6E8A-4147-A177-3AD203B41FA5}">
                      <a16:colId xmlns:a16="http://schemas.microsoft.com/office/drawing/2014/main" val="20002"/>
                    </a:ext>
                  </a:extLst>
                </a:gridCol>
                <a:gridCol w="1686604">
                  <a:extLst>
                    <a:ext uri="{9D8B030D-6E8A-4147-A177-3AD203B41FA5}">
                      <a16:colId xmlns:a16="http://schemas.microsoft.com/office/drawing/2014/main" val="20003"/>
                    </a:ext>
                  </a:extLst>
                </a:gridCol>
                <a:gridCol w="1276306">
                  <a:extLst>
                    <a:ext uri="{9D8B030D-6E8A-4147-A177-3AD203B41FA5}">
                      <a16:colId xmlns:a16="http://schemas.microsoft.com/office/drawing/2014/main" val="20004"/>
                    </a:ext>
                  </a:extLst>
                </a:gridCol>
                <a:gridCol w="1729652">
                  <a:extLst>
                    <a:ext uri="{9D8B030D-6E8A-4147-A177-3AD203B41FA5}">
                      <a16:colId xmlns:a16="http://schemas.microsoft.com/office/drawing/2014/main" val="20005"/>
                    </a:ext>
                  </a:extLst>
                </a:gridCol>
                <a:gridCol w="1389380">
                  <a:extLst>
                    <a:ext uri="{9D8B030D-6E8A-4147-A177-3AD203B41FA5}">
                      <a16:colId xmlns:a16="http://schemas.microsoft.com/office/drawing/2014/main" val="20006"/>
                    </a:ext>
                  </a:extLst>
                </a:gridCol>
              </a:tblGrid>
              <a:tr h="546988">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4</a:t>
                      </a:r>
                      <a:r>
                        <a:rPr lang="zh-CN" altLang="en-US" sz="14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4</a:t>
                      </a:r>
                      <a:r>
                        <a:rPr lang="zh-CN" altLang="en-US" sz="14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4</a:t>
                      </a:r>
                      <a:r>
                        <a:rPr lang="zh-CN" altLang="en-US" sz="14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extLst>
                  <a:ext uri="{0D108BD9-81ED-4DB2-BD59-A6C34878D82A}">
                    <a16:rowId xmlns:a16="http://schemas.microsoft.com/office/drawing/2014/main" val="10000"/>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1,435.36</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80.57%</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9.10%</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-5.50%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56.97%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15.07%</a:t>
                      </a:r>
                    </a:p>
                  </a:txBody>
                  <a:tcPr marL="9842" marR="9842" marT="9842" marB="0" anchor="ctr"/>
                </a:tc>
                <a:extLst>
                  <a:ext uri="{0D108BD9-81ED-4DB2-BD59-A6C34878D82A}">
                    <a16:rowId xmlns:a16="http://schemas.microsoft.com/office/drawing/2014/main" val="10001"/>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1,039.68</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30.13%</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8.31%</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1.43%</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51.17%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0.01%</a:t>
                      </a:r>
                    </a:p>
                  </a:txBody>
                  <a:tcPr marL="9842" marR="9842" marT="9842" marB="0" anchor="ctr"/>
                </a:tc>
                <a:extLst>
                  <a:ext uri="{0D108BD9-81ED-4DB2-BD59-A6C34878D82A}">
                    <a16:rowId xmlns:a16="http://schemas.microsoft.com/office/drawing/2014/main" val="10002"/>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儿心脏中心</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494.22</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30.07%</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15.17%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5.02%</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18.54%</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-9.94%</a:t>
                      </a:r>
                    </a:p>
                  </a:txBody>
                  <a:tcPr marL="9842" marR="9842" marT="9842" marB="0" anchor="ctr"/>
                </a:tc>
                <a:extLst>
                  <a:ext uri="{0D108BD9-81ED-4DB2-BD59-A6C34878D82A}">
                    <a16:rowId xmlns:a16="http://schemas.microsoft.com/office/drawing/2014/main" val="10003"/>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儿泌尿外科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226.58</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9.50%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8.17%</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20.90%</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2.46%</a:t>
                      </a:r>
                    </a:p>
                  </a:txBody>
                  <a:tcPr marL="9842" marR="9842" marT="9842" marB="0" anchor="ctr"/>
                </a:tc>
                <a:extLst>
                  <a:ext uri="{0D108BD9-81ED-4DB2-BD59-A6C34878D82A}">
                    <a16:rowId xmlns:a16="http://schemas.microsoft.com/office/drawing/2014/main" val="10004"/>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390.53</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-18.24%</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13.77%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0.95%</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21.38%</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-1.18%</a:t>
                      </a:r>
                    </a:p>
                  </a:txBody>
                  <a:tcPr marL="9842" marR="9842" marT="9842" marB="0" anchor="ctr"/>
                </a:tc>
                <a:extLst>
                  <a:ext uri="{0D108BD9-81ED-4DB2-BD59-A6C34878D82A}">
                    <a16:rowId xmlns:a16="http://schemas.microsoft.com/office/drawing/2014/main" val="10005"/>
                  </a:ext>
                </a:extLst>
              </a:tr>
              <a:tr h="546988">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717.27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26.41%</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10.90%</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33.79%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6"/>
                  </a:ext>
                </a:extLst>
              </a:tr>
            </a:tbl>
          </a:graphicData>
        </a:graphic>
      </p:graphicFrame>
      <p:sp>
        <p:nvSpPr>
          <p:cNvPr id="11"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儿童手术科室</a:t>
            </a:r>
          </a:p>
        </p:txBody>
      </p:sp>
      <p:sp>
        <p:nvSpPr>
          <p:cNvPr id="13" name="矩形 12"/>
          <p:cNvSpPr/>
          <p:nvPr/>
        </p:nvSpPr>
        <p:spPr>
          <a:xfrm>
            <a:off x="989670" y="5665935"/>
            <a:ext cx="9819594"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上升的有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儿骨科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儿神经外、儿骨。</a:t>
            </a:r>
            <a:endPar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04595" y="1145627"/>
          <a:ext cx="10417833" cy="4403835"/>
        </p:xfrm>
        <a:graphic>
          <a:graphicData uri="http://schemas.openxmlformats.org/drawingml/2006/table">
            <a:tbl>
              <a:tblPr>
                <a:tableStyleId>{22838BEF-8BB2-4498-84A7-C5851F593DF1}</a:tableStyleId>
              </a:tblPr>
              <a:tblGrid>
                <a:gridCol w="1410553">
                  <a:extLst>
                    <a:ext uri="{9D8B030D-6E8A-4147-A177-3AD203B41FA5}">
                      <a16:colId xmlns:a16="http://schemas.microsoft.com/office/drawing/2014/main" val="20000"/>
                    </a:ext>
                  </a:extLst>
                </a:gridCol>
                <a:gridCol w="1753257">
                  <a:extLst>
                    <a:ext uri="{9D8B030D-6E8A-4147-A177-3AD203B41FA5}">
                      <a16:colId xmlns:a16="http://schemas.microsoft.com/office/drawing/2014/main" val="20001"/>
                    </a:ext>
                  </a:extLst>
                </a:gridCol>
                <a:gridCol w="1419520">
                  <a:extLst>
                    <a:ext uri="{9D8B030D-6E8A-4147-A177-3AD203B41FA5}">
                      <a16:colId xmlns:a16="http://schemas.microsoft.com/office/drawing/2014/main" val="20002"/>
                    </a:ext>
                  </a:extLst>
                </a:gridCol>
                <a:gridCol w="1713829">
                  <a:extLst>
                    <a:ext uri="{9D8B030D-6E8A-4147-A177-3AD203B41FA5}">
                      <a16:colId xmlns:a16="http://schemas.microsoft.com/office/drawing/2014/main" val="20003"/>
                    </a:ext>
                  </a:extLst>
                </a:gridCol>
                <a:gridCol w="1203423">
                  <a:extLst>
                    <a:ext uri="{9D8B030D-6E8A-4147-A177-3AD203B41FA5}">
                      <a16:colId xmlns:a16="http://schemas.microsoft.com/office/drawing/2014/main" val="20004"/>
                    </a:ext>
                  </a:extLst>
                </a:gridCol>
                <a:gridCol w="1458303">
                  <a:extLst>
                    <a:ext uri="{9D8B030D-6E8A-4147-A177-3AD203B41FA5}">
                      <a16:colId xmlns:a16="http://schemas.microsoft.com/office/drawing/2014/main" val="20005"/>
                    </a:ext>
                  </a:extLst>
                </a:gridCol>
                <a:gridCol w="1458948">
                  <a:extLst>
                    <a:ext uri="{9D8B030D-6E8A-4147-A177-3AD203B41FA5}">
                      <a16:colId xmlns:a16="http://schemas.microsoft.com/office/drawing/2014/main" val="20006"/>
                    </a:ext>
                  </a:extLst>
                </a:gridCol>
              </a:tblGrid>
              <a:tr h="507232">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680.53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42.50%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51.06%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0.93%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-0.76%</a:t>
                      </a:r>
                    </a:p>
                  </a:txBody>
                  <a:tcPr marL="9842" marR="9842" marT="9842" marB="0" anchor="ctr"/>
                </a:tc>
                <a:extLst>
                  <a:ext uri="{0D108BD9-81ED-4DB2-BD59-A6C34878D82A}">
                    <a16:rowId xmlns:a16="http://schemas.microsoft.com/office/drawing/2014/main" val="10001"/>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575.11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38.23%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5.68%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-0.87%</a:t>
                      </a:r>
                    </a:p>
                  </a:txBody>
                  <a:tcPr marL="9842" marR="9842" marT="9842" marB="0" anchor="ctr"/>
                </a:tc>
                <a:extLst>
                  <a:ext uri="{0D108BD9-81ED-4DB2-BD59-A6C34878D82A}">
                    <a16:rowId xmlns:a16="http://schemas.microsoft.com/office/drawing/2014/main" val="10002"/>
                  </a:ext>
                </a:extLst>
              </a:tr>
              <a:tr h="422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626.51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27.28%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27.37%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-0.01%</a:t>
                      </a:r>
                    </a:p>
                  </a:txBody>
                  <a:tcPr marL="9842" marR="9842" marT="9842" marB="0" anchor="ctr"/>
                </a:tc>
                <a:extLst>
                  <a:ext uri="{0D108BD9-81ED-4DB2-BD59-A6C34878D82A}">
                    <a16:rowId xmlns:a16="http://schemas.microsoft.com/office/drawing/2014/main" val="10003"/>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儿肾脏内科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362.15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40.39%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4.81%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04"/>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儿内分泌遗传科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909.46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16.10%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45.34%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-0.66%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0.16%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-0.18%</a:t>
                      </a:r>
                    </a:p>
                  </a:txBody>
                  <a:tcPr marL="9842" marR="9842" marT="9842" marB="0" anchor="ctr"/>
                </a:tc>
                <a:extLst>
                  <a:ext uri="{0D108BD9-81ED-4DB2-BD59-A6C34878D82A}">
                    <a16:rowId xmlns:a16="http://schemas.microsoft.com/office/drawing/2014/main" val="10005"/>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921.07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12.75%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14.44%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-7.97%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0.52%</a:t>
                      </a:r>
                    </a:p>
                  </a:txBody>
                  <a:tcPr marL="9842" marR="9842" marT="9842" marB="0" anchor="ctr"/>
                </a:tc>
                <a:extLst>
                  <a:ext uri="{0D108BD9-81ED-4DB2-BD59-A6C34878D82A}">
                    <a16:rowId xmlns:a16="http://schemas.microsoft.com/office/drawing/2014/main" val="10006"/>
                  </a:ext>
                </a:extLst>
              </a:tr>
              <a:tr h="325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388.23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12.65%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32.85%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4.39%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-2.31%</a:t>
                      </a:r>
                    </a:p>
                  </a:txBody>
                  <a:tcPr marL="9842" marR="9842" marT="9842" marB="0" anchor="ctr"/>
                </a:tc>
                <a:extLst>
                  <a:ext uri="{0D108BD9-81ED-4DB2-BD59-A6C34878D82A}">
                    <a16:rowId xmlns:a16="http://schemas.microsoft.com/office/drawing/2014/main" val="10007"/>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983.29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11.94%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17.25%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-5.09%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14.17%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08"/>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730.78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1.60%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40.59%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-12.32%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-0.47%</a:t>
                      </a:r>
                    </a:p>
                  </a:txBody>
                  <a:tcPr marL="9842" marR="9842" marT="9842" marB="0" anchor="ctr"/>
                </a:tc>
                <a:extLst>
                  <a:ext uri="{0D108BD9-81ED-4DB2-BD59-A6C34878D82A}">
                    <a16:rowId xmlns:a16="http://schemas.microsoft.com/office/drawing/2014/main" val="10009"/>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782.17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-6.86%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27.52%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-4.52%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2.47%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-0.61%</a:t>
                      </a:r>
                    </a:p>
                  </a:txBody>
                  <a:tcPr marL="9842" marR="9842" marT="9842" marB="0" anchor="ctr"/>
                </a:tc>
                <a:extLst>
                  <a:ext uri="{0D108BD9-81ED-4DB2-BD59-A6C34878D82A}">
                    <a16:rowId xmlns:a16="http://schemas.microsoft.com/office/drawing/2014/main" val="10010"/>
                  </a:ext>
                </a:extLst>
              </a:tr>
              <a:tr h="32545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695.93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18.23%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33.05%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3.45%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1"/>
                  </a:ext>
                </a:extLst>
              </a:tr>
            </a:tbl>
          </a:graphicData>
        </a:graphic>
      </p:graphicFrame>
      <p:sp>
        <p:nvSpPr>
          <p:cNvPr id="10" name="文本框 9"/>
          <p:cNvSpPr txBox="1"/>
          <p:nvPr/>
        </p:nvSpPr>
        <p:spPr>
          <a:xfrm>
            <a:off x="9725115" y="786835"/>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儿童非手术科室</a:t>
            </a:r>
          </a:p>
        </p:txBody>
      </p:sp>
      <p:sp>
        <p:nvSpPr>
          <p:cNvPr id="12" name="矩形 11"/>
          <p:cNvSpPr/>
          <p:nvPr/>
        </p:nvSpPr>
        <p:spPr>
          <a:xfrm>
            <a:off x="500063" y="5748153"/>
            <a:ext cx="11249138" cy="787438"/>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下降的有</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儿保、儿内分泌、儿血液、儿呼吸</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儿神经内</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1014791" y="1746250"/>
          <a:ext cx="10162418" cy="1953853"/>
        </p:xfrm>
        <a:graphic>
          <a:graphicData uri="http://schemas.openxmlformats.org/drawingml/2006/table">
            <a:tbl>
              <a:tblPr/>
              <a:tblGrid>
                <a:gridCol w="2642809">
                  <a:extLst>
                    <a:ext uri="{9D8B030D-6E8A-4147-A177-3AD203B41FA5}">
                      <a16:colId xmlns:a16="http://schemas.microsoft.com/office/drawing/2014/main" val="20000"/>
                    </a:ext>
                  </a:extLst>
                </a:gridCol>
                <a:gridCol w="2021605">
                  <a:extLst>
                    <a:ext uri="{9D8B030D-6E8A-4147-A177-3AD203B41FA5}">
                      <a16:colId xmlns:a16="http://schemas.microsoft.com/office/drawing/2014/main" val="20001"/>
                    </a:ext>
                  </a:extLst>
                </a:gridCol>
                <a:gridCol w="2137586">
                  <a:extLst>
                    <a:ext uri="{9D8B030D-6E8A-4147-A177-3AD203B41FA5}">
                      <a16:colId xmlns:a16="http://schemas.microsoft.com/office/drawing/2014/main" val="20002"/>
                    </a:ext>
                  </a:extLst>
                </a:gridCol>
                <a:gridCol w="1680209">
                  <a:extLst>
                    <a:ext uri="{9D8B030D-6E8A-4147-A177-3AD203B41FA5}">
                      <a16:colId xmlns:a16="http://schemas.microsoft.com/office/drawing/2014/main" val="20003"/>
                    </a:ext>
                  </a:extLst>
                </a:gridCol>
                <a:gridCol w="1680209">
                  <a:extLst>
                    <a:ext uri="{9D8B030D-6E8A-4147-A177-3AD203B41FA5}">
                      <a16:colId xmlns:a16="http://schemas.microsoft.com/office/drawing/2014/main" val="20004"/>
                    </a:ext>
                  </a:extLst>
                </a:gridCol>
              </a:tblGrid>
              <a:tr h="1101902">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2026</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4</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2025</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4</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1951">
                <a:tc>
                  <a:txBody>
                    <a:bodyPr/>
                    <a:lstStyle/>
                    <a:p>
                      <a:pPr algn="l" rtl="0" fontAlgn="ct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新华医疗开发公司</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51.56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752.70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-701.13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-93.15%</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Rectangle 5"/>
          <p:cNvSpPr>
            <a:spLocks noChangeArrowheads="1"/>
          </p:cNvSpPr>
          <p:nvPr/>
        </p:nvSpPr>
        <p:spPr bwMode="auto">
          <a:xfrm>
            <a:off x="3664861" y="111111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投资收益</a:t>
            </a:r>
          </a:p>
        </p:txBody>
      </p:sp>
      <p:sp>
        <p:nvSpPr>
          <p:cNvPr id="7" name="TextBox 1"/>
          <p:cNvSpPr txBox="1"/>
          <p:nvPr/>
        </p:nvSpPr>
        <p:spPr>
          <a:xfrm>
            <a:off x="9942247" y="12496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投资收益</a:t>
            </a:r>
          </a:p>
        </p:txBody>
      </p:sp>
      <p:sp>
        <p:nvSpPr>
          <p:cNvPr id="8" name="矩形 7"/>
          <p:cNvSpPr/>
          <p:nvPr/>
        </p:nvSpPr>
        <p:spPr>
          <a:xfrm>
            <a:off x="1521860" y="4424951"/>
            <a:ext cx="9475879" cy="45910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月，产业的投资收益为</a:t>
            </a:r>
            <a:r>
              <a:rPr kumimoji="0" lang="en-US" altLang="zh-CN" sz="16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51.56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万元，同比减少</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701.13万元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lang="zh-CN" altLang="en-US" sz="1600" b="1" kern="0" noProof="0" dirty="0">
                <a:solidFill>
                  <a:srgbClr val="002060"/>
                </a:solidFill>
                <a:latin typeface="微软雅黑" panose="020B0503020204020204" pitchFamily="34" charset="-122"/>
                <a:ea typeface="微软雅黑" panose="020B0503020204020204" pitchFamily="34" charset="-122"/>
              </a:rPr>
              <a:t>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幅</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93.15%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矩形 12"/>
          <p:cNvSpPr>
            <a:spLocks noChangeArrowheads="1"/>
          </p:cNvSpPr>
          <p:nvPr/>
        </p:nvSpPr>
        <p:spPr bwMode="auto">
          <a:xfrm>
            <a:off x="474669" y="209554"/>
            <a:ext cx="617967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医疗收入横向比较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全院</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杨浦院区</a:t>
            </a:r>
          </a:p>
        </p:txBody>
      </p:sp>
      <p:grpSp>
        <p:nvGrpSpPr>
          <p:cNvPr id="2" name="组合 1"/>
          <p:cNvGrpSpPr/>
          <p:nvPr>
            <p:custDataLst>
              <p:tags r:id="rId1"/>
            </p:custDataLst>
          </p:nvPr>
        </p:nvGrpSpPr>
        <p:grpSpPr>
          <a:xfrm>
            <a:off x="6664526" y="973933"/>
            <a:ext cx="4384165" cy="736598"/>
            <a:chOff x="1387628" y="881068"/>
            <a:chExt cx="4384165" cy="736598"/>
          </a:xfrm>
        </p:grpSpPr>
        <p:sp>
          <p:nvSpPr>
            <p:cNvPr id="7" name="文本框 6"/>
            <p:cNvSpPr txBox="1"/>
            <p:nvPr>
              <p:custDataLst>
                <p:tags r:id="rId5"/>
              </p:custDataLst>
            </p:nvPr>
          </p:nvSpPr>
          <p:spPr>
            <a:xfrm>
              <a:off x="4820817" y="1337250"/>
              <a:ext cx="950976" cy="2804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8" name="文本框 7"/>
            <p:cNvSpPr txBox="1"/>
            <p:nvPr>
              <p:custDataLst>
                <p:tags r:id="rId6"/>
              </p:custDataLst>
            </p:nvPr>
          </p:nvSpPr>
          <p:spPr>
            <a:xfrm>
              <a:off x="1387628" y="881068"/>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杨浦院区</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医疗收入横向比较（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sp>
        <p:nvSpPr>
          <p:cNvPr id="3" name="矩形 2"/>
          <p:cNvSpPr/>
          <p:nvPr/>
        </p:nvSpPr>
        <p:spPr>
          <a:xfrm>
            <a:off x="309982" y="5167374"/>
            <a:ext cx="11181508" cy="1567180"/>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月，市级综合性医院医疗收入平均增幅为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10%</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，新华医院医疗收入增幅为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31.2%</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21.2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月，市级综合性医院医疗收入平均增幅为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7.4%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，新华杨浦医疗收入增幅为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2.7%</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4.7</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p:txBody>
      </p:sp>
      <p:grpSp>
        <p:nvGrpSpPr>
          <p:cNvPr id="4" name="组合 3"/>
          <p:cNvGrpSpPr/>
          <p:nvPr>
            <p:custDataLst>
              <p:tags r:id="rId2"/>
            </p:custDataLst>
          </p:nvPr>
        </p:nvGrpSpPr>
        <p:grpSpPr>
          <a:xfrm>
            <a:off x="707439" y="974966"/>
            <a:ext cx="4384165" cy="736598"/>
            <a:chOff x="1387628" y="881068"/>
            <a:chExt cx="4384165" cy="736598"/>
          </a:xfrm>
        </p:grpSpPr>
        <p:sp>
          <p:nvSpPr>
            <p:cNvPr id="6" name="文本框 5"/>
            <p:cNvSpPr txBox="1"/>
            <p:nvPr>
              <p:custDataLst>
                <p:tags r:id="rId3"/>
              </p:custDataLst>
            </p:nvPr>
          </p:nvSpPr>
          <p:spPr>
            <a:xfrm>
              <a:off x="4820817" y="1337250"/>
              <a:ext cx="950976" cy="2804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10" name="文本框 9"/>
            <p:cNvSpPr txBox="1"/>
            <p:nvPr>
              <p:custDataLst>
                <p:tags r:id="rId4"/>
              </p:custDataLst>
            </p:nvPr>
          </p:nvSpPr>
          <p:spPr>
            <a:xfrm>
              <a:off x="1387628" y="881068"/>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全院</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医疗收入横向比较（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9" name="图表 8"/>
          <p:cNvGraphicFramePr/>
          <p:nvPr/>
        </p:nvGraphicFramePr>
        <p:xfrm>
          <a:off x="309880" y="1704340"/>
          <a:ext cx="5770880" cy="346329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5" name="图表 4"/>
          <p:cNvGraphicFramePr/>
          <p:nvPr/>
        </p:nvGraphicFramePr>
        <p:xfrm>
          <a:off x="6080760" y="1704340"/>
          <a:ext cx="5771515" cy="3347085"/>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矩形 12"/>
          <p:cNvSpPr>
            <a:spLocks noChangeArrowheads="1"/>
          </p:cNvSpPr>
          <p:nvPr/>
        </p:nvSpPr>
        <p:spPr bwMode="auto">
          <a:xfrm>
            <a:off x="474669" y="209554"/>
            <a:ext cx="48347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医疗收入横向比较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儿科类</a:t>
            </a:r>
          </a:p>
        </p:txBody>
      </p:sp>
      <p:sp>
        <p:nvSpPr>
          <p:cNvPr id="3" name="矩形 2"/>
          <p:cNvSpPr/>
          <p:nvPr/>
        </p:nvSpPr>
        <p:spPr>
          <a:xfrm>
            <a:off x="338223" y="5088718"/>
            <a:ext cx="11629514" cy="112839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月，儿科类医疗收入平均增幅为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12.3%</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，新华儿科医疗收入增幅为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21.6%</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9.3</a:t>
            </a:r>
            <a:r>
              <a:rPr kumimoji="0" lang="zh-CN" altLang="en-US"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月，儿科类门急诊收入平均增幅为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6.3%</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，新华儿科门急诊收入增幅为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11.5%</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5.2</a:t>
            </a:r>
            <a:r>
              <a:rPr kumimoji="0" lang="zh-CN" altLang="en-US"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月，儿科类住院收入平均增幅为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18%</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，新华儿科住院收入增幅为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30.1%</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12.1</a:t>
            </a:r>
            <a:r>
              <a:rPr kumimoji="0" lang="zh-CN" altLang="en-US"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p:txBody>
      </p:sp>
      <p:grpSp>
        <p:nvGrpSpPr>
          <p:cNvPr id="11" name="组合 10"/>
          <p:cNvGrpSpPr/>
          <p:nvPr>
            <p:custDataLst>
              <p:tags r:id="rId1"/>
            </p:custDataLst>
          </p:nvPr>
        </p:nvGrpSpPr>
        <p:grpSpPr>
          <a:xfrm>
            <a:off x="-1588" y="1059958"/>
            <a:ext cx="4156364" cy="680834"/>
            <a:chOff x="1526838" y="895273"/>
            <a:chExt cx="4156364" cy="680834"/>
          </a:xfrm>
        </p:grpSpPr>
        <p:sp>
          <p:nvSpPr>
            <p:cNvPr id="14" name="文本框 13"/>
            <p:cNvSpPr txBox="1"/>
            <p:nvPr>
              <p:custDataLst>
                <p:tags r:id="rId11"/>
              </p:custDataLst>
            </p:nvPr>
          </p:nvSpPr>
          <p:spPr>
            <a:xfrm>
              <a:off x="4456675" y="1314497"/>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15" name="文本框 14"/>
            <p:cNvSpPr txBox="1"/>
            <p:nvPr>
              <p:custDataLst>
                <p:tags r:id="rId12"/>
              </p:custDataLst>
            </p:nvPr>
          </p:nvSpPr>
          <p:spPr>
            <a:xfrm>
              <a:off x="1526838" y="895273"/>
              <a:ext cx="4156364"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儿科类医疗收入横向比较（</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0" name="组合 9"/>
          <p:cNvGrpSpPr/>
          <p:nvPr>
            <p:custDataLst>
              <p:tags r:id="rId2"/>
            </p:custDataLst>
          </p:nvPr>
        </p:nvGrpSpPr>
        <p:grpSpPr>
          <a:xfrm>
            <a:off x="3879225" y="1098430"/>
            <a:ext cx="4156364" cy="680834"/>
            <a:chOff x="1526838" y="895273"/>
            <a:chExt cx="4156364" cy="680834"/>
          </a:xfrm>
        </p:grpSpPr>
        <p:sp>
          <p:nvSpPr>
            <p:cNvPr id="16" name="文本框 15"/>
            <p:cNvSpPr txBox="1"/>
            <p:nvPr>
              <p:custDataLst>
                <p:tags r:id="rId9"/>
              </p:custDataLst>
            </p:nvPr>
          </p:nvSpPr>
          <p:spPr>
            <a:xfrm>
              <a:off x="4456675" y="1314497"/>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17" name="文本框 16"/>
            <p:cNvSpPr txBox="1"/>
            <p:nvPr>
              <p:custDataLst>
                <p:tags r:id="rId10"/>
              </p:custDataLst>
            </p:nvPr>
          </p:nvSpPr>
          <p:spPr>
            <a:xfrm>
              <a:off x="1526838" y="895273"/>
              <a:ext cx="4156364"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儿科类门急诊收入横向比较（</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8" name="组合 17"/>
          <p:cNvGrpSpPr/>
          <p:nvPr>
            <p:custDataLst>
              <p:tags r:id="rId3"/>
            </p:custDataLst>
          </p:nvPr>
        </p:nvGrpSpPr>
        <p:grpSpPr>
          <a:xfrm>
            <a:off x="7888553" y="1058095"/>
            <a:ext cx="4156364" cy="680834"/>
            <a:chOff x="1526838" y="895273"/>
            <a:chExt cx="4156364" cy="680834"/>
          </a:xfrm>
        </p:grpSpPr>
        <p:sp>
          <p:nvSpPr>
            <p:cNvPr id="19" name="文本框 18"/>
            <p:cNvSpPr txBox="1"/>
            <p:nvPr>
              <p:custDataLst>
                <p:tags r:id="rId7"/>
              </p:custDataLst>
            </p:nvPr>
          </p:nvSpPr>
          <p:spPr>
            <a:xfrm>
              <a:off x="4456675" y="1314497"/>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20" name="文本框 19"/>
            <p:cNvSpPr txBox="1"/>
            <p:nvPr>
              <p:custDataLst>
                <p:tags r:id="rId8"/>
              </p:custDataLst>
            </p:nvPr>
          </p:nvSpPr>
          <p:spPr>
            <a:xfrm>
              <a:off x="1526838" y="895273"/>
              <a:ext cx="4156364"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儿科类住院收入横向比较（</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2" name="图表 1"/>
          <p:cNvGraphicFramePr/>
          <p:nvPr>
            <p:custDataLst>
              <p:tags r:id="rId4"/>
            </p:custDataLst>
            <p:extLst>
              <p:ext uri="{D42A27DB-BD31-4B8C-83A1-F6EECF244321}">
                <p14:modId xmlns:p14="http://schemas.microsoft.com/office/powerpoint/2010/main" val="1682199188"/>
              </p:ext>
            </p:extLst>
          </p:nvPr>
        </p:nvGraphicFramePr>
        <p:xfrm>
          <a:off x="94298" y="2244408"/>
          <a:ext cx="4133215" cy="2339975"/>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4" name="图表 3"/>
          <p:cNvGraphicFramePr/>
          <p:nvPr>
            <p:custDataLst>
              <p:tags r:id="rId5"/>
            </p:custDataLst>
            <p:extLst>
              <p:ext uri="{D42A27DB-BD31-4B8C-83A1-F6EECF244321}">
                <p14:modId xmlns:p14="http://schemas.microsoft.com/office/powerpoint/2010/main" val="572168927"/>
              </p:ext>
            </p:extLst>
          </p:nvPr>
        </p:nvGraphicFramePr>
        <p:xfrm>
          <a:off x="3879215" y="2092325"/>
          <a:ext cx="4423410" cy="2492375"/>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5" name="图表 4"/>
          <p:cNvGraphicFramePr/>
          <p:nvPr>
            <p:custDataLst>
              <p:tags r:id="rId6"/>
            </p:custDataLst>
            <p:extLst>
              <p:ext uri="{D42A27DB-BD31-4B8C-83A1-F6EECF244321}">
                <p14:modId xmlns:p14="http://schemas.microsoft.com/office/powerpoint/2010/main" val="2183137816"/>
              </p:ext>
            </p:extLst>
          </p:nvPr>
        </p:nvGraphicFramePr>
        <p:xfrm>
          <a:off x="8162290" y="2244725"/>
          <a:ext cx="3882390" cy="2339975"/>
        </p:xfrm>
        <a:graphic>
          <a:graphicData uri="http://schemas.openxmlformats.org/drawingml/2006/chart">
            <c:chart xmlns:c="http://schemas.openxmlformats.org/drawingml/2006/chart" xmlns:r="http://schemas.openxmlformats.org/officeDocument/2006/relationships" r:id="rId1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矩形 12"/>
          <p:cNvSpPr>
            <a:spLocks noChangeArrowheads="1"/>
          </p:cNvSpPr>
          <p:nvPr/>
        </p:nvSpPr>
        <p:spPr bwMode="auto">
          <a:xfrm>
            <a:off x="474669" y="209554"/>
            <a:ext cx="6703857"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医疗收入横向比较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杨浦院区儿科类</a:t>
            </a:r>
          </a:p>
        </p:txBody>
      </p:sp>
      <p:sp>
        <p:nvSpPr>
          <p:cNvPr id="3" name="矩形 2"/>
          <p:cNvSpPr/>
          <p:nvPr/>
        </p:nvSpPr>
        <p:spPr>
          <a:xfrm>
            <a:off x="338223" y="5485593"/>
            <a:ext cx="11629514" cy="112839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月，儿科类医疗收入平均增幅为</a:t>
            </a:r>
            <a:r>
              <a:rPr lang="en-US" altLang="zh-CN" sz="1500" b="1" dirty="0">
                <a:solidFill>
                  <a:srgbClr val="C00000"/>
                </a:solidFill>
                <a:latin typeface="微软雅黑" panose="020B0503020204020204" pitchFamily="34" charset="-122"/>
                <a:ea typeface="微软雅黑" panose="020B0503020204020204" pitchFamily="34" charset="-122"/>
                <a:cs typeface="Times New Roman" panose="02020503050405090304" pitchFamily="18" charset="0"/>
              </a:rPr>
              <a:t>8.8</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，新华儿科医疗收入增幅为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7.3%</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，低于儿科类医院平均水平</a:t>
            </a:r>
            <a:r>
              <a:rPr kumimoji="0" lang="en-US" altLang="zh-CN"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1.5</a:t>
            </a:r>
            <a:r>
              <a:rPr kumimoji="0" lang="zh-CN" altLang="en-US"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50000"/>
              </a:lnSpc>
              <a:spcBef>
                <a:spcPts val="0"/>
              </a:spcBef>
              <a:spcAft>
                <a:spcPts val="0"/>
              </a:spcAft>
              <a:buClr>
                <a:srgbClr val="002060"/>
              </a:buClr>
              <a:buSzTx/>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月，儿科类门急诊收入平均增幅为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4.6%</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，新华儿科门急诊收入增幅为</a:t>
            </a:r>
            <a:r>
              <a:rPr lang="en-US" altLang="zh-CN" sz="15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-0.5%</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，低于儿科类医院平均水平</a:t>
            </a:r>
            <a:r>
              <a:rPr kumimoji="0" lang="en-US" altLang="zh-CN"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5.1</a:t>
            </a:r>
            <a:r>
              <a:rPr kumimoji="0" lang="zh-CN" altLang="en-US" sz="15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lvl="0" indent="-342900">
              <a:lnSpc>
                <a:spcPct val="150000"/>
              </a:lnSpc>
              <a:buClr>
                <a:srgbClr val="002060"/>
              </a:buClr>
              <a:buFont typeface="Wingdings" panose="05000000000000000000" pitchFamily="2" charset="2"/>
              <a:buChar char="p"/>
              <a:defRPr/>
            </a:pPr>
            <a:r>
              <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2026年4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月，儿科类住院收入平均增幅为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14%</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，新华儿科住院收入增幅为</a:t>
            </a:r>
            <a:r>
              <a:rPr kumimoji="0" lang="en-US" altLang="zh-CN" sz="15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13.9%</a:t>
            </a:r>
            <a:r>
              <a:rPr lang="zh-CN" altLang="en-US" sz="1500" b="1" dirty="0">
                <a:solidFill>
                  <a:srgbClr val="002060"/>
                </a:solidFill>
                <a:latin typeface="微软雅黑" panose="020B0503020204020204" pitchFamily="34" charset="-122"/>
                <a:ea typeface="微软雅黑" panose="020B0503020204020204" pitchFamily="34" charset="-122"/>
                <a:cs typeface="Times New Roman" panose="02020503050405090304" pitchFamily="18" charset="0"/>
              </a:rPr>
              <a:t>，低于</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儿科类医院平均水平</a:t>
            </a:r>
            <a:r>
              <a:rPr lang="en-US" altLang="zh-CN" sz="15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0.1</a:t>
            </a:r>
            <a:r>
              <a:rPr lang="zh-CN" altLang="en-US" sz="1500" b="1" dirty="0">
                <a:solidFill>
                  <a:srgbClr val="70AD47"/>
                </a:solidFill>
                <a:latin typeface="微软雅黑" panose="020B0503020204020204" pitchFamily="34" charset="-122"/>
                <a:ea typeface="微软雅黑" panose="020B0503020204020204" pitchFamily="34" charset="-122"/>
                <a:cs typeface="Times New Roman" panose="02020503050405090304" pitchFamily="18" charset="0"/>
              </a:rPr>
              <a:t>个百分点</a:t>
            </a:r>
            <a:r>
              <a:rPr kumimoji="0" lang="zh-CN" altLang="en-US"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5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p:txBody>
      </p:sp>
      <p:grpSp>
        <p:nvGrpSpPr>
          <p:cNvPr id="11" name="组合 10"/>
          <p:cNvGrpSpPr/>
          <p:nvPr>
            <p:custDataLst>
              <p:tags r:id="rId1"/>
            </p:custDataLst>
          </p:nvPr>
        </p:nvGrpSpPr>
        <p:grpSpPr>
          <a:xfrm>
            <a:off x="93989" y="946731"/>
            <a:ext cx="4156364" cy="868093"/>
            <a:chOff x="1622415" y="782046"/>
            <a:chExt cx="4156364" cy="868093"/>
          </a:xfrm>
        </p:grpSpPr>
        <p:sp>
          <p:nvSpPr>
            <p:cNvPr id="14" name="文本框 13"/>
            <p:cNvSpPr txBox="1"/>
            <p:nvPr>
              <p:custDataLst>
                <p:tags r:id="rId8"/>
              </p:custDataLst>
            </p:nvPr>
          </p:nvSpPr>
          <p:spPr>
            <a:xfrm>
              <a:off x="4440198" y="1388529"/>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15" name="文本框 14"/>
            <p:cNvSpPr txBox="1"/>
            <p:nvPr>
              <p:custDataLst>
                <p:tags r:id="rId9"/>
              </p:custDataLst>
            </p:nvPr>
          </p:nvSpPr>
          <p:spPr>
            <a:xfrm>
              <a:off x="1622415" y="782046"/>
              <a:ext cx="4156364"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杨浦院区儿科类医疗收入横向比较</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0" name="组合 9"/>
          <p:cNvGrpSpPr/>
          <p:nvPr>
            <p:custDataLst>
              <p:tags r:id="rId2"/>
            </p:custDataLst>
          </p:nvPr>
        </p:nvGrpSpPr>
        <p:grpSpPr>
          <a:xfrm>
            <a:off x="3880862" y="970728"/>
            <a:ext cx="4156364" cy="808536"/>
            <a:chOff x="1528475" y="767571"/>
            <a:chExt cx="4156364" cy="808536"/>
          </a:xfrm>
        </p:grpSpPr>
        <p:sp>
          <p:nvSpPr>
            <p:cNvPr id="16" name="文本框 15"/>
            <p:cNvSpPr txBox="1"/>
            <p:nvPr>
              <p:custDataLst>
                <p:tags r:id="rId6"/>
              </p:custDataLst>
            </p:nvPr>
          </p:nvSpPr>
          <p:spPr>
            <a:xfrm>
              <a:off x="4456675" y="1314497"/>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17" name="文本框 16"/>
            <p:cNvSpPr txBox="1"/>
            <p:nvPr>
              <p:custDataLst>
                <p:tags r:id="rId7"/>
              </p:custDataLst>
            </p:nvPr>
          </p:nvSpPr>
          <p:spPr>
            <a:xfrm>
              <a:off x="1528475" y="767571"/>
              <a:ext cx="4156364"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杨浦院区儿科类门急诊收入横向比较</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8" name="组合 17"/>
          <p:cNvGrpSpPr/>
          <p:nvPr>
            <p:custDataLst>
              <p:tags r:id="rId3"/>
            </p:custDataLst>
          </p:nvPr>
        </p:nvGrpSpPr>
        <p:grpSpPr>
          <a:xfrm>
            <a:off x="7941648" y="946731"/>
            <a:ext cx="4156364" cy="859626"/>
            <a:chOff x="1526838" y="895273"/>
            <a:chExt cx="4156364" cy="859626"/>
          </a:xfrm>
        </p:grpSpPr>
        <p:sp>
          <p:nvSpPr>
            <p:cNvPr id="19" name="文本框 18"/>
            <p:cNvSpPr txBox="1"/>
            <p:nvPr>
              <p:custDataLst>
                <p:tags r:id="rId4"/>
              </p:custDataLst>
            </p:nvPr>
          </p:nvSpPr>
          <p:spPr>
            <a:xfrm>
              <a:off x="4456675" y="1493289"/>
              <a:ext cx="95097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sp>
          <p:nvSpPr>
            <p:cNvPr id="20" name="文本框 19"/>
            <p:cNvSpPr txBox="1"/>
            <p:nvPr>
              <p:custDataLst>
                <p:tags r:id="rId5"/>
              </p:custDataLst>
            </p:nvPr>
          </p:nvSpPr>
          <p:spPr>
            <a:xfrm>
              <a:off x="1526838" y="895273"/>
              <a:ext cx="4156364"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杨浦院区儿科类住院收入横向比较</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6" name="图表 5"/>
          <p:cNvGraphicFramePr/>
          <p:nvPr>
            <p:extLst>
              <p:ext uri="{D42A27DB-BD31-4B8C-83A1-F6EECF244321}">
                <p14:modId xmlns:p14="http://schemas.microsoft.com/office/powerpoint/2010/main" val="2619546893"/>
              </p:ext>
            </p:extLst>
          </p:nvPr>
        </p:nvGraphicFramePr>
        <p:xfrm>
          <a:off x="474663" y="2114868"/>
          <a:ext cx="3479165" cy="2728595"/>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7" name="图表 6"/>
          <p:cNvGraphicFramePr/>
          <p:nvPr>
            <p:extLst>
              <p:ext uri="{D42A27DB-BD31-4B8C-83A1-F6EECF244321}">
                <p14:modId xmlns:p14="http://schemas.microsoft.com/office/powerpoint/2010/main" val="340743793"/>
              </p:ext>
            </p:extLst>
          </p:nvPr>
        </p:nvGraphicFramePr>
        <p:xfrm>
          <a:off x="4178935" y="2043430"/>
          <a:ext cx="3647440" cy="277114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8" name="图表 7"/>
          <p:cNvGraphicFramePr/>
          <p:nvPr>
            <p:extLst>
              <p:ext uri="{D42A27DB-BD31-4B8C-83A1-F6EECF244321}">
                <p14:modId xmlns:p14="http://schemas.microsoft.com/office/powerpoint/2010/main" val="1211136905"/>
              </p:ext>
            </p:extLst>
          </p:nvPr>
        </p:nvGraphicFramePr>
        <p:xfrm>
          <a:off x="8238173" y="2043113"/>
          <a:ext cx="3479165" cy="2728595"/>
        </p:xfrm>
        <a:graphic>
          <a:graphicData uri="http://schemas.openxmlformats.org/drawingml/2006/chart">
            <c:chart xmlns:c="http://schemas.openxmlformats.org/drawingml/2006/chart" xmlns:r="http://schemas.openxmlformats.org/officeDocument/2006/relationships" r:id="rId13"/>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四、均次费用分析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1361440" y="2291715"/>
          <a:ext cx="4229100" cy="2519680"/>
        </p:xfrm>
        <a:graphic>
          <a:graphicData uri="http://schemas.openxmlformats.org/drawingml/2006/chart">
            <c:chart xmlns:c="http://schemas.openxmlformats.org/drawingml/2006/chart" xmlns:r="http://schemas.openxmlformats.org/officeDocument/2006/relationships" r:id="rId23"/>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571166" y="121938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506837" y="5576034"/>
            <a:ext cx="11186399"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533.26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3.7</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降幅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sym typeface="+mn-ea"/>
              </a:rPr>
              <a:t>0.8%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，奉贤院区门急诊均次费用为</a:t>
            </a:r>
            <a:r>
              <a:rPr kumimoji="0" 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459.54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元，低于全院门急诊均次费用</a:t>
            </a:r>
            <a:r>
              <a:rPr kumimoji="0" lang="en-US" altLang="zh-CN"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73.73</a:t>
            </a:r>
            <a:r>
              <a:rPr kumimoji="0" lang="zh-CN" altLang="en-US"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0264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门急诊均次费用</a:t>
            </a:r>
          </a:p>
        </p:txBody>
      </p:sp>
      <p:sp>
        <p:nvSpPr>
          <p:cNvPr id="58" name="文本框 57"/>
          <p:cNvSpPr txBox="1"/>
          <p:nvPr/>
        </p:nvSpPr>
        <p:spPr>
          <a:xfrm>
            <a:off x="2821305" y="1995170"/>
            <a:ext cx="103378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+3.7</a:t>
            </a:r>
            <a:r>
              <a:rPr kumimoji="0" lang="zh-CN" altLang="en-US"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a:t>
            </a:r>
            <a:endPar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lt"/>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268968" y="1256939"/>
            <a:ext cx="1800309"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来源</a:t>
            </a:r>
          </a:p>
        </p:txBody>
      </p:sp>
      <p:graphicFrame>
        <p:nvGraphicFramePr>
          <p:cNvPr id="34" name="表格 33"/>
          <p:cNvGraphicFramePr>
            <a:graphicFrameLocks noGrp="1"/>
          </p:cNvGraphicFramePr>
          <p:nvPr/>
        </p:nvGraphicFramePr>
        <p:xfrm>
          <a:off x="6862445" y="2075180"/>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533.26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514.12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3.7%</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543.83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519.73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491.03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495.23</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-0.8%</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7476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7" name="表格 6"/>
          <p:cNvGraphicFramePr>
            <a:graphicFrameLocks noGrp="1"/>
          </p:cNvGraphicFramePr>
          <p:nvPr>
            <p:extLst>
              <p:ext uri="{D42A27DB-BD31-4B8C-83A1-F6EECF244321}">
                <p14:modId xmlns:p14="http://schemas.microsoft.com/office/powerpoint/2010/main" val="3053677968"/>
              </p:ext>
            </p:extLst>
          </p:nvPr>
        </p:nvGraphicFramePr>
        <p:xfrm>
          <a:off x="6856095" y="3850005"/>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marL="0" algn="ctr" defTabSz="914400" rtl="0" eaLnBrk="1" fontAlgn="ctr" latinLnBrk="0" hangingPunct="1"/>
                      <a:r>
                        <a:rPr lang="zh-CN" altLang="en-US" sz="1200" b="1" i="0" kern="1200" dirty="0">
                          <a:solidFill>
                            <a:srgbClr val="000000"/>
                          </a:solidFill>
                          <a:latin typeface="微软雅黑" panose="020B0503020204020204" pitchFamily="34" charset="-122"/>
                          <a:ea typeface="微软雅黑" panose="020B0503020204020204" pitchFamily="34" charset="-122"/>
                          <a:cs typeface="+mn-cs"/>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533.26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514.12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3.7%</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552.65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514.12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7.5%</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459.54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1364615" y="2287270"/>
          <a:ext cx="4610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26177" y="122872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610247" y="550648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，住院均次费用实现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26,066.75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7.3%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，儿童科同比增幅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12.6%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27,974.82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元，高于全院住院均次费用</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1,908.07</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住院均次费用</a:t>
            </a: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343994" y="1266270"/>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住院均次费用来源</a:t>
            </a:r>
          </a:p>
        </p:txBody>
      </p:sp>
      <p:sp>
        <p:nvSpPr>
          <p:cNvPr id="65" name="文本框 64"/>
          <p:cNvSpPr txBox="1"/>
          <p:nvPr/>
        </p:nvSpPr>
        <p:spPr>
          <a:xfrm>
            <a:off x="2933065" y="1995170"/>
            <a:ext cx="125984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+7.3%</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custDataLst>
              <p:tags r:id="rId6"/>
            </p:custDataLst>
          </p:nvPr>
        </p:nvSpPr>
        <p:spPr>
          <a:xfrm>
            <a:off x="10082175" y="1777273"/>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34" name="表格 33"/>
          <p:cNvGraphicFramePr>
            <a:graphicFrameLocks noGrp="1"/>
          </p:cNvGraphicFramePr>
          <p:nvPr/>
        </p:nvGraphicFramePr>
        <p:xfrm>
          <a:off x="6862445" y="21132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26,066.75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24,294.13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7.3%</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27,043.95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25,482.48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6.1%</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21,663.91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19,239.61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12.6%</a:t>
                      </a:r>
                    </a:p>
                  </a:txBody>
                  <a:tcPr marL="9842" marR="9842" marT="9842" marB="0" anchor="ct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nvGraphicFramePr>
        <p:xfrm>
          <a:off x="6865620" y="38404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4</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26,066.75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24,294.13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7.3%</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25,521.41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24,294.13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5.1%</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27,974.82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460876" y="5512755"/>
            <a:ext cx="11458184" cy="104965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593</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533</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60</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月，市级综合性医院医院住院均次平均值为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27,309</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26,067</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1242</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510886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门急诊和住院均次横向比较</a:t>
            </a:r>
          </a:p>
        </p:txBody>
      </p:sp>
      <p:grpSp>
        <p:nvGrpSpPr>
          <p:cNvPr id="9" name="组合 8"/>
          <p:cNvGrpSpPr/>
          <p:nvPr>
            <p:custDataLst>
              <p:tags r:id="rId1"/>
            </p:custDataLst>
          </p:nvPr>
        </p:nvGrpSpPr>
        <p:grpSpPr>
          <a:xfrm>
            <a:off x="794854" y="1005417"/>
            <a:ext cx="4302093" cy="719455"/>
            <a:chOff x="771994" y="1245447"/>
            <a:chExt cx="4302093" cy="719455"/>
          </a:xfrm>
        </p:grpSpPr>
        <p:sp>
          <p:nvSpPr>
            <p:cNvPr id="10" name="文本框 9"/>
            <p:cNvSpPr txBox="1"/>
            <p:nvPr>
              <p:custDataLst>
                <p:tags r:id="rId7"/>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custDataLst>
                <p:tags r:id="rId8"/>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5" name="组合 14"/>
          <p:cNvGrpSpPr/>
          <p:nvPr>
            <p:custDataLst>
              <p:tags r:id="rId2"/>
            </p:custDataLst>
          </p:nvPr>
        </p:nvGrpSpPr>
        <p:grpSpPr>
          <a:xfrm>
            <a:off x="6664670" y="1015021"/>
            <a:ext cx="4302093" cy="719455"/>
            <a:chOff x="771994" y="1245447"/>
            <a:chExt cx="4302093" cy="719455"/>
          </a:xfrm>
        </p:grpSpPr>
        <p:sp>
          <p:nvSpPr>
            <p:cNvPr id="16" name="文本框 15"/>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5" name="图表 4"/>
          <p:cNvGraphicFramePr/>
          <p:nvPr>
            <p:custDataLst>
              <p:tags r:id="rId3"/>
            </p:custDataLst>
          </p:nvPr>
        </p:nvGraphicFramePr>
        <p:xfrm>
          <a:off x="474980" y="1891030"/>
          <a:ext cx="5471160" cy="345567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图表 5"/>
          <p:cNvGraphicFramePr/>
          <p:nvPr>
            <p:custDataLst>
              <p:tags r:id="rId4"/>
            </p:custDataLst>
          </p:nvPr>
        </p:nvGraphicFramePr>
        <p:xfrm>
          <a:off x="6062345" y="1891030"/>
          <a:ext cx="5744210" cy="3455670"/>
        </p:xfrm>
        <a:graphic>
          <a:graphicData uri="http://schemas.openxmlformats.org/drawingml/2006/chart">
            <c:chart xmlns:c="http://schemas.openxmlformats.org/drawingml/2006/chart" xmlns:r="http://schemas.openxmlformats.org/officeDocument/2006/relationships" r:id="rId11"/>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474669" y="5663583"/>
            <a:ext cx="11458184"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439</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491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52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月，儿科类医院住院均次平均值为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20,470</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21,664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1194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50305040509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71289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30" tIns="45665" rIns="91330" bIns="45665">
            <a:spAutoFit/>
          </a:bodyPr>
          <a:lstStyle>
            <a:lvl1pPr eaLnBrk="0" hangingPunct="0">
              <a:defRPr sz="1400">
                <a:solidFill>
                  <a:schemeClr val="tx1"/>
                </a:solidFill>
                <a:latin typeface="Arial" panose="020B0604020202090204" pitchFamily="34" charset="0"/>
                <a:ea typeface="微软雅黑" panose="020B0503020204020204" pitchFamily="34" charset="-122"/>
              </a:defRPr>
            </a:lvl1pPr>
            <a:lvl2pPr marL="742950" indent="-285750" eaLnBrk="0" hangingPunct="0">
              <a:defRPr sz="1400">
                <a:solidFill>
                  <a:schemeClr val="tx1"/>
                </a:solidFill>
                <a:latin typeface="Arial" panose="020B0604020202090204" pitchFamily="34" charset="0"/>
                <a:ea typeface="微软雅黑" panose="020B0503020204020204" pitchFamily="34" charset="-122"/>
              </a:defRPr>
            </a:lvl2pPr>
            <a:lvl3pPr marL="1143000" indent="-228600" eaLnBrk="0" hangingPunct="0">
              <a:defRPr sz="1400">
                <a:solidFill>
                  <a:schemeClr val="tx1"/>
                </a:solidFill>
                <a:latin typeface="Arial" panose="020B0604020202090204" pitchFamily="34" charset="0"/>
                <a:ea typeface="微软雅黑" panose="020B0503020204020204" pitchFamily="34" charset="-122"/>
              </a:defRPr>
            </a:lvl3pPr>
            <a:lvl4pPr marL="1600200" indent="-228600" eaLnBrk="0" hangingPunct="0">
              <a:defRPr sz="1400">
                <a:solidFill>
                  <a:schemeClr val="tx1"/>
                </a:solidFill>
                <a:latin typeface="Arial" panose="020B0604020202090204" pitchFamily="34" charset="0"/>
                <a:ea typeface="微软雅黑" panose="020B0503020204020204" pitchFamily="34" charset="-122"/>
              </a:defRPr>
            </a:lvl4pPr>
            <a:lvl5pPr marL="2057400" indent="-228600" eaLnBrk="0" hangingPunct="0">
              <a:defRPr sz="1400">
                <a:solidFill>
                  <a:schemeClr val="tx1"/>
                </a:solidFill>
                <a:latin typeface="Arial" panose="020B060402020209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9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门急诊和住院均次横向比较</a:t>
            </a:r>
            <a:r>
              <a:rPr kumimoji="0" lang="en-US" altLang="zh-CN"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90204" pitchFamily="34" charset="0"/>
                <a:ea typeface="微软雅黑" panose="020B0503020204020204" pitchFamily="34" charset="-122"/>
                <a:cs typeface="+mn-cs"/>
                <a:sym typeface="Calibri" panose="020F0502020204030204" pitchFamily="34" charset="0"/>
              </a:rPr>
              <a:t>儿科类</a:t>
            </a:r>
          </a:p>
        </p:txBody>
      </p:sp>
      <p:grpSp>
        <p:nvGrpSpPr>
          <p:cNvPr id="11" name="组合 10"/>
          <p:cNvGrpSpPr/>
          <p:nvPr>
            <p:custDataLst>
              <p:tags r:id="rId1"/>
            </p:custDataLst>
          </p:nvPr>
        </p:nvGrpSpPr>
        <p:grpSpPr>
          <a:xfrm>
            <a:off x="794854" y="1005417"/>
            <a:ext cx="4302093" cy="719455"/>
            <a:chOff x="771994" y="1245447"/>
            <a:chExt cx="4302093" cy="719455"/>
          </a:xfrm>
        </p:grpSpPr>
        <p:sp>
          <p:nvSpPr>
            <p:cNvPr id="12" name="文本框 11"/>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4" name="组合 13"/>
          <p:cNvGrpSpPr/>
          <p:nvPr>
            <p:custDataLst>
              <p:tags r:id="rId2"/>
            </p:custDataLst>
          </p:nvPr>
        </p:nvGrpSpPr>
        <p:grpSpPr>
          <a:xfrm>
            <a:off x="6664670" y="1015021"/>
            <a:ext cx="4302093" cy="719455"/>
            <a:chOff x="771994" y="1245447"/>
            <a:chExt cx="4302093" cy="719455"/>
          </a:xfrm>
        </p:grpSpPr>
        <p:sp>
          <p:nvSpPr>
            <p:cNvPr id="15" name="文本框 14"/>
            <p:cNvSpPr txBox="1"/>
            <p:nvPr>
              <p:custDataLst>
                <p:tags r:id="rId3"/>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
          <p:nvSpPr>
            <p:cNvPr id="16" name="文本框 15"/>
            <p:cNvSpPr txBox="1"/>
            <p:nvPr>
              <p:custDataLst>
                <p:tags r:id="rId4"/>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5" name="图表 4"/>
          <p:cNvGraphicFramePr/>
          <p:nvPr>
            <p:extLst>
              <p:ext uri="{D42A27DB-BD31-4B8C-83A1-F6EECF244321}">
                <p14:modId xmlns:p14="http://schemas.microsoft.com/office/powerpoint/2010/main" val="141955556"/>
              </p:ext>
            </p:extLst>
          </p:nvPr>
        </p:nvGraphicFramePr>
        <p:xfrm>
          <a:off x="6285865" y="2039620"/>
          <a:ext cx="4914265" cy="275399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7" name="图表 6"/>
          <p:cNvGraphicFramePr/>
          <p:nvPr>
            <p:extLst>
              <p:ext uri="{D42A27DB-BD31-4B8C-83A1-F6EECF244321}">
                <p14:modId xmlns:p14="http://schemas.microsoft.com/office/powerpoint/2010/main" val="2651928110"/>
              </p:ext>
            </p:extLst>
          </p:nvPr>
        </p:nvGraphicFramePr>
        <p:xfrm>
          <a:off x="880110" y="2038985"/>
          <a:ext cx="4453890" cy="2754630"/>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五、成本分析</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6" name="Rectangle 5"/>
          <p:cNvSpPr>
            <a:spLocks noChangeArrowheads="1"/>
          </p:cNvSpPr>
          <p:nvPr/>
        </p:nvSpPr>
        <p:spPr bwMode="auto">
          <a:xfrm>
            <a:off x="2630102" y="2797737"/>
            <a:ext cx="4537316" cy="430887"/>
          </a:xfrm>
          <a:prstGeom prst="rect">
            <a:avLst/>
          </a:prstGeom>
          <a:noFill/>
          <a:ln w="9525">
            <a:noFill/>
            <a:miter lim="800000"/>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月医疗成本结构情况</a:t>
            </a:r>
          </a:p>
        </p:txBody>
      </p:sp>
      <p:sp>
        <p:nvSpPr>
          <p:cNvPr id="17" name="Rectangle 5"/>
          <p:cNvSpPr>
            <a:spLocks noChangeArrowheads="1"/>
          </p:cNvSpPr>
          <p:nvPr/>
        </p:nvSpPr>
        <p:spPr bwMode="auto">
          <a:xfrm>
            <a:off x="9497040" y="3152001"/>
            <a:ext cx="1349375" cy="276999"/>
          </a:xfrm>
          <a:prstGeom prst="rect">
            <a:avLst/>
          </a:prstGeom>
          <a:noFill/>
          <a:ln w="9525">
            <a:noFill/>
            <a:miter lim="800000"/>
          </a:ln>
        </p:spPr>
        <p:txBody>
          <a:bodyPr>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 name="Group 52"/>
          <p:cNvGraphicFramePr>
            <a:graphicFrameLocks noGrp="1"/>
          </p:cNvGraphicFramePr>
          <p:nvPr>
            <p:extLst>
              <p:ext uri="{D42A27DB-BD31-4B8C-83A1-F6EECF244321}">
                <p14:modId xmlns:p14="http://schemas.microsoft.com/office/powerpoint/2010/main" val="2126980373"/>
              </p:ext>
            </p:extLst>
          </p:nvPr>
        </p:nvGraphicFramePr>
        <p:xfrm>
          <a:off x="1175291" y="3498464"/>
          <a:ext cx="9671124" cy="2963070"/>
        </p:xfrm>
        <a:graphic>
          <a:graphicData uri="http://schemas.openxmlformats.org/drawingml/2006/table">
            <a:tbl>
              <a:tblPr/>
              <a:tblGrid>
                <a:gridCol w="1484224">
                  <a:extLst>
                    <a:ext uri="{9D8B030D-6E8A-4147-A177-3AD203B41FA5}">
                      <a16:colId xmlns:a16="http://schemas.microsoft.com/office/drawing/2014/main" val="20000"/>
                    </a:ext>
                  </a:extLst>
                </a:gridCol>
                <a:gridCol w="1142743">
                  <a:extLst>
                    <a:ext uri="{9D8B030D-6E8A-4147-A177-3AD203B41FA5}">
                      <a16:colId xmlns:a16="http://schemas.microsoft.com/office/drawing/2014/main" val="20001"/>
                    </a:ext>
                  </a:extLst>
                </a:gridCol>
                <a:gridCol w="953490">
                  <a:extLst>
                    <a:ext uri="{9D8B030D-6E8A-4147-A177-3AD203B41FA5}">
                      <a16:colId xmlns:a16="http://schemas.microsoft.com/office/drawing/2014/main" val="20002"/>
                    </a:ext>
                  </a:extLst>
                </a:gridCol>
                <a:gridCol w="986382">
                  <a:extLst>
                    <a:ext uri="{9D8B030D-6E8A-4147-A177-3AD203B41FA5}">
                      <a16:colId xmlns:a16="http://schemas.microsoft.com/office/drawing/2014/main" val="20003"/>
                    </a:ext>
                  </a:extLst>
                </a:gridCol>
                <a:gridCol w="799196">
                  <a:extLst>
                    <a:ext uri="{9D8B030D-6E8A-4147-A177-3AD203B41FA5}">
                      <a16:colId xmlns:a16="http://schemas.microsoft.com/office/drawing/2014/main" val="20004"/>
                    </a:ext>
                  </a:extLst>
                </a:gridCol>
                <a:gridCol w="1331995">
                  <a:extLst>
                    <a:ext uri="{9D8B030D-6E8A-4147-A177-3AD203B41FA5}">
                      <a16:colId xmlns:a16="http://schemas.microsoft.com/office/drawing/2014/main" val="20005"/>
                    </a:ext>
                  </a:extLst>
                </a:gridCol>
                <a:gridCol w="894340">
                  <a:extLst>
                    <a:ext uri="{9D8B030D-6E8A-4147-A177-3AD203B41FA5}">
                      <a16:colId xmlns:a16="http://schemas.microsoft.com/office/drawing/2014/main" val="20006"/>
                    </a:ext>
                  </a:extLst>
                </a:gridCol>
                <a:gridCol w="1115533">
                  <a:extLst>
                    <a:ext uri="{9D8B030D-6E8A-4147-A177-3AD203B41FA5}">
                      <a16:colId xmlns:a16="http://schemas.microsoft.com/office/drawing/2014/main" val="20007"/>
                    </a:ext>
                  </a:extLst>
                </a:gridCol>
                <a:gridCol w="963221">
                  <a:extLst>
                    <a:ext uri="{9D8B030D-6E8A-4147-A177-3AD203B41FA5}">
                      <a16:colId xmlns:a16="http://schemas.microsoft.com/office/drawing/2014/main" val="20008"/>
                    </a:ext>
                  </a:extLst>
                </a:gridCol>
              </a:tblGrid>
              <a:tr h="627156">
                <a:tc>
                  <a:txBody>
                    <a:bodyPr/>
                    <a:lstStyle/>
                    <a:p>
                      <a:pPr algn="ctr" rtl="0"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奉贤院区</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人员经费</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36.8%</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药品费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23.5%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15.9%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23.2%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23.2%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卫生材料费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31.9%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38.0%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31.9%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折旧</a:t>
                      </a:r>
                      <a:r>
                        <a:rPr lang="en-US" altLang="zh-CN" sz="1400" b="1" i="0" u="none" strike="noStrike">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摊销</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医疗风险基金</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商品和服务费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8.1%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3370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医疗成本合计</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 name="矩形 1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医疗成本</a:t>
            </a:r>
          </a:p>
        </p:txBody>
      </p:sp>
      <p:graphicFrame>
        <p:nvGraphicFramePr>
          <p:cNvPr id="11" name="图表 10">
            <a:extLst>
              <a:ext uri="{FF2B5EF4-FFF2-40B4-BE49-F238E27FC236}">
                <a16:creationId xmlns:a16="http://schemas.microsoft.com/office/drawing/2014/main" id="{3447A930-A7C1-495C-B5CD-593EA8A022CE}"/>
              </a:ext>
            </a:extLst>
          </p:cNvPr>
          <p:cNvGraphicFramePr>
            <a:graphicFrameLocks/>
          </p:cNvGraphicFramePr>
          <p:nvPr>
            <p:extLst>
              <p:ext uri="{D42A27DB-BD31-4B8C-83A1-F6EECF244321}">
                <p14:modId xmlns:p14="http://schemas.microsoft.com/office/powerpoint/2010/main" val="3087607753"/>
              </p:ext>
            </p:extLst>
          </p:nvPr>
        </p:nvGraphicFramePr>
        <p:xfrm>
          <a:off x="7227922" y="730250"/>
          <a:ext cx="4850624" cy="2405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877148616"/>
              </p:ext>
            </p:extLst>
          </p:nvPr>
        </p:nvGraphicFramePr>
        <p:xfrm>
          <a:off x="1293092" y="1876843"/>
          <a:ext cx="9511756" cy="3480249"/>
        </p:xfrm>
        <a:graphic>
          <a:graphicData uri="http://schemas.openxmlformats.org/drawingml/2006/table">
            <a:tbl>
              <a:tblPr/>
              <a:tblGrid>
                <a:gridCol w="1984949">
                  <a:extLst>
                    <a:ext uri="{9D8B030D-6E8A-4147-A177-3AD203B41FA5}">
                      <a16:colId xmlns:a16="http://schemas.microsoft.com/office/drawing/2014/main" val="20000"/>
                    </a:ext>
                  </a:extLst>
                </a:gridCol>
                <a:gridCol w="1622105">
                  <a:extLst>
                    <a:ext uri="{9D8B030D-6E8A-4147-A177-3AD203B41FA5}">
                      <a16:colId xmlns:a16="http://schemas.microsoft.com/office/drawing/2014/main" val="20001"/>
                    </a:ext>
                  </a:extLst>
                </a:gridCol>
                <a:gridCol w="1653023">
                  <a:extLst>
                    <a:ext uri="{9D8B030D-6E8A-4147-A177-3AD203B41FA5}">
                      <a16:colId xmlns:a16="http://schemas.microsoft.com/office/drawing/2014/main" val="20002"/>
                    </a:ext>
                  </a:extLst>
                </a:gridCol>
                <a:gridCol w="1653023">
                  <a:extLst>
                    <a:ext uri="{9D8B030D-6E8A-4147-A177-3AD203B41FA5}">
                      <a16:colId xmlns:a16="http://schemas.microsoft.com/office/drawing/2014/main" val="20003"/>
                    </a:ext>
                  </a:extLst>
                </a:gridCol>
                <a:gridCol w="1299328">
                  <a:extLst>
                    <a:ext uri="{9D8B030D-6E8A-4147-A177-3AD203B41FA5}">
                      <a16:colId xmlns:a16="http://schemas.microsoft.com/office/drawing/2014/main" val="20004"/>
                    </a:ext>
                  </a:extLst>
                </a:gridCol>
                <a:gridCol w="1299328">
                  <a:extLst>
                    <a:ext uri="{9D8B030D-6E8A-4147-A177-3AD203B41FA5}">
                      <a16:colId xmlns:a16="http://schemas.microsoft.com/office/drawing/2014/main" val="20005"/>
                    </a:ext>
                  </a:extLst>
                </a:gridCol>
              </a:tblGrid>
              <a:tr h="60303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4808">
                <a:tc>
                  <a:txBody>
                    <a:bodyPr/>
                    <a:lstStyle/>
                    <a:p>
                      <a:pPr algn="l" rtl="0" fontAlgn="ct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医疗服务收入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7,358</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30.2%</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4808">
                <a:tc>
                  <a:txBody>
                    <a:bodyPr/>
                    <a:lstStyle/>
                    <a:p>
                      <a:pPr algn="l" rtl="0" fontAlgn="ctr">
                        <a:buNone/>
                      </a:pP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人员经费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2,748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12.7%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64808">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其中：工资总额</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2,422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14.2%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其中：基本工资等</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-151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绩效工资</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2,573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19.5%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553174">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社保公积金</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331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7.8%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1210591"/>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人员经费</a:t>
            </a:r>
          </a:p>
        </p:txBody>
      </p:sp>
      <p:sp>
        <p:nvSpPr>
          <p:cNvPr id="7" name="TextBox 1"/>
          <p:cNvSpPr txBox="1"/>
          <p:nvPr/>
        </p:nvSpPr>
        <p:spPr>
          <a:xfrm>
            <a:off x="9454852" y="1535272"/>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人员经费</a:t>
            </a:r>
          </a:p>
        </p:txBody>
      </p:sp>
      <p:sp>
        <p:nvSpPr>
          <p:cNvPr id="9" name="矩形 8"/>
          <p:cNvSpPr/>
          <p:nvPr/>
        </p:nvSpPr>
        <p:spPr>
          <a:xfrm>
            <a:off x="500063" y="5608805"/>
            <a:ext cx="11249138" cy="830912"/>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月，新华医院人员经费支出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24,327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，其中绩效工资同比增幅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19.5%</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基本工资等同比降幅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3.9%</a:t>
            </a:r>
            <a:r>
              <a:rPr lang="zh-CN" altLang="en-US" sz="1600" b="1" kern="0" dirty="0">
                <a:solidFill>
                  <a:srgbClr val="002060"/>
                </a:solidFill>
                <a:latin typeface="微软雅黑" panose="020B0503020204020204" pitchFamily="34" charset="-122"/>
                <a:ea typeface="微软雅黑" panose="020B0503020204020204" pitchFamily="34" charset="-122"/>
              </a:rPr>
              <a:t>，主要原因是去年同期一次性将春节、元旦、清明等节假日的加班费用计入基本工资。</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2030169851"/>
              </p:ext>
            </p:extLst>
          </p:nvPr>
        </p:nvGraphicFramePr>
        <p:xfrm>
          <a:off x="617325" y="1252754"/>
          <a:ext cx="10858309" cy="4322836"/>
        </p:xfrm>
        <a:graphic>
          <a:graphicData uri="http://schemas.openxmlformats.org/drawingml/2006/table">
            <a:tbl>
              <a:tblPr/>
              <a:tblGrid>
                <a:gridCol w="3478309">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1476000">
                  <a:extLst>
                    <a:ext uri="{9D8B030D-6E8A-4147-A177-3AD203B41FA5}">
                      <a16:colId xmlns:a16="http://schemas.microsoft.com/office/drawing/2014/main" val="20003"/>
                    </a:ext>
                  </a:extLst>
                </a:gridCol>
                <a:gridCol w="1476000">
                  <a:extLst>
                    <a:ext uri="{9D8B030D-6E8A-4147-A177-3AD203B41FA5}">
                      <a16:colId xmlns:a16="http://schemas.microsoft.com/office/drawing/2014/main" val="20004"/>
                    </a:ext>
                  </a:extLst>
                </a:gridCol>
                <a:gridCol w="1476000">
                  <a:extLst>
                    <a:ext uri="{9D8B030D-6E8A-4147-A177-3AD203B41FA5}">
                      <a16:colId xmlns:a16="http://schemas.microsoft.com/office/drawing/2014/main" val="20005"/>
                    </a:ext>
                  </a:extLst>
                </a:gridCol>
              </a:tblGrid>
              <a:tr h="74814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其中</a:t>
                      </a:r>
                      <a:endParaRPr lang="en-US" altLang="zh-CN" sz="15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0276">
                <a:tc>
                  <a:txBody>
                    <a:bodyPr/>
                    <a:lstStyle/>
                    <a:p>
                      <a:pPr algn="l" rtl="0" fontAlgn="ct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66793">
                <a:tc>
                  <a:txBody>
                    <a:bodyPr/>
                    <a:lstStyle/>
                    <a:p>
                      <a:pPr algn="l" rtl="0" fontAlgn="ctr">
                        <a:buNone/>
                      </a:pP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66793">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其中：可收费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18,910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5,891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14,222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4,688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33.0%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60276">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          不可收费</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60276">
                <a:tc>
                  <a:txBody>
                    <a:bodyPr/>
                    <a:lstStyle/>
                    <a:p>
                      <a:pPr algn="l" rtl="0" fontAlgn="ctr">
                        <a:buNone/>
                      </a:pP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其中：检验试剂</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2,558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567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1,729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829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47.9%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60276">
                <a:tc>
                  <a:txBody>
                    <a:bodyPr/>
                    <a:lstStyle/>
                    <a:p>
                      <a:pPr algn="l" rtl="0" fontAlgn="ct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其他不可收费卫生材料</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932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1,035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-103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15342" y="70702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卫生材料费</a:t>
            </a:r>
          </a:p>
        </p:txBody>
      </p:sp>
      <p:sp>
        <p:nvSpPr>
          <p:cNvPr id="7" name="TextBox 1"/>
          <p:cNvSpPr txBox="1"/>
          <p:nvPr/>
        </p:nvSpPr>
        <p:spPr>
          <a:xfrm>
            <a:off x="9463165" y="1010223"/>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690437"/>
            <a:ext cx="11017682" cy="830912"/>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月，卫生材料费支出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22,400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，其中可收费卫生材料同比增长</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，主要是由于业务量增长引起卫生材料收入增长，可收费材料费用因此增长。</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686832801"/>
              </p:ext>
            </p:extLst>
          </p:nvPr>
        </p:nvGraphicFramePr>
        <p:xfrm>
          <a:off x="724556" y="1565456"/>
          <a:ext cx="9710835" cy="3501586"/>
        </p:xfrm>
        <a:graphic>
          <a:graphicData uri="http://schemas.openxmlformats.org/drawingml/2006/table">
            <a:tbl>
              <a:tblPr/>
              <a:tblGrid>
                <a:gridCol w="2378862">
                  <a:extLst>
                    <a:ext uri="{9D8B030D-6E8A-4147-A177-3AD203B41FA5}">
                      <a16:colId xmlns:a16="http://schemas.microsoft.com/office/drawing/2014/main" val="20000"/>
                    </a:ext>
                  </a:extLst>
                </a:gridCol>
                <a:gridCol w="1303687">
                  <a:extLst>
                    <a:ext uri="{9D8B030D-6E8A-4147-A177-3AD203B41FA5}">
                      <a16:colId xmlns:a16="http://schemas.microsoft.com/office/drawing/2014/main" val="20001"/>
                    </a:ext>
                  </a:extLst>
                </a:gridCol>
                <a:gridCol w="1687621">
                  <a:extLst>
                    <a:ext uri="{9D8B030D-6E8A-4147-A177-3AD203B41FA5}">
                      <a16:colId xmlns:a16="http://schemas.microsoft.com/office/drawing/2014/main" val="20002"/>
                    </a:ext>
                  </a:extLst>
                </a:gridCol>
                <a:gridCol w="1687621">
                  <a:extLst>
                    <a:ext uri="{9D8B030D-6E8A-4147-A177-3AD203B41FA5}">
                      <a16:colId xmlns:a16="http://schemas.microsoft.com/office/drawing/2014/main" val="20003"/>
                    </a:ext>
                  </a:extLst>
                </a:gridCol>
                <a:gridCol w="1326522">
                  <a:extLst>
                    <a:ext uri="{9D8B030D-6E8A-4147-A177-3AD203B41FA5}">
                      <a16:colId xmlns:a16="http://schemas.microsoft.com/office/drawing/2014/main" val="20004"/>
                    </a:ext>
                  </a:extLst>
                </a:gridCol>
                <a:gridCol w="1326522">
                  <a:extLst>
                    <a:ext uri="{9D8B030D-6E8A-4147-A177-3AD203B41FA5}">
                      <a16:colId xmlns:a16="http://schemas.microsoft.com/office/drawing/2014/main" val="20005"/>
                    </a:ext>
                  </a:extLst>
                </a:gridCol>
              </a:tblGrid>
              <a:tr h="6645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检验试剂成本</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47.9%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其中：医学检验科</a:t>
                      </a:r>
                    </a:p>
                  </a:txBody>
                  <a:tcPr marL="342900"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2,059</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395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1,373</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686</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50.0%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化验收入</a:t>
                      </a:r>
                    </a:p>
                  </a:txBody>
                  <a:tcPr marL="342900"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30.8%</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5070">
                <a:tc>
                  <a:txBody>
                    <a:bodyPr/>
                    <a:lstStyle/>
                    <a:p>
                      <a:pPr algn="l" rtl="0" fontAlgn="ctr">
                        <a:buNone/>
                      </a:pPr>
                      <a:r>
                        <a:rPr lang="zh-CN" altLang="en-US" sz="2000" b="1" i="0" u="none" strike="noStrike">
                          <a:solidFill>
                            <a:srgbClr val="C00000"/>
                          </a:solidFill>
                          <a:effectLst/>
                          <a:latin typeface="微软雅黑" panose="020B0503020204020204" pitchFamily="34" charset="-122"/>
                          <a:ea typeface="微软雅黑" panose="020B0503020204020204" pitchFamily="34" charset="-122"/>
                        </a:rPr>
                        <a:t>成本收入比重</a:t>
                      </a:r>
                    </a:p>
                  </a:txBody>
                  <a:tcPr marL="342900"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a:solidFill>
                            <a:srgbClr val="C00000"/>
                          </a:solidFill>
                          <a:effectLst/>
                          <a:latin typeface="微软雅黑" panose="020B0503020204020204" pitchFamily="34" charset="-122"/>
                          <a:ea typeface="微软雅黑" panose="020B0503020204020204" pitchFamily="34" charset="-122"/>
                        </a:rPr>
                        <a:t>-</a:t>
                      </a:r>
                      <a:r>
                        <a:rPr lang="zh-CN" altLang="en-US" sz="2000" b="1" i="0" u="none" strike="noStrike">
                          <a:solidFill>
                            <a:srgbClr val="C00000"/>
                          </a:solidFill>
                          <a:effectLst/>
                          <a:latin typeface="微软雅黑" panose="020B0503020204020204" pitchFamily="34" charset="-122"/>
                          <a:ea typeface="微软雅黑" panose="020B0503020204020204" pitchFamily="34" charset="-122"/>
                        </a:rPr>
                        <a:t>　</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门急诊人次</a:t>
                      </a:r>
                    </a:p>
                  </a:txBody>
                  <a:tcPr marL="342900"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10.35</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28.6%</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住院人次</a:t>
                      </a:r>
                    </a:p>
                  </a:txBody>
                  <a:tcPr marL="342900"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0.28</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20.7%</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91820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检验试剂成本与化验收入</a:t>
            </a:r>
          </a:p>
        </p:txBody>
      </p:sp>
      <p:sp>
        <p:nvSpPr>
          <p:cNvPr id="7" name="TextBox 1"/>
          <p:cNvSpPr txBox="1"/>
          <p:nvPr/>
        </p:nvSpPr>
        <p:spPr>
          <a:xfrm>
            <a:off x="9389537" y="1043523"/>
            <a:ext cx="1961953"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万人次</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520704"/>
            <a:ext cx="11249138" cy="830912"/>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月相较</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年同期，检验试剂成本增长</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829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万元，成本收入比重为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，同比增加</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3.7</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个</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百分点。奉贤院区化验成本收入比为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37.5%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5" name="上箭头 14"/>
          <p:cNvSpPr/>
          <p:nvPr/>
        </p:nvSpPr>
        <p:spPr>
          <a:xfrm>
            <a:off x="10273754" y="4713619"/>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上箭头 15"/>
          <p:cNvSpPr/>
          <p:nvPr/>
        </p:nvSpPr>
        <p:spPr>
          <a:xfrm>
            <a:off x="10273753" y="4260171"/>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上箭头 16"/>
          <p:cNvSpPr/>
          <p:nvPr/>
        </p:nvSpPr>
        <p:spPr>
          <a:xfrm>
            <a:off x="10253576" y="3284323"/>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上箭头 17"/>
          <p:cNvSpPr/>
          <p:nvPr/>
        </p:nvSpPr>
        <p:spPr>
          <a:xfrm>
            <a:off x="10248323" y="2328590"/>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上箭头 18"/>
          <p:cNvSpPr/>
          <p:nvPr/>
        </p:nvSpPr>
        <p:spPr>
          <a:xfrm>
            <a:off x="10248323" y="2830875"/>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4029335100"/>
              </p:ext>
            </p:extLst>
          </p:nvPr>
        </p:nvGraphicFramePr>
        <p:xfrm>
          <a:off x="558252" y="1161137"/>
          <a:ext cx="10493760" cy="4059543"/>
        </p:xfrm>
        <a:graphic>
          <a:graphicData uri="http://schemas.openxmlformats.org/drawingml/2006/table">
            <a:tbl>
              <a:tblPr/>
              <a:tblGrid>
                <a:gridCol w="1975508">
                  <a:extLst>
                    <a:ext uri="{9D8B030D-6E8A-4147-A177-3AD203B41FA5}">
                      <a16:colId xmlns:a16="http://schemas.microsoft.com/office/drawing/2014/main" val="20000"/>
                    </a:ext>
                  </a:extLst>
                </a:gridCol>
                <a:gridCol w="1747024">
                  <a:extLst>
                    <a:ext uri="{9D8B030D-6E8A-4147-A177-3AD203B41FA5}">
                      <a16:colId xmlns:a16="http://schemas.microsoft.com/office/drawing/2014/main" val="20001"/>
                    </a:ext>
                  </a:extLst>
                </a:gridCol>
                <a:gridCol w="1821366">
                  <a:extLst>
                    <a:ext uri="{9D8B030D-6E8A-4147-A177-3AD203B41FA5}">
                      <a16:colId xmlns:a16="http://schemas.microsoft.com/office/drawing/2014/main" val="20002"/>
                    </a:ext>
                  </a:extLst>
                </a:gridCol>
                <a:gridCol w="2082918">
                  <a:extLst>
                    <a:ext uri="{9D8B030D-6E8A-4147-A177-3AD203B41FA5}">
                      <a16:colId xmlns:a16="http://schemas.microsoft.com/office/drawing/2014/main" val="20003"/>
                    </a:ext>
                  </a:extLst>
                </a:gridCol>
                <a:gridCol w="1433472">
                  <a:extLst>
                    <a:ext uri="{9D8B030D-6E8A-4147-A177-3AD203B41FA5}">
                      <a16:colId xmlns:a16="http://schemas.microsoft.com/office/drawing/2014/main" val="20004"/>
                    </a:ext>
                  </a:extLst>
                </a:gridCol>
                <a:gridCol w="1433472">
                  <a:extLst>
                    <a:ext uri="{9D8B030D-6E8A-4147-A177-3AD203B41FA5}">
                      <a16:colId xmlns:a16="http://schemas.microsoft.com/office/drawing/2014/main" val="20005"/>
                    </a:ext>
                  </a:extLst>
                </a:gridCol>
              </a:tblGrid>
              <a:tr h="56587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571">
                <a:tc>
                  <a:txBody>
                    <a:bodyPr/>
                    <a:lstStyle/>
                    <a:p>
                      <a:pPr algn="l" rtl="0" fontAlgn="ct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商品服务</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其中：</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能源成本</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-10.5%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维修护费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723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07669">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1,046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854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192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22.5%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委托业务费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30.2%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劳务费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226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63.1%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租赁费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372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328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13.4%</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其他费用</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382.2%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2093340543"/>
                  </a:ext>
                </a:extLst>
              </a:tr>
            </a:tbl>
          </a:graphicData>
        </a:graphic>
      </p:graphicFrame>
      <p:sp>
        <p:nvSpPr>
          <p:cNvPr id="5" name="Rectangle 5"/>
          <p:cNvSpPr>
            <a:spLocks noChangeArrowheads="1"/>
          </p:cNvSpPr>
          <p:nvPr/>
        </p:nvSpPr>
        <p:spPr bwMode="auto">
          <a:xfrm>
            <a:off x="3664855" y="73025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商品和服务费用</a:t>
            </a:r>
          </a:p>
        </p:txBody>
      </p:sp>
      <p:sp>
        <p:nvSpPr>
          <p:cNvPr id="7" name="TextBox 1"/>
          <p:cNvSpPr txBox="1"/>
          <p:nvPr/>
        </p:nvSpPr>
        <p:spPr>
          <a:xfrm>
            <a:off x="9905879" y="78741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商品和服务费</a:t>
            </a:r>
          </a:p>
        </p:txBody>
      </p:sp>
      <p:sp>
        <p:nvSpPr>
          <p:cNvPr id="8" name="矩形 7"/>
          <p:cNvSpPr/>
          <p:nvPr/>
        </p:nvSpPr>
        <p:spPr>
          <a:xfrm>
            <a:off x="82326" y="5201385"/>
            <a:ext cx="12027333" cy="1292577"/>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2026</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年</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4</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月，商品和服务费支出</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5,873</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万元，同比增长</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1,364</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万元。变动因素如下：</a:t>
            </a:r>
            <a:r>
              <a:rPr lang="en-US" altLang="zh-CN" sz="1300" b="1" kern="0" dirty="0">
                <a:solidFill>
                  <a:srgbClr val="002060"/>
                </a:solidFill>
                <a:latin typeface="微软雅黑" panose="020B0503020204020204" pitchFamily="34" charset="-122"/>
                <a:ea typeface="微软雅黑" panose="020B0503020204020204" pitchFamily="34" charset="-122"/>
              </a:rPr>
              <a:t>1</a:t>
            </a:r>
            <a:r>
              <a:rPr lang="zh-CN" altLang="en-US" sz="1300" b="1" kern="0" dirty="0">
                <a:solidFill>
                  <a:srgbClr val="002060"/>
                </a:solidFill>
                <a:latin typeface="微软雅黑" panose="020B0503020204020204" pitchFamily="34" charset="-122"/>
                <a:ea typeface="微软雅黑" panose="020B0503020204020204" pitchFamily="34" charset="-122"/>
              </a:rPr>
              <a:t>、</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能源成本</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同比减少</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54</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rgbClr val="C00000"/>
                </a:solidFill>
                <a:latin typeface="微软雅黑" panose="020B0503020204020204" pitchFamily="34" charset="-122"/>
                <a:ea typeface="微软雅黑" panose="020B0503020204020204" pitchFamily="34" charset="-122"/>
              </a:rPr>
              <a:t>维修护费</a:t>
            </a:r>
            <a:r>
              <a:rPr lang="zh-CN" altLang="en-US" sz="1300" b="1" kern="0" dirty="0">
                <a:solidFill>
                  <a:srgbClr val="002060"/>
                </a:solidFill>
                <a:latin typeface="微软雅黑" panose="020B0503020204020204" pitchFamily="34" charset="-122"/>
                <a:ea typeface="微软雅黑" panose="020B0503020204020204" pitchFamily="34" charset="-122"/>
              </a:rPr>
              <a:t>同比减少</a:t>
            </a:r>
            <a:r>
              <a:rPr lang="en-US" altLang="zh-CN" sz="1300" b="1" kern="0" dirty="0">
                <a:solidFill>
                  <a:srgbClr val="002060"/>
                </a:solidFill>
                <a:latin typeface="微软雅黑" panose="020B0503020204020204" pitchFamily="34" charset="-122"/>
                <a:ea typeface="微软雅黑" panose="020B0503020204020204" pitchFamily="34" charset="-122"/>
              </a:rPr>
              <a:t>8</a:t>
            </a:r>
            <a:r>
              <a:rPr lang="zh-CN" altLang="en-US" sz="1300" b="1" kern="0" dirty="0">
                <a:solidFill>
                  <a:srgbClr val="002060"/>
                </a:solidFill>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3</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rgbClr val="C00000"/>
                </a:solidFill>
                <a:latin typeface="微软雅黑" panose="020B0503020204020204" pitchFamily="34" charset="-122"/>
                <a:ea typeface="微软雅黑" panose="020B0503020204020204" pitchFamily="34" charset="-122"/>
              </a:rPr>
              <a:t>物业管理费</a:t>
            </a:r>
            <a:r>
              <a:rPr lang="zh-CN" altLang="en-US" sz="1300" b="1" kern="0" dirty="0">
                <a:solidFill>
                  <a:srgbClr val="002060"/>
                </a:solidFill>
                <a:latin typeface="微软雅黑" panose="020B0503020204020204" pitchFamily="34" charset="-122"/>
                <a:ea typeface="微软雅黑" panose="020B0503020204020204" pitchFamily="34" charset="-122"/>
              </a:rPr>
              <a:t>同比增长</a:t>
            </a:r>
            <a:r>
              <a:rPr lang="en-US" altLang="zh-CN" sz="1300" b="1" kern="0" dirty="0">
                <a:solidFill>
                  <a:srgbClr val="002060"/>
                </a:solidFill>
                <a:latin typeface="微软雅黑" panose="020B0503020204020204" pitchFamily="34" charset="-122"/>
                <a:ea typeface="微软雅黑" panose="020B0503020204020204" pitchFamily="34" charset="-122"/>
              </a:rPr>
              <a:t>192</a:t>
            </a:r>
            <a:r>
              <a:rPr lang="zh-CN" altLang="en-US" sz="1300" b="1" kern="0" dirty="0">
                <a:solidFill>
                  <a:srgbClr val="002060"/>
                </a:solidFill>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4</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rgbClr val="C00000"/>
                </a:solidFill>
                <a:latin typeface="微软雅黑" panose="020B0503020204020204" pitchFamily="34" charset="-122"/>
                <a:ea typeface="微软雅黑" panose="020B0503020204020204" pitchFamily="34" charset="-122"/>
              </a:rPr>
              <a:t>委托业务费</a:t>
            </a:r>
            <a:r>
              <a:rPr lang="zh-CN" altLang="en-US" sz="1300" b="1" kern="0" dirty="0">
                <a:solidFill>
                  <a:srgbClr val="002060"/>
                </a:solidFill>
                <a:latin typeface="微软雅黑" panose="020B0503020204020204" pitchFamily="34" charset="-122"/>
                <a:ea typeface="微软雅黑" panose="020B0503020204020204" pitchFamily="34" charset="-122"/>
              </a:rPr>
              <a:t>同比增长</a:t>
            </a:r>
            <a:r>
              <a:rPr lang="en-US" altLang="zh-CN" sz="1300" b="1" kern="0" dirty="0">
                <a:solidFill>
                  <a:srgbClr val="002060"/>
                </a:solidFill>
                <a:latin typeface="微软雅黑" panose="020B0503020204020204" pitchFamily="34" charset="-122"/>
                <a:ea typeface="微软雅黑" panose="020B0503020204020204" pitchFamily="34" charset="-122"/>
              </a:rPr>
              <a:t>254</a:t>
            </a:r>
            <a:r>
              <a:rPr lang="zh-CN" altLang="en-US" sz="1300" b="1" kern="0" dirty="0">
                <a:solidFill>
                  <a:srgbClr val="002060"/>
                </a:solidFill>
                <a:latin typeface="微软雅黑" panose="020B0503020204020204" pitchFamily="34" charset="-122"/>
                <a:ea typeface="微软雅黑" panose="020B0503020204020204" pitchFamily="34" charset="-122"/>
              </a:rPr>
              <a:t>万元，其中外送检测费同比增长</a:t>
            </a:r>
            <a:r>
              <a:rPr lang="en-US" altLang="zh-CN" sz="1300" b="1" kern="0" dirty="0">
                <a:solidFill>
                  <a:srgbClr val="002060"/>
                </a:solidFill>
                <a:latin typeface="微软雅黑" panose="020B0503020204020204" pitchFamily="34" charset="-122"/>
                <a:ea typeface="微软雅黑" panose="020B0503020204020204" pitchFamily="34" charset="-122"/>
              </a:rPr>
              <a:t>22</a:t>
            </a:r>
            <a:r>
              <a:rPr lang="zh-CN" altLang="en-US" sz="1300" b="1" kern="0" dirty="0">
                <a:solidFill>
                  <a:srgbClr val="002060"/>
                </a:solidFill>
                <a:latin typeface="微软雅黑" panose="020B0503020204020204" pitchFamily="34" charset="-122"/>
                <a:ea typeface="微软雅黑" panose="020B0503020204020204" pitchFamily="34" charset="-122"/>
              </a:rPr>
              <a:t>万元，科研匹配经费中的检测费用同比增长</a:t>
            </a:r>
            <a:r>
              <a:rPr lang="en-US" altLang="zh-CN" sz="1300" b="1" kern="0" dirty="0">
                <a:solidFill>
                  <a:srgbClr val="002060"/>
                </a:solidFill>
                <a:latin typeface="微软雅黑" panose="020B0503020204020204" pitchFamily="34" charset="-122"/>
                <a:ea typeface="微软雅黑" panose="020B0503020204020204" pitchFamily="34" charset="-122"/>
              </a:rPr>
              <a:t>232</a:t>
            </a:r>
            <a:r>
              <a:rPr lang="zh-CN" altLang="en-US" sz="1300" b="1" kern="0" dirty="0">
                <a:solidFill>
                  <a:srgbClr val="002060"/>
                </a:solidFill>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5</a:t>
            </a:r>
            <a:r>
              <a:rPr lang="zh-CN" altLang="en-US" sz="1300" b="1" kern="0" dirty="0">
                <a:solidFill>
                  <a:srgbClr val="002060"/>
                </a:solidFill>
                <a:latin typeface="微软雅黑" panose="020B0503020204020204" pitchFamily="34" charset="-122"/>
                <a:ea typeface="微软雅黑" panose="020B0503020204020204" pitchFamily="34" charset="-122"/>
              </a:rPr>
              <a:t>、</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劳务费</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增长</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226</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万元，主要是奉贤一口价人员成本同比增长</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68</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万元，另支付申康</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2025-2026</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年总会计师薪酬</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170</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万元，去年同期支付金额为</a:t>
            </a:r>
            <a:r>
              <a:rPr lang="en-US" altLang="zh-CN" sz="1300" b="1" kern="0" dirty="0">
                <a:solidFill>
                  <a:srgbClr val="002060"/>
                </a:solidFill>
                <a:latin typeface="微软雅黑" panose="020B0503020204020204" pitchFamily="34" charset="-122"/>
                <a:ea typeface="微软雅黑" panose="020B0503020204020204" pitchFamily="34" charset="-122"/>
              </a:rPr>
              <a:t>95</a:t>
            </a:r>
            <a:r>
              <a:rPr lang="zh-CN" altLang="en-US" sz="1300" b="1" kern="0" dirty="0">
                <a:solidFill>
                  <a:srgbClr val="002060"/>
                </a:solidFill>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6</a:t>
            </a:r>
            <a:r>
              <a:rPr lang="zh-CN" altLang="en-US" sz="1300" b="1" kern="0" dirty="0">
                <a:solidFill>
                  <a:srgbClr val="002060"/>
                </a:solidFill>
                <a:latin typeface="微软雅黑" panose="020B0503020204020204" pitchFamily="34" charset="-122"/>
                <a:ea typeface="微软雅黑" panose="020B0503020204020204" pitchFamily="34" charset="-122"/>
              </a:rPr>
              <a:t>、</a:t>
            </a:r>
            <a:r>
              <a:rPr kumimoji="0" lang="zh-CN" altLang="en-US" sz="13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租赁费</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同比上涨</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44</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万元，主要是本月支付</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3</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个月的奉贤租房费用</a:t>
            </a:r>
            <a:r>
              <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44</a:t>
            </a:r>
            <a:r>
              <a:rPr kumimoji="0" lang="zh-CN" altLang="en-US"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rPr>
              <a:t>万元。</a:t>
            </a:r>
            <a:r>
              <a:rPr lang="en-US" altLang="zh-CN" sz="1300" b="1" kern="0" dirty="0">
                <a:solidFill>
                  <a:srgbClr val="002060"/>
                </a:solidFill>
                <a:latin typeface="微软雅黑" panose="020B0503020204020204" pitchFamily="34" charset="-122"/>
                <a:ea typeface="微软雅黑" panose="020B0503020204020204" pitchFamily="34" charset="-122"/>
              </a:rPr>
              <a:t> 7</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rgbClr val="C00000"/>
                </a:solidFill>
                <a:latin typeface="微软雅黑" panose="020B0503020204020204" pitchFamily="34" charset="-122"/>
                <a:ea typeface="微软雅黑" panose="020B0503020204020204" pitchFamily="34" charset="-122"/>
              </a:rPr>
              <a:t>其他费用</a:t>
            </a:r>
            <a:r>
              <a:rPr lang="zh-CN" altLang="en-US" sz="1300" b="1" kern="0" dirty="0">
                <a:solidFill>
                  <a:srgbClr val="002060"/>
                </a:solidFill>
                <a:latin typeface="微软雅黑" panose="020B0503020204020204" pitchFamily="34" charset="-122"/>
                <a:ea typeface="微软雅黑" panose="020B0503020204020204" pitchFamily="34" charset="-122"/>
              </a:rPr>
              <a:t>同比上涨</a:t>
            </a:r>
            <a:r>
              <a:rPr lang="en-US" altLang="zh-CN" sz="1300" b="1" kern="0" dirty="0">
                <a:solidFill>
                  <a:srgbClr val="002060"/>
                </a:solidFill>
                <a:latin typeface="微软雅黑" panose="020B0503020204020204" pitchFamily="34" charset="-122"/>
                <a:ea typeface="微软雅黑" panose="020B0503020204020204" pitchFamily="34" charset="-122"/>
              </a:rPr>
              <a:t>667</a:t>
            </a:r>
            <a:r>
              <a:rPr lang="zh-CN" altLang="en-US" sz="1300" b="1" kern="0" dirty="0">
                <a:solidFill>
                  <a:srgbClr val="002060"/>
                </a:solidFill>
                <a:latin typeface="微软雅黑" panose="020B0503020204020204" pitchFamily="34" charset="-122"/>
                <a:ea typeface="微软雅黑" panose="020B0503020204020204" pitchFamily="34" charset="-122"/>
              </a:rPr>
              <a:t>万元，主要是支付吉爱家庭及吉晨卫生的患者照护相关款项</a:t>
            </a:r>
            <a:r>
              <a:rPr lang="en-US" altLang="zh-CN" sz="1300" b="1" kern="0" dirty="0">
                <a:solidFill>
                  <a:srgbClr val="002060"/>
                </a:solidFill>
                <a:latin typeface="微软雅黑" panose="020B0503020204020204" pitchFamily="34" charset="-122"/>
                <a:ea typeface="微软雅黑" panose="020B0503020204020204" pitchFamily="34" charset="-122"/>
              </a:rPr>
              <a:t>544</a:t>
            </a:r>
            <a:r>
              <a:rPr lang="zh-CN" altLang="en-US" sz="1300" b="1" kern="0" dirty="0">
                <a:solidFill>
                  <a:srgbClr val="002060"/>
                </a:solidFill>
                <a:latin typeface="微软雅黑" panose="020B0503020204020204" pitchFamily="34" charset="-122"/>
                <a:ea typeface="微软雅黑" panose="020B0503020204020204" pitchFamily="34" charset="-122"/>
              </a:rPr>
              <a:t>万元。</a:t>
            </a:r>
            <a:endParaRPr kumimoji="0" lang="en-US" altLang="zh-CN" sz="13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213892320"/>
              </p:ext>
            </p:extLst>
          </p:nvPr>
        </p:nvGraphicFramePr>
        <p:xfrm>
          <a:off x="884664" y="1598341"/>
          <a:ext cx="10198971" cy="3375104"/>
        </p:xfrm>
        <a:graphic>
          <a:graphicData uri="http://schemas.openxmlformats.org/drawingml/2006/table">
            <a:tbl>
              <a:tblPr/>
              <a:tblGrid>
                <a:gridCol w="1502540">
                  <a:extLst>
                    <a:ext uri="{9D8B030D-6E8A-4147-A177-3AD203B41FA5}">
                      <a16:colId xmlns:a16="http://schemas.microsoft.com/office/drawing/2014/main" val="20000"/>
                    </a:ext>
                  </a:extLst>
                </a:gridCol>
                <a:gridCol w="1264082">
                  <a:extLst>
                    <a:ext uri="{9D8B030D-6E8A-4147-A177-3AD203B41FA5}">
                      <a16:colId xmlns:a16="http://schemas.microsoft.com/office/drawing/2014/main" val="20001"/>
                    </a:ext>
                  </a:extLst>
                </a:gridCol>
                <a:gridCol w="1159578">
                  <a:extLst>
                    <a:ext uri="{9D8B030D-6E8A-4147-A177-3AD203B41FA5}">
                      <a16:colId xmlns:a16="http://schemas.microsoft.com/office/drawing/2014/main" val="20002"/>
                    </a:ext>
                  </a:extLst>
                </a:gridCol>
                <a:gridCol w="1159578">
                  <a:extLst>
                    <a:ext uri="{9D8B030D-6E8A-4147-A177-3AD203B41FA5}">
                      <a16:colId xmlns:a16="http://schemas.microsoft.com/office/drawing/2014/main" val="20003"/>
                    </a:ext>
                  </a:extLst>
                </a:gridCol>
                <a:gridCol w="1233841">
                  <a:extLst>
                    <a:ext uri="{9D8B030D-6E8A-4147-A177-3AD203B41FA5}">
                      <a16:colId xmlns:a16="http://schemas.microsoft.com/office/drawing/2014/main" val="20004"/>
                    </a:ext>
                  </a:extLst>
                </a:gridCol>
                <a:gridCol w="969838">
                  <a:extLst>
                    <a:ext uri="{9D8B030D-6E8A-4147-A177-3AD203B41FA5}">
                      <a16:colId xmlns:a16="http://schemas.microsoft.com/office/drawing/2014/main" val="20005"/>
                    </a:ext>
                  </a:extLst>
                </a:gridCol>
                <a:gridCol w="969838">
                  <a:extLst>
                    <a:ext uri="{9D8B030D-6E8A-4147-A177-3AD203B41FA5}">
                      <a16:colId xmlns:a16="http://schemas.microsoft.com/office/drawing/2014/main" val="20006"/>
                    </a:ext>
                  </a:extLst>
                </a:gridCol>
                <a:gridCol w="969838">
                  <a:extLst>
                    <a:ext uri="{9D8B030D-6E8A-4147-A177-3AD203B41FA5}">
                      <a16:colId xmlns:a16="http://schemas.microsoft.com/office/drawing/2014/main" val="20007"/>
                    </a:ext>
                  </a:extLst>
                </a:gridCol>
                <a:gridCol w="969838">
                  <a:extLst>
                    <a:ext uri="{9D8B030D-6E8A-4147-A177-3AD203B41FA5}">
                      <a16:colId xmlns:a16="http://schemas.microsoft.com/office/drawing/2014/main" val="20008"/>
                    </a:ext>
                  </a:extLst>
                </a:gridCol>
              </a:tblGrid>
              <a:tr h="782914">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8644">
                <a:tc>
                  <a:txBody>
                    <a:bodyPr/>
                    <a:lstStyle/>
                    <a:p>
                      <a:pPr algn="ctr" rtl="0" fontAlgn="ctr"/>
                      <a:r>
                        <a:rPr lang="zh-CN" altLang="en-US" sz="1800" b="1" i="0" u="none" strike="noStrike">
                          <a:solidFill>
                            <a:srgbClr val="000000"/>
                          </a:solidFill>
                          <a:effectLst/>
                          <a:latin typeface="微软雅黑" panose="020B0503020204020204" pitchFamily="34" charset="-122"/>
                          <a:ea typeface="微软雅黑" panose="020B0503020204020204" pitchFamily="34" charset="-122"/>
                        </a:rPr>
                        <a:t>能耗成本</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-54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-10.5%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-273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-12.1%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其中：水费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电费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338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1119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326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736258">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燃气费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618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-52.7%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-28.1%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5"/>
          <p:cNvSpPr>
            <a:spLocks noChangeArrowheads="1"/>
          </p:cNvSpPr>
          <p:nvPr/>
        </p:nvSpPr>
        <p:spPr bwMode="auto">
          <a:xfrm>
            <a:off x="3664861" y="106128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能源成本</a:t>
            </a:r>
          </a:p>
        </p:txBody>
      </p:sp>
      <p:sp>
        <p:nvSpPr>
          <p:cNvPr id="7" name="TextBox 1"/>
          <p:cNvSpPr txBox="1"/>
          <p:nvPr/>
        </p:nvSpPr>
        <p:spPr>
          <a:xfrm>
            <a:off x="10155261" y="7942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能源成本</a:t>
            </a:r>
          </a:p>
        </p:txBody>
      </p:sp>
      <p:sp>
        <p:nvSpPr>
          <p:cNvPr id="8" name="矩形 7"/>
          <p:cNvSpPr/>
          <p:nvPr/>
        </p:nvSpPr>
        <p:spPr>
          <a:xfrm>
            <a:off x="374100" y="5197019"/>
            <a:ext cx="11577137" cy="830912"/>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月，能源成本支出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2,592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，其中杨浦院区同比减少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273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万元，降幅</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12.1%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水费</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同比增长</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电费</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同比增长</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燃气费</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同比减少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376175207"/>
              </p:ext>
            </p:extLst>
          </p:nvPr>
        </p:nvGraphicFramePr>
        <p:xfrm>
          <a:off x="727204" y="1120755"/>
          <a:ext cx="10307080" cy="3508317"/>
        </p:xfrm>
        <a:graphic>
          <a:graphicData uri="http://schemas.openxmlformats.org/drawingml/2006/table">
            <a:tbl>
              <a:tblPr/>
              <a:tblGrid>
                <a:gridCol w="2372046">
                  <a:extLst>
                    <a:ext uri="{9D8B030D-6E8A-4147-A177-3AD203B41FA5}">
                      <a16:colId xmlns:a16="http://schemas.microsoft.com/office/drawing/2014/main" val="20000"/>
                    </a:ext>
                  </a:extLst>
                </a:gridCol>
                <a:gridCol w="1644423">
                  <a:extLst>
                    <a:ext uri="{9D8B030D-6E8A-4147-A177-3AD203B41FA5}">
                      <a16:colId xmlns:a16="http://schemas.microsoft.com/office/drawing/2014/main" val="20001"/>
                    </a:ext>
                  </a:extLst>
                </a:gridCol>
                <a:gridCol w="1683428">
                  <a:extLst>
                    <a:ext uri="{9D8B030D-6E8A-4147-A177-3AD203B41FA5}">
                      <a16:colId xmlns:a16="http://schemas.microsoft.com/office/drawing/2014/main" val="20002"/>
                    </a:ext>
                  </a:extLst>
                </a:gridCol>
                <a:gridCol w="1791241">
                  <a:extLst>
                    <a:ext uri="{9D8B030D-6E8A-4147-A177-3AD203B41FA5}">
                      <a16:colId xmlns:a16="http://schemas.microsoft.com/office/drawing/2014/main" val="20003"/>
                    </a:ext>
                  </a:extLst>
                </a:gridCol>
                <a:gridCol w="1407971">
                  <a:extLst>
                    <a:ext uri="{9D8B030D-6E8A-4147-A177-3AD203B41FA5}">
                      <a16:colId xmlns:a16="http://schemas.microsoft.com/office/drawing/2014/main" val="20004"/>
                    </a:ext>
                  </a:extLst>
                </a:gridCol>
                <a:gridCol w="1407971">
                  <a:extLst>
                    <a:ext uri="{9D8B030D-6E8A-4147-A177-3AD203B41FA5}">
                      <a16:colId xmlns:a16="http://schemas.microsoft.com/office/drawing/2014/main" val="20005"/>
                    </a:ext>
                  </a:extLst>
                </a:gridCol>
              </a:tblGrid>
              <a:tr h="7490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9371">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192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22.5%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其中：保安管理</a:t>
                      </a: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费</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14.6%</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运送服务费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保洁服务费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272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323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118.8%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被服洗涤费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386353047"/>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物业其他</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-75.1%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64856" y="578774"/>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物业管理费</a:t>
            </a:r>
          </a:p>
        </p:txBody>
      </p:sp>
      <p:sp>
        <p:nvSpPr>
          <p:cNvPr id="7" name="TextBox 1"/>
          <p:cNvSpPr txBox="1"/>
          <p:nvPr/>
        </p:nvSpPr>
        <p:spPr>
          <a:xfrm>
            <a:off x="10155261" y="730250"/>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物业管理费</a:t>
            </a:r>
          </a:p>
        </p:txBody>
      </p:sp>
      <p:sp>
        <p:nvSpPr>
          <p:cNvPr id="8" name="矩形 7"/>
          <p:cNvSpPr/>
          <p:nvPr/>
        </p:nvSpPr>
        <p:spPr>
          <a:xfrm>
            <a:off x="92175" y="4889795"/>
            <a:ext cx="11577137" cy="1110219"/>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月，物业管理费支出</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1,046</a:t>
            </a:r>
            <a:r>
              <a:rPr kumimoji="0" lang="zh-CN" altLang="en-US"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万元</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，同比增幅</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22.5%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a:t>
            </a:r>
            <a:r>
              <a:rPr kumimoji="0" lang="zh-CN" altLang="en-US"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保安管理费</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运送服务费</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被服洗涤费</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共增长</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万元，主要原因为奉贤院区相关成本的增长。</a:t>
            </a:r>
            <a:r>
              <a:rPr kumimoji="0" lang="zh-CN" altLang="en-US"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保洁服务费</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同比增长</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323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万元，一部分是由于每月奉贤成本增长</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111</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r>
              <a:rPr lang="zh-CN" altLang="en-US" sz="1470" b="1" kern="0" dirty="0">
                <a:solidFill>
                  <a:srgbClr val="002060"/>
                </a:solidFill>
                <a:latin typeface="微软雅黑" panose="020B0503020204020204" pitchFamily="34" charset="-122"/>
                <a:ea typeface="微软雅黑" panose="020B0503020204020204" pitchFamily="34" charset="-122"/>
              </a:rPr>
              <a:t>，每月</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杨浦成本</a:t>
            </a:r>
            <a:r>
              <a:rPr lang="zh-CN" altLang="en-US" sz="1470" b="1" kern="0" dirty="0">
                <a:solidFill>
                  <a:srgbClr val="002060"/>
                </a:solidFill>
                <a:latin typeface="微软雅黑" panose="020B0503020204020204" pitchFamily="34" charset="-122"/>
                <a:ea typeface="微软雅黑" panose="020B0503020204020204" pitchFamily="34" charset="-122"/>
              </a:rPr>
              <a:t>增长</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51</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万元，另一部分是由于本月支付了因预算不足推迟支付的去年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月份的剩余保洁费用</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148</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472985501"/>
              </p:ext>
            </p:extLst>
          </p:nvPr>
        </p:nvGraphicFramePr>
        <p:xfrm>
          <a:off x="817757" y="1434791"/>
          <a:ext cx="10176068" cy="3375102"/>
        </p:xfrm>
        <a:graphic>
          <a:graphicData uri="http://schemas.openxmlformats.org/drawingml/2006/table">
            <a:tbl>
              <a:tblPr/>
              <a:tblGrid>
                <a:gridCol w="2137912">
                  <a:extLst>
                    <a:ext uri="{9D8B030D-6E8A-4147-A177-3AD203B41FA5}">
                      <a16:colId xmlns:a16="http://schemas.microsoft.com/office/drawing/2014/main" val="20000"/>
                    </a:ext>
                  </a:extLst>
                </a:gridCol>
                <a:gridCol w="1827504">
                  <a:extLst>
                    <a:ext uri="{9D8B030D-6E8A-4147-A177-3AD203B41FA5}">
                      <a16:colId xmlns:a16="http://schemas.microsoft.com/office/drawing/2014/main" val="20001"/>
                    </a:ext>
                  </a:extLst>
                </a:gridCol>
                <a:gridCol w="1662030">
                  <a:extLst>
                    <a:ext uri="{9D8B030D-6E8A-4147-A177-3AD203B41FA5}">
                      <a16:colId xmlns:a16="http://schemas.microsoft.com/office/drawing/2014/main" val="20002"/>
                    </a:ext>
                  </a:extLst>
                </a:gridCol>
                <a:gridCol w="1768472">
                  <a:extLst>
                    <a:ext uri="{9D8B030D-6E8A-4147-A177-3AD203B41FA5}">
                      <a16:colId xmlns:a16="http://schemas.microsoft.com/office/drawing/2014/main" val="20003"/>
                    </a:ext>
                  </a:extLst>
                </a:gridCol>
                <a:gridCol w="1390075">
                  <a:extLst>
                    <a:ext uri="{9D8B030D-6E8A-4147-A177-3AD203B41FA5}">
                      <a16:colId xmlns:a16="http://schemas.microsoft.com/office/drawing/2014/main" val="20004"/>
                    </a:ext>
                  </a:extLst>
                </a:gridCol>
                <a:gridCol w="1390075">
                  <a:extLst>
                    <a:ext uri="{9D8B030D-6E8A-4147-A177-3AD203B41FA5}">
                      <a16:colId xmlns:a16="http://schemas.microsoft.com/office/drawing/2014/main" val="20005"/>
                    </a:ext>
                  </a:extLst>
                </a:gridCol>
              </a:tblGrid>
              <a:tr h="66163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814">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维修费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网络维修</a:t>
                      </a:r>
                      <a:endParaRPr lang="zh-CN" altLang="en-US" sz="1500" b="0" i="0" u="none" strike="noStrike">
                        <a:solidFill>
                          <a:srgbClr val="0F132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20.0%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2814">
                <a:tc>
                  <a:txBody>
                    <a:bodyPr/>
                    <a:lstStyle/>
                    <a:p>
                      <a:pPr algn="r"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设备</a:t>
                      </a: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维修</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371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228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62.7%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622209">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后勤维修</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343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132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492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房屋维修</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-50.0%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Rectangle 5"/>
          <p:cNvSpPr>
            <a:spLocks noChangeArrowheads="1"/>
          </p:cNvSpPr>
          <p:nvPr/>
        </p:nvSpPr>
        <p:spPr bwMode="auto">
          <a:xfrm>
            <a:off x="3664855" y="871162"/>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维修护费</a:t>
            </a:r>
          </a:p>
        </p:txBody>
      </p:sp>
      <p:sp>
        <p:nvSpPr>
          <p:cNvPr id="7" name="TextBox 1"/>
          <p:cNvSpPr txBox="1"/>
          <p:nvPr/>
        </p:nvSpPr>
        <p:spPr>
          <a:xfrm>
            <a:off x="9718381" y="108660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9324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维修护费</a:t>
            </a:r>
          </a:p>
        </p:txBody>
      </p:sp>
      <p:sp>
        <p:nvSpPr>
          <p:cNvPr id="8" name="矩形 7"/>
          <p:cNvSpPr/>
          <p:nvPr/>
        </p:nvSpPr>
        <p:spPr>
          <a:xfrm>
            <a:off x="307425" y="5008344"/>
            <a:ext cx="11490566"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月，维修护费支出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717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万元，同比降幅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网络维修费</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设备维修费</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62.7%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年柯渡每月奉贤院区计提费用为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后勤维修费</a:t>
            </a:r>
            <a:r>
              <a:rPr lang="zh-CN" altLang="en-US" sz="1600" b="1" kern="0" dirty="0">
                <a:solidFill>
                  <a:srgbClr val="002060"/>
                </a:solidFill>
                <a:latin typeface="微软雅黑" panose="020B0503020204020204" pitchFamily="34" charset="-122"/>
                <a:ea typeface="微软雅黑" panose="020B0503020204020204" pitchFamily="34" charset="-122"/>
              </a:rPr>
              <a:t>降低</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万元，同比降幅</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30.3%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lang="zh-CN" altLang="en-US" sz="1600" b="1" kern="0" noProof="0" dirty="0">
                <a:solidFill>
                  <a:srgbClr val="C00000"/>
                </a:solidFill>
                <a:latin typeface="微软雅黑" panose="020B0503020204020204" pitchFamily="34" charset="-122"/>
                <a:ea typeface="微软雅黑" panose="020B0503020204020204" pitchFamily="34" charset="-122"/>
              </a:rPr>
              <a:t>房屋</a:t>
            </a:r>
            <a:r>
              <a:rPr lang="zh-CN" altLang="en-US" sz="1600" b="1" kern="0" dirty="0">
                <a:solidFill>
                  <a:srgbClr val="C00000"/>
                </a:solidFill>
                <a:latin typeface="微软雅黑" panose="020B0503020204020204" pitchFamily="34" charset="-122"/>
                <a:ea typeface="微软雅黑" panose="020B0503020204020204" pitchFamily="34" charset="-122"/>
              </a:rPr>
              <a:t>维修费</a:t>
            </a:r>
            <a:r>
              <a:rPr lang="zh-CN" altLang="en-US" sz="1600" b="1" kern="0" dirty="0">
                <a:solidFill>
                  <a:srgbClr val="002060"/>
                </a:solidFill>
                <a:latin typeface="微软雅黑" panose="020B0503020204020204" pitchFamily="34" charset="-122"/>
                <a:ea typeface="微软雅黑" panose="020B0503020204020204" pitchFamily="34" charset="-122"/>
              </a:rPr>
              <a:t>降低</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zh-CN" altLang="en-US" sz="1600" b="1" kern="0" dirty="0">
                <a:solidFill>
                  <a:srgbClr val="002060"/>
                </a:solidFill>
                <a:latin typeface="微软雅黑" panose="020B0503020204020204" pitchFamily="34" charset="-122"/>
                <a:ea typeface="微软雅黑" panose="020B0503020204020204" pitchFamily="34" charset="-122"/>
              </a:rPr>
              <a:t>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4</a:t>
              </a:r>
              <a:r>
                <a:rPr lang="zh-CN" altLang="en-US" sz="2400" b="1" dirty="0">
                  <a:ln w="0"/>
                  <a:solidFill>
                    <a:srgbClr val="0070C0"/>
                  </a:soli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1-4</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1261" y="1083614"/>
              <a:ext cx="1202972" cy="307814"/>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耗材成本收入比</a:t>
              </a:r>
            </a:p>
          </p:txBody>
        </p:sp>
      </p:grpSp>
      <p:sp>
        <p:nvSpPr>
          <p:cNvPr id="52" name="矩形 51"/>
          <p:cNvSpPr/>
          <p:nvPr/>
        </p:nvSpPr>
        <p:spPr>
          <a:xfrm>
            <a:off x="770306" y="5400250"/>
            <a:ext cx="10654881" cy="42926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月，耗材总收入为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19,157</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万元，耗材总成本为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22,400.09</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万元，其中奉贤院区耗材成本为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6,605.38</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p:nvPr>
            <p:extLst>
              <p:ext uri="{D42A27DB-BD31-4B8C-83A1-F6EECF244321}">
                <p14:modId xmlns:p14="http://schemas.microsoft.com/office/powerpoint/2010/main" val="3857872787"/>
              </p:ext>
            </p:extLst>
          </p:nvPr>
        </p:nvGraphicFramePr>
        <p:xfrm>
          <a:off x="1351179" y="1993900"/>
          <a:ext cx="9493136" cy="2870200"/>
        </p:xfrm>
        <a:graphic>
          <a:graphicData uri="http://schemas.openxmlformats.org/drawingml/2006/table">
            <a:tbl>
              <a:tblPr/>
              <a:tblGrid>
                <a:gridCol w="1241000">
                  <a:extLst>
                    <a:ext uri="{9D8B030D-6E8A-4147-A177-3AD203B41FA5}">
                      <a16:colId xmlns:a16="http://schemas.microsoft.com/office/drawing/2014/main" val="20000"/>
                    </a:ext>
                  </a:extLst>
                </a:gridCol>
                <a:gridCol w="1038275">
                  <a:extLst>
                    <a:ext uri="{9D8B030D-6E8A-4147-A177-3AD203B41FA5}">
                      <a16:colId xmlns:a16="http://schemas.microsoft.com/office/drawing/2014/main" val="20001"/>
                    </a:ext>
                  </a:extLst>
                </a:gridCol>
                <a:gridCol w="1023964">
                  <a:extLst>
                    <a:ext uri="{9D8B030D-6E8A-4147-A177-3AD203B41FA5}">
                      <a16:colId xmlns:a16="http://schemas.microsoft.com/office/drawing/2014/main" val="20002"/>
                    </a:ext>
                  </a:extLst>
                </a:gridCol>
                <a:gridCol w="871748">
                  <a:extLst>
                    <a:ext uri="{9D8B030D-6E8A-4147-A177-3AD203B41FA5}">
                      <a16:colId xmlns:a16="http://schemas.microsoft.com/office/drawing/2014/main" val="20003"/>
                    </a:ext>
                  </a:extLst>
                </a:gridCol>
                <a:gridCol w="1080096">
                  <a:extLst>
                    <a:ext uri="{9D8B030D-6E8A-4147-A177-3AD203B41FA5}">
                      <a16:colId xmlns:a16="http://schemas.microsoft.com/office/drawing/2014/main" val="20004"/>
                    </a:ext>
                  </a:extLst>
                </a:gridCol>
                <a:gridCol w="1010340">
                  <a:extLst>
                    <a:ext uri="{9D8B030D-6E8A-4147-A177-3AD203B41FA5}">
                      <a16:colId xmlns:a16="http://schemas.microsoft.com/office/drawing/2014/main" val="20005"/>
                    </a:ext>
                  </a:extLst>
                </a:gridCol>
                <a:gridCol w="1049405">
                  <a:extLst>
                    <a:ext uri="{9D8B030D-6E8A-4147-A177-3AD203B41FA5}">
                      <a16:colId xmlns:a16="http://schemas.microsoft.com/office/drawing/2014/main" val="20006"/>
                    </a:ext>
                  </a:extLst>
                </a:gridCol>
                <a:gridCol w="1062124">
                  <a:extLst>
                    <a:ext uri="{9D8B030D-6E8A-4147-A177-3AD203B41FA5}">
                      <a16:colId xmlns:a16="http://schemas.microsoft.com/office/drawing/2014/main" val="20007"/>
                    </a:ext>
                  </a:extLst>
                </a:gridCol>
                <a:gridCol w="1116184">
                  <a:extLst>
                    <a:ext uri="{9D8B030D-6E8A-4147-A177-3AD203B41FA5}">
                      <a16:colId xmlns:a16="http://schemas.microsoft.com/office/drawing/2014/main" val="20008"/>
                    </a:ext>
                  </a:extLst>
                </a:gridCol>
              </a:tblGrid>
              <a:tr h="574040">
                <a:tc rowSpan="2">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lstStyle/>
                    <a:p>
                      <a:pPr algn="ctr" fontAlgn="b"/>
                      <a:r>
                        <a:rPr lang="zh-CN" altLang="en-US" sz="1400" b="1" i="0" dirty="0">
                          <a:solidFill>
                            <a:srgbClr val="000000"/>
                          </a:solidFill>
                          <a:latin typeface="微软雅黑" panose="020B0503020204020204" pitchFamily="34" charset="-122"/>
                          <a:ea typeface="微软雅黑" panose="020B0503020204020204" pitchFamily="34" charset="-122"/>
                        </a:rPr>
                        <a:t>耗材总收入</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3">
                  <a:txBody>
                    <a:bodyPr/>
                    <a:lstStyle/>
                    <a:p>
                      <a:pPr algn="ctr" fontAlgn="b"/>
                      <a:r>
                        <a:rPr lang="zh-CN" altLang="en-US" sz="1400" b="1" i="0">
                          <a:solidFill>
                            <a:srgbClr val="000000"/>
                          </a:solidFill>
                          <a:latin typeface="微软雅黑" panose="020B0503020204020204" pitchFamily="34" charset="-122"/>
                          <a:ea typeface="微软雅黑" panose="020B0503020204020204" pitchFamily="34" charset="-122"/>
                        </a:rPr>
                        <a:t>耗材总成本</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lstStyle/>
                    <a:p>
                      <a:pPr algn="ctr" fontAlgn="b"/>
                      <a:r>
                        <a:rPr lang="zh-CN" altLang="en-US" sz="1400" b="1" i="0" dirty="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57404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dirty="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4</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574040">
                <a:tc>
                  <a:txBody>
                    <a:bodyPr/>
                    <a:lstStyle/>
                    <a:p>
                      <a:pPr algn="ctr" fontAlgn="b"/>
                      <a:r>
                        <a:rPr lang="zh-CN" altLang="en-US" sz="1400" b="0" i="0" dirty="0">
                          <a:solidFill>
                            <a:srgbClr val="000000"/>
                          </a:solidFill>
                          <a:latin typeface="微软雅黑" panose="020B0503020204020204" pitchFamily="34" charset="-122"/>
                          <a:ea typeface="微软雅黑" panose="020B0503020204020204" pitchFamily="34" charset="-122"/>
                        </a:rPr>
                        <a:t>全院</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19,157.55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13,872.12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38.10%</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22,400.09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16,986.02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31.87%</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74040">
                <a:tc>
                  <a:txBody>
                    <a:bodyPr/>
                    <a:lstStyle/>
                    <a:p>
                      <a:pPr algn="ctr" fontAlgn="b"/>
                      <a:r>
                        <a:rPr lang="zh-CN" altLang="en-US" sz="1400" b="0"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dirty="0">
                          <a:solidFill>
                            <a:srgbClr val="000000"/>
                          </a:solidFill>
                          <a:latin typeface="微软雅黑" panose="020B0503020204020204" pitchFamily="34" charset="-122"/>
                          <a:ea typeface="微软雅黑" panose="020B0503020204020204" pitchFamily="34" charset="-122"/>
                        </a:rPr>
                        <a:t> 13,680.90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13,872.12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-1.38%</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15,794.72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16,986.02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-7.01%</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1.15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74040">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a:t>
                      </a:r>
                      <a:r>
                        <a:rPr lang="zh-CN" altLang="en-US" sz="1400" b="0"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dirty="0">
                          <a:solidFill>
                            <a:srgbClr val="000000"/>
                          </a:solidFill>
                          <a:latin typeface="微软雅黑" panose="020B0503020204020204" pitchFamily="34" charset="-122"/>
                          <a:ea typeface="微软雅黑" panose="020B0503020204020204" pitchFamily="34" charset="-122"/>
                        </a:rPr>
                        <a:t> 5,476.65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dirty="0">
                          <a:solidFill>
                            <a:srgbClr val="000000"/>
                          </a:solidFill>
                          <a:latin typeface="微软雅黑" panose="020B0503020204020204" pitchFamily="34" charset="-122"/>
                          <a:ea typeface="微软雅黑" panose="020B0503020204020204" pitchFamily="34" charset="-122"/>
                        </a:rPr>
                        <a:t> 6,605.37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dirty="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nvGraphicFramePr>
        <p:xfrm>
          <a:off x="173039" y="1086240"/>
          <a:ext cx="11815443" cy="4505593"/>
        </p:xfrm>
        <a:graphic>
          <a:graphicData uri="http://schemas.openxmlformats.org/drawingml/2006/table">
            <a:tbl>
              <a:tblPr/>
              <a:tblGrid>
                <a:gridCol w="1646806">
                  <a:extLst>
                    <a:ext uri="{9D8B030D-6E8A-4147-A177-3AD203B41FA5}">
                      <a16:colId xmlns:a16="http://schemas.microsoft.com/office/drawing/2014/main" val="20000"/>
                    </a:ext>
                  </a:extLst>
                </a:gridCol>
                <a:gridCol w="773109">
                  <a:extLst>
                    <a:ext uri="{9D8B030D-6E8A-4147-A177-3AD203B41FA5}">
                      <a16:colId xmlns:a16="http://schemas.microsoft.com/office/drawing/2014/main" val="20001"/>
                    </a:ext>
                  </a:extLst>
                </a:gridCol>
                <a:gridCol w="819365">
                  <a:extLst>
                    <a:ext uri="{9D8B030D-6E8A-4147-A177-3AD203B41FA5}">
                      <a16:colId xmlns:a16="http://schemas.microsoft.com/office/drawing/2014/main" val="20002"/>
                    </a:ext>
                  </a:extLst>
                </a:gridCol>
                <a:gridCol w="785591">
                  <a:extLst>
                    <a:ext uri="{9D8B030D-6E8A-4147-A177-3AD203B41FA5}">
                      <a16:colId xmlns:a16="http://schemas.microsoft.com/office/drawing/2014/main" val="20003"/>
                    </a:ext>
                  </a:extLst>
                </a:gridCol>
                <a:gridCol w="592498">
                  <a:extLst>
                    <a:ext uri="{9D8B030D-6E8A-4147-A177-3AD203B41FA5}">
                      <a16:colId xmlns:a16="http://schemas.microsoft.com/office/drawing/2014/main" val="20004"/>
                    </a:ext>
                  </a:extLst>
                </a:gridCol>
                <a:gridCol w="806149">
                  <a:extLst>
                    <a:ext uri="{9D8B030D-6E8A-4147-A177-3AD203B41FA5}">
                      <a16:colId xmlns:a16="http://schemas.microsoft.com/office/drawing/2014/main" val="20005"/>
                    </a:ext>
                  </a:extLst>
                </a:gridCol>
                <a:gridCol w="805415">
                  <a:extLst>
                    <a:ext uri="{9D8B030D-6E8A-4147-A177-3AD203B41FA5}">
                      <a16:colId xmlns:a16="http://schemas.microsoft.com/office/drawing/2014/main" val="20006"/>
                    </a:ext>
                  </a:extLst>
                </a:gridCol>
                <a:gridCol w="806149">
                  <a:extLst>
                    <a:ext uri="{9D8B030D-6E8A-4147-A177-3AD203B41FA5}">
                      <a16:colId xmlns:a16="http://schemas.microsoft.com/office/drawing/2014/main" val="20007"/>
                    </a:ext>
                  </a:extLst>
                </a:gridCol>
                <a:gridCol w="751084">
                  <a:extLst>
                    <a:ext uri="{9D8B030D-6E8A-4147-A177-3AD203B41FA5}">
                      <a16:colId xmlns:a16="http://schemas.microsoft.com/office/drawing/2014/main" val="20008"/>
                    </a:ext>
                  </a:extLst>
                </a:gridCol>
                <a:gridCol w="806149">
                  <a:extLst>
                    <a:ext uri="{9D8B030D-6E8A-4147-A177-3AD203B41FA5}">
                      <a16:colId xmlns:a16="http://schemas.microsoft.com/office/drawing/2014/main" val="20009"/>
                    </a:ext>
                  </a:extLst>
                </a:gridCol>
                <a:gridCol w="805415">
                  <a:extLst>
                    <a:ext uri="{9D8B030D-6E8A-4147-A177-3AD203B41FA5}">
                      <a16:colId xmlns:a16="http://schemas.microsoft.com/office/drawing/2014/main" val="20010"/>
                    </a:ext>
                  </a:extLst>
                </a:gridCol>
                <a:gridCol w="660748">
                  <a:extLst>
                    <a:ext uri="{9D8B030D-6E8A-4147-A177-3AD203B41FA5}">
                      <a16:colId xmlns:a16="http://schemas.microsoft.com/office/drawing/2014/main" val="20011"/>
                    </a:ext>
                  </a:extLst>
                </a:gridCol>
                <a:gridCol w="831061">
                  <a:extLst>
                    <a:ext uri="{9D8B030D-6E8A-4147-A177-3AD203B41FA5}">
                      <a16:colId xmlns:a16="http://schemas.microsoft.com/office/drawing/2014/main" val="20012"/>
                    </a:ext>
                  </a:extLst>
                </a:gridCol>
                <a:gridCol w="925904">
                  <a:extLst>
                    <a:ext uri="{9D8B030D-6E8A-4147-A177-3AD203B41FA5}">
                      <a16:colId xmlns:a16="http://schemas.microsoft.com/office/drawing/2014/main" val="20013"/>
                    </a:ext>
                  </a:extLst>
                </a:gridCol>
              </a:tblGrid>
              <a:tr h="326818">
                <a:tc rowSpan="2">
                  <a:txBody>
                    <a:bodyPr/>
                    <a:lstStyle/>
                    <a:p>
                      <a:pPr algn="ctr" fontAlgn="ctr"/>
                      <a:r>
                        <a:rPr lang="zh-CN" altLang="en-US" sz="10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耗材收入</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387516">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dirty="0">
                          <a:solidFill>
                            <a:srgbClr val="FFFFFF"/>
                          </a:solidFill>
                          <a:latin typeface="微软雅黑" panose="020B0503020204020204" pitchFamily="34" charset="-122"/>
                          <a:ea typeface="微软雅黑" panose="020B0503020204020204" pitchFamily="34" charset="-122"/>
                        </a:rPr>
                        <a:t>2026</a:t>
                      </a:r>
                      <a:r>
                        <a:rPr lang="zh-CN" altLang="en-US" sz="1000" b="1" i="0" dirty="0">
                          <a:solidFill>
                            <a:srgbClr val="FFFFFF"/>
                          </a:solidFill>
                          <a:latin typeface="微软雅黑" panose="020B0503020204020204" pitchFamily="34" charset="-122"/>
                          <a:ea typeface="微软雅黑" panose="020B0503020204020204" pitchFamily="34" charset="-122"/>
                        </a:rPr>
                        <a:t>年</a:t>
                      </a:r>
                      <a:r>
                        <a:rPr lang="en-US" altLang="zh-CN" sz="1000" b="1" i="0" dirty="0">
                          <a:solidFill>
                            <a:srgbClr val="FFFFFF"/>
                          </a:solidFill>
                          <a:latin typeface="微软雅黑" panose="020B0503020204020204" pitchFamily="34" charset="-122"/>
                          <a:ea typeface="微软雅黑" panose="020B0503020204020204" pitchFamily="34" charset="-122"/>
                        </a:rPr>
                        <a:t>3</a:t>
                      </a:r>
                      <a:r>
                        <a:rPr lang="zh-CN" altLang="en-US" sz="1000" b="1" i="0" dirty="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dirty="0">
                          <a:solidFill>
                            <a:srgbClr val="FFFFFF"/>
                          </a:solidFill>
                          <a:latin typeface="微软雅黑" panose="020B0503020204020204" pitchFamily="34" charset="-122"/>
                          <a:ea typeface="微软雅黑" panose="020B0503020204020204" pitchFamily="34" charset="-122"/>
                        </a:rPr>
                        <a:t>2026</a:t>
                      </a:r>
                      <a:r>
                        <a:rPr lang="zh-CN" altLang="en-US" sz="1000" b="1" i="0" dirty="0">
                          <a:solidFill>
                            <a:srgbClr val="FFFFFF"/>
                          </a:solidFill>
                          <a:latin typeface="微软雅黑" panose="020B0503020204020204" pitchFamily="34" charset="-122"/>
                          <a:ea typeface="微软雅黑" panose="020B0503020204020204" pitchFamily="34" charset="-122"/>
                        </a:rPr>
                        <a:t>年</a:t>
                      </a:r>
                      <a:r>
                        <a:rPr lang="en-US" altLang="zh-CN" sz="1000" b="1" i="0" dirty="0">
                          <a:solidFill>
                            <a:srgbClr val="FFFFFF"/>
                          </a:solidFill>
                          <a:latin typeface="微软雅黑" panose="020B0503020204020204" pitchFamily="34" charset="-122"/>
                          <a:ea typeface="微软雅黑" panose="020B0503020204020204" pitchFamily="34" charset="-122"/>
                        </a:rPr>
                        <a:t>3</a:t>
                      </a:r>
                      <a:r>
                        <a:rPr lang="zh-CN" altLang="en-US" sz="1000" b="1" i="0" dirty="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dirty="0">
                          <a:solidFill>
                            <a:srgbClr val="FFFFFF"/>
                          </a:solidFill>
                          <a:latin typeface="微软雅黑" panose="020B0503020204020204" pitchFamily="34" charset="-122"/>
                          <a:ea typeface="微软雅黑" panose="020B0503020204020204" pitchFamily="34" charset="-122"/>
                        </a:rPr>
                        <a:t>2026</a:t>
                      </a:r>
                      <a:r>
                        <a:rPr lang="zh-CN" altLang="en-US" sz="1000" b="1" i="0" dirty="0">
                          <a:solidFill>
                            <a:srgbClr val="FFFFFF"/>
                          </a:solidFill>
                          <a:latin typeface="微软雅黑" panose="020B0503020204020204" pitchFamily="34" charset="-122"/>
                          <a:ea typeface="微软雅黑" panose="020B0503020204020204" pitchFamily="34" charset="-122"/>
                        </a:rPr>
                        <a:t>年</a:t>
                      </a:r>
                      <a:r>
                        <a:rPr lang="en-US" altLang="zh-CN" sz="1000" b="1" i="0" dirty="0">
                          <a:solidFill>
                            <a:srgbClr val="FFFFFF"/>
                          </a:solidFill>
                          <a:latin typeface="微软雅黑" panose="020B0503020204020204" pitchFamily="34" charset="-122"/>
                          <a:ea typeface="微软雅黑" panose="020B0503020204020204" pitchFamily="34" charset="-122"/>
                        </a:rPr>
                        <a:t>3</a:t>
                      </a:r>
                      <a:r>
                        <a:rPr lang="zh-CN" altLang="en-US" sz="1000" b="1" i="0" dirty="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3,571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3,629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13.51%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188954">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1,920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30.12%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2,269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1,153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16.54%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1,080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1,644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1,586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22.44%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1,406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-0.70%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42.84%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1,220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-16.03%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696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18.85%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574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574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302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29.68%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306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45.81%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27.55%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2"/>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59.57%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52.72%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464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28.64%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2.07%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181.99%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161.94%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74.35%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23.85%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32.68%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1"/>
                  </a:ext>
                </a:extLst>
              </a:tr>
            </a:tbl>
          </a:graphicData>
        </a:graphic>
      </p:graphicFrame>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75713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190372" y="51772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464561" y="1100487"/>
              <a:ext cx="1698625" cy="305556"/>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耗材收入前</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20</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科室</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p>
          </p:txBody>
        </p:sp>
      </p:grpSp>
      <p:sp>
        <p:nvSpPr>
          <p:cNvPr id="18" name="矩形 17"/>
          <p:cNvSpPr/>
          <p:nvPr/>
        </p:nvSpPr>
        <p:spPr>
          <a:xfrm>
            <a:off x="173037" y="5684340"/>
            <a:ext cx="11815445"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月耗材收入前</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科室中，较</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3</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月成本收入比环比下降的科室为</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消化内</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，下降</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0.04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；成本收入比环比上升较为明显的科室为</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神经内、五官、妇产科、肾脏</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，分别上升</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0.62</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0.41</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0.47</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0.67</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40227" y="1075154"/>
              <a:ext cx="1032605"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手术室</a:t>
              </a:r>
            </a:p>
          </p:txBody>
        </p:sp>
      </p:grpSp>
      <p:graphicFrame>
        <p:nvGraphicFramePr>
          <p:cNvPr id="4" name="表格 3"/>
          <p:cNvGraphicFramePr/>
          <p:nvPr/>
        </p:nvGraphicFramePr>
        <p:xfrm>
          <a:off x="1852026" y="1470324"/>
          <a:ext cx="8435636" cy="3749493"/>
        </p:xfrm>
        <a:graphic>
          <a:graphicData uri="http://schemas.openxmlformats.org/drawingml/2006/table">
            <a:tbl>
              <a:tblPr firstRow="1" bandRow="1"/>
              <a:tblGrid>
                <a:gridCol w="1565765">
                  <a:extLst>
                    <a:ext uri="{9D8B030D-6E8A-4147-A177-3AD203B41FA5}">
                      <a16:colId xmlns:a16="http://schemas.microsoft.com/office/drawing/2014/main" val="20000"/>
                    </a:ext>
                  </a:extLst>
                </a:gridCol>
                <a:gridCol w="1485807">
                  <a:extLst>
                    <a:ext uri="{9D8B030D-6E8A-4147-A177-3AD203B41FA5}">
                      <a16:colId xmlns:a16="http://schemas.microsoft.com/office/drawing/2014/main" val="20001"/>
                    </a:ext>
                  </a:extLst>
                </a:gridCol>
                <a:gridCol w="1290292">
                  <a:extLst>
                    <a:ext uri="{9D8B030D-6E8A-4147-A177-3AD203B41FA5}">
                      <a16:colId xmlns:a16="http://schemas.microsoft.com/office/drawing/2014/main" val="20002"/>
                    </a:ext>
                  </a:extLst>
                </a:gridCol>
                <a:gridCol w="1199379">
                  <a:extLst>
                    <a:ext uri="{9D8B030D-6E8A-4147-A177-3AD203B41FA5}">
                      <a16:colId xmlns:a16="http://schemas.microsoft.com/office/drawing/2014/main" val="20003"/>
                    </a:ext>
                  </a:extLst>
                </a:gridCol>
                <a:gridCol w="1636961">
                  <a:extLst>
                    <a:ext uri="{9D8B030D-6E8A-4147-A177-3AD203B41FA5}">
                      <a16:colId xmlns:a16="http://schemas.microsoft.com/office/drawing/2014/main" val="20004"/>
                    </a:ext>
                  </a:extLst>
                </a:gridCol>
                <a:gridCol w="1257432">
                  <a:extLst>
                    <a:ext uri="{9D8B030D-6E8A-4147-A177-3AD203B41FA5}">
                      <a16:colId xmlns:a16="http://schemas.microsoft.com/office/drawing/2014/main" val="20005"/>
                    </a:ext>
                  </a:extLst>
                </a:gridCol>
              </a:tblGrid>
              <a:tr h="367931">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4</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2025</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4</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3</a:t>
                      </a:r>
                      <a:r>
                        <a:rPr lang="zh-CN" altLang="en-US" sz="14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环比</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178.44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318.91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-44.05%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-19.92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-995.59%</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1"/>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急诊楼手术室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-58.19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942.19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-106.18%</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639.25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-109.10%</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2"/>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日间手术室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42.20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260.34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-83.79%</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97.83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-56.87%</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3"/>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外科楼手术室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-244.67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1,009.46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-124.24%</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568.56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-143.03%</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4"/>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眼科手术室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62.61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dirty="0">
                          <a:solidFill>
                            <a:srgbClr val="000000"/>
                          </a:solidFill>
                          <a:latin typeface="微软雅黑" panose="020B0503020204020204" pitchFamily="34" charset="-122"/>
                          <a:ea typeface="微软雅黑" panose="020B0503020204020204" pitchFamily="34" charset="-122"/>
                        </a:rPr>
                        <a:t> 153.83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-59.30%</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144.28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-56.60%</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5"/>
                  </a:ext>
                </a:extLst>
              </a:tr>
              <a:tr h="438114">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医疗保健楼手术室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67.95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166.48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-59.18%</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156.87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-56.68%</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6"/>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奉贤手术室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438.74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438.74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7"/>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疼痛手术室</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100" b="0" i="0">
                          <a:solidFill>
                            <a:srgbClr val="000000"/>
                          </a:solidFill>
                          <a:latin typeface="微软雅黑" panose="020B0503020204020204" pitchFamily="34" charset="-122"/>
                          <a:ea typeface="微软雅黑" panose="020B0503020204020204" pitchFamily="34" charset="-122"/>
                        </a:rPr>
                        <a:t> -   </a:t>
                      </a:r>
                      <a:r>
                        <a:rPr lang="zh-CN" altLang="en-US" sz="1100" b="0" i="0">
                          <a:solidFill>
                            <a:srgbClr val="000000"/>
                          </a:solidFill>
                          <a:latin typeface="微软雅黑" panose="020B0503020204020204" pitchFamily="34" charset="-122"/>
                          <a:ea typeface="微软雅黑" panose="020B0503020204020204" pitchFamily="34" charset="-122"/>
                        </a:rPr>
                        <a:t>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-47.69%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extLst>
                  <a:ext uri="{0D108BD9-81ED-4DB2-BD59-A6C34878D82A}">
                    <a16:rowId xmlns:a16="http://schemas.microsoft.com/office/drawing/2014/main" val="10008"/>
                  </a:ext>
                </a:extLst>
              </a:tr>
              <a:tr h="367931">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487.22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2,851.22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-82.91%</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2,025.84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-75.95%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extLst>
                  <a:ext uri="{0D108BD9-81ED-4DB2-BD59-A6C34878D82A}">
                    <a16:rowId xmlns:a16="http://schemas.microsoft.com/office/drawing/2014/main" val="10009"/>
                  </a:ext>
                </a:extLst>
              </a:tr>
            </a:tbl>
          </a:graphicData>
        </a:graphic>
      </p:graphicFrame>
      <p:sp>
        <p:nvSpPr>
          <p:cNvPr id="52" name="矩形 51"/>
          <p:cNvSpPr/>
          <p:nvPr/>
        </p:nvSpPr>
        <p:spPr>
          <a:xfrm>
            <a:off x="990889" y="5431249"/>
            <a:ext cx="10443925" cy="113792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月，手术室使用耗材</a:t>
            </a:r>
            <a:r>
              <a:rPr kumimoji="0" lang="en-US" altLang="zh-CN" sz="147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487.22</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降幅</a:t>
            </a:r>
            <a:r>
              <a:rPr kumimoji="0" lang="en-US" altLang="zh-CN" sz="147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82.91%</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，环比降幅</a:t>
            </a:r>
            <a:r>
              <a:rPr kumimoji="0" lang="en-US" altLang="zh-CN" sz="147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75.95%</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a:p>
            <a:pPr marL="285750" lvl="0" indent="-285750" defTabSz="913765">
              <a:lnSpc>
                <a:spcPct val="150000"/>
              </a:lnSpc>
              <a:buFont typeface="Wingdings" panose="05000000000000000000" pitchFamily="2" charset="2"/>
              <a:buChar char="p"/>
              <a:defRPr/>
            </a:pP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其中，急诊楼手术室同比降幅</a:t>
            </a:r>
            <a:r>
              <a:rPr kumimoji="0" lang="en-US" altLang="zh-CN" sz="147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106.18%</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外科楼手术室同比降幅</a:t>
            </a:r>
            <a:r>
              <a:rPr lang="en-US" altLang="zh-CN" sz="1470" b="1" kern="0" dirty="0">
                <a:solidFill>
                  <a:srgbClr val="70AD47"/>
                </a:solidFill>
                <a:highlight>
                  <a:srgbClr val="000000">
                    <a:alpha val="0"/>
                  </a:srgbClr>
                </a:highlight>
                <a:latin typeface="微软雅黑" panose="020B0503020204020204" pitchFamily="34" charset="-122"/>
                <a:ea typeface="微软雅黑" panose="020B0503020204020204" pitchFamily="34" charset="-122"/>
                <a:sym typeface="+mn-ea"/>
              </a:rPr>
              <a:t>124.24%</a:t>
            </a:r>
            <a:r>
              <a:rPr lang="zh-CN" altLang="en-US" sz="1470" b="1" kern="0" dirty="0">
                <a:solidFill>
                  <a:srgbClr val="002060"/>
                </a:solidFill>
                <a:latin typeface="微软雅黑" panose="020B0503020204020204" pitchFamily="34" charset="-122"/>
                <a:ea typeface="微软雅黑" panose="020B0503020204020204" pitchFamily="34" charset="-122"/>
              </a:rPr>
              <a:t> ，</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主要</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系为确保手术室二级库上线，经盘库后将未使用耗材退回中心库；日间手术室同比降幅</a:t>
            </a:r>
            <a:r>
              <a:rPr kumimoji="0" lang="en-US" altLang="zh-CN" sz="147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83.79</a:t>
            </a:r>
            <a:r>
              <a:rPr kumimoji="0" lang="en-US" altLang="zh-CN" sz="16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endPar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3991610" y="10972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麻醉与重症医学科</a:t>
              </a:r>
            </a:p>
          </p:txBody>
        </p:sp>
      </p:grpSp>
      <p:sp>
        <p:nvSpPr>
          <p:cNvPr id="52" name="矩形 51"/>
          <p:cNvSpPr/>
          <p:nvPr/>
        </p:nvSpPr>
        <p:spPr>
          <a:xfrm>
            <a:off x="500063" y="5650850"/>
            <a:ext cx="11483959" cy="110744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4</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麻醉与重症医学科</a:t>
            </a:r>
            <a:r>
              <a:rPr kumimoji="0" lang="zh-CN"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使用耗材</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1,075.03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30.8%</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环比</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月降幅</a:t>
            </a:r>
            <a:r>
              <a:rPr kumimoji="0" lang="en-US" altLang="zh-CN" sz="147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sym typeface="+mn-ea"/>
              </a:rPr>
              <a:t>15.8%</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。其中，耗材使用变化最明显的是重症医学科二病区，环比降幅</a:t>
            </a:r>
            <a:r>
              <a:rPr kumimoji="0" lang="en-US" altLang="zh-CN" sz="147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sym typeface="+mn-ea"/>
              </a:rPr>
              <a:t>75.84%</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7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麻醉与重症医学科拆分为麻醉科、重症医学科，无去年同期分拆数据，故未做同比分析。</a:t>
            </a:r>
            <a:endPar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endParaRPr>
          </a:p>
        </p:txBody>
      </p:sp>
      <p:graphicFrame>
        <p:nvGraphicFramePr>
          <p:cNvPr id="7" name="表格 6"/>
          <p:cNvGraphicFramePr/>
          <p:nvPr>
            <p:custDataLst>
              <p:tags r:id="rId1"/>
            </p:custDataLst>
          </p:nvPr>
        </p:nvGraphicFramePr>
        <p:xfrm>
          <a:off x="1671955" y="1546225"/>
          <a:ext cx="9001234" cy="4049614"/>
        </p:xfrm>
        <a:graphic>
          <a:graphicData uri="http://schemas.openxmlformats.org/drawingml/2006/table">
            <a:tbl>
              <a:tblPr/>
              <a:tblGrid>
                <a:gridCol w="1607200">
                  <a:extLst>
                    <a:ext uri="{9D8B030D-6E8A-4147-A177-3AD203B41FA5}">
                      <a16:colId xmlns:a16="http://schemas.microsoft.com/office/drawing/2014/main" val="20000"/>
                    </a:ext>
                  </a:extLst>
                </a:gridCol>
                <a:gridCol w="1092820">
                  <a:extLst>
                    <a:ext uri="{9D8B030D-6E8A-4147-A177-3AD203B41FA5}">
                      <a16:colId xmlns:a16="http://schemas.microsoft.com/office/drawing/2014/main" val="20001"/>
                    </a:ext>
                  </a:extLst>
                </a:gridCol>
                <a:gridCol w="1215483">
                  <a:extLst>
                    <a:ext uri="{9D8B030D-6E8A-4147-A177-3AD203B41FA5}">
                      <a16:colId xmlns:a16="http://schemas.microsoft.com/office/drawing/2014/main" val="20002"/>
                    </a:ext>
                  </a:extLst>
                </a:gridCol>
                <a:gridCol w="947854">
                  <a:extLst>
                    <a:ext uri="{9D8B030D-6E8A-4147-A177-3AD203B41FA5}">
                      <a16:colId xmlns:a16="http://schemas.microsoft.com/office/drawing/2014/main" val="20003"/>
                    </a:ext>
                  </a:extLst>
                </a:gridCol>
                <a:gridCol w="2238592">
                  <a:extLst>
                    <a:ext uri="{9D8B030D-6E8A-4147-A177-3AD203B41FA5}">
                      <a16:colId xmlns:a16="http://schemas.microsoft.com/office/drawing/2014/main" val="20004"/>
                    </a:ext>
                  </a:extLst>
                </a:gridCol>
                <a:gridCol w="984885">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604573">
                <a:tc>
                  <a:txBody>
                    <a:bodyPr/>
                    <a:lstStyle/>
                    <a:p>
                      <a:pPr algn="ctr" fontAlgn="ctr"/>
                      <a:r>
                        <a:rPr lang="zh-CN" altLang="en-US" sz="13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2026</a:t>
                      </a:r>
                      <a:r>
                        <a:rPr lang="zh-CN" altLang="en-US" sz="1300" b="1" i="0">
                          <a:solidFill>
                            <a:srgbClr val="000000"/>
                          </a:solidFill>
                          <a:latin typeface="微软雅黑" panose="020B0503020204020204" pitchFamily="34" charset="-122"/>
                          <a:ea typeface="微软雅黑" panose="020B0503020204020204" pitchFamily="34" charset="-122"/>
                        </a:rPr>
                        <a:t>年</a:t>
                      </a:r>
                      <a:r>
                        <a:rPr lang="en-US" altLang="zh-CN" sz="1300" b="1" i="0">
                          <a:solidFill>
                            <a:srgbClr val="000000"/>
                          </a:solidFill>
                          <a:latin typeface="微软雅黑" panose="020B0503020204020204" pitchFamily="34" charset="-122"/>
                          <a:ea typeface="微软雅黑" panose="020B0503020204020204" pitchFamily="34" charset="-122"/>
                        </a:rPr>
                        <a:t>4</a:t>
                      </a:r>
                      <a:r>
                        <a:rPr lang="zh-CN" altLang="en-US" sz="13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300" b="1" i="0" dirty="0">
                          <a:solidFill>
                            <a:srgbClr val="000000"/>
                          </a:solidFill>
                          <a:latin typeface="微软雅黑" panose="020B0503020204020204" pitchFamily="34" charset="-122"/>
                          <a:ea typeface="微软雅黑" panose="020B0503020204020204" pitchFamily="34" charset="-122"/>
                        </a:rPr>
                        <a:t>2026</a:t>
                      </a:r>
                      <a:r>
                        <a:rPr lang="zh-CN" altLang="en-US" sz="1300" b="1" i="0" dirty="0">
                          <a:solidFill>
                            <a:srgbClr val="000000"/>
                          </a:solidFill>
                          <a:latin typeface="微软雅黑" panose="020B0503020204020204" pitchFamily="34" charset="-122"/>
                          <a:ea typeface="微软雅黑" panose="020B0503020204020204" pitchFamily="34" charset="-122"/>
                        </a:rPr>
                        <a:t>年</a:t>
                      </a:r>
                      <a:r>
                        <a:rPr lang="en-US" altLang="zh-CN" sz="1300" b="1" i="0" dirty="0">
                          <a:solidFill>
                            <a:srgbClr val="000000"/>
                          </a:solidFill>
                          <a:latin typeface="微软雅黑" panose="020B0503020204020204" pitchFamily="34" charset="-122"/>
                          <a:ea typeface="微软雅黑" panose="020B0503020204020204" pitchFamily="34" charset="-122"/>
                        </a:rPr>
                        <a:t>3</a:t>
                      </a:r>
                      <a:r>
                        <a:rPr lang="zh-CN" altLang="en-US" sz="13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300" b="1" i="0" dirty="0">
                          <a:solidFill>
                            <a:srgbClr val="000000"/>
                          </a:solidFill>
                          <a:latin typeface="微软雅黑" panose="020B0503020204020204" pitchFamily="34" charset="-122"/>
                          <a:ea typeface="微软雅黑" panose="020B0503020204020204" pitchFamily="34" charset="-122"/>
                        </a:rPr>
                        <a:t>环比</a:t>
                      </a:r>
                      <a:r>
                        <a:rPr lang="en-US" altLang="zh-CN" sz="1300" b="1" i="0" dirty="0">
                          <a:solidFill>
                            <a:srgbClr val="000000"/>
                          </a:solidFill>
                          <a:latin typeface="微软雅黑" panose="020B0503020204020204" pitchFamily="34" charset="-122"/>
                          <a:ea typeface="微软雅黑" panose="020B0503020204020204" pitchFamily="34" charset="-122"/>
                        </a:rPr>
                        <a:t>3</a:t>
                      </a:r>
                      <a:r>
                        <a:rPr lang="zh-CN" altLang="en-US" sz="13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3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300" b="1" i="0" dirty="0">
                          <a:solidFill>
                            <a:srgbClr val="000000"/>
                          </a:solidFill>
                          <a:latin typeface="微软雅黑" panose="020B0503020204020204" pitchFamily="34" charset="-122"/>
                          <a:ea typeface="微软雅黑" panose="020B0503020204020204" pitchFamily="34" charset="-122"/>
                        </a:rPr>
                        <a:t>2025</a:t>
                      </a:r>
                      <a:r>
                        <a:rPr lang="zh-CN" altLang="en-US" sz="1300" b="1" i="0" dirty="0">
                          <a:solidFill>
                            <a:srgbClr val="000000"/>
                          </a:solidFill>
                          <a:latin typeface="微软雅黑" panose="020B0503020204020204" pitchFamily="34" charset="-122"/>
                          <a:ea typeface="微软雅黑" panose="020B0503020204020204" pitchFamily="34" charset="-122"/>
                        </a:rPr>
                        <a:t>年</a:t>
                      </a:r>
                      <a:r>
                        <a:rPr lang="en-US" altLang="zh-CN" sz="1300" b="1" i="0" dirty="0">
                          <a:solidFill>
                            <a:srgbClr val="000000"/>
                          </a:solidFill>
                          <a:latin typeface="微软雅黑" panose="020B0503020204020204" pitchFamily="34" charset="-122"/>
                          <a:ea typeface="微软雅黑" panose="020B0503020204020204" pitchFamily="34" charset="-122"/>
                        </a:rPr>
                        <a:t>3</a:t>
                      </a:r>
                      <a:r>
                        <a:rPr lang="zh-CN" altLang="en-US" sz="13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3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0"/>
                  </a:ext>
                </a:extLst>
              </a:tr>
              <a:tr h="534177">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麻醉科（麻醉）</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799.94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951.37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-15.92%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麻醉与重症医学科（麻醉）</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779.28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497755">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奉贤麻醉科</a:t>
                      </a:r>
                      <a:r>
                        <a:rPr lang="en-US" altLang="zh-CN" sz="1300" b="0" i="0">
                          <a:solidFill>
                            <a:srgbClr val="000000"/>
                          </a:solidFill>
                          <a:latin typeface="微软雅黑" panose="020B0503020204020204" pitchFamily="34" charset="-122"/>
                          <a:ea typeface="微软雅黑" panose="020B0503020204020204" pitchFamily="34" charset="-122"/>
                        </a:rPr>
                        <a:t>(</a:t>
                      </a:r>
                      <a:r>
                        <a:rPr lang="zh-CN" altLang="en-US" sz="1300" b="0" i="0">
                          <a:solidFill>
                            <a:srgbClr val="000000"/>
                          </a:solidFill>
                          <a:latin typeface="微软雅黑" panose="020B0503020204020204" pitchFamily="34" charset="-122"/>
                          <a:ea typeface="微软雅黑" panose="020B0503020204020204" pitchFamily="34" charset="-122"/>
                        </a:rPr>
                        <a:t>麻醉</a:t>
                      </a:r>
                      <a:r>
                        <a:rPr lang="en-US" altLang="zh-CN" sz="13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181.33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281.31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-35.54%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a:t>
                      </a:r>
                      <a:r>
                        <a:rPr lang="en-US" altLang="zh-CN" sz="1400" b="0" i="0">
                          <a:solidFill>
                            <a:srgbClr val="000000"/>
                          </a:solidFill>
                          <a:latin typeface="微软雅黑" panose="020B0503020204020204" pitchFamily="34" charset="-122"/>
                          <a:ea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rPr>
                        <a:t>筹</a:t>
                      </a: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8.89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485614">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重症医学科</a:t>
                      </a:r>
                      <a:r>
                        <a:rPr lang="en-US" altLang="zh-CN" sz="1300" b="0" i="0">
                          <a:solidFill>
                            <a:srgbClr val="000000"/>
                          </a:solidFill>
                          <a:latin typeface="微软雅黑" panose="020B0503020204020204" pitchFamily="34" charset="-122"/>
                          <a:ea typeface="微软雅黑" panose="020B0503020204020204" pitchFamily="34" charset="-122"/>
                        </a:rPr>
                        <a:t>(</a:t>
                      </a:r>
                      <a:r>
                        <a:rPr lang="zh-CN" altLang="en-US" sz="1300" b="0" i="0">
                          <a:solidFill>
                            <a:srgbClr val="000000"/>
                          </a:solidFill>
                          <a:latin typeface="微软雅黑" panose="020B0503020204020204" pitchFamily="34" charset="-122"/>
                          <a:ea typeface="微软雅黑" panose="020B0503020204020204" pitchFamily="34" charset="-122"/>
                        </a:rPr>
                        <a:t>筹</a:t>
                      </a:r>
                      <a:r>
                        <a:rPr lang="en-US" altLang="zh-CN" sz="13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8.00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重症医学科一病区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33.70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485614">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重症医学科病区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81.35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3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70597">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重症医学科一病区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6.23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23.28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-73.24%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09893">
                <a:tc>
                  <a:txBody>
                    <a:bodyPr/>
                    <a:lstStyle/>
                    <a:p>
                      <a:pPr algn="ctr" fontAlgn="ctr"/>
                      <a:r>
                        <a:rPr lang="zh-CN" altLang="en-US" sz="1300" b="0" i="0">
                          <a:solidFill>
                            <a:srgbClr val="000000"/>
                          </a:solidFill>
                          <a:latin typeface="微软雅黑" panose="020B0503020204020204" pitchFamily="34" charset="-122"/>
                          <a:ea typeface="微软雅黑" panose="020B0503020204020204" pitchFamily="34" charset="-122"/>
                        </a:rPr>
                        <a:t>重症医学科二病区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13.12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-75.84%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361391">
                <a:tc>
                  <a:txBody>
                    <a:bodyPr/>
                    <a:lstStyle/>
                    <a:p>
                      <a:pPr algn="ctr" fontAlgn="ctr"/>
                      <a:r>
                        <a:rPr lang="zh-CN" altLang="en-US" sz="13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 1,075.03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 1,277.08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-15.82%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endParaRPr sz="1400" b="1"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821.87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30.80%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卫生材料</a:t>
            </a:r>
            <a:r>
              <a:rPr lang="zh-CN" sz="3200" b="1" kern="0" dirty="0">
                <a:solidFill>
                  <a:srgbClr val="071F65"/>
                </a:solidFill>
                <a:sym typeface="Calibri" panose="020F0502020204030204" pitchFamily="34" charset="0"/>
              </a:rPr>
              <a:t>分析</a:t>
            </a:r>
            <a:endParaRPr kumimoji="0" lang="zh-CN"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grpSp>
        <p:nvGrpSpPr>
          <p:cNvPr id="11" name="组合 10"/>
          <p:cNvGrpSpPr/>
          <p:nvPr/>
        </p:nvGrpSpPr>
        <p:grpSpPr>
          <a:xfrm>
            <a:off x="3991610" y="10972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algn="ctr" defTabSz="913765"/>
              <a:r>
                <a:rPr lang="zh-CN" sz="1400" b="1" kern="0" dirty="0">
                  <a:solidFill>
                    <a:sysClr val="windowText" lastClr="000000"/>
                  </a:solidFill>
                  <a:latin typeface="微软雅黑" panose="020B0503020204020204" pitchFamily="34" charset="-122"/>
                  <a:ea typeface="微软雅黑" panose="020B0503020204020204" pitchFamily="34" charset="-122"/>
                </a:rPr>
                <a:t>卫生材料发票未达情况</a:t>
              </a:r>
            </a:p>
          </p:txBody>
        </p:sp>
      </p:grpSp>
      <p:sp>
        <p:nvSpPr>
          <p:cNvPr id="52" name="矩形 51"/>
          <p:cNvSpPr/>
          <p:nvPr/>
        </p:nvSpPr>
        <p:spPr>
          <a:xfrm>
            <a:off x="319405" y="5201920"/>
            <a:ext cx="11712575" cy="751840"/>
          </a:xfrm>
          <a:prstGeom prst="rect">
            <a:avLst/>
          </a:prstGeom>
          <a:solidFill>
            <a:srgbClr val="31B6FD">
              <a:lumMod val="20000"/>
              <a:lumOff val="80000"/>
            </a:srgbClr>
          </a:solidFill>
        </p:spPr>
        <p:txBody>
          <a:bodyPr wrap="square" lIns="91349" tIns="45678" rIns="91349" bIns="45678">
            <a:noAutofit/>
          </a:bodyPr>
          <a:lstStyle/>
          <a:p>
            <a:pPr marL="285750" indent="-285750" defTabSz="913765">
              <a:lnSpc>
                <a:spcPct val="150000"/>
              </a:lnSpc>
              <a:buFont typeface="Wingdings" panose="05000000000000000000" pitchFamily="2" charset="2"/>
              <a:buChar char="p"/>
              <a:defRPr/>
            </a:pPr>
            <a:r>
              <a:rPr lang="zh-CN" altLang="en-US" sz="1470" b="1" kern="0" dirty="0">
                <a:solidFill>
                  <a:srgbClr val="002060"/>
                </a:solidFill>
                <a:latin typeface="微软雅黑" panose="020B0503020204020204" pitchFamily="34" charset="-122"/>
                <a:ea typeface="微软雅黑" panose="020B0503020204020204" pitchFamily="34" charset="-122"/>
              </a:rPr>
              <a:t>截至</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a:t>
            </a:r>
            <a:r>
              <a:rPr lang="en-US" altLang="zh-CN" sz="1470" b="1" kern="0" dirty="0">
                <a:solidFill>
                  <a:srgbClr val="002060"/>
                </a:solidFill>
                <a:latin typeface="微软雅黑" panose="020B0503020204020204" pitchFamily="34" charset="-122"/>
                <a:ea typeface="微软雅黑" panose="020B0503020204020204" pitchFamily="34" charset="-122"/>
              </a:rPr>
              <a:t>4</a:t>
            </a:r>
            <a:r>
              <a:rPr lang="zh-CN" altLang="en-US" sz="1470" b="1" kern="0" dirty="0">
                <a:solidFill>
                  <a:srgbClr val="002060"/>
                </a:solidFill>
                <a:latin typeface="微软雅黑" panose="020B0503020204020204" pitchFamily="34" charset="-122"/>
                <a:ea typeface="微软雅黑" panose="020B0503020204020204" pitchFamily="34" charset="-122"/>
              </a:rPr>
              <a:t>月</a:t>
            </a:r>
            <a:r>
              <a:rPr lang="en-US" altLang="zh-CN" sz="1470" b="1" kern="0" dirty="0">
                <a:solidFill>
                  <a:srgbClr val="002060"/>
                </a:solidFill>
                <a:latin typeface="微软雅黑" panose="020B0503020204020204" pitchFamily="34" charset="-122"/>
                <a:ea typeface="微软雅黑" panose="020B0503020204020204" pitchFamily="34" charset="-122"/>
              </a:rPr>
              <a:t>30</a:t>
            </a:r>
            <a:r>
              <a:rPr lang="zh-CN" altLang="en-US" sz="1470" b="1" kern="0" dirty="0">
                <a:solidFill>
                  <a:srgbClr val="002060"/>
                </a:solidFill>
                <a:latin typeface="微软雅黑" panose="020B0503020204020204" pitchFamily="34" charset="-122"/>
                <a:ea typeface="微软雅黑" panose="020B0503020204020204" pitchFamily="34" charset="-122"/>
              </a:rPr>
              <a:t>日，</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年物资已入库发票未达金额为</a:t>
            </a:r>
            <a:r>
              <a:rPr lang="en-US" altLang="zh-CN" sz="1470" b="1" kern="0" dirty="0">
                <a:solidFill>
                  <a:srgbClr val="002060"/>
                </a:solidFill>
                <a:latin typeface="微软雅黑" panose="020B0503020204020204" pitchFamily="34" charset="-122"/>
                <a:ea typeface="微软雅黑" panose="020B0503020204020204" pitchFamily="34" charset="-122"/>
              </a:rPr>
              <a:t>9,549.94</a:t>
            </a:r>
            <a:r>
              <a:rPr lang="zh-CN" altLang="en-US" sz="1470" b="1" kern="0" dirty="0">
                <a:solidFill>
                  <a:srgbClr val="002060"/>
                </a:solidFill>
                <a:latin typeface="微软雅黑" panose="020B0503020204020204" pitchFamily="34" charset="-122"/>
                <a:ea typeface="微软雅黑" panose="020B0503020204020204" pitchFamily="34" charset="-122"/>
              </a:rPr>
              <a:t>万元，其中高值耗材</a:t>
            </a:r>
            <a:r>
              <a:rPr lang="en-US" altLang="zh-CN" sz="1470" b="1" kern="0" dirty="0">
                <a:solidFill>
                  <a:srgbClr val="002060"/>
                </a:solidFill>
                <a:latin typeface="微软雅黑" panose="020B0503020204020204" pitchFamily="34" charset="-122"/>
                <a:ea typeface="微软雅黑" panose="020B0503020204020204" pitchFamily="34" charset="-122"/>
              </a:rPr>
              <a:t>7,179.32</a:t>
            </a:r>
            <a:r>
              <a:rPr lang="zh-CN" altLang="en-US" sz="1470" b="1" kern="0" dirty="0">
                <a:solidFill>
                  <a:srgbClr val="002060"/>
                </a:solidFill>
                <a:latin typeface="微软雅黑" panose="020B0503020204020204" pitchFamily="34" charset="-122"/>
                <a:ea typeface="微软雅黑" panose="020B0503020204020204" pitchFamily="34" charset="-122"/>
              </a:rPr>
              <a:t>万元，低值耗材</a:t>
            </a:r>
            <a:r>
              <a:rPr lang="en-US" altLang="zh-CN" sz="1470" b="1" kern="0" dirty="0">
                <a:solidFill>
                  <a:srgbClr val="002060"/>
                </a:solidFill>
                <a:latin typeface="微软雅黑" panose="020B0503020204020204" pitchFamily="34" charset="-122"/>
                <a:ea typeface="微软雅黑" panose="020B0503020204020204" pitchFamily="34" charset="-122"/>
              </a:rPr>
              <a:t>2,370.62</a:t>
            </a:r>
            <a:r>
              <a:rPr lang="zh-CN" altLang="en-US" sz="1470" b="1" kern="0" dirty="0">
                <a:solidFill>
                  <a:srgbClr val="002060"/>
                </a:solidFill>
                <a:latin typeface="微软雅黑" panose="020B0503020204020204" pitchFamily="34" charset="-122"/>
                <a:ea typeface="微软雅黑" panose="020B0503020204020204" pitchFamily="34" charset="-122"/>
              </a:rPr>
              <a:t>万元，建发发票未达合计</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9,383.53</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万元。</a:t>
            </a:r>
          </a:p>
        </p:txBody>
      </p:sp>
      <p:graphicFrame>
        <p:nvGraphicFramePr>
          <p:cNvPr id="6" name="表格 5"/>
          <p:cNvGraphicFramePr/>
          <p:nvPr>
            <p:custDataLst>
              <p:tags r:id="rId1"/>
            </p:custDataLst>
          </p:nvPr>
        </p:nvGraphicFramePr>
        <p:xfrm>
          <a:off x="965835" y="1833245"/>
          <a:ext cx="10092055" cy="2908935"/>
        </p:xfrm>
        <a:graphic>
          <a:graphicData uri="http://schemas.openxmlformats.org/drawingml/2006/table">
            <a:tbl>
              <a:tblPr/>
              <a:tblGrid>
                <a:gridCol w="4404360">
                  <a:extLst>
                    <a:ext uri="{9D8B030D-6E8A-4147-A177-3AD203B41FA5}">
                      <a16:colId xmlns:a16="http://schemas.microsoft.com/office/drawing/2014/main" val="20000"/>
                    </a:ext>
                  </a:extLst>
                </a:gridCol>
                <a:gridCol w="1943735">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261620">
                <a:tc>
                  <a:txBody>
                    <a:bodyPr/>
                    <a:lstStyle/>
                    <a:p>
                      <a:pPr algn="ctr" fontAlgn="ctr"/>
                      <a:r>
                        <a:rPr lang="zh-CN" sz="1600" b="1" i="0" dirty="0">
                          <a:solidFill>
                            <a:srgbClr val="000000"/>
                          </a:solidFill>
                          <a:latin typeface="微软雅黑" panose="020B0503020204020204" pitchFamily="34" charset="-122"/>
                          <a:ea typeface="微软雅黑" panose="020B0503020204020204" pitchFamily="34" charset="-122"/>
                        </a:rPr>
                        <a:t>供应商</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dirty="0">
                          <a:solidFill>
                            <a:srgbClr val="000000"/>
                          </a:solidFill>
                          <a:latin typeface="微软雅黑" panose="020B0503020204020204" pitchFamily="34" charset="-122"/>
                          <a:ea typeface="微软雅黑" panose="020B0503020204020204" pitchFamily="34" charset="-122"/>
                        </a:rPr>
                        <a:t>2026</a:t>
                      </a:r>
                      <a:r>
                        <a:rPr lang="zh-CN" altLang="en-US" sz="1600" b="1" i="0" dirty="0">
                          <a:solidFill>
                            <a:srgbClr val="000000"/>
                          </a:solidFill>
                          <a:latin typeface="微软雅黑" panose="020B0503020204020204" pitchFamily="34" charset="-122"/>
                          <a:ea typeface="微软雅黑" panose="020B0503020204020204" pitchFamily="34" charset="-122"/>
                        </a:rPr>
                        <a:t>年</a:t>
                      </a:r>
                      <a:r>
                        <a:rPr lang="en-US" altLang="zh-CN" sz="1600" b="1" i="0" dirty="0">
                          <a:solidFill>
                            <a:srgbClr val="000000"/>
                          </a:solidFill>
                          <a:latin typeface="微软雅黑" panose="020B0503020204020204" pitchFamily="34" charset="-122"/>
                          <a:ea typeface="微软雅黑" panose="020B0503020204020204" pitchFamily="34" charset="-122"/>
                        </a:rPr>
                        <a:t>1-3</a:t>
                      </a:r>
                      <a:r>
                        <a:rPr lang="zh-CN" altLang="en-US" sz="16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a:t>
                      </a:r>
                      <a:r>
                        <a:rPr lang="en-US" altLang="zh-CN" sz="1600" b="1" i="0">
                          <a:solidFill>
                            <a:srgbClr val="000000"/>
                          </a:solidFill>
                          <a:latin typeface="微软雅黑" panose="020B0503020204020204" pitchFamily="34" charset="-122"/>
                          <a:ea typeface="微软雅黑" panose="020B0503020204020204" pitchFamily="34" charset="-122"/>
                        </a:rPr>
                        <a:t>4</a:t>
                      </a:r>
                      <a:r>
                        <a:rPr lang="zh-CN" altLang="en-US" sz="16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年合计</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extLst>
                  <a:ext uri="{0D108BD9-81ED-4DB2-BD59-A6C34878D82A}">
                    <a16:rowId xmlns:a16="http://schemas.microsoft.com/office/drawing/2014/main" val="10000"/>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上海建发鹭益科技有限公司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-287.31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9,670.84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9,383.53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262255">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邦尼医疗科技（昆山）有限公司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23.10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23.10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国药集团上海医疗器械有限公司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0.06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0.11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0.17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291465">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国药控股菱商医院管理服务（上海）有限公司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0.11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116.67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116.79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上海宾理生物科技发展有限公司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上海海洲特种气体有限公司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0.76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0.76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上海景禧纺织品有限公司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0.67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0.67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r h="262255">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上海申南特种气体有限公司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10.94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7.34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18.28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8"/>
                  </a:ext>
                </a:extLst>
              </a:tr>
              <a:tr h="261620">
                <a:tc>
                  <a:txBody>
                    <a:bodyPr/>
                    <a:lstStyle/>
                    <a:p>
                      <a:pPr algn="l" fontAlgn="b"/>
                      <a:r>
                        <a:rPr lang="zh-CN" altLang="en-US" sz="1600" b="0" i="0">
                          <a:solidFill>
                            <a:srgbClr val="000000"/>
                          </a:solidFill>
                          <a:latin typeface="微软雅黑" panose="020B0503020204020204" pitchFamily="34" charset="-122"/>
                          <a:ea typeface="微软雅黑" panose="020B0503020204020204" pitchFamily="34" charset="-122"/>
                        </a:rPr>
                        <a:t>苏州锦新纳米科技有限公司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0.06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0.06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9"/>
                  </a:ext>
                </a:extLst>
              </a:tr>
              <a:tr h="261620">
                <a:tc>
                  <a:txBody>
                    <a:bodyPr/>
                    <a:lstStyle/>
                    <a:p>
                      <a:pPr algn="ctr" fontAlgn="b"/>
                      <a:r>
                        <a:rPr lang="zh-CN" altLang="en-US" sz="1600" b="1" i="0">
                          <a:solidFill>
                            <a:srgbClr val="000000"/>
                          </a:solidFill>
                          <a:latin typeface="微软雅黑" panose="020B0503020204020204" pitchFamily="34" charset="-122"/>
                          <a:ea typeface="微软雅黑" panose="020B0503020204020204" pitchFamily="34" charset="-122"/>
                        </a:rPr>
                        <a:t>合计</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1" i="0">
                          <a:solidFill>
                            <a:srgbClr val="000000"/>
                          </a:solidFill>
                          <a:latin typeface="微软雅黑" panose="020B0503020204020204" pitchFamily="34" charset="-122"/>
                          <a:ea typeface="微软雅黑" panose="020B0503020204020204" pitchFamily="34" charset="-122"/>
                        </a:rPr>
                        <a:t> -246.51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1" i="0">
                          <a:solidFill>
                            <a:srgbClr val="000000"/>
                          </a:solidFill>
                          <a:latin typeface="微软雅黑" panose="020B0503020204020204" pitchFamily="34" charset="-122"/>
                          <a:ea typeface="微软雅黑" panose="020B0503020204020204" pitchFamily="34" charset="-122"/>
                        </a:rPr>
                        <a:t> 9,796.45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1" i="0">
                          <a:solidFill>
                            <a:srgbClr val="000000"/>
                          </a:solidFill>
                          <a:latin typeface="微软雅黑" panose="020B0503020204020204" pitchFamily="34" charset="-122"/>
                          <a:ea typeface="微软雅黑" panose="020B0503020204020204" pitchFamily="34" charset="-122"/>
                        </a:rPr>
                        <a:t> 9,549.94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1-4</a:t>
              </a:r>
              <a:r>
                <a:rPr lang="zh-CN" altLang="en-US" sz="2400" b="1" dirty="0">
                  <a:ln w="0"/>
                  <a:solidFill>
                    <a:srgbClr val="0070C0"/>
                  </a:soli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2" name="Group 38"/>
          <p:cNvGraphicFramePr/>
          <p:nvPr>
            <p:extLst>
              <p:ext uri="{D42A27DB-BD31-4B8C-83A1-F6EECF244321}">
                <p14:modId xmlns:p14="http://schemas.microsoft.com/office/powerpoint/2010/main" val="3137994933"/>
              </p:ext>
            </p:extLst>
          </p:nvPr>
        </p:nvGraphicFramePr>
        <p:xfrm>
          <a:off x="1107867" y="2249862"/>
          <a:ext cx="9681148" cy="3071695"/>
        </p:xfrm>
        <a:graphic>
          <a:graphicData uri="http://schemas.openxmlformats.org/drawingml/2006/table">
            <a:tbl>
              <a:tblPr/>
              <a:tblGrid>
                <a:gridCol w="1854761">
                  <a:extLst>
                    <a:ext uri="{9D8B030D-6E8A-4147-A177-3AD203B41FA5}">
                      <a16:colId xmlns:a16="http://schemas.microsoft.com/office/drawing/2014/main" val="20000"/>
                    </a:ext>
                  </a:extLst>
                </a:gridCol>
                <a:gridCol w="2246323">
                  <a:extLst>
                    <a:ext uri="{9D8B030D-6E8A-4147-A177-3AD203B41FA5}">
                      <a16:colId xmlns:a16="http://schemas.microsoft.com/office/drawing/2014/main" val="20001"/>
                    </a:ext>
                  </a:extLst>
                </a:gridCol>
                <a:gridCol w="1934926">
                  <a:extLst>
                    <a:ext uri="{9D8B030D-6E8A-4147-A177-3AD203B41FA5}">
                      <a16:colId xmlns:a16="http://schemas.microsoft.com/office/drawing/2014/main" val="20002"/>
                    </a:ext>
                  </a:extLst>
                </a:gridCol>
                <a:gridCol w="1822569">
                  <a:extLst>
                    <a:ext uri="{9D8B030D-6E8A-4147-A177-3AD203B41FA5}">
                      <a16:colId xmlns:a16="http://schemas.microsoft.com/office/drawing/2014/main" val="20003"/>
                    </a:ext>
                  </a:extLst>
                </a:gridCol>
                <a:gridCol w="1822569">
                  <a:extLst>
                    <a:ext uri="{9D8B030D-6E8A-4147-A177-3AD203B41FA5}">
                      <a16:colId xmlns:a16="http://schemas.microsoft.com/office/drawing/2014/main" val="20004"/>
                    </a:ext>
                  </a:extLst>
                </a:gridCol>
              </a:tblGrid>
              <a:tr h="502613">
                <a:tc rowSpan="2">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项    目</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执行率指标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27">
                <a:tc vMerge="1">
                  <a:txBody>
                    <a:bodyPr/>
                    <a:lstStyle/>
                    <a:p>
                      <a:endParaRPr lang="zh-CN"/>
                    </a:p>
                  </a:txBody>
                  <a:tcPr marL="90000" marR="90000" marT="46800" marB="4680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核定数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与时间节点比较</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313">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750,000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-24.3%</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65121">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医疗成本</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768,743</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-24.2%</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65121">
                <a:tc>
                  <a:txBody>
                    <a:bodyPr/>
                    <a:lstStyle/>
                    <a:p>
                      <a:pPr algn="l"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工资总额</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225,000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-24.7%</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3" name="Rectangle 5"/>
          <p:cNvSpPr>
            <a:spLocks noChangeArrowheads="1"/>
          </p:cNvSpPr>
          <p:nvPr/>
        </p:nvSpPr>
        <p:spPr bwMode="auto">
          <a:xfrm>
            <a:off x="9562417" y="1671176"/>
            <a:ext cx="1349375" cy="30480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4409294" y="1124214"/>
            <a:ext cx="384913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月预算完成情况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预算完成情况</a:t>
            </a:r>
          </a:p>
        </p:txBody>
      </p:sp>
      <p:sp>
        <p:nvSpPr>
          <p:cNvPr id="14" name="矩形 13"/>
          <p:cNvSpPr/>
          <p:nvPr/>
        </p:nvSpPr>
        <p:spPr>
          <a:xfrm>
            <a:off x="323872" y="5435585"/>
            <a:ext cx="11249138" cy="1200244"/>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月，医疗收入预算执行率为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32.1%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，低于时间节点预算执行率</a:t>
            </a:r>
            <a:r>
              <a:rPr lang="en-US" altLang="zh-CN" sz="1600" b="1" kern="0" dirty="0">
                <a:solidFill>
                  <a:srgbClr val="C00000"/>
                </a:solidFill>
                <a:latin typeface="微软雅黑" panose="020B0503020204020204" pitchFamily="34" charset="-122"/>
                <a:ea typeface="微软雅黑" panose="020B0503020204020204" pitchFamily="34" charset="-122"/>
              </a:rPr>
              <a:t>1.2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个百分点；医疗成本预算执行率为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35.9%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，高于时间节点预算执行率</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个百分点；工资总额预算执行率为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37.8%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，高于时间节点</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个百分点。调整年终奖因素后，工资总额预算执行率为</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32.6%</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低于时间节点进度</a:t>
            </a:r>
            <a:r>
              <a:rPr lang="en-US" altLang="zh-CN" sz="1600" b="1" kern="0" dirty="0">
                <a:solidFill>
                  <a:srgbClr val="C00000"/>
                </a:solidFill>
                <a:latin typeface="微软雅黑" panose="020B0503020204020204" pitchFamily="34" charset="-122"/>
                <a:ea typeface="微软雅黑" panose="020B0503020204020204" pitchFamily="34" charset="-122"/>
              </a:rPr>
              <a:t>0.7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sp>
        <p:nvSpPr>
          <p:cNvPr id="14" name="矩形 13"/>
          <p:cNvSpPr/>
          <p:nvPr/>
        </p:nvSpPr>
        <p:spPr>
          <a:xfrm>
            <a:off x="400614" y="5987814"/>
            <a:ext cx="11610409"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1-4</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肿瘤、神内、儿感染</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1-4</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皮肤、儿神内、老年、放疗、肾内、呼吸、内分泌、心血管内</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843052" y="794380"/>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非手术科室（有病房）</a:t>
              </a:r>
            </a:p>
          </p:txBody>
        </p:sp>
      </p:grpSp>
      <p:graphicFrame>
        <p:nvGraphicFramePr>
          <p:cNvPr id="4" name="表格 3"/>
          <p:cNvGraphicFramePr>
            <a:graphicFrameLocks noGrp="1"/>
          </p:cNvGraphicFramePr>
          <p:nvPr>
            <p:extLst>
              <p:ext uri="{D42A27DB-BD31-4B8C-83A1-F6EECF244321}">
                <p14:modId xmlns:p14="http://schemas.microsoft.com/office/powerpoint/2010/main" val="3410727461"/>
              </p:ext>
            </p:extLst>
          </p:nvPr>
        </p:nvGraphicFramePr>
        <p:xfrm>
          <a:off x="911008" y="1296506"/>
          <a:ext cx="10589623" cy="4576964"/>
        </p:xfrm>
        <a:graphic>
          <a:graphicData uri="http://schemas.openxmlformats.org/drawingml/2006/table">
            <a:tbl>
              <a:tblPr/>
              <a:tblGrid>
                <a:gridCol w="1939636">
                  <a:extLst>
                    <a:ext uri="{9D8B030D-6E8A-4147-A177-3AD203B41FA5}">
                      <a16:colId xmlns:a16="http://schemas.microsoft.com/office/drawing/2014/main" val="20000"/>
                    </a:ext>
                  </a:extLst>
                </a:gridCol>
                <a:gridCol w="1809811">
                  <a:extLst>
                    <a:ext uri="{9D8B030D-6E8A-4147-A177-3AD203B41FA5}">
                      <a16:colId xmlns:a16="http://schemas.microsoft.com/office/drawing/2014/main" val="20001"/>
                    </a:ext>
                  </a:extLst>
                </a:gridCol>
                <a:gridCol w="1513076">
                  <a:extLst>
                    <a:ext uri="{9D8B030D-6E8A-4147-A177-3AD203B41FA5}">
                      <a16:colId xmlns:a16="http://schemas.microsoft.com/office/drawing/2014/main" val="20002"/>
                    </a:ext>
                  </a:extLst>
                </a:gridCol>
                <a:gridCol w="993795">
                  <a:extLst>
                    <a:ext uri="{9D8B030D-6E8A-4147-A177-3AD203B41FA5}">
                      <a16:colId xmlns:a16="http://schemas.microsoft.com/office/drawing/2014/main" val="20003"/>
                    </a:ext>
                  </a:extLst>
                </a:gridCol>
                <a:gridCol w="877405">
                  <a:extLst>
                    <a:ext uri="{9D8B030D-6E8A-4147-A177-3AD203B41FA5}">
                      <a16:colId xmlns:a16="http://schemas.microsoft.com/office/drawing/2014/main" val="20004"/>
                    </a:ext>
                  </a:extLst>
                </a:gridCol>
                <a:gridCol w="966936">
                  <a:extLst>
                    <a:ext uri="{9D8B030D-6E8A-4147-A177-3AD203B41FA5}">
                      <a16:colId xmlns:a16="http://schemas.microsoft.com/office/drawing/2014/main" val="20005"/>
                    </a:ext>
                  </a:extLst>
                </a:gridCol>
                <a:gridCol w="886358">
                  <a:extLst>
                    <a:ext uri="{9D8B030D-6E8A-4147-A177-3AD203B41FA5}">
                      <a16:colId xmlns:a16="http://schemas.microsoft.com/office/drawing/2014/main" val="20006"/>
                    </a:ext>
                  </a:extLst>
                </a:gridCol>
                <a:gridCol w="1602606">
                  <a:extLst>
                    <a:ext uri="{9D8B030D-6E8A-4147-A177-3AD203B41FA5}">
                      <a16:colId xmlns:a16="http://schemas.microsoft.com/office/drawing/2014/main" val="20007"/>
                    </a:ext>
                  </a:extLst>
                </a:gridCol>
              </a:tblGrid>
              <a:tr h="322085">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肿瘤内科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4946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rgbClr val="C00000"/>
                          </a:solidFill>
                          <a:effectLst/>
                          <a:latin typeface="微软雅黑" panose="020B0503020204020204" pitchFamily="34" charset="-122"/>
                          <a:ea typeface="微软雅黑" panose="020B0503020204020204" pitchFamily="34" charset="-122"/>
                          <a:cs typeface="+mn-cs"/>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77.0%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神经内科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17365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5875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rgbClr val="C00000"/>
                          </a:solidFill>
                          <a:effectLst/>
                          <a:latin typeface="微软雅黑" panose="020B0503020204020204" pitchFamily="34" charset="-122"/>
                          <a:ea typeface="微软雅黑" panose="020B0503020204020204" pitchFamily="34" charset="-122"/>
                          <a:cs typeface="+mn-cs"/>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儿感染科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5757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1918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rgbClr val="C00000"/>
                          </a:solidFill>
                          <a:effectLst/>
                          <a:latin typeface="微软雅黑" panose="020B0503020204020204" pitchFamily="34" charset="-122"/>
                          <a:ea typeface="微软雅黑" panose="020B0503020204020204" pitchFamily="34" charset="-122"/>
                          <a:cs typeface="+mn-cs"/>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5525">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皮肤科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19523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6443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儿神经内科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7166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2361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老年医学科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9276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放疗科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14140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肾脏风湿免疫科</a:t>
                      </a:r>
                      <a:r>
                        <a:rPr lang="en-US" altLang="zh-CN"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血液净化部</a:t>
                      </a:r>
                      <a:r>
                        <a:rPr lang="en-US" altLang="zh-CN"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16001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5171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呼吸内科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12493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内分泌科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12712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4055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心血管内科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77816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24446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全科医学科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3526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1099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儿内分泌遗传科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10404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儿肾脏内科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4169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儿消化营养科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4848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1467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消化内科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25008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7250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儿血液肿瘤科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11414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康复医学科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2043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578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中医科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新生儿科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11661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a:solidFill>
                            <a:schemeClr val="accent6"/>
                          </a:solidFill>
                          <a:effectLst/>
                          <a:latin typeface="微软雅黑" panose="020B0503020204020204" pitchFamily="34" charset="-122"/>
                          <a:ea typeface="微软雅黑" panose="020B0503020204020204" pitchFamily="34" charset="-122"/>
                          <a:cs typeface="+mn-cs"/>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27.9%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80200">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儿呼吸内科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10472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2935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80200">
                <a:tc>
                  <a:txBody>
                    <a:bodyPr/>
                    <a:lstStyle/>
                    <a:p>
                      <a:pPr marL="0" algn="ctr" defTabSz="914400" rtl="0" eaLnBrk="1" fontAlgn="ctr" latinLnBrk="0" hangingPunct="1">
                        <a:buNone/>
                      </a:pPr>
                      <a:r>
                        <a:rPr lang="zh-CN" altLang="en-US" sz="1000" b="0" i="0" u="none" strike="noStrike" kern="1200">
                          <a:solidFill>
                            <a:srgbClr val="000000"/>
                          </a:solidFill>
                          <a:effectLst/>
                          <a:latin typeface="微软雅黑" panose="020B0503020204020204" pitchFamily="34" charset="-122"/>
                          <a:ea typeface="微软雅黑" panose="020B0503020204020204" pitchFamily="34" charset="-122"/>
                          <a:cs typeface="+mn-cs"/>
                        </a:rPr>
                        <a:t>血液内科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a:solidFill>
                            <a:srgbClr val="000000"/>
                          </a:solidFill>
                          <a:effectLst/>
                          <a:latin typeface="微软雅黑" panose="020B0503020204020204" pitchFamily="34" charset="-122"/>
                          <a:ea typeface="微软雅黑" panose="020B0503020204020204" pitchFamily="34" charset="-122"/>
                          <a:cs typeface="+mn-cs"/>
                        </a:rPr>
                        <a:t>3281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55154">
                <a:tc>
                  <a:txBody>
                    <a:bodyPr/>
                    <a:lstStyle/>
                    <a:p>
                      <a:pPr marL="0" algn="ctr" defTabSz="914400" rtl="0" eaLnBrk="1" fontAlgn="ctr" latinLnBrk="0" hangingPunct="1">
                        <a:buNone/>
                      </a:pPr>
                      <a:r>
                        <a:rPr lang="zh-CN" altLang="en-US" sz="10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感染科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1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endParaRPr lang="en-US" sz="11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62318" y="1526717"/>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4006715" y="11688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非手术科室（无病房）</a:t>
              </a:r>
            </a:p>
          </p:txBody>
        </p:sp>
      </p:grpSp>
      <p:graphicFrame>
        <p:nvGraphicFramePr>
          <p:cNvPr id="5" name="表格 4"/>
          <p:cNvGraphicFramePr>
            <a:graphicFrameLocks noGrp="1"/>
          </p:cNvGraphicFramePr>
          <p:nvPr>
            <p:extLst>
              <p:ext uri="{D42A27DB-BD31-4B8C-83A1-F6EECF244321}">
                <p14:modId xmlns:p14="http://schemas.microsoft.com/office/powerpoint/2010/main" val="1932644104"/>
              </p:ext>
            </p:extLst>
          </p:nvPr>
        </p:nvGraphicFramePr>
        <p:xfrm>
          <a:off x="931292" y="1979461"/>
          <a:ext cx="10135690" cy="2868001"/>
        </p:xfrm>
        <a:graphic>
          <a:graphicData uri="http://schemas.openxmlformats.org/drawingml/2006/table">
            <a:tbl>
              <a:tblPr/>
              <a:tblGrid>
                <a:gridCol w="1949631">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637212">
                  <a:extLst>
                    <a:ext uri="{9D8B030D-6E8A-4147-A177-3AD203B41FA5}">
                      <a16:colId xmlns:a16="http://schemas.microsoft.com/office/drawing/2014/main" val="20002"/>
                    </a:ext>
                  </a:extLst>
                </a:gridCol>
                <a:gridCol w="1271451">
                  <a:extLst>
                    <a:ext uri="{9D8B030D-6E8A-4147-A177-3AD203B41FA5}">
                      <a16:colId xmlns:a16="http://schemas.microsoft.com/office/drawing/2014/main" val="20003"/>
                    </a:ext>
                  </a:extLst>
                </a:gridCol>
                <a:gridCol w="1184366">
                  <a:extLst>
                    <a:ext uri="{9D8B030D-6E8A-4147-A177-3AD203B41FA5}">
                      <a16:colId xmlns:a16="http://schemas.microsoft.com/office/drawing/2014/main" val="20004"/>
                    </a:ext>
                  </a:extLst>
                </a:gridCol>
                <a:gridCol w="1210200">
                  <a:extLst>
                    <a:ext uri="{9D8B030D-6E8A-4147-A177-3AD203B41FA5}">
                      <a16:colId xmlns:a16="http://schemas.microsoft.com/office/drawing/2014/main" val="20005"/>
                    </a:ext>
                  </a:extLst>
                </a:gridCol>
                <a:gridCol w="1132407">
                  <a:extLst>
                    <a:ext uri="{9D8B030D-6E8A-4147-A177-3AD203B41FA5}">
                      <a16:colId xmlns:a16="http://schemas.microsoft.com/office/drawing/2014/main" val="20006"/>
                    </a:ext>
                  </a:extLst>
                </a:gridCol>
              </a:tblGrid>
              <a:tr h="852001">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年指标</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生殖医学中心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38.7%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1" i="0" u="none" strike="noStrike" kern="1200" dirty="0">
                          <a:solidFill>
                            <a:srgbClr val="C00000"/>
                          </a:solidFill>
                          <a:effectLst/>
                          <a:latin typeface="微软雅黑" panose="020B0503020204020204" pitchFamily="34" charset="-122"/>
                          <a:ea typeface="微软雅黑" panose="020B0503020204020204" pitchFamily="34" charset="-122"/>
                          <a:cs typeface="+mn-cs"/>
                        </a:rPr>
                        <a:t>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发育行为儿童保健科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34.5%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1" i="0" u="none" strike="noStrike" kern="1200" dirty="0">
                          <a:solidFill>
                            <a:srgbClr val="C00000"/>
                          </a:solidFill>
                          <a:effectLst/>
                          <a:latin typeface="微软雅黑" panose="020B0503020204020204" pitchFamily="34" charset="-122"/>
                          <a:ea typeface="微软雅黑" panose="020B0503020204020204" pitchFamily="34" charset="-122"/>
                          <a:cs typeface="+mn-cs"/>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临床心理科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3,722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37.8%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口腔科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a:solidFill>
                            <a:srgbClr val="000000"/>
                          </a:solidFill>
                          <a:effectLst/>
                          <a:latin typeface="微软雅黑" panose="020B0503020204020204" pitchFamily="34" charset="-122"/>
                          <a:ea typeface="微软雅黑" panose="020B0503020204020204" pitchFamily="34" charset="-122"/>
                          <a:cs typeface="+mn-cs"/>
                        </a:rPr>
                        <a:t>28.7%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矩形 20"/>
          <p:cNvSpPr/>
          <p:nvPr/>
        </p:nvSpPr>
        <p:spPr>
          <a:xfrm>
            <a:off x="378843" y="5267387"/>
            <a:ext cx="11610409"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1-4</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生殖、儿保</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1-4</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临床心理、口腔</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52577" y="683889"/>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078325"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           手术科室</a:t>
              </a:r>
            </a:p>
          </p:txBody>
        </p:sp>
      </p:grpSp>
      <p:graphicFrame>
        <p:nvGraphicFramePr>
          <p:cNvPr id="6" name="表格 5"/>
          <p:cNvGraphicFramePr>
            <a:graphicFrameLocks noGrp="1"/>
          </p:cNvGraphicFramePr>
          <p:nvPr>
            <p:extLst>
              <p:ext uri="{D42A27DB-BD31-4B8C-83A1-F6EECF244321}">
                <p14:modId xmlns:p14="http://schemas.microsoft.com/office/powerpoint/2010/main" val="601606557"/>
              </p:ext>
            </p:extLst>
          </p:nvPr>
        </p:nvGraphicFramePr>
        <p:xfrm>
          <a:off x="804536" y="1222270"/>
          <a:ext cx="10682345" cy="4338721"/>
        </p:xfrm>
        <a:graphic>
          <a:graphicData uri="http://schemas.openxmlformats.org/drawingml/2006/table">
            <a:tbl>
              <a:tblPr/>
              <a:tblGrid>
                <a:gridCol w="1498544">
                  <a:extLst>
                    <a:ext uri="{9D8B030D-6E8A-4147-A177-3AD203B41FA5}">
                      <a16:colId xmlns:a16="http://schemas.microsoft.com/office/drawing/2014/main" val="20000"/>
                    </a:ext>
                  </a:extLst>
                </a:gridCol>
                <a:gridCol w="1819834">
                  <a:extLst>
                    <a:ext uri="{9D8B030D-6E8A-4147-A177-3AD203B41FA5}">
                      <a16:colId xmlns:a16="http://schemas.microsoft.com/office/drawing/2014/main" val="20001"/>
                    </a:ext>
                  </a:extLst>
                </a:gridCol>
                <a:gridCol w="1456766">
                  <a:extLst>
                    <a:ext uri="{9D8B030D-6E8A-4147-A177-3AD203B41FA5}">
                      <a16:colId xmlns:a16="http://schemas.microsoft.com/office/drawing/2014/main" val="20002"/>
                    </a:ext>
                  </a:extLst>
                </a:gridCol>
                <a:gridCol w="1146383">
                  <a:extLst>
                    <a:ext uri="{9D8B030D-6E8A-4147-A177-3AD203B41FA5}">
                      <a16:colId xmlns:a16="http://schemas.microsoft.com/office/drawing/2014/main" val="20003"/>
                    </a:ext>
                  </a:extLst>
                </a:gridCol>
                <a:gridCol w="911017">
                  <a:extLst>
                    <a:ext uri="{9D8B030D-6E8A-4147-A177-3AD203B41FA5}">
                      <a16:colId xmlns:a16="http://schemas.microsoft.com/office/drawing/2014/main" val="20004"/>
                    </a:ext>
                  </a:extLst>
                </a:gridCol>
                <a:gridCol w="981075">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763826">
                  <a:extLst>
                    <a:ext uri="{9D8B030D-6E8A-4147-A177-3AD203B41FA5}">
                      <a16:colId xmlns:a16="http://schemas.microsoft.com/office/drawing/2014/main" val="20007"/>
                    </a:ext>
                  </a:extLst>
                </a:gridCol>
              </a:tblGrid>
              <a:tr h="353101">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儿泌尿外科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846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1794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47.2%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rgbClr val="C00000"/>
                          </a:solidFill>
                          <a:effectLst/>
                          <a:latin typeface="微软雅黑" panose="020B0503020204020204" pitchFamily="34" charset="-122"/>
                          <a:ea typeface="微软雅黑" panose="020B0503020204020204" pitchFamily="34" charset="-122"/>
                          <a:cs typeface="+mn-cs"/>
                        </a:rPr>
                        <a:t>13.9%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47.5%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儿神经外科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4616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12232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37.7%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rgbClr val="C00000"/>
                          </a:solidFill>
                          <a:effectLst/>
                          <a:latin typeface="微软雅黑" panose="020B0503020204020204" pitchFamily="34" charset="-122"/>
                          <a:ea typeface="微软雅黑" panose="020B0503020204020204" pitchFamily="34" charset="-122"/>
                          <a:cs typeface="+mn-cs"/>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整形外科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1029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2759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dirty="0">
                          <a:solidFill>
                            <a:srgbClr val="C00000"/>
                          </a:solidFill>
                          <a:effectLst/>
                          <a:latin typeface="微软雅黑" panose="020B0503020204020204" pitchFamily="34" charset="-122"/>
                          <a:ea typeface="微软雅黑" panose="020B0503020204020204" pitchFamily="34" charset="-122"/>
                          <a:cs typeface="+mn-cs"/>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泌尿外科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8894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27375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介入血管外科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5735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18084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脊柱中心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10259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32487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神经外科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12594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40000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疼痛科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1950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6444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眼科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6387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21517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普外科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11310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38190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骨科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16545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55910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心胸外科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9483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33027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肛肠外科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4446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15501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乳腺外科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2445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8729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移植科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05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endParaRPr lang="en-US" sz="105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妇产科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6242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22789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儿骨科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3582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13602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99281">
                <a:tc>
                  <a:txBody>
                    <a:bodyPr/>
                    <a:lstStyle/>
                    <a:p>
                      <a:pPr marL="0" algn="ctr" defTabSz="914400" rtl="0" eaLnBrk="1" fontAlgn="ctr" latinLnBrk="0" hangingPunct="1">
                        <a:buNone/>
                      </a:pPr>
                      <a:r>
                        <a:rPr lang="zh-CN" altLang="en-US"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耳鼻咽喉</a:t>
                      </a: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头颈外科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5277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20085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a:solidFill>
                            <a:schemeClr val="accent6"/>
                          </a:solidFill>
                          <a:effectLst/>
                          <a:latin typeface="微软雅黑" panose="020B0503020204020204" pitchFamily="34" charset="-122"/>
                          <a:ea typeface="微软雅黑" panose="020B0503020204020204" pitchFamily="34" charset="-122"/>
                          <a:cs typeface="+mn-cs"/>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35.4%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99281">
                <a:tc>
                  <a:txBody>
                    <a:bodyPr/>
                    <a:lstStyle/>
                    <a:p>
                      <a:pPr marL="0" algn="ctr" defTabSz="914400" rtl="0" eaLnBrk="1" fontAlgn="ctr" latinLnBrk="0" hangingPunct="1">
                        <a:buNone/>
                      </a:pPr>
                      <a:r>
                        <a:rPr lang="zh-CN" altLang="en-US"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儿心脏中心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6557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99281">
                <a:tc>
                  <a:txBody>
                    <a:bodyPr/>
                    <a:lstStyle/>
                    <a:p>
                      <a:pPr marL="0" algn="ctr" defTabSz="914400" rtl="0" eaLnBrk="1" fontAlgn="ctr" latinLnBrk="0" hangingPunct="1">
                        <a:buNone/>
                      </a:pPr>
                      <a:r>
                        <a:rPr lang="zh-CN" altLang="en-US" sz="1050" b="0" i="0" u="none" strike="noStrike" kern="1200">
                          <a:solidFill>
                            <a:srgbClr val="000000"/>
                          </a:solidFill>
                          <a:effectLst/>
                          <a:latin typeface="微软雅黑" panose="020B0503020204020204" pitchFamily="34" charset="-122"/>
                          <a:ea typeface="微软雅黑" panose="020B0503020204020204" pitchFamily="34" charset="-122"/>
                          <a:cs typeface="+mn-cs"/>
                        </a:rPr>
                        <a:t>儿普外科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1721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6696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a:solidFill>
                            <a:srgbClr val="000000"/>
                          </a:solidFill>
                          <a:effectLst/>
                          <a:latin typeface="微软雅黑" panose="020B0503020204020204" pitchFamily="34" charset="-122"/>
                          <a:ea typeface="微软雅黑" panose="020B0503020204020204" pitchFamily="34" charset="-122"/>
                          <a:cs typeface="+mn-cs"/>
                        </a:rPr>
                        <a:t>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050" b="0" i="0" u="none" strike="noStrike" kern="1200" dirty="0">
                          <a:solidFill>
                            <a:srgbClr val="000000"/>
                          </a:solidFill>
                          <a:effectLst/>
                          <a:latin typeface="微软雅黑" panose="020B0503020204020204" pitchFamily="34" charset="-122"/>
                          <a:ea typeface="微软雅黑" panose="020B0503020204020204" pitchFamily="34" charset="-122"/>
                          <a:cs typeface="+mn-cs"/>
                        </a:rPr>
                        <a:t>24.6%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
        <p:nvSpPr>
          <p:cNvPr id="24" name="矩形 23"/>
          <p:cNvSpPr/>
          <p:nvPr/>
        </p:nvSpPr>
        <p:spPr>
          <a:xfrm>
            <a:off x="497169" y="5921718"/>
            <a:ext cx="11297077"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1-4</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儿泌尿外、整形、儿神外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1-4</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肛肠、介入、脊柱、神外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10080622" y="1575085"/>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88772" y="11150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806415" y="1128989"/>
              <a:ext cx="884940"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公共服务平台</a:t>
              </a:r>
            </a:p>
          </p:txBody>
        </p:sp>
      </p:grpSp>
      <p:graphicFrame>
        <p:nvGraphicFramePr>
          <p:cNvPr id="5" name="表格 4"/>
          <p:cNvGraphicFramePr>
            <a:graphicFrameLocks noGrp="1"/>
          </p:cNvGraphicFramePr>
          <p:nvPr>
            <p:extLst>
              <p:ext uri="{D42A27DB-BD31-4B8C-83A1-F6EECF244321}">
                <p14:modId xmlns:p14="http://schemas.microsoft.com/office/powerpoint/2010/main" val="756656806"/>
              </p:ext>
            </p:extLst>
          </p:nvPr>
        </p:nvGraphicFramePr>
        <p:xfrm>
          <a:off x="670875" y="1886904"/>
          <a:ext cx="10759122" cy="3092474"/>
        </p:xfrm>
        <a:graphic>
          <a:graphicData uri="http://schemas.openxmlformats.org/drawingml/2006/table">
            <a:tbl>
              <a:tblPr/>
              <a:tblGrid>
                <a:gridCol w="2135361">
                  <a:extLst>
                    <a:ext uri="{9D8B030D-6E8A-4147-A177-3AD203B41FA5}">
                      <a16:colId xmlns:a16="http://schemas.microsoft.com/office/drawing/2014/main" val="20000"/>
                    </a:ext>
                  </a:extLst>
                </a:gridCol>
                <a:gridCol w="1908638">
                  <a:extLst>
                    <a:ext uri="{9D8B030D-6E8A-4147-A177-3AD203B41FA5}">
                      <a16:colId xmlns:a16="http://schemas.microsoft.com/office/drawing/2014/main" val="20001"/>
                    </a:ext>
                  </a:extLst>
                </a:gridCol>
                <a:gridCol w="1609725">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323975">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gridCol w="1257298">
                  <a:extLst>
                    <a:ext uri="{9D8B030D-6E8A-4147-A177-3AD203B41FA5}">
                      <a16:colId xmlns:a16="http://schemas.microsoft.com/office/drawing/2014/main" val="20006"/>
                    </a:ext>
                  </a:extLst>
                </a:gridCol>
              </a:tblGrid>
              <a:tr h="752474">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年指标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1-4</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8000">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临床营养科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39.3%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1" i="0" u="none" strike="noStrike" kern="1200" dirty="0">
                          <a:solidFill>
                            <a:srgbClr val="C00000"/>
                          </a:solidFill>
                          <a:effectLst/>
                          <a:latin typeface="微软雅黑" panose="020B0503020204020204" pitchFamily="34" charset="-122"/>
                          <a:ea typeface="微软雅黑" panose="020B0503020204020204" pitchFamily="34" charset="-122"/>
                          <a:cs typeface="+mn-cs"/>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37.2%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急诊医学科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24,684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8,673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1" i="0" u="none" strike="noStrike" kern="1200" dirty="0">
                          <a:solidFill>
                            <a:srgbClr val="C00000"/>
                          </a:solidFill>
                          <a:effectLst/>
                          <a:latin typeface="微软雅黑" panose="020B0503020204020204" pitchFamily="34" charset="-122"/>
                          <a:ea typeface="微软雅黑" panose="020B0503020204020204" pitchFamily="34" charset="-122"/>
                          <a:cs typeface="+mn-cs"/>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麻醉科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12,461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1" i="0" u="none" strike="noStrike" kern="1200">
                          <a:solidFill>
                            <a:schemeClr val="accent6"/>
                          </a:solidFill>
                          <a:effectLst/>
                          <a:latin typeface="微软雅黑" panose="020B0503020204020204" pitchFamily="34" charset="-122"/>
                          <a:ea typeface="微软雅黑" panose="020B0503020204020204" pitchFamily="34" charset="-122"/>
                          <a:cs typeface="+mn-cs"/>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000">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儿急危重症医学科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3,858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1,065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a:solidFill>
                            <a:srgbClr val="000000"/>
                          </a:solidFill>
                          <a:effectLst/>
                          <a:latin typeface="微软雅黑" panose="020B0503020204020204" pitchFamily="34" charset="-122"/>
                          <a:ea typeface="微软雅黑" panose="020B0503020204020204" pitchFamily="34" charset="-122"/>
                          <a:cs typeface="+mn-cs"/>
                        </a:rPr>
                        <a:t>22.9%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000">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健康管理中心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11,881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1" i="0" u="none" strike="noStrike" kern="1200" dirty="0">
                          <a:solidFill>
                            <a:schemeClr val="accent6"/>
                          </a:solidFill>
                          <a:effectLst/>
                          <a:latin typeface="微软雅黑" panose="020B0503020204020204" pitchFamily="34" charset="-122"/>
                          <a:ea typeface="微软雅黑" panose="020B0503020204020204" pitchFamily="34" charset="-122"/>
                          <a:cs typeface="+mn-cs"/>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8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矩形 22"/>
          <p:cNvSpPr/>
          <p:nvPr/>
        </p:nvSpPr>
        <p:spPr>
          <a:xfrm>
            <a:off x="584004" y="5380615"/>
            <a:ext cx="10929934"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1-4</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营养、急诊</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1-4</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健康管理中心、麻醉、儿急危</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1-4</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611751" cy="752475"/>
            <a:chOff x="3912956" y="1496324"/>
            <a:chExt cx="7611756" cy="753515"/>
          </a:xfrm>
        </p:grpSpPr>
        <p:sp>
          <p:nvSpPr>
            <p:cNvPr id="25" name="圆角矩形 49"/>
            <p:cNvSpPr/>
            <p:nvPr/>
          </p:nvSpPr>
          <p:spPr>
            <a:xfrm>
              <a:off x="4600546" y="1510900"/>
              <a:ext cx="6924166"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b="1" dirty="0">
                  <a:ln w="0"/>
                  <a:solidFill>
                    <a:srgbClr val="0070C0"/>
                  </a:solidFill>
                  <a:latin typeface="等线" panose="02010600030101010101" charset="-122"/>
                  <a:ea typeface="等线" panose="02010600030101010101" charset="-122"/>
                </a:rPr>
                <a:t>医院运营管理相关目标下达建议及</a:t>
              </a:r>
              <a:r>
                <a:rPr lang="en-US" altLang="zh-CN" sz="2400" b="1" dirty="0">
                  <a:ln w="0"/>
                  <a:solidFill>
                    <a:srgbClr val="0070C0"/>
                  </a:solidFill>
                  <a:latin typeface="等线" panose="02010600030101010101" charset="-122"/>
                  <a:ea typeface="等线" panose="02010600030101010101" charset="-122"/>
                </a:rPr>
                <a:t>1-4</a:t>
              </a:r>
              <a:r>
                <a:rPr lang="zh-CN" altLang="en-US" sz="2400" b="1" dirty="0">
                  <a:ln w="0"/>
                  <a:solidFill>
                    <a:srgbClr val="0070C0"/>
                  </a:soli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630583" y="1230803"/>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76590"/>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收入指标</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医疗收入相关指标</a:t>
            </a:r>
          </a:p>
        </p:txBody>
      </p:sp>
      <p:graphicFrame>
        <p:nvGraphicFramePr>
          <p:cNvPr id="3" name="表格 2"/>
          <p:cNvGraphicFramePr>
            <a:graphicFrameLocks noGrp="1"/>
          </p:cNvGraphicFramePr>
          <p:nvPr>
            <p:extLst>
              <p:ext uri="{D42A27DB-BD31-4B8C-83A1-F6EECF244321}">
                <p14:modId xmlns:p14="http://schemas.microsoft.com/office/powerpoint/2010/main" val="1938662780"/>
              </p:ext>
            </p:extLst>
          </p:nvPr>
        </p:nvGraphicFramePr>
        <p:xfrm>
          <a:off x="363681" y="2202872"/>
          <a:ext cx="11388437" cy="3420000"/>
        </p:xfrm>
        <a:graphic>
          <a:graphicData uri="http://schemas.openxmlformats.org/drawingml/2006/table">
            <a:tbl>
              <a:tblPr/>
              <a:tblGrid>
                <a:gridCol w="1060054">
                  <a:extLst>
                    <a:ext uri="{9D8B030D-6E8A-4147-A177-3AD203B41FA5}">
                      <a16:colId xmlns:a16="http://schemas.microsoft.com/office/drawing/2014/main" val="20000"/>
                    </a:ext>
                  </a:extLst>
                </a:gridCol>
                <a:gridCol w="2161129">
                  <a:extLst>
                    <a:ext uri="{9D8B030D-6E8A-4147-A177-3AD203B41FA5}">
                      <a16:colId xmlns:a16="http://schemas.microsoft.com/office/drawing/2014/main" val="20001"/>
                    </a:ext>
                  </a:extLst>
                </a:gridCol>
                <a:gridCol w="1465118">
                  <a:extLst>
                    <a:ext uri="{9D8B030D-6E8A-4147-A177-3AD203B41FA5}">
                      <a16:colId xmlns:a16="http://schemas.microsoft.com/office/drawing/2014/main" val="20002"/>
                    </a:ext>
                  </a:extLst>
                </a:gridCol>
                <a:gridCol w="2173778">
                  <a:extLst>
                    <a:ext uri="{9D8B030D-6E8A-4147-A177-3AD203B41FA5}">
                      <a16:colId xmlns:a16="http://schemas.microsoft.com/office/drawing/2014/main" val="20003"/>
                    </a:ext>
                  </a:extLst>
                </a:gridCol>
                <a:gridCol w="1792176">
                  <a:extLst>
                    <a:ext uri="{9D8B030D-6E8A-4147-A177-3AD203B41FA5}">
                      <a16:colId xmlns:a16="http://schemas.microsoft.com/office/drawing/2014/main" val="20004"/>
                    </a:ext>
                  </a:extLst>
                </a:gridCol>
                <a:gridCol w="1060315">
                  <a:extLst>
                    <a:ext uri="{9D8B030D-6E8A-4147-A177-3AD203B41FA5}">
                      <a16:colId xmlns:a16="http://schemas.microsoft.com/office/drawing/2014/main" val="20005"/>
                    </a:ext>
                  </a:extLst>
                </a:gridCol>
                <a:gridCol w="1675867">
                  <a:extLst>
                    <a:ext uri="{9D8B030D-6E8A-4147-A177-3AD203B41FA5}">
                      <a16:colId xmlns:a16="http://schemas.microsoft.com/office/drawing/2014/main" val="20006"/>
                    </a:ext>
                  </a:extLst>
                </a:gridCol>
              </a:tblGrid>
              <a:tr h="684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分管领导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1-4</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杜鹏</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24.11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32.1%</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李劲松</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32.8%</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马飞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其中：门急诊收入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marL="0" algn="ctr" defTabSz="914400" rtl="0" eaLnBrk="1" fontAlgn="ctr" latinLnBrk="0" hangingPunct="1">
                        <a:lnSpc>
                          <a:spcPct val="150000"/>
                        </a:lnSpc>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根据科主任目标责任书的门急诊、住院收入比例分摊</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亿目标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8.96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33.3%</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4000">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盛旭俊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15.15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31.5%</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angle 5"/>
          <p:cNvSpPr>
            <a:spLocks noChangeArrowheads="1"/>
          </p:cNvSpPr>
          <p:nvPr/>
        </p:nvSpPr>
        <p:spPr bwMode="auto">
          <a:xfrm>
            <a:off x="9734898" y="1692468"/>
            <a:ext cx="1400002" cy="338554"/>
          </a:xfrm>
          <a:prstGeom prst="rect">
            <a:avLst/>
          </a:prstGeom>
          <a:noFill/>
          <a:ln w="9525">
            <a:noFill/>
            <a:miter lim="800000"/>
          </a:ln>
        </p:spPr>
        <p:txBody>
          <a:bodyPr wrap="square">
            <a:spAutoFit/>
          </a:bodyPr>
          <a:lstStyle/>
          <a:p>
            <a:pPr lvl="0" eaLnBrk="0" fontAlgn="base" hangingPunct="0">
              <a:spcBef>
                <a:spcPct val="0"/>
              </a:spcBef>
              <a:spcAft>
                <a:spcPct val="0"/>
              </a:spcAf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a:t>
            </a:r>
            <a:r>
              <a:rPr lang="zh-CN" altLang="en-US" sz="1600" b="1" dirty="0">
                <a:solidFill>
                  <a:srgbClr val="000000"/>
                </a:solidFill>
                <a:latin typeface="微软雅黑" panose="020B0503020204020204" pitchFamily="34" charset="-122"/>
                <a:ea typeface="微软雅黑" panose="020B0503020204020204" pitchFamily="34" charset="-122"/>
              </a:rPr>
              <a:t>亿元</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44882" y="1110465"/>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1-4</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医疗</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医疗收入相关指标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23815365"/>
              </p:ext>
            </p:extLst>
          </p:nvPr>
        </p:nvGraphicFramePr>
        <p:xfrm>
          <a:off x="313661" y="2007921"/>
          <a:ext cx="11525592" cy="4107947"/>
        </p:xfrm>
        <a:graphic>
          <a:graphicData uri="http://schemas.openxmlformats.org/drawingml/2006/table">
            <a:tbl>
              <a:tblPr/>
              <a:tblGrid>
                <a:gridCol w="1402918">
                  <a:extLst>
                    <a:ext uri="{9D8B030D-6E8A-4147-A177-3AD203B41FA5}">
                      <a16:colId xmlns:a16="http://schemas.microsoft.com/office/drawing/2014/main" val="20000"/>
                    </a:ext>
                  </a:extLst>
                </a:gridCol>
                <a:gridCol w="2340032">
                  <a:extLst>
                    <a:ext uri="{9D8B030D-6E8A-4147-A177-3AD203B41FA5}">
                      <a16:colId xmlns:a16="http://schemas.microsoft.com/office/drawing/2014/main" val="20001"/>
                    </a:ext>
                  </a:extLst>
                </a:gridCol>
                <a:gridCol w="1487978">
                  <a:extLst>
                    <a:ext uri="{9D8B030D-6E8A-4147-A177-3AD203B41FA5}">
                      <a16:colId xmlns:a16="http://schemas.microsoft.com/office/drawing/2014/main" val="20002"/>
                    </a:ext>
                  </a:extLst>
                </a:gridCol>
                <a:gridCol w="2281843">
                  <a:extLst>
                    <a:ext uri="{9D8B030D-6E8A-4147-A177-3AD203B41FA5}">
                      <a16:colId xmlns:a16="http://schemas.microsoft.com/office/drawing/2014/main" val="20003"/>
                    </a:ext>
                  </a:extLst>
                </a:gridCol>
                <a:gridCol w="1371601">
                  <a:extLst>
                    <a:ext uri="{9D8B030D-6E8A-4147-A177-3AD203B41FA5}">
                      <a16:colId xmlns:a16="http://schemas.microsoft.com/office/drawing/2014/main" val="20004"/>
                    </a:ext>
                  </a:extLst>
                </a:gridCol>
                <a:gridCol w="976746">
                  <a:extLst>
                    <a:ext uri="{9D8B030D-6E8A-4147-A177-3AD203B41FA5}">
                      <a16:colId xmlns:a16="http://schemas.microsoft.com/office/drawing/2014/main" val="20005"/>
                    </a:ext>
                  </a:extLst>
                </a:gridCol>
                <a:gridCol w="1664474">
                  <a:extLst>
                    <a:ext uri="{9D8B030D-6E8A-4147-A177-3AD203B41FA5}">
                      <a16:colId xmlns:a16="http://schemas.microsoft.com/office/drawing/2014/main" val="20006"/>
                    </a:ext>
                  </a:extLst>
                </a:gridCol>
              </a:tblGrid>
              <a:tr h="88170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1-4</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108797">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门急诊部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互联网医疗收入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年互联网医院收入较低，仅为</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703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万元，故以</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年市级综合性医院中位数为目标</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80654">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因医院需提升医疗收入，体检收入作为重要组成部分，故今年需采取措施提升收入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1,812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36792">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3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15,000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镜朗收入作为医疗收入</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重要部分，故今年需在</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年基础上做增量</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3,848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5"/>
          <p:cNvSpPr>
            <a:spLocks noChangeArrowheads="1"/>
          </p:cNvSpPr>
          <p:nvPr/>
        </p:nvSpPr>
        <p:spPr bwMode="auto">
          <a:xfrm>
            <a:off x="10281461" y="1572130"/>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541873" y="1228229"/>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月其他收入目标完成情况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其他收入相关指标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3012137574"/>
              </p:ext>
            </p:extLst>
          </p:nvPr>
        </p:nvGraphicFramePr>
        <p:xfrm>
          <a:off x="500063" y="2369126"/>
          <a:ext cx="11237510" cy="3523509"/>
        </p:xfrm>
        <a:graphic>
          <a:graphicData uri="http://schemas.openxmlformats.org/drawingml/2006/table">
            <a:tbl>
              <a:tblPr/>
              <a:tblGrid>
                <a:gridCol w="1550742">
                  <a:extLst>
                    <a:ext uri="{9D8B030D-6E8A-4147-A177-3AD203B41FA5}">
                      <a16:colId xmlns:a16="http://schemas.microsoft.com/office/drawing/2014/main" val="20000"/>
                    </a:ext>
                  </a:extLst>
                </a:gridCol>
                <a:gridCol w="2213624">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215342">
                  <a:extLst>
                    <a:ext uri="{9D8B030D-6E8A-4147-A177-3AD203B41FA5}">
                      <a16:colId xmlns:a16="http://schemas.microsoft.com/office/drawing/2014/main" val="20003"/>
                    </a:ext>
                  </a:extLst>
                </a:gridCol>
                <a:gridCol w="1382033">
                  <a:extLst>
                    <a:ext uri="{9D8B030D-6E8A-4147-A177-3AD203B41FA5}">
                      <a16:colId xmlns:a16="http://schemas.microsoft.com/office/drawing/2014/main" val="20004"/>
                    </a:ext>
                  </a:extLst>
                </a:gridCol>
                <a:gridCol w="1058975">
                  <a:extLst>
                    <a:ext uri="{9D8B030D-6E8A-4147-A177-3AD203B41FA5}">
                      <a16:colId xmlns:a16="http://schemas.microsoft.com/office/drawing/2014/main" val="20005"/>
                    </a:ext>
                  </a:extLst>
                </a:gridCol>
                <a:gridCol w="1490914">
                  <a:extLst>
                    <a:ext uri="{9D8B030D-6E8A-4147-A177-3AD203B41FA5}">
                      <a16:colId xmlns:a16="http://schemas.microsoft.com/office/drawing/2014/main" val="20006"/>
                    </a:ext>
                  </a:extLst>
                </a:gridCol>
              </a:tblGrid>
              <a:tr h="576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1-4</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院长办公室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合作共建及外部捐赠收入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marL="0" marR="0" lvl="0" indent="0" algn="ctr" defTabSz="914400" rtl="0" eaLnBrk="1" fontAlgn="ctr" latinLnBrk="0" hangingPunct="1">
                        <a:lnSpc>
                          <a:spcPct val="2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医院</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年度的运营目标为实现收支平衡，需大力增加外部收入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000">
                <a:tc>
                  <a:txBody>
                    <a:bodyPr/>
                    <a:lstStyle/>
                    <a:p>
                      <a:pPr algn="ctr" fontAlgn="ct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临床医学院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学习班收入（含培训收入）</a:t>
                      </a:r>
                      <a:endPar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50</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10.0%</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000">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外送儿研所检测收入</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400" b="0"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endPar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000">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新华医疗开发公司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投资收益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828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科研部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成果转化收入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Rectangle 5"/>
          <p:cNvSpPr>
            <a:spLocks noChangeArrowheads="1"/>
          </p:cNvSpPr>
          <p:nvPr/>
        </p:nvSpPr>
        <p:spPr bwMode="auto">
          <a:xfrm>
            <a:off x="10337571" y="1690956"/>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65667" y="1417902"/>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1-4</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结构指标</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98138" y="149225"/>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结构指标</a:t>
            </a:r>
          </a:p>
        </p:txBody>
      </p:sp>
      <p:graphicFrame>
        <p:nvGraphicFramePr>
          <p:cNvPr id="2" name="表格 1"/>
          <p:cNvGraphicFramePr>
            <a:graphicFrameLocks noGrp="1"/>
          </p:cNvGraphicFramePr>
          <p:nvPr>
            <p:extLst>
              <p:ext uri="{D42A27DB-BD31-4B8C-83A1-F6EECF244321}">
                <p14:modId xmlns:p14="http://schemas.microsoft.com/office/powerpoint/2010/main" val="2420698204"/>
              </p:ext>
            </p:extLst>
          </p:nvPr>
        </p:nvGraphicFramePr>
        <p:xfrm>
          <a:off x="426028" y="2332421"/>
          <a:ext cx="11159836" cy="3105331"/>
        </p:xfrm>
        <a:graphic>
          <a:graphicData uri="http://schemas.openxmlformats.org/drawingml/2006/table">
            <a:tbl>
              <a:tblPr/>
              <a:tblGrid>
                <a:gridCol w="1203395">
                  <a:extLst>
                    <a:ext uri="{9D8B030D-6E8A-4147-A177-3AD203B41FA5}">
                      <a16:colId xmlns:a16="http://schemas.microsoft.com/office/drawing/2014/main" val="20000"/>
                    </a:ext>
                  </a:extLst>
                </a:gridCol>
                <a:gridCol w="3441341">
                  <a:extLst>
                    <a:ext uri="{9D8B030D-6E8A-4147-A177-3AD203B41FA5}">
                      <a16:colId xmlns:a16="http://schemas.microsoft.com/office/drawing/2014/main" val="20001"/>
                    </a:ext>
                  </a:extLst>
                </a:gridCol>
                <a:gridCol w="1444336">
                  <a:extLst>
                    <a:ext uri="{9D8B030D-6E8A-4147-A177-3AD203B41FA5}">
                      <a16:colId xmlns:a16="http://schemas.microsoft.com/office/drawing/2014/main" val="20002"/>
                    </a:ext>
                  </a:extLst>
                </a:gridCol>
                <a:gridCol w="2140527">
                  <a:extLst>
                    <a:ext uri="{9D8B030D-6E8A-4147-A177-3AD203B41FA5}">
                      <a16:colId xmlns:a16="http://schemas.microsoft.com/office/drawing/2014/main" val="20003"/>
                    </a:ext>
                  </a:extLst>
                </a:gridCol>
                <a:gridCol w="1517073">
                  <a:extLst>
                    <a:ext uri="{9D8B030D-6E8A-4147-A177-3AD203B41FA5}">
                      <a16:colId xmlns:a16="http://schemas.microsoft.com/office/drawing/2014/main" val="20004"/>
                    </a:ext>
                  </a:extLst>
                </a:gridCol>
                <a:gridCol w="1413164">
                  <a:extLst>
                    <a:ext uri="{9D8B030D-6E8A-4147-A177-3AD203B41FA5}">
                      <a16:colId xmlns:a16="http://schemas.microsoft.com/office/drawing/2014/main" val="20005"/>
                    </a:ext>
                  </a:extLst>
                </a:gridCol>
              </a:tblGrid>
              <a:tr h="770701">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1-4</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770701">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药耗收入占比（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0701">
                <a:tc rowSpan="2">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卫生材料成本收入比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以</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年数据为基础</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3228">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试剂成本与检验项目收入占比（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34.89%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419648" y="1288535"/>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lang="zh-CN" altLang="en-US" sz="2200" b="1" dirty="0">
                <a:solidFill>
                  <a:srgbClr val="000000"/>
                </a:solidFill>
                <a:latin typeface="微软雅黑" panose="020B0503020204020204" pitchFamily="34" charset="-122"/>
                <a:ea typeface="微软雅黑" panose="020B0503020204020204" pitchFamily="34" charset="-122"/>
              </a:rPr>
              <a:t>成本指标</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成本指标</a:t>
            </a:r>
          </a:p>
        </p:txBody>
      </p:sp>
      <p:graphicFrame>
        <p:nvGraphicFramePr>
          <p:cNvPr id="3" name="表格 2"/>
          <p:cNvGraphicFramePr>
            <a:graphicFrameLocks noGrp="1"/>
          </p:cNvGraphicFramePr>
          <p:nvPr>
            <p:extLst>
              <p:ext uri="{D42A27DB-BD31-4B8C-83A1-F6EECF244321}">
                <p14:modId xmlns:p14="http://schemas.microsoft.com/office/powerpoint/2010/main" val="54071668"/>
              </p:ext>
            </p:extLst>
          </p:nvPr>
        </p:nvGraphicFramePr>
        <p:xfrm>
          <a:off x="500063" y="2239381"/>
          <a:ext cx="10970721" cy="2727472"/>
        </p:xfrm>
        <a:graphic>
          <a:graphicData uri="http://schemas.openxmlformats.org/drawingml/2006/table">
            <a:tbl>
              <a:tblPr/>
              <a:tblGrid>
                <a:gridCol w="977181">
                  <a:extLst>
                    <a:ext uri="{9D8B030D-6E8A-4147-A177-3AD203B41FA5}">
                      <a16:colId xmlns:a16="http://schemas.microsoft.com/office/drawing/2014/main" val="20000"/>
                    </a:ext>
                  </a:extLst>
                </a:gridCol>
                <a:gridCol w="3568682">
                  <a:extLst>
                    <a:ext uri="{9D8B030D-6E8A-4147-A177-3AD203B41FA5}">
                      <a16:colId xmlns:a16="http://schemas.microsoft.com/office/drawing/2014/main" val="20001"/>
                    </a:ext>
                  </a:extLst>
                </a:gridCol>
                <a:gridCol w="1567039">
                  <a:extLst>
                    <a:ext uri="{9D8B030D-6E8A-4147-A177-3AD203B41FA5}">
                      <a16:colId xmlns:a16="http://schemas.microsoft.com/office/drawing/2014/main" val="20002"/>
                    </a:ext>
                  </a:extLst>
                </a:gridCol>
                <a:gridCol w="1749859">
                  <a:extLst>
                    <a:ext uri="{9D8B030D-6E8A-4147-A177-3AD203B41FA5}">
                      <a16:colId xmlns:a16="http://schemas.microsoft.com/office/drawing/2014/main" val="20003"/>
                    </a:ext>
                  </a:extLst>
                </a:gridCol>
                <a:gridCol w="1749859">
                  <a:extLst>
                    <a:ext uri="{9D8B030D-6E8A-4147-A177-3AD203B41FA5}">
                      <a16:colId xmlns:a16="http://schemas.microsoft.com/office/drawing/2014/main" val="20004"/>
                    </a:ext>
                  </a:extLst>
                </a:gridCol>
                <a:gridCol w="1358101">
                  <a:extLst>
                    <a:ext uri="{9D8B030D-6E8A-4147-A177-3AD203B41FA5}">
                      <a16:colId xmlns:a16="http://schemas.microsoft.com/office/drawing/2014/main" val="20005"/>
                    </a:ext>
                  </a:extLst>
                </a:gridCol>
              </a:tblGrid>
              <a:tr h="84465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1-4</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27606">
                <a:tc rowSpan="3">
                  <a:txBody>
                    <a:bodyPr/>
                    <a:lstStyle/>
                    <a:p>
                      <a:pPr algn="ctr" fontAlgn="ctr">
                        <a:lnSpc>
                          <a:spcPct val="13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万元医疗收入（不含药耗）能耗成本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lnSpc>
                          <a:spcPct val="15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7606">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万元医疗收入（不含药耗）维修成本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7606">
                <a:tc vMerge="1">
                  <a:txBody>
                    <a:bodyPr/>
                    <a:lstStyle/>
                    <a:p>
                      <a:endParaRPr lang="zh-CN"/>
                    </a:p>
                  </a:txBody>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万元医疗收入（不含药耗）物业成本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557848" y="854547"/>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1-4</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月成本指标目标完成情况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运营目标完成情况</a:t>
            </a:r>
          </a:p>
        </p:txBody>
      </p:sp>
      <p:graphicFrame>
        <p:nvGraphicFramePr>
          <p:cNvPr id="3" name="表格 2"/>
          <p:cNvGraphicFramePr>
            <a:graphicFrameLocks noGrp="1"/>
          </p:cNvGraphicFramePr>
          <p:nvPr>
            <p:extLst>
              <p:ext uri="{D42A27DB-BD31-4B8C-83A1-F6EECF244321}">
                <p14:modId xmlns:p14="http://schemas.microsoft.com/office/powerpoint/2010/main" val="4205067982"/>
              </p:ext>
            </p:extLst>
          </p:nvPr>
        </p:nvGraphicFramePr>
        <p:xfrm>
          <a:off x="390697" y="1345759"/>
          <a:ext cx="11213870" cy="5154797"/>
        </p:xfrm>
        <a:graphic>
          <a:graphicData uri="http://schemas.openxmlformats.org/drawingml/2006/table">
            <a:tbl>
              <a:tblPr/>
              <a:tblGrid>
                <a:gridCol w="1188390">
                  <a:extLst>
                    <a:ext uri="{9D8B030D-6E8A-4147-A177-3AD203B41FA5}">
                      <a16:colId xmlns:a16="http://schemas.microsoft.com/office/drawing/2014/main" val="20000"/>
                    </a:ext>
                  </a:extLst>
                </a:gridCol>
                <a:gridCol w="4340021">
                  <a:extLst>
                    <a:ext uri="{9D8B030D-6E8A-4147-A177-3AD203B41FA5}">
                      <a16:colId xmlns:a16="http://schemas.microsoft.com/office/drawing/2014/main" val="20001"/>
                    </a:ext>
                  </a:extLst>
                </a:gridCol>
                <a:gridCol w="1905741">
                  <a:extLst>
                    <a:ext uri="{9D8B030D-6E8A-4147-A177-3AD203B41FA5}">
                      <a16:colId xmlns:a16="http://schemas.microsoft.com/office/drawing/2014/main" val="20002"/>
                    </a:ext>
                  </a:extLst>
                </a:gridCol>
                <a:gridCol w="2128076">
                  <a:extLst>
                    <a:ext uri="{9D8B030D-6E8A-4147-A177-3AD203B41FA5}">
                      <a16:colId xmlns:a16="http://schemas.microsoft.com/office/drawing/2014/main" val="20003"/>
                    </a:ext>
                  </a:extLst>
                </a:gridCol>
                <a:gridCol w="1651642">
                  <a:extLst>
                    <a:ext uri="{9D8B030D-6E8A-4147-A177-3AD203B41FA5}">
                      <a16:colId xmlns:a16="http://schemas.microsoft.com/office/drawing/2014/main" val="20004"/>
                    </a:ext>
                  </a:extLst>
                </a:gridCol>
              </a:tblGrid>
              <a:tr h="342917">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1-4</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月实际值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385782">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运营绩效部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各科室不含药耗收入增幅</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该科室绩效奖金增幅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12">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以季度数据暂时难以判断与目标值的差距，建议以半年度为单位进行监测</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5782">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人力资源部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医勤工一口价劳务费降幅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第三方劳务派遣公司人均人事代理和服务费降幅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手术平台科室消耗卫生耗材总金额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手术总量</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（柯渡第三方维保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医院消耗领用的维修配件）</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已出保专用设备金额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医院办公类耗材（国药菱商）领用总金额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（洁诺第三方成本</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医院领用消耗的消毒类相关耗材）</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出院病人数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15%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5782">
                <a:tc vMerge="1">
                  <a:txBody>
                    <a:bodyPr/>
                    <a:lstStyle/>
                    <a:p>
                      <a:endParaRPr lang="zh-CN"/>
                    </a:p>
                  </a:txBody>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手术平台科室二级库管理卫生耗材收入成本配比率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5782">
                <a:tc rowSpan="2">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能耗成本（水电煤）</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年减少</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万元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2,591</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5782">
                <a:tc vMerge="1">
                  <a:txBody>
                    <a:bodyPr/>
                    <a:lstStyle/>
                    <a:p>
                      <a:endParaRPr lang="zh-CN"/>
                    </a:p>
                  </a:txBody>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医疗废弃物处置费用</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床位数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25</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513152/</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大数据中心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信息维保费用</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无形资产原值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个百分点</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46614">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采购与招标管理中心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采购与招标节资率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1-4</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zh-CN" altLang="en-US" sz="2400" b="1" dirty="0">
                  <a:ln w="0"/>
                  <a:solidFill>
                    <a:srgbClr val="0070C0"/>
                  </a:solidFill>
                  <a:latin typeface="等线" panose="02010600030101010101" charset="-122"/>
                  <a:ea typeface="等线" panose="02010600030101010101" charset="-122"/>
                </a:rPr>
                <a:t>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建议举措</a:t>
            </a:r>
          </a:p>
        </p:txBody>
      </p:sp>
      <p:grpSp>
        <p:nvGrpSpPr>
          <p:cNvPr id="5" name="组合 4"/>
          <p:cNvGrpSpPr/>
          <p:nvPr/>
        </p:nvGrpSpPr>
        <p:grpSpPr>
          <a:xfrm>
            <a:off x="1573776" y="621164"/>
            <a:ext cx="7072284" cy="611078"/>
            <a:chOff x="707092" y="1156626"/>
            <a:chExt cx="6905820" cy="600075"/>
          </a:xfrm>
        </p:grpSpPr>
        <p:sp>
          <p:nvSpPr>
            <p:cNvPr id="33" name="Rectangle 6"/>
            <p:cNvSpPr/>
            <p:nvPr/>
          </p:nvSpPr>
          <p:spPr>
            <a:xfrm>
              <a:off x="707092" y="1156626"/>
              <a:ext cx="6905820" cy="600075"/>
            </a:xfrm>
            <a:prstGeom prst="rect">
              <a:avLst/>
            </a:prstGeom>
            <a:solidFill>
              <a:srgbClr val="C00000"/>
            </a:solidFill>
            <a:ln w="28575" cap="rnd">
              <a:solidFill>
                <a:srgbClr val="C00000"/>
              </a:solidFill>
              <a:prstDash val="solid"/>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D" sz="3200" b="0" i="0" u="none" strike="noStrike" kern="0" cap="none" spc="0" normalizeH="0" baseline="0" noProof="0" dirty="0">
                <a:ln>
                  <a:noFill/>
                </a:ln>
                <a:solidFill>
                  <a:prstClr val="black">
                    <a:lumMod val="65000"/>
                    <a:lumOff val="35000"/>
                  </a:prstClr>
                </a:solidFill>
                <a:effectLst/>
                <a:uLnTx/>
                <a:uFillTx/>
                <a:latin typeface="Arial Black" panose="020B0A04020102020204"/>
                <a:ea typeface="+mn-ea"/>
                <a:cs typeface="+mn-cs"/>
              </a:endParaRPr>
            </a:p>
          </p:txBody>
        </p:sp>
        <p:sp>
          <p:nvSpPr>
            <p:cNvPr id="34" name="Freeform 807"/>
            <p:cNvSpPr/>
            <p:nvPr/>
          </p:nvSpPr>
          <p:spPr>
            <a:xfrm>
              <a:off x="7040517" y="1218166"/>
              <a:ext cx="572395" cy="476995"/>
            </a:xfrm>
            <a:custGeom>
              <a:avLst/>
              <a:gdLst/>
              <a:ahLst/>
              <a:cxnLst>
                <a:cxn ang="0">
                  <a:pos x="wd2" y="hd2"/>
                </a:cxn>
                <a:cxn ang="5400000">
                  <a:pos x="wd2" y="hd2"/>
                </a:cxn>
                <a:cxn ang="10800000">
                  <a:pos x="wd2" y="hd2"/>
                </a:cxn>
                <a:cxn ang="16200000">
                  <a:pos x="wd2" y="hd2"/>
                </a:cxn>
              </a:cxnLst>
              <a:rect l="0" t="0" r="r" b="b"/>
              <a:pathLst>
                <a:path w="21600" h="21600" extrusionOk="0">
                  <a:moveTo>
                    <a:pt x="21595" y="11520"/>
                  </a:moveTo>
                  <a:lnTo>
                    <a:pt x="18627" y="3196"/>
                  </a:lnTo>
                  <a:cubicBezTo>
                    <a:pt x="18686" y="3007"/>
                    <a:pt x="18720" y="2804"/>
                    <a:pt x="18720" y="2591"/>
                  </a:cubicBezTo>
                  <a:cubicBezTo>
                    <a:pt x="18720" y="1637"/>
                    <a:pt x="18075" y="863"/>
                    <a:pt x="17279" y="863"/>
                  </a:cubicBezTo>
                  <a:cubicBezTo>
                    <a:pt x="16798" y="863"/>
                    <a:pt x="16373" y="1148"/>
                    <a:pt x="16112" y="1583"/>
                  </a:cubicBezTo>
                  <a:lnTo>
                    <a:pt x="12791" y="1583"/>
                  </a:lnTo>
                  <a:cubicBezTo>
                    <a:pt x="12463" y="653"/>
                    <a:pt x="11694" y="0"/>
                    <a:pt x="10800" y="0"/>
                  </a:cubicBezTo>
                  <a:cubicBezTo>
                    <a:pt x="9905" y="0"/>
                    <a:pt x="9137" y="653"/>
                    <a:pt x="8809" y="1584"/>
                  </a:cubicBezTo>
                  <a:lnTo>
                    <a:pt x="5488" y="1584"/>
                  </a:lnTo>
                  <a:cubicBezTo>
                    <a:pt x="5226" y="1148"/>
                    <a:pt x="4801" y="864"/>
                    <a:pt x="4320" y="864"/>
                  </a:cubicBezTo>
                  <a:cubicBezTo>
                    <a:pt x="3525" y="864"/>
                    <a:pt x="2880" y="1638"/>
                    <a:pt x="2880" y="2592"/>
                  </a:cubicBezTo>
                  <a:cubicBezTo>
                    <a:pt x="2880" y="2805"/>
                    <a:pt x="2914" y="3008"/>
                    <a:pt x="2973" y="3196"/>
                  </a:cubicBezTo>
                  <a:lnTo>
                    <a:pt x="5" y="11520"/>
                  </a:lnTo>
                  <a:lnTo>
                    <a:pt x="0" y="11520"/>
                  </a:lnTo>
                  <a:cubicBezTo>
                    <a:pt x="0" y="14223"/>
                    <a:pt x="1935" y="16416"/>
                    <a:pt x="4320" y="16416"/>
                  </a:cubicBezTo>
                  <a:cubicBezTo>
                    <a:pt x="6707" y="16416"/>
                    <a:pt x="8640" y="14223"/>
                    <a:pt x="8640" y="11520"/>
                  </a:cubicBezTo>
                  <a:lnTo>
                    <a:pt x="8635" y="11520"/>
                  </a:lnTo>
                  <a:lnTo>
                    <a:pt x="5812" y="3600"/>
                  </a:lnTo>
                  <a:lnTo>
                    <a:pt x="8809" y="3600"/>
                  </a:lnTo>
                  <a:cubicBezTo>
                    <a:pt x="8975" y="4069"/>
                    <a:pt x="9252" y="4467"/>
                    <a:pt x="9600" y="4747"/>
                  </a:cubicBezTo>
                  <a:lnTo>
                    <a:pt x="9600" y="17568"/>
                  </a:lnTo>
                  <a:lnTo>
                    <a:pt x="5280" y="17568"/>
                  </a:lnTo>
                  <a:lnTo>
                    <a:pt x="5280" y="18720"/>
                  </a:lnTo>
                  <a:cubicBezTo>
                    <a:pt x="5280" y="20304"/>
                    <a:pt x="6360" y="21600"/>
                    <a:pt x="7680" y="21600"/>
                  </a:cubicBezTo>
                  <a:lnTo>
                    <a:pt x="13920" y="21600"/>
                  </a:lnTo>
                  <a:cubicBezTo>
                    <a:pt x="15240" y="21600"/>
                    <a:pt x="16320" y="20304"/>
                    <a:pt x="16320" y="18720"/>
                  </a:cubicBezTo>
                  <a:lnTo>
                    <a:pt x="16320" y="17568"/>
                  </a:lnTo>
                  <a:lnTo>
                    <a:pt x="12000" y="17568"/>
                  </a:lnTo>
                  <a:lnTo>
                    <a:pt x="12000" y="4746"/>
                  </a:lnTo>
                  <a:cubicBezTo>
                    <a:pt x="12348" y="4466"/>
                    <a:pt x="12625" y="4068"/>
                    <a:pt x="12790" y="3600"/>
                  </a:cubicBezTo>
                  <a:lnTo>
                    <a:pt x="15787" y="3600"/>
                  </a:lnTo>
                  <a:lnTo>
                    <a:pt x="12960" y="11520"/>
                  </a:lnTo>
                  <a:lnTo>
                    <a:pt x="12960" y="11520"/>
                  </a:lnTo>
                  <a:lnTo>
                    <a:pt x="12960" y="11520"/>
                  </a:lnTo>
                  <a:lnTo>
                    <a:pt x="12958" y="11524"/>
                  </a:lnTo>
                  <a:lnTo>
                    <a:pt x="12960" y="11525"/>
                  </a:lnTo>
                  <a:cubicBezTo>
                    <a:pt x="12963" y="14226"/>
                    <a:pt x="14896" y="16416"/>
                    <a:pt x="17280" y="16416"/>
                  </a:cubicBezTo>
                  <a:cubicBezTo>
                    <a:pt x="19667" y="16416"/>
                    <a:pt x="21600" y="14223"/>
                    <a:pt x="21600" y="11520"/>
                  </a:cubicBezTo>
                  <a:cubicBezTo>
                    <a:pt x="21600" y="11520"/>
                    <a:pt x="21595" y="11520"/>
                    <a:pt x="21595" y="11520"/>
                  </a:cubicBezTo>
                  <a:close/>
                  <a:moveTo>
                    <a:pt x="7330" y="11520"/>
                  </a:moveTo>
                  <a:lnTo>
                    <a:pt x="1311" y="11520"/>
                  </a:lnTo>
                  <a:lnTo>
                    <a:pt x="3903" y="4246"/>
                  </a:lnTo>
                  <a:cubicBezTo>
                    <a:pt x="4035" y="4293"/>
                    <a:pt x="4175" y="4320"/>
                    <a:pt x="4319" y="4320"/>
                  </a:cubicBezTo>
                  <a:cubicBezTo>
                    <a:pt x="4464" y="4320"/>
                    <a:pt x="4605" y="4293"/>
                    <a:pt x="4737" y="4245"/>
                  </a:cubicBezTo>
                  <a:lnTo>
                    <a:pt x="7330" y="11520"/>
                  </a:lnTo>
                  <a:close/>
                  <a:moveTo>
                    <a:pt x="14265" y="11520"/>
                  </a:moveTo>
                  <a:lnTo>
                    <a:pt x="16862" y="4246"/>
                  </a:lnTo>
                  <a:cubicBezTo>
                    <a:pt x="16994" y="4294"/>
                    <a:pt x="17134" y="4320"/>
                    <a:pt x="17279" y="4320"/>
                  </a:cubicBezTo>
                  <a:cubicBezTo>
                    <a:pt x="17425" y="4320"/>
                    <a:pt x="17565" y="4294"/>
                    <a:pt x="17697" y="4246"/>
                  </a:cubicBezTo>
                  <a:lnTo>
                    <a:pt x="20290" y="11520"/>
                  </a:lnTo>
                  <a:lnTo>
                    <a:pt x="14265" y="11520"/>
                  </a:lnTo>
                  <a:close/>
                </a:path>
              </a:pathLst>
            </a:custGeom>
            <a:solidFill>
              <a:schemeClr val="bg1"/>
            </a:solidFill>
            <a:ln w="12700" cap="flat">
              <a:noFill/>
              <a:miter lim="400000"/>
            </a:ln>
            <a:effectLst/>
          </p:spPr>
          <p:txBody>
            <a:bodyPr wrap="square" lIns="45719" tIns="45719" rIns="45719" bIns="45719"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800" b="0" i="0" u="none" strike="noStrike" kern="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文本框 53"/>
            <p:cNvSpPr txBox="1"/>
            <p:nvPr/>
          </p:nvSpPr>
          <p:spPr>
            <a:xfrm>
              <a:off x="707092" y="1237801"/>
              <a:ext cx="3601244" cy="45335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kumimoji="1" lang="zh-CN" altLang="en-US" sz="2400" b="1" dirty="0">
                  <a:solidFill>
                    <a:srgbClr val="FFFFFF"/>
                  </a:solidFill>
                  <a:latin typeface="微软雅黑" panose="020B0503020204020204" pitchFamily="34" charset="-122"/>
                  <a:ea typeface="微软雅黑" panose="020B0503020204020204" pitchFamily="34" charset="-122"/>
                  <a:cs typeface="OPPOSans B" pitchFamily="18" charset="-122"/>
                </a:rPr>
                <a:t>优化业务和收入结构，压实预算执行</a:t>
              </a:r>
            </a:p>
          </p:txBody>
        </p:sp>
      </p:grpSp>
      <p:sp>
        <p:nvSpPr>
          <p:cNvPr id="43" name="文本框 42"/>
          <p:cNvSpPr txBox="1"/>
          <p:nvPr/>
        </p:nvSpPr>
        <p:spPr>
          <a:xfrm>
            <a:off x="639657" y="1261508"/>
            <a:ext cx="11151290" cy="2833340"/>
          </a:xfrm>
          <a:prstGeom prst="rect">
            <a:avLst/>
          </a:prstGeom>
          <a:noFill/>
        </p:spPr>
        <p:txBody>
          <a:bodyPr wrap="square">
            <a:spAutoFit/>
          </a:bodyPr>
          <a:lstStyle/>
          <a:p>
            <a:pPr marL="17145">
              <a:lnSpc>
                <a:spcPct val="170000"/>
              </a:lnSpc>
            </a:pPr>
            <a:endParaRPr lang="en-US" altLang="zh-CN" sz="1400" b="1" dirty="0">
              <a:solidFill>
                <a:srgbClr val="002FA7"/>
              </a:solidFill>
              <a:latin typeface="微软雅黑" panose="020B0503020204020204" pitchFamily="34" charset="-122"/>
              <a:ea typeface="微软雅黑" panose="020B0503020204020204" pitchFamily="34"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杨浦院区业务增长减缓，奉贤院区仍亏损：</a:t>
            </a:r>
            <a:r>
              <a:rPr lang="zh-CN" altLang="en-US" sz="1400" b="1" dirty="0">
                <a:solidFill>
                  <a:srgbClr val="C00000"/>
                </a:solidFill>
                <a:latin typeface="+mn-ea"/>
              </a:rPr>
              <a:t>杨浦院区</a:t>
            </a:r>
            <a:r>
              <a:rPr lang="zh-CN" altLang="en-US" sz="1400" b="1" dirty="0">
                <a:latin typeface="+mn-ea"/>
              </a:rPr>
              <a:t>住院人次降幅</a:t>
            </a:r>
            <a:r>
              <a:rPr lang="en-US" altLang="zh-CN" sz="1400" b="1" dirty="0">
                <a:latin typeface="+mn-ea"/>
              </a:rPr>
              <a:t>5.8%</a:t>
            </a:r>
            <a:r>
              <a:rPr lang="zh-CN" altLang="en-US" sz="1400" b="1" dirty="0">
                <a:latin typeface="+mn-ea"/>
              </a:rPr>
              <a:t>，住院收入降幅</a:t>
            </a:r>
            <a:r>
              <a:rPr lang="en-US" altLang="zh-CN" sz="1400" b="1" dirty="0">
                <a:latin typeface="+mn-ea"/>
              </a:rPr>
              <a:t>1.1%</a:t>
            </a:r>
            <a:r>
              <a:rPr lang="zh-CN" altLang="en-US" sz="1400" b="1" dirty="0">
                <a:latin typeface="+mn-ea"/>
              </a:rPr>
              <a:t>，不利于杨浦院区住院规模长远发展；</a:t>
            </a:r>
            <a:r>
              <a:rPr lang="zh-CN" altLang="en-US" sz="1400" b="1" dirty="0">
                <a:solidFill>
                  <a:srgbClr val="C00000"/>
                </a:solidFill>
                <a:latin typeface="+mn-ea"/>
              </a:rPr>
              <a:t>奉贤院区</a:t>
            </a:r>
            <a:r>
              <a:rPr lang="zh-CN" altLang="en-US" sz="1400" b="1" dirty="0">
                <a:latin typeface="+mn-ea"/>
              </a:rPr>
              <a:t>收支结余为</a:t>
            </a:r>
            <a:r>
              <a:rPr lang="en-US" altLang="zh-CN" sz="1400" b="1" dirty="0">
                <a:latin typeface="+mn-ea"/>
              </a:rPr>
              <a:t>-2,673</a:t>
            </a:r>
            <a:r>
              <a:rPr lang="zh-CN" altLang="en-US" sz="1400" b="1" dirty="0">
                <a:latin typeface="+mn-ea"/>
              </a:rPr>
              <a:t>万元，运营压力大。杨浦院区儿科科室各项业务及收入数据增幅均低于同类医院平均增幅。</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收入结构待优化，药耗占比管控待加强：</a:t>
            </a:r>
            <a:r>
              <a:rPr lang="zh-CN" altLang="en-US" sz="1400" b="1" dirty="0">
                <a:solidFill>
                  <a:srgbClr val="C00000"/>
                </a:solidFill>
                <a:latin typeface="+mn-ea"/>
              </a:rPr>
              <a:t>劳务占比同比</a:t>
            </a:r>
            <a:r>
              <a:rPr lang="zh-CN" altLang="en-US" sz="1400" b="1" dirty="0">
                <a:latin typeface="+mn-ea"/>
              </a:rPr>
              <a:t>下降</a:t>
            </a:r>
            <a:r>
              <a:rPr lang="en-US" altLang="zh-CN" sz="1400" b="1" dirty="0">
                <a:latin typeface="+mn-ea"/>
              </a:rPr>
              <a:t>0.5</a:t>
            </a:r>
            <a:r>
              <a:rPr lang="zh-CN" altLang="en-US" sz="1400" b="1" dirty="0">
                <a:latin typeface="+mn-ea"/>
              </a:rPr>
              <a:t>个百分点，高附加值劳务服务占比有待提升；</a:t>
            </a:r>
            <a:r>
              <a:rPr lang="zh-CN" altLang="en-US" sz="1400" b="1" dirty="0">
                <a:solidFill>
                  <a:srgbClr val="C00000"/>
                </a:solidFill>
                <a:latin typeface="+mn-ea"/>
              </a:rPr>
              <a:t>耗占比</a:t>
            </a:r>
            <a:r>
              <a:rPr lang="en-US" altLang="zh-CN" sz="1400" b="1" dirty="0">
                <a:latin typeface="+mn-ea"/>
              </a:rPr>
              <a:t>28.5%</a:t>
            </a:r>
            <a:r>
              <a:rPr lang="zh-CN" altLang="en-US" sz="1400" b="1" dirty="0">
                <a:latin typeface="+mn-ea"/>
              </a:rPr>
              <a:t>，卫生材料成本收入比</a:t>
            </a:r>
            <a:r>
              <a:rPr lang="en-US" altLang="zh-CN" sz="1400" b="1" dirty="0">
                <a:latin typeface="+mn-ea"/>
              </a:rPr>
              <a:t>1.23</a:t>
            </a:r>
            <a:r>
              <a:rPr lang="zh-CN" altLang="en-US" sz="1400" b="1" dirty="0">
                <a:latin typeface="+mn-ea"/>
              </a:rPr>
              <a:t>，高于年度目标</a:t>
            </a:r>
            <a:r>
              <a:rPr lang="en-US" altLang="zh-CN" sz="1400" b="1" dirty="0">
                <a:latin typeface="+mn-ea"/>
              </a:rPr>
              <a:t>0.02</a:t>
            </a:r>
            <a:r>
              <a:rPr lang="zh-CN" altLang="en-US" sz="1400" b="1" dirty="0">
                <a:latin typeface="+mn-ea"/>
              </a:rPr>
              <a:t>；</a:t>
            </a:r>
            <a:r>
              <a:rPr lang="zh-CN" altLang="en-US" sz="1400" b="1" dirty="0">
                <a:solidFill>
                  <a:srgbClr val="C00000"/>
                </a:solidFill>
                <a:latin typeface="+mn-ea"/>
              </a:rPr>
              <a:t>药耗占比</a:t>
            </a:r>
            <a:r>
              <a:rPr lang="en-US" altLang="zh-CN" sz="1400" b="1" dirty="0">
                <a:latin typeface="+mn-ea"/>
              </a:rPr>
              <a:t>52.9%</a:t>
            </a:r>
            <a:r>
              <a:rPr lang="zh-CN" altLang="en-US" sz="1400" b="1" dirty="0">
                <a:latin typeface="+mn-ea"/>
              </a:rPr>
              <a:t>，高于</a:t>
            </a:r>
            <a:r>
              <a:rPr lang="en-US" altLang="zh-CN" sz="1400" b="1" dirty="0">
                <a:latin typeface="+mn-ea"/>
              </a:rPr>
              <a:t>2026</a:t>
            </a:r>
            <a:r>
              <a:rPr lang="zh-CN" altLang="en-US" sz="1400" b="1" dirty="0">
                <a:latin typeface="+mn-ea"/>
              </a:rPr>
              <a:t>年预算目标（</a:t>
            </a:r>
            <a:r>
              <a:rPr lang="en-US" altLang="zh-CN" sz="1400" b="1" dirty="0">
                <a:latin typeface="+mn-ea"/>
              </a:rPr>
              <a:t>49% </a:t>
            </a:r>
            <a:r>
              <a:rPr lang="zh-CN" altLang="en-US" sz="1400" b="1" dirty="0">
                <a:latin typeface="+mn-ea"/>
              </a:rPr>
              <a:t>）</a:t>
            </a:r>
            <a:r>
              <a:rPr lang="en-US" altLang="zh-CN" sz="1400" b="1" dirty="0">
                <a:latin typeface="+mn-ea"/>
              </a:rPr>
              <a:t>3.9</a:t>
            </a:r>
            <a:r>
              <a:rPr lang="zh-CN" altLang="en-US" sz="1400" b="1" dirty="0">
                <a:latin typeface="+mn-ea"/>
              </a:rPr>
              <a:t>个百分点，较之上月有所降低，仍需关注并管控药耗占比。奉贤院区耗占比达</a:t>
            </a:r>
            <a:r>
              <a:rPr lang="en-US" altLang="zh-CN" sz="1400" b="1" dirty="0">
                <a:latin typeface="+mn-ea"/>
              </a:rPr>
              <a:t>38%</a:t>
            </a:r>
            <a:r>
              <a:rPr lang="zh-CN" altLang="en-US" sz="1400" b="1" dirty="0">
                <a:latin typeface="+mn-ea"/>
              </a:rPr>
              <a:t>，劳务占比仅</a:t>
            </a:r>
            <a:r>
              <a:rPr lang="en-US" altLang="zh-CN" sz="1400" b="1" dirty="0">
                <a:latin typeface="+mn-ea"/>
              </a:rPr>
              <a:t>21.5%</a:t>
            </a:r>
            <a:r>
              <a:rPr lang="zh-CN" altLang="en-US" sz="1400" b="1" dirty="0">
                <a:latin typeface="+mn-ea"/>
              </a:rPr>
              <a:t>，收入结构失衡。</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收入预算执行进度偏缓，成本预算执行节奏偏快：</a:t>
            </a:r>
            <a:r>
              <a:rPr lang="zh-CN" altLang="en-US" sz="1400" b="1" dirty="0">
                <a:solidFill>
                  <a:srgbClr val="C00000"/>
                </a:solidFill>
                <a:latin typeface="+mn-ea"/>
              </a:rPr>
              <a:t>医疗收入预算执行偏离度</a:t>
            </a:r>
            <a:r>
              <a:rPr lang="zh-CN" altLang="en-US" sz="1400" b="1" dirty="0">
                <a:latin typeface="+mn-ea"/>
              </a:rPr>
              <a:t>为</a:t>
            </a:r>
            <a:r>
              <a:rPr lang="en-US" altLang="zh-CN" sz="1400" b="1" dirty="0">
                <a:latin typeface="+mn-ea"/>
              </a:rPr>
              <a:t>-1.2%</a:t>
            </a:r>
            <a:r>
              <a:rPr lang="zh-CN" altLang="en-US" sz="1400" b="1" dirty="0">
                <a:latin typeface="+mn-ea"/>
              </a:rPr>
              <a:t>，较之上月偏离度减少了</a:t>
            </a:r>
            <a:r>
              <a:rPr lang="en-US" altLang="zh-CN" sz="1400" b="1" dirty="0">
                <a:latin typeface="+mn-ea"/>
              </a:rPr>
              <a:t>0.6%</a:t>
            </a:r>
            <a:r>
              <a:rPr lang="zh-CN" altLang="en-US" sz="1400" b="1" dirty="0">
                <a:latin typeface="+mn-ea"/>
              </a:rPr>
              <a:t>；</a:t>
            </a:r>
            <a:r>
              <a:rPr lang="zh-CN" altLang="en-US" sz="1400" b="1" dirty="0">
                <a:solidFill>
                  <a:srgbClr val="C00000"/>
                </a:solidFill>
                <a:latin typeface="+mn-ea"/>
              </a:rPr>
              <a:t>医疗成本预算执行偏离度</a:t>
            </a:r>
            <a:r>
              <a:rPr lang="zh-CN" altLang="en-US" sz="1400" b="1" dirty="0">
                <a:latin typeface="+mn-ea"/>
              </a:rPr>
              <a:t>为</a:t>
            </a:r>
            <a:r>
              <a:rPr lang="en-US" altLang="zh-CN" sz="1400" b="1" dirty="0">
                <a:latin typeface="+mn-ea"/>
              </a:rPr>
              <a:t>2.6%</a:t>
            </a:r>
            <a:r>
              <a:rPr lang="zh-CN" altLang="en-US" sz="1400" b="1" dirty="0">
                <a:latin typeface="+mn-ea"/>
              </a:rPr>
              <a:t>，执行节奏偏快。预算执行情况有所好转，但仍需持续关注。</a:t>
            </a:r>
          </a:p>
        </p:txBody>
      </p:sp>
      <p:grpSp>
        <p:nvGrpSpPr>
          <p:cNvPr id="45" name="组合 44"/>
          <p:cNvGrpSpPr/>
          <p:nvPr/>
        </p:nvGrpSpPr>
        <p:grpSpPr>
          <a:xfrm>
            <a:off x="639657" y="4042817"/>
            <a:ext cx="11151290" cy="3189909"/>
            <a:chOff x="499557" y="4194202"/>
            <a:chExt cx="11055037" cy="3189909"/>
          </a:xfrm>
        </p:grpSpPr>
        <p:sp>
          <p:nvSpPr>
            <p:cNvPr id="46" name="鱼丸PPT4"/>
            <p:cNvSpPr/>
            <p:nvPr/>
          </p:nvSpPr>
          <p:spPr>
            <a:xfrm>
              <a:off x="547684" y="4194202"/>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改进建议</a:t>
              </a:r>
              <a:endPar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47" name="文本框 46"/>
            <p:cNvSpPr txBox="1"/>
            <p:nvPr/>
          </p:nvSpPr>
          <p:spPr>
            <a:xfrm>
              <a:off x="499557" y="4572316"/>
              <a:ext cx="11055037" cy="2811795"/>
            </a:xfrm>
            <a:prstGeom prst="rect">
              <a:avLst/>
            </a:prstGeom>
            <a:noFill/>
          </p:spPr>
          <p:txBody>
            <a:bodyPr wrap="square">
              <a:spAutoFit/>
            </a:bodyPr>
            <a:lstStyle/>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提效住院业务、扭转儿科下滑、平衡奉贤收支：</a:t>
              </a:r>
              <a:r>
                <a:rPr lang="zh-CN" altLang="en-US" sz="1400" b="1" dirty="0">
                  <a:latin typeface="+mn-ea"/>
                </a:rPr>
                <a:t>针对杨浦院区住院业务下降明显的科室，评估床位使用效率、转诊流程及患者来源变化，制定针对性提升计划。优化儿科排班与专科门诊设置，提升患者就医体验，扭转儿科门诊量下降趋势。加强奉贤院区收支平衡管理，优化资源配置，进一步释放医疗潜能，缩小收支差。</a:t>
              </a: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优化收入结构，加强药耗占比管控：</a:t>
              </a:r>
              <a:r>
                <a:rPr lang="zh-CN" altLang="en-US" sz="1400" b="1" dirty="0">
                  <a:solidFill>
                    <a:prstClr val="black"/>
                  </a:solidFill>
                  <a:latin typeface="等线" panose="02010600030101010101" charset="-122"/>
                </a:rPr>
                <a:t>积极拓展高劳务价值诊疗项目，提升劳务收入占比；建议相关</a:t>
              </a:r>
              <a:r>
                <a:rPr lang="zh-CN" altLang="en-US" sz="1400" b="1" dirty="0">
                  <a:latin typeface="+mn-ea"/>
                </a:rPr>
                <a:t>科室持续关注</a:t>
              </a:r>
              <a:r>
                <a:rPr lang="zh-CN" altLang="en-US" sz="1400" b="1" dirty="0">
                  <a:solidFill>
                    <a:prstClr val="black"/>
                  </a:solidFill>
                  <a:latin typeface="等线" panose="02010600030101010101" charset="-122"/>
                </a:rPr>
                <a:t>药耗占比，对超标科室及时预警提醒。进一步控制检验试剂等不可收费耗材成本，降低试剂成本与检验收入比。对奉贤院区耗材使用加强管控。</a:t>
              </a:r>
              <a:endParaRPr lang="en-US" altLang="zh-CN" sz="1400" b="1" dirty="0">
                <a:solidFill>
                  <a:prstClr val="black"/>
                </a:solidFill>
                <a:latin typeface="等线" panose="02010600030101010101"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持续加强预算刚性约束，加强科室收入执行和成本执行监控：</a:t>
              </a:r>
              <a:r>
                <a:rPr lang="zh-CN" altLang="en-US" sz="1400" b="1" dirty="0">
                  <a:latin typeface="+mn-ea"/>
                </a:rPr>
                <a:t>为确保完成</a:t>
              </a:r>
              <a:r>
                <a:rPr lang="en-US" altLang="zh-CN" sz="1400" b="1" dirty="0">
                  <a:latin typeface="+mn-ea"/>
                </a:rPr>
                <a:t>2026</a:t>
              </a:r>
              <a:r>
                <a:rPr lang="zh-CN" altLang="en-US" sz="1400" b="1" dirty="0">
                  <a:latin typeface="+mn-ea"/>
                </a:rPr>
                <a:t>年医疗收入预算目标</a:t>
              </a:r>
              <a:r>
                <a:rPr lang="en-US" altLang="zh-CN" sz="1400" b="1" dirty="0">
                  <a:latin typeface="+mn-ea"/>
                </a:rPr>
                <a:t>75</a:t>
              </a:r>
              <a:r>
                <a:rPr lang="zh-CN" altLang="en-US" sz="1400" b="1" dirty="0">
                  <a:latin typeface="+mn-ea"/>
                </a:rPr>
                <a:t>亿元，仍需持续重点监控收入预算执行情况，重点关注收入预算执行偏离度较大的科室，相关科室需挖掘增量，促进收入增长。同时，需加强药耗管控，确保</a:t>
              </a:r>
              <a:r>
                <a:rPr lang="en-US" altLang="zh-CN" sz="1400" b="1" dirty="0">
                  <a:latin typeface="+mn-ea"/>
                </a:rPr>
                <a:t>2026</a:t>
              </a:r>
              <a:r>
                <a:rPr lang="zh-CN" altLang="en-US" sz="1400" b="1" dirty="0">
                  <a:latin typeface="+mn-ea"/>
                </a:rPr>
                <a:t>年医疗成本预算目标</a:t>
              </a:r>
              <a:r>
                <a:rPr lang="en-US" altLang="zh-CN" sz="1400" b="1" dirty="0">
                  <a:latin typeface="+mn-ea"/>
                </a:rPr>
                <a:t>78</a:t>
              </a:r>
              <a:r>
                <a:rPr lang="zh-CN" altLang="en-US" sz="1400" b="1" dirty="0">
                  <a:latin typeface="+mn-ea"/>
                </a:rPr>
                <a:t>亿元不超支。</a:t>
              </a:r>
            </a:p>
          </p:txBody>
        </p:sp>
      </p:grpSp>
      <p:sp>
        <p:nvSpPr>
          <p:cNvPr id="48" name="鱼丸PPT4"/>
          <p:cNvSpPr/>
          <p:nvPr/>
        </p:nvSpPr>
        <p:spPr>
          <a:xfrm>
            <a:off x="704626" y="1314905"/>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重点</a:t>
            </a:r>
            <a:r>
              <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rPr>
              <a:t>关注事项</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949039" y="2272956"/>
            <a:ext cx="6568858" cy="1721497"/>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谢 谢！</a:t>
            </a:r>
            <a:endParaRPr lang="en-US" altLang="zh-CN"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1.xml><?xml version="1.0" encoding="utf-8"?>
<p:tagLst xmlns:a="http://schemas.openxmlformats.org/drawingml/2006/main" xmlns:r="http://schemas.openxmlformats.org/officeDocument/2006/relationships" xmlns:p="http://schemas.openxmlformats.org/presentationml/2006/main">
  <p:tag name="TABLE_ENDDRAG_ORIGIN_RECT" val="716*230"/>
  <p:tag name="TABLE_ENDDRAG_RECT" val="95*123*716*230"/>
</p:tagLst>
</file>

<file path=ppt/tags/tag42.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4.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235.9438582677165,&quot;left&quot;:73.6,&quot;top&quot;:94.23488188976378,&quot;width&quot;:875.5704724409449}"/>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216.xml><?xml version="1.0" encoding="utf-8"?>
<p:tagLst xmlns:a="http://schemas.openxmlformats.org/drawingml/2006/main" xmlns:r="http://schemas.openxmlformats.org/officeDocument/2006/relationships" xmlns:p="http://schemas.openxmlformats.org/presentationml/2006/main">
  <p:tag name="TABLE_ENDDRAG_ORIGIN_RECT" val="794*366"/>
  <p:tag name="TABLE_ENDDRAG_RECT" val="71*65*794*366"/>
</p:tagLst>
</file>

<file path=ppt/tags/tag217.xml><?xml version="1.0" encoding="utf-8"?>
<p:tagLst xmlns:a="http://schemas.openxmlformats.org/drawingml/2006/main" xmlns:r="http://schemas.openxmlformats.org/officeDocument/2006/relationships" xmlns:p="http://schemas.openxmlformats.org/presentationml/2006/main">
  <p:tag name="TABLE_ENDDRAG_ORIGIN_RECT" val="815*332"/>
  <p:tag name="TABLE_ENDDRAG_RECT" val="75*62*815*332"/>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35.47999999999996,&quot;left&quot;:19.408740157480317,&quot;top&quot;:76.68763779527559,&quot;width&quot;:896.0270078740157}"/>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30.3582677165354,&quot;left&quot;:-0.12503937007874016,&quot;top&quot;:83.31456692913386,&quot;width&quot;:948.543700787401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45.6724409448819,&quot;left&quot;:7.400708661417323,&quot;top&quot;:74.54574803149606,&quot;width&quot;:945.1986614173227}"/>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36.0402362204724,&quot;left&quot;:39.37503937007874,&quot;top&quot;:79.16669291338583,&quot;width&quot;:899.1336220472442}"/>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36.0402362204724,&quot;left&quot;:39.37503937007874,&quot;top&quot;:79.16669291338583,&quot;width&quot;:899.1336220472442}"/>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99.xml><?xml version="1.0" encoding="utf-8"?>
<p:tagLst xmlns:a="http://schemas.openxmlformats.org/drawingml/2006/main" xmlns:r="http://schemas.openxmlformats.org/officeDocument/2006/relationships" xmlns:p="http://schemas.openxmlformats.org/presentationml/2006/main">
  <p:tag name="TABLE_ENDDRAG_ORIGIN_RECT" val="879*245"/>
  <p:tag name="TABLE_ENDDRAG_RECT" val="39*129*879*245"/>
</p:tagLst>
</file>

<file path=ppt/tags/tag300.xml><?xml version="1.0" encoding="utf-8"?>
<p:tagLst xmlns:a="http://schemas.openxmlformats.org/drawingml/2006/main" xmlns:r="http://schemas.openxmlformats.org/officeDocument/2006/relationships" xmlns:p="http://schemas.openxmlformats.org/presentationml/2006/main">
  <p:tag name="TABLE_ENDDRAG_ORIGIN_RECT" val="794*246"/>
  <p:tag name="TABLE_ENDDRAG_RECT" val="76*144*794*24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1169</TotalTime>
  <Words>12039</Words>
  <Application>Microsoft Office PowerPoint</Application>
  <PresentationFormat>宽屏</PresentationFormat>
  <Paragraphs>3129</Paragraphs>
  <Slides>79</Slides>
  <Notes>24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79</vt:i4>
      </vt:variant>
    </vt:vector>
  </HeadingPairs>
  <TitlesOfParts>
    <vt:vector size="93" baseType="lpstr">
      <vt:lpstr>Arial Unicode MS</vt:lpstr>
      <vt:lpstr>Kozuka Gothic Pro M</vt:lpstr>
      <vt:lpstr>等线</vt:lpstr>
      <vt:lpstr>等线 Light</vt:lpstr>
      <vt:lpstr>华文楷体</vt:lpstr>
      <vt:lpstr>宋体</vt:lpstr>
      <vt:lpstr>微软雅黑</vt:lpstr>
      <vt:lpstr>Arial</vt:lpstr>
      <vt:lpstr>Arial Black</vt:lpstr>
      <vt:lpstr>Calibri</vt:lpstr>
      <vt:lpstr>Impact</vt:lpstr>
      <vt:lpstr>Wingdings</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上海交通大学医学院附属新华医院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user1</dc:creator>
  <cp:lastModifiedBy>dawei lu</cp:lastModifiedBy>
  <cp:revision>259</cp:revision>
  <dcterms:created xsi:type="dcterms:W3CDTF">2026-04-03T00:29:00Z</dcterms:created>
  <dcterms:modified xsi:type="dcterms:W3CDTF">2026-05-13T13:29:43Z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2AC89EB5F1E9401D925A6E7DD4E777E1_12</vt:lpwstr>
  </property>
</Properties>
</file>